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8"/>
  </p:notesMasterIdLst>
  <p:sldIdLst>
    <p:sldId id="256" r:id="rId2"/>
    <p:sldId id="257" r:id="rId3"/>
    <p:sldId id="258" r:id="rId4"/>
    <p:sldId id="259" r:id="rId5"/>
    <p:sldId id="417" r:id="rId6"/>
    <p:sldId id="2820" r:id="rId7"/>
    <p:sldId id="3133" r:id="rId8"/>
    <p:sldId id="2677" r:id="rId9"/>
    <p:sldId id="2822" r:id="rId10"/>
    <p:sldId id="2708" r:id="rId11"/>
    <p:sldId id="2713" r:id="rId12"/>
    <p:sldId id="2714" r:id="rId13"/>
    <p:sldId id="684" r:id="rId14"/>
    <p:sldId id="462" r:id="rId15"/>
    <p:sldId id="506" r:id="rId16"/>
    <p:sldId id="464" r:id="rId17"/>
    <p:sldId id="465" r:id="rId18"/>
    <p:sldId id="262" r:id="rId19"/>
    <p:sldId id="504" r:id="rId20"/>
    <p:sldId id="505" r:id="rId21"/>
    <p:sldId id="503" r:id="rId22"/>
    <p:sldId id="2991" r:id="rId23"/>
    <p:sldId id="2774" r:id="rId24"/>
    <p:sldId id="2775" r:id="rId25"/>
    <p:sldId id="2776" r:id="rId26"/>
    <p:sldId id="2777" r:id="rId27"/>
    <p:sldId id="2778" r:id="rId28"/>
    <p:sldId id="2779" r:id="rId29"/>
    <p:sldId id="2780" r:id="rId30"/>
    <p:sldId id="2781" r:id="rId31"/>
    <p:sldId id="480" r:id="rId32"/>
    <p:sldId id="481" r:id="rId33"/>
    <p:sldId id="482" r:id="rId34"/>
    <p:sldId id="2744" r:id="rId35"/>
    <p:sldId id="2826" r:id="rId36"/>
    <p:sldId id="2992" r:id="rId37"/>
    <p:sldId id="2993" r:id="rId38"/>
    <p:sldId id="2749" r:id="rId39"/>
    <p:sldId id="502" r:id="rId40"/>
    <p:sldId id="590" r:id="rId41"/>
    <p:sldId id="2994" r:id="rId42"/>
    <p:sldId id="2995" r:id="rId43"/>
    <p:sldId id="2839" r:id="rId44"/>
    <p:sldId id="2996" r:id="rId45"/>
    <p:sldId id="2840" r:id="rId46"/>
    <p:sldId id="2841" r:id="rId47"/>
    <p:sldId id="2842" r:id="rId48"/>
    <p:sldId id="2843" r:id="rId49"/>
    <p:sldId id="2844" r:id="rId50"/>
    <p:sldId id="2973" r:id="rId51"/>
    <p:sldId id="2975" r:id="rId52"/>
    <p:sldId id="2976" r:id="rId53"/>
    <p:sldId id="2977" r:id="rId54"/>
    <p:sldId id="2978" r:id="rId55"/>
    <p:sldId id="2979" r:id="rId56"/>
    <p:sldId id="2980" r:id="rId57"/>
    <p:sldId id="2827" r:id="rId58"/>
    <p:sldId id="2828" r:id="rId59"/>
    <p:sldId id="2829" r:id="rId60"/>
    <p:sldId id="2830" r:id="rId61"/>
    <p:sldId id="2831" r:id="rId62"/>
    <p:sldId id="2832" r:id="rId63"/>
    <p:sldId id="2833" r:id="rId64"/>
    <p:sldId id="2834" r:id="rId65"/>
    <p:sldId id="2835" r:id="rId66"/>
    <p:sldId id="2838" r:id="rId67"/>
    <p:sldId id="2960" r:id="rId68"/>
    <p:sldId id="2961" r:id="rId69"/>
    <p:sldId id="2962" r:id="rId70"/>
    <p:sldId id="2963" r:id="rId71"/>
    <p:sldId id="2967" r:id="rId72"/>
    <p:sldId id="2981" r:id="rId73"/>
    <p:sldId id="2982" r:id="rId74"/>
    <p:sldId id="2848" r:id="rId75"/>
    <p:sldId id="2849" r:id="rId76"/>
    <p:sldId id="2983" r:id="rId77"/>
    <p:sldId id="2984" r:id="rId78"/>
    <p:sldId id="2985" r:id="rId79"/>
    <p:sldId id="2793" r:id="rId80"/>
    <p:sldId id="2997" r:id="rId81"/>
    <p:sldId id="2998" r:id="rId82"/>
    <p:sldId id="2988" r:id="rId83"/>
    <p:sldId id="2941" r:id="rId84"/>
    <p:sldId id="2942" r:id="rId85"/>
    <p:sldId id="2943" r:id="rId86"/>
    <p:sldId id="2944" r:id="rId87"/>
    <p:sldId id="2945" r:id="rId88"/>
    <p:sldId id="2948" r:id="rId89"/>
    <p:sldId id="2949" r:id="rId90"/>
    <p:sldId id="2999" r:id="rId91"/>
    <p:sldId id="3000" r:id="rId92"/>
    <p:sldId id="3047" r:id="rId93"/>
    <p:sldId id="3048" r:id="rId94"/>
    <p:sldId id="3049" r:id="rId95"/>
    <p:sldId id="3050" r:id="rId96"/>
    <p:sldId id="3051" r:id="rId97"/>
    <p:sldId id="3052" r:id="rId98"/>
    <p:sldId id="3038" r:id="rId99"/>
    <p:sldId id="3053" r:id="rId100"/>
    <p:sldId id="3054" r:id="rId101"/>
    <p:sldId id="707" r:id="rId102"/>
    <p:sldId id="708" r:id="rId103"/>
    <p:sldId id="594" r:id="rId104"/>
    <p:sldId id="595" r:id="rId105"/>
    <p:sldId id="3001" r:id="rId106"/>
    <p:sldId id="709" r:id="rId107"/>
    <p:sldId id="596" r:id="rId108"/>
    <p:sldId id="597" r:id="rId109"/>
    <p:sldId id="598" r:id="rId110"/>
    <p:sldId id="599" r:id="rId111"/>
    <p:sldId id="3002" r:id="rId112"/>
    <p:sldId id="2796" r:id="rId113"/>
    <p:sldId id="2797" r:id="rId114"/>
    <p:sldId id="3003" r:id="rId115"/>
    <p:sldId id="3004" r:id="rId116"/>
    <p:sldId id="3005" r:id="rId117"/>
    <p:sldId id="3006" r:id="rId118"/>
    <p:sldId id="689" r:id="rId119"/>
    <p:sldId id="696" r:id="rId120"/>
    <p:sldId id="711" r:id="rId121"/>
    <p:sldId id="3055" r:id="rId122"/>
    <p:sldId id="780" r:id="rId123"/>
    <p:sldId id="3056" r:id="rId124"/>
    <p:sldId id="3057" r:id="rId125"/>
    <p:sldId id="2798" r:id="rId126"/>
    <p:sldId id="3058" r:id="rId127"/>
    <p:sldId id="3009" r:id="rId128"/>
    <p:sldId id="3010" r:id="rId129"/>
    <p:sldId id="3059" r:id="rId130"/>
    <p:sldId id="3060" r:id="rId131"/>
    <p:sldId id="3061" r:id="rId132"/>
    <p:sldId id="3062" r:id="rId133"/>
    <p:sldId id="3063" r:id="rId134"/>
    <p:sldId id="3012" r:id="rId135"/>
    <p:sldId id="3064" r:id="rId136"/>
    <p:sldId id="3065" r:id="rId137"/>
    <p:sldId id="3066" r:id="rId138"/>
    <p:sldId id="534" r:id="rId139"/>
    <p:sldId id="536" r:id="rId140"/>
    <p:sldId id="3067" r:id="rId141"/>
    <p:sldId id="541" r:id="rId142"/>
    <p:sldId id="580" r:id="rId143"/>
    <p:sldId id="3099" r:id="rId144"/>
    <p:sldId id="3100" r:id="rId145"/>
    <p:sldId id="3101" r:id="rId146"/>
    <p:sldId id="3102" r:id="rId147"/>
    <p:sldId id="3108" r:id="rId148"/>
    <p:sldId id="3103" r:id="rId149"/>
    <p:sldId id="3104" r:id="rId150"/>
    <p:sldId id="3105" r:id="rId151"/>
    <p:sldId id="3106" r:id="rId152"/>
    <p:sldId id="3107" r:id="rId153"/>
    <p:sldId id="3109" r:id="rId154"/>
    <p:sldId id="3110" r:id="rId155"/>
    <p:sldId id="3111" r:id="rId156"/>
    <p:sldId id="573" r:id="rId157"/>
    <p:sldId id="718" r:id="rId158"/>
    <p:sldId id="634" r:id="rId159"/>
    <p:sldId id="719" r:id="rId160"/>
    <p:sldId id="575" r:id="rId161"/>
    <p:sldId id="636" r:id="rId162"/>
    <p:sldId id="637" r:id="rId163"/>
    <p:sldId id="720" r:id="rId164"/>
    <p:sldId id="721" r:id="rId165"/>
    <p:sldId id="3112" r:id="rId166"/>
    <p:sldId id="3113" r:id="rId167"/>
    <p:sldId id="3098" r:id="rId168"/>
    <p:sldId id="3114" r:id="rId169"/>
    <p:sldId id="3115" r:id="rId170"/>
    <p:sldId id="3040" r:id="rId171"/>
    <p:sldId id="3041" r:id="rId172"/>
    <p:sldId id="3042" r:id="rId173"/>
    <p:sldId id="3044" r:id="rId174"/>
    <p:sldId id="3045" r:id="rId175"/>
    <p:sldId id="3082" r:id="rId176"/>
    <p:sldId id="3083" r:id="rId177"/>
    <p:sldId id="3084" r:id="rId178"/>
    <p:sldId id="3039" r:id="rId179"/>
    <p:sldId id="3089" r:id="rId180"/>
    <p:sldId id="3087" r:id="rId181"/>
    <p:sldId id="3088" r:id="rId182"/>
    <p:sldId id="3116" r:id="rId183"/>
    <p:sldId id="3068" r:id="rId184"/>
    <p:sldId id="3079" r:id="rId185"/>
    <p:sldId id="3117" r:id="rId186"/>
    <p:sldId id="3077" r:id="rId187"/>
    <p:sldId id="3078" r:id="rId188"/>
    <p:sldId id="3080" r:id="rId189"/>
    <p:sldId id="3081" r:id="rId190"/>
    <p:sldId id="3118" r:id="rId191"/>
    <p:sldId id="3119" r:id="rId192"/>
    <p:sldId id="3120" r:id="rId193"/>
    <p:sldId id="3121" r:id="rId194"/>
    <p:sldId id="3122" r:id="rId195"/>
    <p:sldId id="3123" r:id="rId196"/>
    <p:sldId id="3124" r:id="rId197"/>
    <p:sldId id="3125" r:id="rId198"/>
    <p:sldId id="3126" r:id="rId199"/>
    <p:sldId id="3072" r:id="rId200"/>
    <p:sldId id="3127" r:id="rId201"/>
    <p:sldId id="3096" r:id="rId202"/>
    <p:sldId id="3128" r:id="rId203"/>
    <p:sldId id="3129" r:id="rId204"/>
    <p:sldId id="3130" r:id="rId205"/>
    <p:sldId id="3131" r:id="rId206"/>
    <p:sldId id="3132" r:id="rId2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presProps" Target="presProp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viewProps" Target="view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tableStyles" Target="tableStyle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5978-95ED-42CB-885D-FE3D3F54F514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8A140-A7AC-4CD6-9D56-8FFA9C61BC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74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paths on every slide are relative to the repo root c:\code\agenticai.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8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665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– Sat 24-Oct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768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15_real\Agentic AI - Real.pptx, slide 3</a:t>
            </a:r>
          </a:p>
          <a:p>
            <a:r>
              <a:rPr lang="en-US"/>
              <a:t>Demo: 2_openai_agents/2_0_my_first_agent.py (teaser)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74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0_slides\Agentic AI.pptx, slide 10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78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1. What an AI agent is and why we need one</a:t>
            </a:r>
          </a:p>
          <a:p>
            <a:r>
              <a:rPr lang="en-US"/>
              <a:t>Source: 15_real\Agentic AI - Real.pptx, slide 5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39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2. Chatbots vs workflows vs agents</a:t>
            </a:r>
          </a:p>
          <a:p>
            <a:r>
              <a:rPr lang="en-GB"/>
              <a:t>Source: 0_slides\Agentic AI.pptx, slide 13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75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3. Agent components and architecture</a:t>
            </a:r>
          </a:p>
          <a:p>
            <a:r>
              <a:rPr lang="en-US"/>
              <a:t>Source: 0_slides\Agentic AI.pptx, slide 11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089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4. Setup and API key</a:t>
            </a:r>
          </a:p>
          <a:p>
            <a:r>
              <a:rPr lang="en-GB"/>
              <a:t>Source: 15_real\Agentic AI - Real.pptx, slide 8</a:t>
            </a:r>
          </a:p>
          <a:p>
            <a:r>
              <a:rPr lang="en-GB"/>
              <a:t>Demo: 2_openai_agents/2_1_openai_agent_basic.py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290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4. Setup and API key</a:t>
            </a:r>
          </a:p>
          <a:p>
            <a:r>
              <a:rPr lang="en-GB"/>
              <a:t>Source: 15_real\Agentic AI - Real.pptx, slide 9</a:t>
            </a:r>
          </a:p>
          <a:p>
            <a:r>
              <a:rPr lang="en-GB"/>
              <a:t>Demo: 2_openai_agents/2_1_openai_agent_basic.py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22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33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711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56</a:t>
            </a:r>
          </a:p>
          <a:p>
            <a:r>
              <a:rPr lang="en-GB"/>
              <a:t>Demo: 2_openai_agents/2_1_openai_agent_basic.py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25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57</a:t>
            </a:r>
          </a:p>
          <a:p>
            <a:r>
              <a:rPr lang="en-GB"/>
              <a:t>Demo: 2_openai_agents/2_1_openai_agent_basic.py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930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58</a:t>
            </a:r>
          </a:p>
          <a:p>
            <a:r>
              <a:rPr lang="en-GB"/>
              <a:t>Demo: 2_openai_agents/2_1_openai_agent_basic.py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132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5. OpenAI Agents SDK basics</a:t>
            </a:r>
          </a:p>
          <a:p>
            <a:r>
              <a:rPr lang="en-GB"/>
              <a:t>Source: 0_slides\Agentic AI.pptx, slide 61</a:t>
            </a:r>
          </a:p>
          <a:p>
            <a:r>
              <a:rPr lang="en-GB"/>
              <a:t>Demo: 2_openai_agents/2_1_openai_agent_basic.py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817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18</a:t>
            </a:r>
          </a:p>
          <a:p>
            <a:r>
              <a:rPr lang="en-GB"/>
              <a:t>Demo: 2_openai_agents/2_0_1_openai_agent_pattern_tool.py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540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69</a:t>
            </a:r>
          </a:p>
          <a:p>
            <a:r>
              <a:rPr lang="en-GB"/>
              <a:t>Demo: 2_openai_agents/2_0_1_openai_agent_pattern_tool.py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077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70</a:t>
            </a:r>
          </a:p>
          <a:p>
            <a:r>
              <a:rPr lang="en-GB"/>
              <a:t>Demo: 2_openai_agents/2_0_1_openai_agent_pattern_tool.py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4785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6. Giving an agent tools</a:t>
            </a:r>
          </a:p>
          <a:p>
            <a:r>
              <a:rPr lang="en-GB"/>
              <a:t>Source: 0_slides\Agentic AI.pptx, slide 71</a:t>
            </a:r>
          </a:p>
          <a:p>
            <a:r>
              <a:rPr lang="en-GB"/>
              <a:t>Demo: 2_openai_agents/2_0_1_openai_agent_pattern_tool.py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322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22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095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24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680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25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9342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26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934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27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0954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28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1985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29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4603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30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591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1 | Topic: 7. Building a multi-tool agent step by step</a:t>
            </a:r>
          </a:p>
          <a:p>
            <a:r>
              <a:rPr lang="en-US"/>
              <a:t>Source: 0_slides\Agentic AI.pptx, slide 31</a:t>
            </a:r>
          </a:p>
          <a:p>
            <a:r>
              <a:rPr lang="en-US"/>
              <a:t>Demo: 2_openai_agents/2_0_my_first_agent.py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5251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59</a:t>
            </a:r>
          </a:p>
          <a:p>
            <a:r>
              <a:rPr lang="en-GB"/>
              <a:t>Demo: 2_openai_agents/2_8_openai_agent_sync.py, 2_9_openai_agent_async.py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8226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60</a:t>
            </a:r>
          </a:p>
          <a:p>
            <a:r>
              <a:rPr lang="en-GB"/>
              <a:t>Demo: 2_openai_agents/2_8_openai_agent_sync.py, 2_9_openai_agent_async.py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3865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8. Sync vs async agents</a:t>
            </a:r>
          </a:p>
          <a:p>
            <a:r>
              <a:rPr lang="en-GB"/>
              <a:t>Source: 0_slides\Agentic AI.pptx, slide 64</a:t>
            </a:r>
          </a:p>
          <a:p>
            <a:r>
              <a:rPr lang="en-GB"/>
              <a:t>Demo: 2_openai_agents/2_8_openai_agent_sync.py, 2_9_openai_agent_async.py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959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65</a:t>
            </a:r>
          </a:p>
          <a:p>
            <a:r>
              <a:rPr lang="en-GB"/>
              <a:t>Demo: 2_openai_agents/2_0_1_openai_agent_pattern_tool.py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2015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66</a:t>
            </a:r>
          </a:p>
          <a:p>
            <a:r>
              <a:rPr lang="en-GB"/>
              <a:t>Demo: 2_openai_agents/2_0_2_openai_agent_pattern_plan.py, 2_0_3_openai_agent_pattern_react.py, 2_0_4_openai_agent_pattern_reflection.py, 2_0_5_openai_agent_pattern_rewoo.py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811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14_advanced\Agentic AI - Advanced Engineering.pptx, slide 149</a:t>
            </a:r>
          </a:p>
          <a:p>
            <a:r>
              <a:rPr lang="en-GB"/>
              <a:t>Demo: 2_openai_agents/2_0_3_openai_agent_pattern_react.py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6791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14_advanced\Agentic AI - Advanced Engineering.pptx, slide 150</a:t>
            </a:r>
          </a:p>
          <a:p>
            <a:r>
              <a:rPr lang="en-GB"/>
              <a:t>Demo: 2_openai_agents/2_0_2_openai_agent_pattern_plan.py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1782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67</a:t>
            </a:r>
          </a:p>
          <a:p>
            <a:r>
              <a:rPr lang="en-GB"/>
              <a:t>Demo: 2_openai_agents/2_0_6_openai_agent_pattern_multi_agent.py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0466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9. Agent design patterns</a:t>
            </a:r>
          </a:p>
          <a:p>
            <a:r>
              <a:rPr lang="en-GB"/>
              <a:t>Source: 0_slides\Agentic AI.pptx, slide 68</a:t>
            </a:r>
          </a:p>
          <a:p>
            <a:r>
              <a:rPr lang="en-GB"/>
              <a:t>Demo: 2_openai_agents/2_2_* … 2_13_*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6288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1 | Topic: 10. Agentic AI framework landscape</a:t>
            </a:r>
          </a:p>
          <a:p>
            <a:r>
              <a:rPr lang="en-GB"/>
              <a:t>Source: 0_slides\Agentic AI.pptx, slide 21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528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1712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– Sat 25-Oct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7263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145</a:t>
            </a:r>
          </a:p>
          <a:p>
            <a:r>
              <a:rPr lang="en-GB"/>
              <a:t>Demo: 3_langgraph/3_0_langchain_lcel.py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6620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146</a:t>
            </a:r>
          </a:p>
          <a:p>
            <a:r>
              <a:rPr lang="en-GB"/>
              <a:t>Demo: 3_langgraph/3_0_langchain_lcel.py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3311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147</a:t>
            </a:r>
          </a:p>
          <a:p>
            <a:r>
              <a:rPr lang="en-GB"/>
              <a:t>Demo: 3_langgraph/3_0_langchain_lcel.py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9012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148</a:t>
            </a:r>
          </a:p>
          <a:p>
            <a:r>
              <a:rPr lang="en-GB"/>
              <a:t>Demo: 3_langgraph/3_0_langchain_lcel.py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9455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149</a:t>
            </a:r>
          </a:p>
          <a:p>
            <a:r>
              <a:rPr lang="en-GB"/>
              <a:t>Demo: 3_langgraph/3_0_langchain_lcel.py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46809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150</a:t>
            </a:r>
          </a:p>
          <a:p>
            <a:r>
              <a:rPr lang="en-GB"/>
              <a:t>Demo: 3_langgraph/3_0_langchain_lcel.py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3982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0_slides\Agentic AI.pptx, slide 151</a:t>
            </a:r>
          </a:p>
          <a:p>
            <a:r>
              <a:rPr lang="en-GB"/>
              <a:t>Demo: 3_langgraph/3_0_langchain_lcel.py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2131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1. LangChain overview and architecture</a:t>
            </a:r>
          </a:p>
          <a:p>
            <a:r>
              <a:rPr lang="en-GB"/>
              <a:t>Source: 14_advanced\Agentic AI - Advanced Engineering.pptx, slide 131</a:t>
            </a:r>
          </a:p>
          <a:p>
            <a:r>
              <a:rPr lang="en-GB"/>
              <a:t>Demo: 3_langgraph/3_0_langchain_lcel.py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7778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2. LCEL and Runnables</a:t>
            </a:r>
          </a:p>
          <a:p>
            <a:r>
              <a:rPr lang="en-US"/>
              <a:t>Source: 14_advanced\Agentic AI - Advanced Engineering.pptx, slide 132</a:t>
            </a:r>
          </a:p>
          <a:p>
            <a:r>
              <a:rPr lang="en-US"/>
              <a:t>Demo: LLM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7387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2. LCEL and Runnables</a:t>
            </a:r>
          </a:p>
          <a:p>
            <a:r>
              <a:rPr lang="en-US"/>
              <a:t>Source: 14_advanced\Agentic AI - Advanced Engineering.pptx, slide 133</a:t>
            </a:r>
          </a:p>
          <a:p>
            <a:r>
              <a:rPr lang="en-US"/>
              <a:t>Demo: LLM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5036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3. Prompt templates and output parsers</a:t>
            </a:r>
          </a:p>
          <a:p>
            <a:r>
              <a:rPr lang="en-GB"/>
              <a:t>Source: 14_advanced\Agentic AI - Advanced Engineering.pptx, slide 134</a:t>
            </a:r>
          </a:p>
          <a:p>
            <a:r>
              <a:rPr lang="en-GB"/>
              <a:t>Demo: 14_advanced/05_langchain/output_parsers.py, output_parsers_openai.py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7395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3. Prompt templates and output parsers</a:t>
            </a:r>
          </a:p>
          <a:p>
            <a:r>
              <a:rPr lang="en-GB"/>
              <a:t>Source: 14_advanced\Agentic AI - Advanced Engineering.pptx, slide 135</a:t>
            </a:r>
          </a:p>
          <a:p>
            <a:r>
              <a:rPr lang="en-GB"/>
              <a:t>Demo: 14_advanced/05_langchain/prompt_templates.py, prompt_templates_openai.py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9098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4. Conversation memory</a:t>
            </a:r>
          </a:p>
          <a:p>
            <a:r>
              <a:rPr lang="en-US"/>
              <a:t>Source: 14_advanced\Agentic AI - Advanced Engineering.pptx, slide 136</a:t>
            </a:r>
          </a:p>
          <a:p>
            <a:r>
              <a:rPr lang="en-US"/>
              <a:t>Demo: 14_advanced/05_langchain/memory_types.py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2081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2 | Topic: 4. Conversation memory</a:t>
            </a:r>
          </a:p>
          <a:p>
            <a:r>
              <a:rPr lang="en-US"/>
              <a:t>Source: 14_advanced\Agentic AI - Advanced Engineering.pptx, slide 137</a:t>
            </a:r>
          </a:p>
          <a:p>
            <a:r>
              <a:rPr lang="en-US"/>
              <a:t>Demo: 14_advanced/05_langchain/persistent_chatbot.py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3606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99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7982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100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288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101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54343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102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33113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103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595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104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34964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105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9523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106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74566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107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766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108</a:t>
            </a:r>
          </a:p>
          <a:p>
            <a:r>
              <a:rPr lang="en-GB"/>
              <a:t>Demo: 9_general/rag/rag_1_chroma_db_basic.py, 2_openai_agents/vector_embedding_cosine_similarity.py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14775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109</a:t>
            </a:r>
          </a:p>
          <a:p>
            <a:r>
              <a:rPr lang="en-GB"/>
              <a:t>Demo: 14_advanced/04_rag/chromadb_crud.py, chromadb_search.py, 9_general/rag/rag_4_chroma_db_adding_metadata.py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80174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110</a:t>
            </a:r>
          </a:p>
          <a:p>
            <a:r>
              <a:rPr lang="en-GB"/>
              <a:t>Demo: 14_advanced/04_rag/chromadb_crud.py, chromadb_search.py, 9_general/rag/rag_4_chroma_db_adding_metadata.py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1525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111</a:t>
            </a:r>
          </a:p>
          <a:p>
            <a:r>
              <a:rPr lang="en-GB"/>
              <a:t>Demo: 14_advanced/04_rag/chromadb_crud.py, chromadb_search.py, 9_general/rag/rag_4_chroma_db_adding_metadata.py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28881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112</a:t>
            </a:r>
          </a:p>
          <a:p>
            <a:r>
              <a:rPr lang="en-GB"/>
              <a:t>Demo: 14_advanced/04_rag/faiss_search.py, faiss_search_ollama.py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13439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5. Embeddings and vector databases</a:t>
            </a:r>
          </a:p>
          <a:p>
            <a:r>
              <a:rPr lang="en-GB"/>
              <a:t>Source: 14_advanced\Agentic AI - Advanced Engineering.pptx, slide 117</a:t>
            </a:r>
          </a:p>
          <a:p>
            <a:r>
              <a:rPr lang="en-GB"/>
              <a:t>Demo: 9_general/rag/rag_cosine_euclidean_1.py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76729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138</a:t>
            </a:r>
          </a:p>
          <a:p>
            <a:r>
              <a:rPr lang="en-GB"/>
              <a:t>Demo: 14_advanced/05_langchain/document_loaders.py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11843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139</a:t>
            </a:r>
          </a:p>
          <a:p>
            <a:r>
              <a:rPr lang="en-GB"/>
              <a:t>Demo: 14_advanced/05_langchain/text_splitters.py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67884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120</a:t>
            </a:r>
          </a:p>
          <a:p>
            <a:r>
              <a:rPr lang="en-GB"/>
              <a:t>Demo: 14_advanced/05_langchain/text_splitters.py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65197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6. Document loaders, text splitters and chunking</a:t>
            </a:r>
          </a:p>
          <a:p>
            <a:r>
              <a:rPr lang="en-GB"/>
              <a:t>Source: 14_advanced\Agentic AI - Advanced Engineering.pptx, slide 121</a:t>
            </a:r>
          </a:p>
          <a:p>
            <a:r>
              <a:rPr lang="en-GB"/>
              <a:t>Demo: 14_advanced/05_langchain/text_splitters.py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19457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140</a:t>
            </a:r>
          </a:p>
          <a:p>
            <a:r>
              <a:rPr lang="en-GB"/>
              <a:t>Demo: 14_advanced/05_langchain/rag_pipeline.py, rag_pipeline_ollama.py, 3_langgraph/3_1_langchain_rag.py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24991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141</a:t>
            </a:r>
          </a:p>
          <a:p>
            <a:r>
              <a:rPr lang="en-GB"/>
              <a:t>Demo: 14_advanced/05_langchain/retrievers.py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90396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7. Building a RAG pipeline with retrievers</a:t>
            </a:r>
          </a:p>
          <a:p>
            <a:r>
              <a:rPr lang="en-GB"/>
              <a:t>Source: 14_advanced\Agentic AI - Advanced Engineering.pptx, slide 142</a:t>
            </a:r>
          </a:p>
          <a:p>
            <a:r>
              <a:rPr lang="en-GB"/>
              <a:t>Demo: 14_advanced/05_langchain/retrievers.py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04426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2 | Topic: 8. Hands-on: Q&amp;A bot over PDFs</a:t>
            </a:r>
          </a:p>
          <a:p>
            <a:r>
              <a:rPr lang="en-GB"/>
              <a:t>Source: 15_real\Agentic AI - Real.pptx, slide 67</a:t>
            </a:r>
          </a:p>
          <a:p>
            <a:r>
              <a:rPr lang="en-GB"/>
              <a:t>Demo: 15_real/langchain_qand_a_bot_chroma.py, langchain_qand_a_bot_chroma_ollama.py, 9_general/rag/rag_10_chroma_db_data_science_pdf_chatbot.py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68124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71170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– Sun 31-Oct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71777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1. Agent fundamentals (recap)</a:t>
            </a:r>
          </a:p>
          <a:p>
            <a:r>
              <a:rPr lang="en-GB"/>
              <a:t>Source: 14_advanced\Agentic AI - Advanced Engineering.pptx, slide 147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32734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82</a:t>
            </a:r>
          </a:p>
          <a:p>
            <a:r>
              <a:rPr lang="en-US"/>
              <a:t>Demo: 14_advanced/03_llm_examples/prompting_techniques.py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76785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83</a:t>
            </a:r>
          </a:p>
          <a:p>
            <a:r>
              <a:rPr lang="en-US"/>
              <a:t>Demo: 14_advanced/03_llm_examples/prompting_techniques.py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19349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84</a:t>
            </a:r>
          </a:p>
          <a:p>
            <a:r>
              <a:rPr lang="en-US"/>
              <a:t>Demo: 14_advanced/03_llm_examples/prompting_techniques.py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79655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85</a:t>
            </a:r>
          </a:p>
          <a:p>
            <a:r>
              <a:rPr lang="en-US"/>
              <a:t>Demo: 14_advanced/03_llm_examples/prompting_techniques.py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45062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86</a:t>
            </a:r>
          </a:p>
          <a:p>
            <a:r>
              <a:rPr lang="en-US"/>
              <a:t>Demo: 14_advanced/03_llm_examples/prompting_techniques.py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94593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89</a:t>
            </a:r>
          </a:p>
          <a:p>
            <a:r>
              <a:rPr lang="en-US"/>
              <a:t>Demo: 14_advanced/03_llm_examples/prompting_techniques.py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35673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2. Prompting techniques that drive agents</a:t>
            </a:r>
          </a:p>
          <a:p>
            <a:r>
              <a:rPr lang="en-US"/>
              <a:t>Source: 14_advanced\Agentic AI - Advanced Engineering.pptx, slide 90</a:t>
            </a:r>
          </a:p>
          <a:p>
            <a:r>
              <a:rPr lang="en-US"/>
              <a:t>Demo: 14_advanced/03_llm_examples/prompting_techniques.py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67377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3. Creating custom tools and binding them to an LLM</a:t>
            </a:r>
          </a:p>
          <a:p>
            <a:r>
              <a:rPr lang="en-US"/>
              <a:t>Source: 14_advanced\Agentic AI - Advanced Engineering.pptx, slide 151</a:t>
            </a:r>
          </a:p>
          <a:p>
            <a:r>
              <a:rPr lang="en-US"/>
              <a:t>Demo: 14_advanced/06_langchain_agents/tool_calling.py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45380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3. Creating custom tools and binding them to an LLM</a:t>
            </a:r>
          </a:p>
          <a:p>
            <a:r>
              <a:rPr lang="en-US"/>
              <a:t>Source: 14_advanced\Agentic AI - Advanced Engineering.pptx, slide 152</a:t>
            </a:r>
          </a:p>
          <a:p>
            <a:r>
              <a:rPr lang="en-US"/>
              <a:t>Demo: 14_advanced/06_langchain_agents/tool_calling.py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59914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4. Tools with Pydantic schemas</a:t>
            </a:r>
          </a:p>
          <a:p>
            <a:r>
              <a:rPr lang="en-GB"/>
              <a:t>Source: 14_advanced\Agentic AI - Advanced Engineering.pptx, slide 153</a:t>
            </a:r>
          </a:p>
          <a:p>
            <a:r>
              <a:rPr lang="en-GB"/>
              <a:t>Demo: 14_advanced/06_langchain_agents/tool_calling_pydantic.py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84939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5. AgentExecutor</a:t>
            </a:r>
          </a:p>
          <a:p>
            <a:r>
              <a:rPr lang="en-GB"/>
              <a:t>Source: 14_advanced\Agentic AI - Advanced Engineering.pptx, slide 154</a:t>
            </a:r>
          </a:p>
          <a:p>
            <a:r>
              <a:rPr lang="en-GB"/>
              <a:t>Demo: 14_advanced/06_langchain_agents/agent_executor_serp_gutenberg.py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77570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6. ReAct agent</a:t>
            </a:r>
          </a:p>
          <a:p>
            <a:r>
              <a:rPr lang="en-US"/>
              <a:t>Source: 14_advanced\Agentic AI - Advanced Engineering.pptx, slide 149</a:t>
            </a:r>
          </a:p>
          <a:p>
            <a:r>
              <a:rPr lang="en-US"/>
              <a:t>Demo: 14_advanced/06_langchain_agents/react_agent_web_search_python_repl.py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4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7. Plan-and-Execute agent</a:t>
            </a:r>
          </a:p>
          <a:p>
            <a:r>
              <a:rPr lang="en-US"/>
              <a:t>Source: 14_advanced\Agentic AI - Advanced Engineering.pptx, slide 150</a:t>
            </a:r>
          </a:p>
          <a:p>
            <a:r>
              <a:rPr lang="en-US"/>
              <a:t>Demo: 14_advanced/06_langchain_agents/plan_and_execute_agent.py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29403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8. SQL database agents</a:t>
            </a:r>
          </a:p>
          <a:p>
            <a:r>
              <a:rPr lang="en-GB"/>
              <a:t>Source: 14_advanced\Agentic AI - Advanced Engineering.pptx, slide 155</a:t>
            </a:r>
          </a:p>
          <a:p>
            <a:r>
              <a:rPr lang="en-GB"/>
              <a:t>Demo: 14_advanced/06_langchain_agents/sql_database_toolkit_agent.py, 14_advanced/03_llm_examples/sales_db_agent.py (create_sales_db.py first)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62354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3 | Topic: 9. Multi-step reasoning and tool chaining</a:t>
            </a:r>
          </a:p>
          <a:p>
            <a:r>
              <a:rPr lang="en-GB"/>
              <a:t>Source: 14_advanced\Agentic AI - Advanced Engineering.pptx, slide 156</a:t>
            </a:r>
          </a:p>
          <a:p>
            <a:r>
              <a:rPr lang="en-GB"/>
              <a:t>Demo: 14_advanced/06_langchain_agents/chaining_tool_outputs.py, chaining_tool_outputs_flask.py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35236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3 | Topic: 10. Tool-augmented research agent</a:t>
            </a:r>
          </a:p>
          <a:p>
            <a:r>
              <a:rPr lang="en-US"/>
              <a:t>Source: 15_real\Agentic AI - Real.pptx, slide 82</a:t>
            </a:r>
          </a:p>
          <a:p>
            <a:r>
              <a:rPr lang="en-US"/>
              <a:t>Demo: 15_real/research_agent_tools.py, research_agent_tools_serp.py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51488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02366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– Sat 1-Nov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29406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0_slides\Agentic AI.pptx, slide 167</a:t>
            </a:r>
          </a:p>
          <a:p>
            <a:r>
              <a:rPr lang="en-GB"/>
              <a:t>Demo: 3_langgraph/3_1_not_langgraph_langchain_instead.py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58073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0_slides\Agentic AI.pptx, slide 168</a:t>
            </a:r>
          </a:p>
          <a:p>
            <a:r>
              <a:rPr lang="en-GB"/>
              <a:t>Demo: 3_langgraph/3_1_not_langgraph_langchain_instead.py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02423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1. Why LangGraph</a:t>
            </a:r>
          </a:p>
          <a:p>
            <a:r>
              <a:rPr lang="en-GB"/>
              <a:t>Source: 15_real\Agentic AI - Real.pptx, slide 69</a:t>
            </a:r>
          </a:p>
          <a:p>
            <a:r>
              <a:rPr lang="en-GB"/>
              <a:t>Demo: 3_langgraph/3_1_not_langgraph_langchain_instead.py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35837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0_slides\Agentic AI.pptx, slide 170</a:t>
            </a:r>
          </a:p>
          <a:p>
            <a:r>
              <a:rPr lang="en-GB"/>
              <a:t>Demo: 14_advanced/07_langgraph/greeter_graph.py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97567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14_advanced\Agentic AI - Advanced Engineering.pptx, slide 160</a:t>
            </a:r>
          </a:p>
          <a:p>
            <a:r>
              <a:rPr lang="en-GB"/>
              <a:t>Demo: 14_advanced/07_langgraph/greeter_graph.py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93372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2. Core components: State, nodes, edges</a:t>
            </a:r>
          </a:p>
          <a:p>
            <a:r>
              <a:rPr lang="en-GB"/>
              <a:t>Source: 0_slides\Agentic AI.pptx, slide 171</a:t>
            </a:r>
          </a:p>
          <a:p>
            <a:r>
              <a:rPr lang="en-GB"/>
              <a:t>Demo: Concept slide - no code; 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5426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71</a:t>
            </a:r>
          </a:p>
          <a:p>
            <a:r>
              <a:rPr lang="en-GB"/>
              <a:t>Demo: 3_langgraph/3_1_langgraph_basic.py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80151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72</a:t>
            </a:r>
          </a:p>
          <a:p>
            <a:r>
              <a:rPr lang="en-GB"/>
              <a:t>Demo: 3_langgraph/3_1_langgraph_basic.py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76037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73</a:t>
            </a:r>
          </a:p>
          <a:p>
            <a:r>
              <a:rPr lang="en-GB"/>
              <a:t>Demo: 3_langgraph/3_1_langgraph_basic.py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80569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3. Building the first graph</a:t>
            </a:r>
          </a:p>
          <a:p>
            <a:r>
              <a:rPr lang="en-GB"/>
              <a:t>Source: 15_real\Agentic AI - Real.pptx, slide 74</a:t>
            </a:r>
          </a:p>
          <a:p>
            <a:r>
              <a:rPr lang="en-GB"/>
              <a:t>Demo: 3_langgraph/3_1_langgraph_basic.py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35220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3. Building the first graph</a:t>
            </a:r>
          </a:p>
          <a:p>
            <a:r>
              <a:rPr lang="en-US"/>
              <a:t>Source: 14_advanced\Agentic AI - Advanced Engineering.pptx, slide 161</a:t>
            </a:r>
          </a:p>
          <a:p>
            <a:r>
              <a:rPr lang="en-US"/>
              <a:t>Demo: 3_langgraph/3_1_langgraph_basic.py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82096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4. Reducers</a:t>
            </a:r>
          </a:p>
          <a:p>
            <a:r>
              <a:rPr lang="en-GB"/>
              <a:t>Source: 15_real\Agentic AI - Real.pptx, slide 75</a:t>
            </a:r>
          </a:p>
          <a:p>
            <a:r>
              <a:rPr lang="en-GB"/>
              <a:t>Demo: 15_real/langgraph_reducer_return_policy.py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38928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4. Reducers</a:t>
            </a:r>
          </a:p>
          <a:p>
            <a:r>
              <a:rPr lang="en-GB"/>
              <a:t>Source: 15_real\Agentic AI - Real.pptx, slide 76</a:t>
            </a:r>
          </a:p>
          <a:p>
            <a:r>
              <a:rPr lang="en-GB"/>
              <a:t>Demo: 15_real/langgraph_reducer_return_policy.py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77943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5. Conditional routing</a:t>
            </a:r>
          </a:p>
          <a:p>
            <a:r>
              <a:rPr lang="en-US"/>
              <a:t>Source: 14_advanced\Agentic AI - Advanced Engineering.pptx, slide 162</a:t>
            </a:r>
          </a:p>
          <a:p>
            <a:r>
              <a:rPr lang="en-US"/>
              <a:t>Demo: 14_advanced/07_langgraph/conditional_routing_specialists.py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231492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6. Message graphs</a:t>
            </a:r>
          </a:p>
          <a:p>
            <a:r>
              <a:rPr lang="en-GB"/>
              <a:t>Source: 14_advanced\Agentic AI - Advanced Engineering.pptx, slide 163</a:t>
            </a:r>
          </a:p>
          <a:p>
            <a:r>
              <a:rPr lang="en-GB"/>
              <a:t>Demo: 14_advanced/07_langgraph/message_graph_bank_faq.py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462524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4 | Topic: 7. Streaming</a:t>
            </a:r>
          </a:p>
          <a:p>
            <a:r>
              <a:rPr lang="en-US"/>
              <a:t>Source: 14_advanced\Agentic AI - Advanced Engineering.pptx, slide 164</a:t>
            </a:r>
          </a:p>
          <a:p>
            <a:r>
              <a:rPr lang="en-US"/>
              <a:t>Demo: 14_advanced/07_langgraph/streaming_stock_recommendation.py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45708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14_advanced\Agentic AI - Advanced Engineering.pptx, slide 165</a:t>
            </a:r>
          </a:p>
          <a:p>
            <a:r>
              <a:rPr lang="en-GB"/>
              <a:t>Demo: 14_advanced/07_langgraph/langgraph.json, stock_price_graph.py, stock_news_sentiment_graph.py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04931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174</a:t>
            </a:r>
          </a:p>
          <a:p>
            <a:r>
              <a:rPr lang="en-GB"/>
              <a:t>Demo: 3_langgraph/3_2_langgraph_news_summarizer.py (+ _ollama/_gemini versions), 3_2_3_langgraph_company_sector_outlook.py, 3_3_1_langgraph_code_review_planner_agent.py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09313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175</a:t>
            </a:r>
          </a:p>
          <a:p>
            <a:r>
              <a:rPr lang="en-GB"/>
              <a:t>Demo: 3_langgraph/3_2_langgraph_news_summarizer.py (+ _ollama/_gemini versions), 3_2_3_langgraph_company_sector_outlook.py, 3_3_1_langgraph_code_review_planner_agent.py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28068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176</a:t>
            </a:r>
          </a:p>
          <a:p>
            <a:r>
              <a:rPr lang="en-GB"/>
              <a:t>Demo: 3_langgraph/3_2_langgraph_news_summarizer.py (+ _ollama/_gemini versions), 3_2_3_langgraph_company_sector_outlook.py, 3_3_1_langgraph_code_review_planner_agent.py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86895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177</a:t>
            </a:r>
          </a:p>
          <a:p>
            <a:r>
              <a:rPr lang="en-GB"/>
              <a:t>Demo: 3_langgraph/3_2_langgraph_news_summarizer.py (+ _ollama/_gemini versions), 3_2_3_langgraph_company_sector_outlook.py, 3_3_1_langgraph_code_review_planner_agent.py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19631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4 | Topic: 8. Multi-node pipelines and LangGraph Studio</a:t>
            </a:r>
          </a:p>
          <a:p>
            <a:r>
              <a:rPr lang="en-GB"/>
              <a:t>Source: 0_slides\Agentic AI.pptx, slide 178</a:t>
            </a:r>
          </a:p>
          <a:p>
            <a:r>
              <a:rPr lang="en-GB"/>
              <a:t>Demo: 3_langgraph/3_2_langgraph_news_summarizer.py (+ _ollama/_gemini versions), 3_2_3_langgraph_company_sector_outlook.py, 3_3_1_langgraph_code_review_planner_agent.py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95023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921986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– Sun 7-Nov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887258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1. Cycles and loops</a:t>
            </a:r>
          </a:p>
          <a:p>
            <a:r>
              <a:rPr lang="en-GB"/>
              <a:t>Source: 0_slides\Agentic AI.pptx, slide 179</a:t>
            </a:r>
          </a:p>
          <a:p>
            <a:r>
              <a:rPr lang="en-GB"/>
              <a:t>Demo: 3_langgraph/3_12_langgraph_looping_agents.py.py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03947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1. Cycles and loops</a:t>
            </a:r>
          </a:p>
          <a:p>
            <a:r>
              <a:rPr lang="en-GB"/>
              <a:t>Source: 14_advanced\Agentic AI - Advanced Engineering.pptx, slide 168</a:t>
            </a:r>
          </a:p>
          <a:p>
            <a:r>
              <a:rPr lang="en-GB"/>
              <a:t>Demo: 3_langgraph/3_3_0_langgraph_code_review.py, 14_advanced/08_langgraph_cycles_HIL_persistence/order_processing_state_machine.py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92920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14_advanced\Agentic AI - Advanced Engineering.pptx, slide 169</a:t>
            </a:r>
          </a:p>
          <a:p>
            <a:r>
              <a:rPr lang="en-US"/>
              <a:t>Demo: 14_advanced/08_langgraph_cycles_HIL_persistence/human_approval_gate.py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911220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14_advanced\Agentic AI - Advanced Engineering.pptx, slide 170</a:t>
            </a:r>
          </a:p>
          <a:p>
            <a:r>
              <a:rPr lang="en-US"/>
              <a:t>Demo: 14_advanced/08_langgraph_cycles_HIL_persistence/human_approval_gate.py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09755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15_real\Agentic AI - Real.pptx, slide 102</a:t>
            </a:r>
          </a:p>
          <a:p>
            <a:r>
              <a:rPr lang="en-US"/>
              <a:t>Demo: 15_real/support_ticketing_agent_hitl.py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73390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5 | Topic: 2. Human-in-the-loop (HITL)</a:t>
            </a:r>
          </a:p>
          <a:p>
            <a:r>
              <a:rPr lang="en-US"/>
              <a:t>Source: 15_real\Agentic AI - Real.pptx, slide 103</a:t>
            </a:r>
          </a:p>
          <a:p>
            <a:r>
              <a:rPr lang="en-US"/>
              <a:t>Demo: 15_real/support_ticketing_agent_hitl.py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164348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3. Checkpointers and persistence</a:t>
            </a:r>
          </a:p>
          <a:p>
            <a:r>
              <a:rPr lang="en-GB"/>
              <a:t>Source: 15_real\Agentic AI - Real.pptx, slide 79</a:t>
            </a:r>
          </a:p>
          <a:p>
            <a:r>
              <a:rPr lang="en-GB"/>
              <a:t>Demo: 3_langgraph/3_4_langgraph_memory.py, 14_advanced/08_langgraph_cycles_HIL_persistence/sqlite_checkpointing_crash_recovery.py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06510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4. State schema design</a:t>
            </a:r>
          </a:p>
          <a:p>
            <a:r>
              <a:rPr lang="en-GB"/>
              <a:t>Source: 15_real\Agentic AI - Real.pptx, slide 98</a:t>
            </a:r>
          </a:p>
          <a:p>
            <a:r>
              <a:rPr lang="en-GB"/>
              <a:t>Demo: 15_real/langgraph_reducer_return_policy.py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74779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4. State schema design</a:t>
            </a:r>
          </a:p>
          <a:p>
            <a:r>
              <a:rPr lang="en-GB"/>
              <a:t>Source: 15_real\Agentic AI - Real.pptx, slide 99</a:t>
            </a:r>
          </a:p>
          <a:p>
            <a:r>
              <a:rPr lang="en-GB"/>
              <a:t>Demo: 15_real/langgraph_reducer_return_policy.py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6917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5. Subgraphs</a:t>
            </a:r>
          </a:p>
          <a:p>
            <a:r>
              <a:rPr lang="en-GB"/>
              <a:t>Source: 14_advanced\Agentic AI - Advanced Engineering.pptx, slide 172</a:t>
            </a:r>
          </a:p>
          <a:p>
            <a:r>
              <a:rPr lang="en-GB"/>
              <a:t>Demo: 14_advanced/08_langgraph_cycles_HIL_persistence/simple_subgraph_example.py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194607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5 | Topic: 6. Guardrails in LangGraph</a:t>
            </a:r>
          </a:p>
          <a:p>
            <a:r>
              <a:rPr lang="en-GB"/>
              <a:t>Source: 15_real\Agentic AI - Real.pptx, slide 80</a:t>
            </a:r>
          </a:p>
          <a:p>
            <a:r>
              <a:rPr lang="en-GB"/>
              <a:t>Demo: 3_langgraph/3_10_1_langgraph_create_guardrails.py, 3_10_2_langgraph_test_guardrails_flask.py, 3_10_3_langgraph_guardrails_bank_flask.py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476905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57205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– Sat 8-Nov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15960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0_slides\Agentic AI.pptx, slide 181</a:t>
            </a:r>
          </a:p>
          <a:p>
            <a:r>
              <a:rPr lang="en-GB"/>
              <a:t>Demo: 14_advanced/13_crew_ai/13_1_crewai_basics.py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430678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0_slides\Agentic AI.pptx, slide 182</a:t>
            </a:r>
          </a:p>
          <a:p>
            <a:r>
              <a:rPr lang="en-GB"/>
              <a:t>Demo: 14_advanced/13_crew_ai/13_1_crewai_basics.py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21007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1. CrewAI concepts</a:t>
            </a:r>
          </a:p>
          <a:p>
            <a:r>
              <a:rPr lang="en-GB"/>
              <a:t>Source: 14_advanced\Agentic AI - Advanced Engineering.pptx, slide 219</a:t>
            </a:r>
          </a:p>
          <a:p>
            <a:r>
              <a:rPr lang="en-GB"/>
              <a:t>Demo: 14_advanced/13_crew_ai/13_1_crewai_basics.py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59393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2. Building crews for real tasks</a:t>
            </a:r>
          </a:p>
          <a:p>
            <a:r>
              <a:rPr lang="en-GB"/>
              <a:t>Source: 0_slides\Agentic AI.pptx, slide 183</a:t>
            </a:r>
          </a:p>
          <a:p>
            <a:r>
              <a:rPr lang="en-GB"/>
              <a:t>Demo: 4_crewai/4_1_crewai_document_generator.py, 4_2_crewai_log_analyzer.py, 4_4_crewai_cloud_bill.py, 4_6_crewai_stock_analysis_flask.py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35065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2. Building crews for real tasks</a:t>
            </a:r>
          </a:p>
          <a:p>
            <a:r>
              <a:rPr lang="en-GB"/>
              <a:t>Source: 0_slides\Agentic AI.pptx, slide 184</a:t>
            </a:r>
          </a:p>
          <a:p>
            <a:r>
              <a:rPr lang="en-GB"/>
              <a:t>Demo: 4_crewai/4_1_crewai_document_generator.py, 4_2_crewai_log_analyzer.py, 4_4_crewai_cloud_bill.py, 4_6_crewai_stock_analysis_flask.py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91080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220</a:t>
            </a:r>
          </a:p>
          <a:p>
            <a:r>
              <a:rPr lang="en-US"/>
              <a:t>Demo: 14_advanced/13_crew_ai/13_2_crew_vs_flow.py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51955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221</a:t>
            </a:r>
          </a:p>
          <a:p>
            <a:r>
              <a:rPr lang="en-US"/>
              <a:t>Demo: 14_advanced/13_crew_ai/13_2_crew_vs_flow.py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89483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222</a:t>
            </a:r>
          </a:p>
          <a:p>
            <a:r>
              <a:rPr lang="en-US"/>
              <a:t>Demo: 14_advanced/13_crew_ai/13_2_crew_vs_flow.py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232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223</a:t>
            </a:r>
          </a:p>
          <a:p>
            <a:r>
              <a:rPr lang="en-US"/>
              <a:t>Demo: 14_advanced/13_crew_ai/13_2_crew_vs_flow.py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394522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3. Crew vs Flow, and conditional routing</a:t>
            </a:r>
          </a:p>
          <a:p>
            <a:r>
              <a:rPr lang="en-US"/>
              <a:t>Source: 14_advanced\Agentic AI - Advanced Engineering.pptx, slide 224</a:t>
            </a:r>
          </a:p>
          <a:p>
            <a:r>
              <a:rPr lang="en-US"/>
              <a:t>Demo: 14_advanced/13_crew_ai/13_2_crew_vs_flow.py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61802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4. Hierarchical crews and manager agents</a:t>
            </a:r>
          </a:p>
          <a:p>
            <a:r>
              <a:rPr lang="en-US"/>
              <a:t>Source: 14_advanced\Agentic AI - Advanced Engineering.pptx, slide 225</a:t>
            </a:r>
          </a:p>
          <a:p>
            <a:r>
              <a:rPr lang="en-US"/>
              <a:t>Demo: 14_advanced/13_crew_ai/13_3_hierarchical_crew.py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047410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5. Human-in-the-loop and controlled autonomy</a:t>
            </a:r>
          </a:p>
          <a:p>
            <a:r>
              <a:rPr lang="en-US"/>
              <a:t>Source: 14_advanced\Agentic AI - Advanced Engineering.pptx, slide 226</a:t>
            </a:r>
          </a:p>
          <a:p>
            <a:r>
              <a:rPr lang="en-US"/>
              <a:t>Demo: 14_advanced/13_crew_ai/13_4_human_in_the_loop.py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871873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6. Memory and knowledge</a:t>
            </a:r>
          </a:p>
          <a:p>
            <a:r>
              <a:rPr lang="en-US"/>
              <a:t>Source: 14_advanced\Agentic AI - Advanced Engineering.pptx, slide 227</a:t>
            </a:r>
          </a:p>
          <a:p>
            <a:r>
              <a:rPr lang="en-US"/>
              <a:t>Demo: 14_advanced/13_crew_ai/13_5_memory_and_knowledge.py, 4_crewai/4_3_crewai_With_Memory.py vs 4_3_crewai_Without_Memory.py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90551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6 | Topic: 7. Structured outputs and agent-to-agent communication</a:t>
            </a:r>
          </a:p>
          <a:p>
            <a:r>
              <a:rPr lang="en-US"/>
              <a:t>Source: 14_advanced\Agentic AI - Advanced Engineering.pptx, slide 228</a:t>
            </a:r>
          </a:p>
          <a:p>
            <a:r>
              <a:rPr lang="en-US"/>
              <a:t>Demo: 14_advanced/13_crew_ai/13_6_structured_outputs.py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244124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8. Guardrails, error handling and reliability</a:t>
            </a:r>
          </a:p>
          <a:p>
            <a:r>
              <a:rPr lang="en-GB"/>
              <a:t>Source: 14_advanced\Agentic AI - Advanced Engineering.pptx, slide 229</a:t>
            </a:r>
          </a:p>
          <a:p>
            <a:r>
              <a:rPr lang="en-GB"/>
              <a:t>Demo: 14_advanced/13_crew_ai/13_7_guardrails_and_reliability.py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605163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6 | Topic: 9. Observability for crews</a:t>
            </a:r>
          </a:p>
          <a:p>
            <a:r>
              <a:rPr lang="en-GB"/>
              <a:t>Source: 0_slides\Agentic AI.pptx, slide 185</a:t>
            </a:r>
          </a:p>
          <a:p>
            <a:r>
              <a:rPr lang="en-GB"/>
              <a:t>Demo: 4_crewai/4_5_crewai_observability.py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432919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4835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– Sun 14-Nov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395407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1. AutoGen overview</a:t>
            </a:r>
          </a:p>
          <a:p>
            <a:r>
              <a:rPr lang="en-GB"/>
              <a:t>Source: 0_slides\Agentic AI.pptx, slide 187</a:t>
            </a:r>
          </a:p>
          <a:p>
            <a:r>
              <a:rPr lang="en-GB"/>
              <a:t>Demo: 5_autogen/5_1_autogen_basic.py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341393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1. AutoGen overview</a:t>
            </a:r>
          </a:p>
          <a:p>
            <a:r>
              <a:rPr lang="en-GB"/>
              <a:t>Source: 0_slides\Agentic AI.pptx, slide 188</a:t>
            </a:r>
          </a:p>
          <a:p>
            <a:r>
              <a:rPr lang="en-GB"/>
              <a:t>Demo: 5_autogen/5_1_autogen_basic.py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281945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2. AssistantAgent and tools</a:t>
            </a:r>
          </a:p>
          <a:p>
            <a:r>
              <a:rPr lang="en-GB"/>
              <a:t>Source: 0_slides\Agentic AI.pptx, slide 189</a:t>
            </a:r>
          </a:p>
          <a:p>
            <a:r>
              <a:rPr lang="en-GB"/>
              <a:t>Demo: 5_autogen/5_2_autogen_forex_api.py, 5_3_autogen_forex_api_text_message.py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63026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2. AssistantAgent and tools</a:t>
            </a:r>
          </a:p>
          <a:p>
            <a:r>
              <a:rPr lang="en-GB"/>
              <a:t>Source: 0_slides\Agentic AI.pptx, slide 190</a:t>
            </a:r>
          </a:p>
          <a:p>
            <a:r>
              <a:rPr lang="en-GB"/>
              <a:t>Demo: 5_autogen/5_2_autogen_forex_api.py, 5_3_autogen_forex_api_text_message.py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989809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3. Synchronous vs asynchronous agents</a:t>
            </a:r>
          </a:p>
          <a:p>
            <a:r>
              <a:rPr lang="en-GB"/>
              <a:t>Source: 0_slides\Agentic AI.pptx, slide 191</a:t>
            </a:r>
          </a:p>
          <a:p>
            <a:r>
              <a:rPr lang="en-GB"/>
              <a:t>Demo: 5_autogen/5_5_autogen_synchronous_agents.py, 5_6_autogen_asynchronous_agents.py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0285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4. Structured output</a:t>
            </a:r>
          </a:p>
          <a:p>
            <a:r>
              <a:rPr lang="en-GB"/>
              <a:t>Source: 0_slides\Agentic AI.pptx, slide 192</a:t>
            </a:r>
          </a:p>
          <a:p>
            <a:r>
              <a:rPr lang="en-GB"/>
              <a:t>Demo: 5_autogen/5_7_autogen_structured_output.py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411300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6. Teams / group chats</a:t>
            </a:r>
          </a:p>
          <a:p>
            <a:r>
              <a:rPr lang="en-GB"/>
              <a:t>Source: 0_slides\Agentic AI.pptx, slide 193</a:t>
            </a:r>
          </a:p>
          <a:p>
            <a:r>
              <a:rPr lang="en-GB"/>
              <a:t>Demo: 5_autogen/5_8_autogen_round_robin_group_chat.py, 5_9_autogen_selector_group_chat.py, 5_10_autogen_magentic_group_chat.py, 5_11_autogen_recession_claim.py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574347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7. GraphFlow</a:t>
            </a:r>
          </a:p>
          <a:p>
            <a:r>
              <a:rPr lang="en-GB"/>
              <a:t>Source: 0_slides\Agentic AI.pptx, slide 194</a:t>
            </a:r>
          </a:p>
          <a:p>
            <a:r>
              <a:rPr lang="en-GB"/>
              <a:t>Demo: 5_autogen/5_12_autogen_graphflow.py, 5_13_autogen_graphflow_parallel_join.py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00486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7 | Topic: 8. Memory</a:t>
            </a:r>
          </a:p>
          <a:p>
            <a:r>
              <a:rPr lang="en-GB"/>
              <a:t>Source: 0_slides\Agentic AI.pptx, slide 195</a:t>
            </a:r>
          </a:p>
          <a:p>
            <a:r>
              <a:rPr lang="en-GB"/>
              <a:t>Demo: 5_autogen/5_14_autogen_memory.py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067915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814936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– Sat 15-Nov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341465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231</a:t>
            </a:r>
          </a:p>
          <a:p>
            <a:r>
              <a:rPr lang="en-GB"/>
              <a:t>Demo: 3_langgraph/3_1_rag_hallucination_eval.py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211700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232</a:t>
            </a:r>
          </a:p>
          <a:p>
            <a:r>
              <a:rPr lang="en-GB"/>
              <a:t>Demo: 3_langgraph/3_1_rag_hallucination_eval.py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095339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1. RAG failure modes and advanced approaches</a:t>
            </a:r>
          </a:p>
          <a:p>
            <a:r>
              <a:rPr lang="en-GB"/>
              <a:t>Source: 14_advanced\Agentic AI - Advanced Engineering.pptx, slide 233</a:t>
            </a:r>
          </a:p>
          <a:p>
            <a:r>
              <a:rPr lang="en-GB"/>
              <a:t>Demo: 3_langgraph/3_1_rag_hallucination_eval.py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057017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85</a:t>
            </a:r>
          </a:p>
          <a:p>
            <a:r>
              <a:rPr lang="en-GB"/>
              <a:t>Demo: 15_real/traditional_vs_agentic_rag.py, traditional_vs_agentic_rag_serp.py, 2_openai_agents/2_11_openai_agent_traditional_rag.py vs 2_11_openai_agent_agentic_rag.py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743483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86</a:t>
            </a:r>
          </a:p>
          <a:p>
            <a:r>
              <a:rPr lang="en-GB"/>
              <a:t>Demo: 15_real/traditional_vs_agentic_rag.py, traditional_vs_agentic_rag_serp.py, 2_openai_agents/2_11_openai_agent_traditional_rag.py vs 2_11_openai_agent_agentic_rag.py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25104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2. Traditional RAG vs agentic RAG</a:t>
            </a:r>
          </a:p>
          <a:p>
            <a:r>
              <a:rPr lang="en-GB"/>
              <a:t>Source: 15_real\Agentic AI - Real.pptx, slide 87</a:t>
            </a:r>
          </a:p>
          <a:p>
            <a:r>
              <a:rPr lang="en-GB"/>
              <a:t>Demo: 15_real/adaptive_retrieval_strategies.py, adaptive_retrieval_strategies_serp.py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848127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3. Retrieval + reasoning</a:t>
            </a:r>
          </a:p>
          <a:p>
            <a:r>
              <a:rPr lang="en-GB"/>
              <a:t>Source: 15_real\Agentic AI - Real.pptx, slide 89</a:t>
            </a:r>
          </a:p>
          <a:p>
            <a:r>
              <a:rPr lang="en-GB"/>
              <a:t>Demo: 15_real/loan_eligibility_rag_reasoning.py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53920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3. Retrieval + reasoning</a:t>
            </a:r>
          </a:p>
          <a:p>
            <a:r>
              <a:rPr lang="en-GB"/>
              <a:t>Source: 15_real\Agentic AI - Real.pptx, slide 90</a:t>
            </a:r>
          </a:p>
          <a:p>
            <a:r>
              <a:rPr lang="en-GB"/>
              <a:t>Demo: 15_real/loan_eligibility_rag_reasoning.py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783174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8 | Topic: 4. Self-RAG</a:t>
            </a:r>
          </a:p>
          <a:p>
            <a:r>
              <a:rPr lang="en-US"/>
              <a:t>Source: 14_advanced\Agentic AI - Advanced Engineering.pptx, slide 242</a:t>
            </a:r>
          </a:p>
          <a:p>
            <a:r>
              <a:rPr lang="en-US"/>
              <a:t>Demo: 14_advanced/14_agentic_rag_graph_rag/14_2_self_rag.py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506825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5. Corrective RAG (CRAG)</a:t>
            </a:r>
          </a:p>
          <a:p>
            <a:r>
              <a:rPr lang="en-GB"/>
              <a:t>Source: 14_advanced\Agentic AI - Advanced Engineering.pptx, slide 243</a:t>
            </a:r>
          </a:p>
          <a:p>
            <a:r>
              <a:rPr lang="en-GB"/>
              <a:t>Demo: 14_advanced/14_agentic_rag_graph_rag/14_3_corrective_rag.py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368497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6. Re-ranking retrieved chunks</a:t>
            </a:r>
          </a:p>
          <a:p>
            <a:r>
              <a:rPr lang="en-GB"/>
              <a:t>Source: 14_advanced\Agentic AI - Advanced Engineering.pptx, slide 244</a:t>
            </a:r>
          </a:p>
          <a:p>
            <a:r>
              <a:rPr lang="en-GB"/>
              <a:t>Demo: 14_advanced/14_agentic_rag_graph_rag/14_4_cohere_reranking.py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382822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8 | Topic: 7. Hybrid search</a:t>
            </a:r>
          </a:p>
          <a:p>
            <a:r>
              <a:rPr lang="en-US"/>
              <a:t>Source: 14_advanced\Agentic AI - Advanced Engineering.pptx, slide 124</a:t>
            </a:r>
          </a:p>
          <a:p>
            <a:r>
              <a:rPr lang="en-US"/>
              <a:t>Demo: 14_advanced/04_rag/hybrid_search.py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008624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7. Hybrid search</a:t>
            </a:r>
          </a:p>
          <a:p>
            <a:r>
              <a:rPr lang="en-GB"/>
              <a:t>Source: 14_advanced\Agentic AI - Advanced Engineering.pptx, slide 249</a:t>
            </a:r>
          </a:p>
          <a:p>
            <a:r>
              <a:rPr lang="en-GB"/>
              <a:t>Demo: 14_advanced/14_agentic_rag_graph_rag/14_9_hybrid_search.py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50530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8. GraphRAG</a:t>
            </a:r>
          </a:p>
          <a:p>
            <a:r>
              <a:rPr lang="en-GB"/>
              <a:t>Source: 14_advanced\Agentic AI - Advanced Engineering.pptx, slide 247</a:t>
            </a:r>
          </a:p>
          <a:p>
            <a:r>
              <a:rPr lang="en-GB"/>
              <a:t>Demo: 14_advanced/14_agentic_rag_graph_rag/14_7_graph_rag.py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30980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9. Multi-hop reasoning</a:t>
            </a:r>
          </a:p>
          <a:p>
            <a:r>
              <a:rPr lang="en-GB"/>
              <a:t>Source: 14_advanced\Agentic AI - Advanced Engineering.pptx, slide 248</a:t>
            </a:r>
          </a:p>
          <a:p>
            <a:r>
              <a:rPr lang="en-GB"/>
              <a:t>Demo: 14_advanced/14_agentic_rag_graph_rag/14_8_multi_hop_reasoning.py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806298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234</a:t>
            </a:r>
          </a:p>
          <a:p>
            <a:r>
              <a:rPr lang="en-GB"/>
              <a:t>Demo: 14_advanced/14_agentic_rag_graph_rag/14_1_ragas_evaluation.py, 15_real/ragas_evaluation.py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26431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235</a:t>
            </a:r>
          </a:p>
          <a:p>
            <a:r>
              <a:rPr lang="en-GB"/>
              <a:t>Demo: 14_advanced/14_agentic_rag_graph_rag/14_1_ragas_evaluation.py, 15_real/ragas_evaluation.py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29949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236</a:t>
            </a:r>
          </a:p>
          <a:p>
            <a:r>
              <a:rPr lang="en-GB"/>
              <a:t>Demo: 14_advanced/14_agentic_rag_graph_rag/14_1_ragas_evaluation.py, 15_real/ragas_evaluation.py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454402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237</a:t>
            </a:r>
          </a:p>
          <a:p>
            <a:r>
              <a:rPr lang="en-GB"/>
              <a:t>Demo: 14_advanced/14_agentic_rag_graph_rag/14_1_ragas_evaluation.py, 15_real/ragas_evaluation.py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940367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238</a:t>
            </a:r>
          </a:p>
          <a:p>
            <a:r>
              <a:rPr lang="en-GB"/>
              <a:t>Demo: 14_advanced/14_agentic_rag_graph_rag/14_1_ragas_evaluation.py, 15_real/ragas_evaluation.py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645263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239</a:t>
            </a:r>
          </a:p>
          <a:p>
            <a:r>
              <a:rPr lang="en-GB"/>
              <a:t>Demo: 14_advanced/14_agentic_rag_graph_rag/14_1_ragas_evaluation.py, 15_real/ragas_evaluation.py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30429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240</a:t>
            </a:r>
          </a:p>
          <a:p>
            <a:r>
              <a:rPr lang="en-GB"/>
              <a:t>Demo: 14_advanced/14_agentic_rag_graph_rag/14_1_ragas_evaluation.py, 15_real/ragas_evaluation.py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100496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8 | Topic: 10. Evaluating RAG with RAGAS</a:t>
            </a:r>
          </a:p>
          <a:p>
            <a:r>
              <a:rPr lang="en-GB"/>
              <a:t>Source: 14_advanced\Agentic AI - Advanced Engineering.pptx, slide 241</a:t>
            </a:r>
          </a:p>
          <a:p>
            <a:r>
              <a:rPr lang="en-GB"/>
              <a:t>Demo: 14_advanced/14_agentic_rag_graph_rag/14_1_ragas_evaluation.py, 15_real/ragas_evaluation.py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914168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Start of Session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724054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– Sun 21-Nov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421326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1. What makes an agent "deep"</a:t>
            </a:r>
          </a:p>
          <a:p>
            <a:r>
              <a:rPr lang="en-US"/>
              <a:t>Source: 14_advanced\Agentic AI - Advanced Engineering.pptx, slide 206</a:t>
            </a:r>
          </a:p>
          <a:p>
            <a:r>
              <a:rPr lang="en-US"/>
              <a:t>Demo: Concept slide - no code; discuss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769386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2. Self-reflection loops</a:t>
            </a:r>
          </a:p>
          <a:p>
            <a:r>
              <a:rPr lang="en-GB"/>
              <a:t>Source: 14_advanced\Agentic AI - Advanced Engineering.pptx, slide 207</a:t>
            </a:r>
          </a:p>
          <a:p>
            <a:r>
              <a:rPr lang="en-GB"/>
              <a:t>Demo: 2_openai_agents/2_0_4_openai_agent_pattern_reflection.py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0730155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3. Multi-turn reflection with a quality threshold</a:t>
            </a:r>
          </a:p>
          <a:p>
            <a:r>
              <a:rPr lang="en-US"/>
              <a:t>Source: 14_advanced\Agentic AI - Advanced Engineering.pptx, slide 208</a:t>
            </a:r>
          </a:p>
          <a:p>
            <a:r>
              <a:rPr lang="en-US"/>
              <a:t>Demo: 14_advanced/12_deep_agents/meal_plan_reflection.py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873929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4. Plan-and-Execute</a:t>
            </a:r>
          </a:p>
          <a:p>
            <a:r>
              <a:rPr lang="en-US"/>
              <a:t>Source: 14_advanced\Agentic AI - Advanced Engineering.pptx, slide 209</a:t>
            </a:r>
          </a:p>
          <a:p>
            <a:r>
              <a:rPr lang="en-US"/>
              <a:t>Demo: 14_advanced/12_deep_agents/study_plan_plan_execute.py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984950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5. Replanning</a:t>
            </a:r>
          </a:p>
          <a:p>
            <a:r>
              <a:rPr lang="en-US"/>
              <a:t>Source: 14_advanced\Agentic AI - Advanced Engineering.pptx, slide 210</a:t>
            </a:r>
          </a:p>
          <a:p>
            <a:r>
              <a:rPr lang="en-US"/>
              <a:t>Demo: 14_advanced/12_deep_agents/pathology_report_replanning.py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931675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6. ReAct vs Plan-and-Execute</a:t>
            </a:r>
          </a:p>
          <a:p>
            <a:r>
              <a:rPr lang="en-GB"/>
              <a:t>Source: 14_advanced\Agentic AI - Advanced Engineering.pptx, slide 211</a:t>
            </a:r>
          </a:p>
          <a:p>
            <a:r>
              <a:rPr lang="en-GB"/>
              <a:t>Demo: 2_openai_agents/2_0_3_openai_agent_pattern_react.py vs 2_0_2_openai_agent_pattern_plan.py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419089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15_real\Agentic AI - Real.pptx, slide 96</a:t>
            </a:r>
          </a:p>
          <a:p>
            <a:r>
              <a:rPr lang="en-GB"/>
              <a:t>Demo: 15_real/agent_memory_short_term_langgraph.py, agent_memory_short_to_long_term_langgraph.py, agent_memory_short_to_external_sqlite_langgraph.py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69888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15_real\Agentic AI - Real.pptx, slide 97</a:t>
            </a:r>
          </a:p>
          <a:p>
            <a:r>
              <a:rPr lang="en-GB"/>
              <a:t>Demo: 15_real/agent_memory_short_term_langgraph.py, agent_memory_short_to_long_term_langgraph.py, agent_memory_short_to_external_sqlite_langgraph.py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199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215299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7. Long-term memory types</a:t>
            </a:r>
          </a:p>
          <a:p>
            <a:r>
              <a:rPr lang="en-GB"/>
              <a:t>Source: 14_advanced\Agentic AI - Advanced Engineering.pptx, slide 212</a:t>
            </a:r>
          </a:p>
          <a:p>
            <a:r>
              <a:rPr lang="en-GB"/>
              <a:t>Demo: 15_real/agent_memory_semantic_langgraph.py, agent_memory_procedural_langgraph.py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667189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8. Episodic memory</a:t>
            </a:r>
          </a:p>
          <a:p>
            <a:r>
              <a:rPr lang="en-GB"/>
              <a:t>Source: 14_advanced\Agentic AI - Advanced Engineering.pptx, slide 213</a:t>
            </a:r>
          </a:p>
          <a:p>
            <a:r>
              <a:rPr lang="en-GB"/>
              <a:t>Demo: 14_advanced/12_deep_agents/episodic_memory_store.py, 15_real/agent_memory_episodic_langgraph.py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385593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9. Memory consolidation</a:t>
            </a:r>
          </a:p>
          <a:p>
            <a:r>
              <a:rPr lang="en-US"/>
              <a:t>Source: 14_advanced\Agentic AI - Advanced Engineering.pptx, slide 214</a:t>
            </a:r>
          </a:p>
          <a:p>
            <a:r>
              <a:rPr lang="en-US"/>
              <a:t>Demo: 14_advanced/12_deep_agents/memory_consolidation.py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035026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10. Context propagation and trimming</a:t>
            </a:r>
          </a:p>
          <a:p>
            <a:r>
              <a:rPr lang="en-GB"/>
              <a:t>Source: 15_real\Agentic AI - Real.pptx, slide 100</a:t>
            </a:r>
          </a:p>
          <a:p>
            <a:r>
              <a:rPr lang="en-GB"/>
              <a:t>Demo: 15_real/context_management_strategies.py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7508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Session 9 | Topic: 10. Context propagation and trimming</a:t>
            </a:r>
          </a:p>
          <a:p>
            <a:r>
              <a:rPr lang="en-GB"/>
              <a:t>Source: 15_real\Agentic AI - Real.pptx, slide 101</a:t>
            </a:r>
          </a:p>
          <a:p>
            <a:r>
              <a:rPr lang="en-GB"/>
              <a:t>Demo: 15_real/context_management_strategies.py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17094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11. Self-improvement from failures</a:t>
            </a:r>
          </a:p>
          <a:p>
            <a:r>
              <a:rPr lang="en-US"/>
              <a:t>Source: 14_advanced\Agentic AI - Advanced Engineering.pptx, slide 216</a:t>
            </a:r>
          </a:p>
          <a:p>
            <a:r>
              <a:rPr lang="en-US"/>
              <a:t>Demo: 14_advanced/12_deep_agents/self_improving_agent.py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998079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Session 9 | Topic: 12. Unified architecture: reflection + planning + memory</a:t>
            </a:r>
          </a:p>
          <a:p>
            <a:r>
              <a:rPr lang="en-US"/>
              <a:t>Source: 14_advanced\Agentic AI - Advanced Engineering.pptx, slide 217</a:t>
            </a:r>
          </a:p>
          <a:p>
            <a:r>
              <a:rPr lang="en-US"/>
              <a:t>Demo: 15_real/personal_memory_assistant.py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8A140-A7AC-4CD6-9D56-8FFA9C61BCE7}" type="slidenum">
              <a:rPr lang="en-GB" smtClean="0"/>
              <a:t>206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685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5120-1FF5-3485-EB2C-7103A1867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3FA97-FD3E-EE67-BFF4-0EEBB2AF3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F2140-428B-4D4E-93AB-2EF353DD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3414-F8EB-B5E8-7189-5B76300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F9C38-7A37-3FCF-ECBF-95D8E45C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7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C993-EE6D-4A3E-E7A5-2BB7B7CD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7185B-6097-E3BC-E76C-DF6E4DB40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25931-50CF-32C9-1ACC-3C630FF0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6F32D-CC0E-00E1-6E2D-E19A53B8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64506-18DA-0E24-B7B5-F53DEE97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54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B6B3-6B70-221D-AF36-1E9A3319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EE239-AABE-4051-43C1-F9D9CB10C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276C-37ED-0767-BCE9-D43BB64A9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349ED-5E79-10F4-CE4C-AE6DC3D6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496E-3C05-9099-1746-51C9F89C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41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C4CC-E0A4-5D12-749B-DA19680D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BB02-3205-B623-47F3-D48126817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7DFB1-D6F4-9F56-E978-4255289F4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DA6C4-3FFD-CD46-EB74-F3FC7812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A56E6-0ABF-FDD6-C273-4D501695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94914-AF9C-FEF2-D985-23D47B2A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51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654F-5965-D715-D248-C012948D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C81FF-E507-6507-24AB-9AC5A0F1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B8E01-B705-2D9C-27FC-AF329B346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D61D6-9FC6-87E8-6475-7038441D0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A6000-1E85-4791-CF57-05ABE65BD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F5401-01B5-CB77-9542-2BC7CD46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671B0-6D76-A6EC-7327-877EB3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7E5E6-59C9-F3F0-1B26-DA4A7A21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86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302F-935B-37CC-EC9A-762E97AD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524BF-F351-5B40-70CD-3143C5B4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F7CF0-6FD6-C632-0C4B-86FF0982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A5CF8-7960-52DD-9534-33604905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48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BDAC7-8F17-7ABB-C1D2-DE0043F5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B05A0-AEDE-BC2A-D3E3-CBA70D52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71F46-77AF-6AB2-8A06-2034390C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5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833D-CDED-D5E8-4AE0-C9683959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65A7-633A-D71D-5506-391F6CDD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E466B-6DB6-9F77-5962-D67392D6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659AD-FE7C-0CF4-89B5-B867E2D5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4523A-CCCB-E5DA-AE15-1CB81511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BCAD-FE2E-7C9A-4C3F-EE622E06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22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B2EA-E907-2989-BB37-BDF7E874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FCA6E-0813-A541-83A7-79CE9FBC0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9E567-ED17-8C9C-A72F-597DDF6D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9801A-1991-9FED-C632-21940ECF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D5310-8CE5-4084-0907-DE7712FF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0F741-2DAC-C2BA-9E9A-FBD72A21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31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F81D-348C-ECFE-B97A-53B08523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73606-3CFA-01AD-8A6D-6159F90E5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6FDC4-F9C1-D0E5-7207-A4DB8ADA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E370-03C0-5868-51BC-960DEF65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0F401-ED22-C23F-5CD5-8BAF2B64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82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E8101-0075-88E2-F387-242D744AE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4C030-5FC5-7D9A-F1A7-B273C565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0291-8D3E-08A9-E9BD-90861DB6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8A7C-E5DA-0E94-D0FA-8F5C4778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56943-61C5-D2FD-CC28-A1EED838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4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13AD4-C8F1-E4FF-A867-83AB23FF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69E6E-5B0E-04A3-656A-13CE7C53E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ABC26-8654-DB25-0F80-36DFAC08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B9C6C-0EAB-4CD0-9115-8023772ED0F3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F2B4-29A2-5D62-37D0-879E7BDB5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446F-731F-85D9-BFA5-FAE1EC3A5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AF74E-779B-4E4F-BE95-B83BAA4B2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9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netindia.com/full-stack-web-developer-course-kolkata/" TargetMode="External"/><Relationship Id="rId13" Type="http://schemas.openxmlformats.org/officeDocument/2006/relationships/hyperlink" Target="https://www.programandoamedianoche.com/2009/07/enlace-a-data-objects-en-wpf/" TargetMode="External"/><Relationship Id="rId18" Type="http://schemas.openxmlformats.org/officeDocument/2006/relationships/hyperlink" Target="https://openclipart.org/detail/15042/stick-figure-female" TargetMode="External"/><Relationship Id="rId3" Type="http://schemas.openxmlformats.org/officeDocument/2006/relationships/image" Target="../media/image6.png"/><Relationship Id="rId21" Type="http://schemas.openxmlformats.org/officeDocument/2006/relationships/image" Target="../media/image15.jpg"/><Relationship Id="rId7" Type="http://schemas.openxmlformats.org/officeDocument/2006/relationships/image" Target="../media/image8.jpg"/><Relationship Id="rId12" Type="http://schemas.openxmlformats.org/officeDocument/2006/relationships/image" Target="../media/image11.jp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medium.com/@facubozzi/building-a-vector-database-from-scratch-in-typescript-a009cee67dc0" TargetMode="External"/><Relationship Id="rId20" Type="http://schemas.openxmlformats.org/officeDocument/2006/relationships/hyperlink" Target="https://www.msn.com/en-us/health/mindandbody/the-1-habit-to-start-to-improve-your-memory-recommended-by-brain-experts/ar-AA1Tk0g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svg.org/sandisk-cruzer-micro-4gb-flash-drive-vector-image" TargetMode="External"/><Relationship Id="rId11" Type="http://schemas.openxmlformats.org/officeDocument/2006/relationships/image" Target="../media/image10.jpe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hyperlink" Target="https://techtootalk.com/learn-ai-agents-step-by-step" TargetMode="External"/><Relationship Id="rId19" Type="http://schemas.openxmlformats.org/officeDocument/2006/relationships/image" Target="../media/image14.img"/><Relationship Id="rId4" Type="http://schemas.openxmlformats.org/officeDocument/2006/relationships/hyperlink" Target="https://navatel.ir/blog/what-is-api/" TargetMode="External"/><Relationship Id="rId9" Type="http://schemas.openxmlformats.org/officeDocument/2006/relationships/image" Target="../media/image9.jpg"/><Relationship Id="rId14" Type="http://schemas.openxmlformats.org/officeDocument/2006/relationships/hyperlink" Target="https://creativecommons.org/licenses/by-nd/3.0/" TargetMode="External"/><Relationship Id="rId22" Type="http://schemas.openxmlformats.org/officeDocument/2006/relationships/hyperlink" Target="https://www.telegraphindia.com/west-bengal/kolkata/go-slow-reflective-tape-on-guardrails-used-by-police-for-road-safety-at-night-prnt/cid/2140363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downloa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svgsilh.com/image/151791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ask/playground/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hyperlink" Target="https://myaccount.google.com/apppasswords" TargetMode="External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zh-tw/GPT-3.5" TargetMode="External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eliapp.com/" TargetMode="External"/><Relationship Id="rId5" Type="http://schemas.openxmlformats.org/officeDocument/2006/relationships/image" Target="../media/image55.png"/><Relationship Id="rId4" Type="http://schemas.openxmlformats.org/officeDocument/2006/relationships/hyperlink" Target="https://openclipart.org/detail/167201" TargetMode="Externa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.github.io/autogen/dev/user-guide/core-user-guide/design-patterns/handoffs.html" TargetMode="External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3902-1CD8-2C51-9FCA-2D43C3B12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PGP – 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45582-58CC-15CC-35AE-8CE6576273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Sessions 1 – 9  |  08:00 – 11:00 AM</a:t>
            </a:r>
          </a:p>
          <a:p>
            <a:r>
              <a:rPr lang="en-US"/>
              <a:t>Atul Kahate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34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6D5C-D79E-E25A-9A4B-55E801C4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0B387D-6E55-0D55-82F5-7A56C4142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745336"/>
              </p:ext>
            </p:extLst>
          </p:nvPr>
        </p:nvGraphicFramePr>
        <p:xfrm>
          <a:off x="508000" y="1587500"/>
          <a:ext cx="11176000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91768602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14996098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425542159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Date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Topic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9438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1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24-Oct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Agentic AI Foundations and Agent Architectures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2402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2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25-Oct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LangChain Core: Chains, Memory and RAG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4345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3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31-Oct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LangChain Agents and Tool Use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6673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4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1-Nov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LangGraph: Stateful Workflows and Routing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9330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5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7-Nov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LangGraph: Cycles, Human-in-the-Loop and Persistence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9890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6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8-Nov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Multi-Agent Orchestration with CrewAI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358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7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14-Nov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Multi-Agent Systems with Microsoft AutoGen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2434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8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Sat 15-Nov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Agentic RAG and GraphRAG for Agents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310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sz="1600"/>
                        <a:t>Session 9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Sun 21-Nov</a:t>
                      </a:r>
                      <a:endParaRPr lang="en-GB" sz="160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Deep Agents: Reflection, Planning and Long-Term Memory</a:t>
                      </a:r>
                      <a:endParaRPr lang="en-GB" sz="16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737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94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3E7B-BF79-B7F5-54D0-41955CD3F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C2D8C-CE72-E178-A3C0-946648D16C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Agentic AI Foundations and Agent Architectures</a:t>
            </a:r>
          </a:p>
          <a:p>
            <a:r>
              <a:rPr lang="en-US"/>
              <a:t>Sat 24-Oct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7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6386-FF3F-D8FB-DD7B-AF866629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B648-1915-F553-F64F-C8AA8DE16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What an AI agent is and why we need one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Chatbots vs workflows vs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components and architecture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Setup and API key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OpenAI Agents SDK basics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Giving an agent tools (@function_tool)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Building a multi-tool agent step by step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Sync vs async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design patterns: Tool use, Planning, ReAct, Reflection, ReWOO, Multi-agent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Agentic AI framework landscape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25262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FE38-5A8F-14F7-412E-3F2D51D6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294" y="352341"/>
            <a:ext cx="10147412" cy="1279150"/>
          </a:xfrm>
        </p:spPr>
        <p:txBody>
          <a:bodyPr>
            <a:normAutofit/>
          </a:bodyPr>
          <a:lstStyle/>
          <a:p>
            <a:r>
              <a:rPr lang="en-US" sz="4200" noProof="0" dirty="0"/>
              <a:t>AI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E71C1-A590-FA90-7F94-95CABEAD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294" y="1761704"/>
            <a:ext cx="10147412" cy="4198982"/>
          </a:xfrm>
        </p:spPr>
        <p:txBody>
          <a:bodyPr>
            <a:normAutofit/>
          </a:bodyPr>
          <a:lstStyle/>
          <a:p>
            <a:r>
              <a:rPr lang="en-US" sz="2700" b="1" noProof="0" dirty="0"/>
              <a:t>AI Agent</a:t>
            </a:r>
            <a:r>
              <a:rPr lang="en-US" sz="2700" noProof="0" dirty="0"/>
              <a:t>: It is a system that uses AI models to perform tasks</a:t>
            </a:r>
          </a:p>
          <a:p>
            <a:r>
              <a:rPr lang="en-US" sz="2700" noProof="0" dirty="0"/>
              <a:t>Can perceive its environment, make decisions, and take actions in order to achieve specific goals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DA12A-F307-3446-D90F-4B07BF6E2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852885"/>
              </p:ext>
            </p:extLst>
          </p:nvPr>
        </p:nvGraphicFramePr>
        <p:xfrm>
          <a:off x="1082634" y="3261657"/>
          <a:ext cx="9784242" cy="3048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11119">
                  <a:extLst>
                    <a:ext uri="{9D8B030D-6E8A-4147-A177-3AD203B41FA5}">
                      <a16:colId xmlns:a16="http://schemas.microsoft.com/office/drawing/2014/main" val="1808843905"/>
                    </a:ext>
                  </a:extLst>
                </a:gridCol>
                <a:gridCol w="2707772">
                  <a:extLst>
                    <a:ext uri="{9D8B030D-6E8A-4147-A177-3AD203B41FA5}">
                      <a16:colId xmlns:a16="http://schemas.microsoft.com/office/drawing/2014/main" val="2298010791"/>
                    </a:ext>
                  </a:extLst>
                </a:gridCol>
                <a:gridCol w="4665351">
                  <a:extLst>
                    <a:ext uri="{9D8B030D-6E8A-4147-A177-3AD203B41FA5}">
                      <a16:colId xmlns:a16="http://schemas.microsoft.com/office/drawing/2014/main" val="2089804425"/>
                    </a:ext>
                  </a:extLst>
                </a:gridCol>
              </a:tblGrid>
              <a:tr h="338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Capability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Definition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Examples</a:t>
                      </a:r>
                      <a:endParaRPr lang="en-US" sz="17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492454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Perception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Takes input from the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Camera images, text, audio, sensor data, user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860088"/>
                  </a:ext>
                </a:extLst>
              </a:tr>
              <a:tr h="838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Reasoning / Decision-making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Decides what to do using rules, logic, or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Choosing the best move in chess, planning a route, selecting a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334458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Action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Performs tasks based on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Moving a robot arm, answering a question, executing a command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044297"/>
                  </a:ext>
                </a:extLst>
              </a:tr>
              <a:tr h="5882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Learning (optional)</a:t>
                      </a:r>
                      <a:endParaRPr lang="en-US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Improves performance over time using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Updating chatbot responses, refining recommendations, improving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61273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DD4E9FE-5393-F975-F2C2-E967B5B639F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050490" y="75645"/>
            <a:ext cx="1815804" cy="2023661"/>
          </a:xfrm>
          <a:prstGeom prst="rect">
            <a:avLst/>
          </a:prstGeom>
        </p:spPr>
      </p:pic>
      <p:sp>
        <p:nvSpPr>
          <p:cNvPr id="5" name="DemoCallout">
            <a:extLst>
              <a:ext uri="{FF2B5EF4-FFF2-40B4-BE49-F238E27FC236}">
                <a16:creationId xmlns:a16="http://schemas.microsoft.com/office/drawing/2014/main" id="{09CE0E84-B3B2-910D-EE2B-F3668ADA174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 (teaser)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00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FCD3FD-9540-1998-32BD-C3E7229829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576D496-CD38-CD62-46B3-79F8808F811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04698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9D7840-CF6A-9D47-8630-84AE71801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3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6145BB-6C71-6E8E-BB35-A21FE8756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89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1706E-DD90-BD27-87CB-4BB461FE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Callout">
            <a:extLst>
              <a:ext uri="{FF2B5EF4-FFF2-40B4-BE49-F238E27FC236}">
                <a16:creationId xmlns:a16="http://schemas.microsoft.com/office/drawing/2014/main" id="{C92ED245-2B4F-6555-E485-AE8BCF115E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238ED-CA6C-799A-EE8F-7E7C90C20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08" y="0"/>
            <a:ext cx="1192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2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0DBE7-8717-CEDC-0812-5F49ECAD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168D6-22D9-B7DE-85B7-F87D63D1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868" y="336606"/>
            <a:ext cx="9694263" cy="1222028"/>
          </a:xfrm>
        </p:spPr>
        <p:txBody>
          <a:bodyPr>
            <a:normAutofit/>
          </a:bodyPr>
          <a:lstStyle/>
          <a:p>
            <a:r>
              <a:rPr lang="en-US" sz="4100" noProof="0" dirty="0"/>
              <a:t>Agentic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93B0-CA6B-57B7-06E6-6859285AEAA1}"/>
              </a:ext>
            </a:extLst>
          </p:cNvPr>
          <p:cNvSpPr txBox="1">
            <a:spLocks/>
          </p:cNvSpPr>
          <p:nvPr/>
        </p:nvSpPr>
        <p:spPr>
          <a:xfrm>
            <a:off x="1845711" y="2012129"/>
            <a:ext cx="2303714" cy="59584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Instructions in a Natural Human Language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B840B-A7BC-339E-861E-DA450F1B9F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39954" y="1323806"/>
            <a:ext cx="1238997" cy="825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82F6B-F936-8F34-2C7D-E9523CBB8B4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008614" y="1302826"/>
            <a:ext cx="831341" cy="831341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D379AA-5109-A7E8-8305-5C157096912F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14534" y="3140567"/>
            <a:ext cx="1452677" cy="9212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548F3-3AC6-30F7-D0D6-CAE2374A8B2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275613" y="3060534"/>
            <a:ext cx="1116465" cy="1116465"/>
          </a:xfrm>
          <a:prstGeom prst="rect">
            <a:avLst/>
          </a:prstGeom>
        </p:spPr>
      </p:pic>
      <p:pic>
        <p:nvPicPr>
          <p:cNvPr id="14" name="Picture 2" descr="New Mindset Needed for Large Language Models">
            <a:extLst>
              <a:ext uri="{FF2B5EF4-FFF2-40B4-BE49-F238E27FC236}">
                <a16:creationId xmlns:a16="http://schemas.microsoft.com/office/drawing/2014/main" id="{058C2001-EEC4-836B-517C-05565B2BD24E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358" y="209063"/>
            <a:ext cx="1862148" cy="1052116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8548B157-B4D5-C8E9-4EA0-C73C52581142}"/>
              </a:ext>
            </a:extLst>
          </p:cNvPr>
          <p:cNvSpPr>
            <a:spLocks/>
          </p:cNvSpPr>
          <p:nvPr/>
        </p:nvSpPr>
        <p:spPr>
          <a:xfrm rot="19441033">
            <a:off x="3765444" y="1457938"/>
            <a:ext cx="427656" cy="23165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7337-C316-3C91-37DE-23B321D73548}"/>
              </a:ext>
            </a:extLst>
          </p:cNvPr>
          <p:cNvCxnSpPr>
            <a:cxnSpLocks/>
          </p:cNvCxnSpPr>
          <p:nvPr/>
        </p:nvCxnSpPr>
        <p:spPr>
          <a:xfrm flipV="1">
            <a:off x="2135283" y="2671771"/>
            <a:ext cx="0" cy="328183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9FD21-4B12-1A7B-09C4-D1145CA73AF1}"/>
              </a:ext>
            </a:extLst>
          </p:cNvPr>
          <p:cNvCxnSpPr>
            <a:cxnSpLocks/>
          </p:cNvCxnSpPr>
          <p:nvPr/>
        </p:nvCxnSpPr>
        <p:spPr>
          <a:xfrm>
            <a:off x="3808372" y="2671771"/>
            <a:ext cx="0" cy="28374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75433-1F6F-EAE9-6B79-1B1FA718A0CA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9193216" y="2219121"/>
            <a:ext cx="1152408" cy="8515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E563D5-AA20-D2A3-7ADC-49A805906C81}"/>
              </a:ext>
            </a:extLst>
          </p:cNvPr>
          <p:cNvSpPr txBox="1">
            <a:spLocks/>
          </p:cNvSpPr>
          <p:nvPr/>
        </p:nvSpPr>
        <p:spPr>
          <a:xfrm>
            <a:off x="8899397" y="7220833"/>
            <a:ext cx="148104" cy="5958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0" dirty="0">
                <a:hlinkClick r:id="rId13" tooltip="https://www.programandoamedianoche.com/2009/07/enlace-a-data-objects-en-wpf/"/>
              </a:rPr>
              <a:t>This Photo</a:t>
            </a:r>
            <a:r>
              <a:rPr lang="en-US" sz="800" noProof="0" dirty="0"/>
              <a:t> by Unknown Author is licensed under </a:t>
            </a:r>
            <a:r>
              <a:rPr lang="en-US" sz="800" noProof="0" dirty="0">
                <a:hlinkClick r:id="rId14" tooltip="https://creativecommons.org/licenses/by-nd/3.0/"/>
              </a:rPr>
              <a:t>CC BY-ND</a:t>
            </a:r>
            <a:endParaRPr lang="en-US" sz="800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63431C-C112-B93B-BBA9-135B05F63FE9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9193216" y="3161173"/>
            <a:ext cx="1992178" cy="1301556"/>
          </a:xfrm>
          <a:prstGeom prst="rect">
            <a:avLst/>
          </a:prstGeom>
        </p:spPr>
      </p:pic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AB5B1EF0-73E9-0398-5129-970BEF0564C5}"/>
              </a:ext>
            </a:extLst>
          </p:cNvPr>
          <p:cNvSpPr>
            <a:spLocks/>
          </p:cNvSpPr>
          <p:nvPr/>
        </p:nvSpPr>
        <p:spPr>
          <a:xfrm>
            <a:off x="7221171" y="3586502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RAG</a:t>
            </a:r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EDC6A13B-A72F-5A25-F60C-4D50CB602102}"/>
              </a:ext>
            </a:extLst>
          </p:cNvPr>
          <p:cNvSpPr>
            <a:spLocks/>
          </p:cNvSpPr>
          <p:nvPr/>
        </p:nvSpPr>
        <p:spPr>
          <a:xfrm>
            <a:off x="5035220" y="2111729"/>
            <a:ext cx="1312731" cy="922720"/>
          </a:xfrm>
          <a:prstGeom prst="cloudCallout">
            <a:avLst>
              <a:gd name="adj1" fmla="val -59068"/>
              <a:gd name="adj2" fmla="val 5901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Think, Act, Review</a:t>
            </a: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9A91D-42E7-32D6-1D66-5E5574ED713D}"/>
              </a:ext>
            </a:extLst>
          </p:cNvPr>
          <p:cNvSpPr>
            <a:spLocks/>
          </p:cNvSpPr>
          <p:nvPr/>
        </p:nvSpPr>
        <p:spPr>
          <a:xfrm>
            <a:off x="7221171" y="1504057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MCP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F8022CD5-B5B5-0372-D4D7-B8299450A020}"/>
              </a:ext>
            </a:extLst>
          </p:cNvPr>
          <p:cNvSpPr>
            <a:spLocks/>
          </p:cNvSpPr>
          <p:nvPr/>
        </p:nvSpPr>
        <p:spPr>
          <a:xfrm>
            <a:off x="7221171" y="2424097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Tool Calling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67932-488F-C8D0-35A1-FA0F6C427623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9449240" y="4463195"/>
            <a:ext cx="320179" cy="638231"/>
          </a:xfrm>
          <a:prstGeom prst="rect">
            <a:avLst/>
          </a:prstGeom>
        </p:spPr>
      </p:pic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9F56DE1B-0D83-3960-6A21-3AEC68AE5068}"/>
              </a:ext>
            </a:extLst>
          </p:cNvPr>
          <p:cNvSpPr>
            <a:spLocks/>
          </p:cNvSpPr>
          <p:nvPr/>
        </p:nvSpPr>
        <p:spPr>
          <a:xfrm>
            <a:off x="7221171" y="4573378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HITL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55FA86-709A-7D65-59AE-1DA96825713C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0"/>
              </a:ext>
            </a:extLst>
          </a:blip>
          <a:stretch>
            <a:fillRect/>
          </a:stretch>
        </p:blipFill>
        <p:spPr>
          <a:xfrm>
            <a:off x="9252037" y="5202046"/>
            <a:ext cx="1175834" cy="783693"/>
          </a:xfrm>
          <a:prstGeom prst="rect">
            <a:avLst/>
          </a:prstGeom>
        </p:spPr>
      </p:pic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7E4A2460-4CC9-ABA6-0669-3EB267DAEBC0}"/>
              </a:ext>
            </a:extLst>
          </p:cNvPr>
          <p:cNvSpPr>
            <a:spLocks/>
          </p:cNvSpPr>
          <p:nvPr/>
        </p:nvSpPr>
        <p:spPr>
          <a:xfrm>
            <a:off x="7221171" y="5300280"/>
            <a:ext cx="190876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Memory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6BF5F7-5E9E-4308-ED16-B7819F885D68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2"/>
              </a:ext>
            </a:extLst>
          </a:blip>
          <a:stretch>
            <a:fillRect/>
          </a:stretch>
        </p:blipFill>
        <p:spPr>
          <a:xfrm>
            <a:off x="5486154" y="5468232"/>
            <a:ext cx="1322652" cy="881768"/>
          </a:xfrm>
          <a:prstGeom prst="rect">
            <a:avLst/>
          </a:prstGeom>
        </p:spPr>
      </p:pic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31D42ABF-C266-CD9C-AE58-AC03126CD0BF}"/>
              </a:ext>
            </a:extLst>
          </p:cNvPr>
          <p:cNvSpPr>
            <a:spLocks/>
          </p:cNvSpPr>
          <p:nvPr/>
        </p:nvSpPr>
        <p:spPr>
          <a:xfrm rot="5400000">
            <a:off x="5467959" y="4659409"/>
            <a:ext cx="1241358" cy="417866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noProof="0" dirty="0"/>
              <a:t>Guardrails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3DF3F03-9286-8D21-DEF0-D3C2DFF0301D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362563" y="4433012"/>
            <a:ext cx="1116465" cy="111646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7EF9E2-F49F-FD41-6F29-FA29175D75B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750408" y="4402448"/>
            <a:ext cx="1116465" cy="1116465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E1077-9AD9-917B-E48F-B54DAA3D7D75}"/>
              </a:ext>
            </a:extLst>
          </p:cNvPr>
          <p:cNvCxnSpPr>
            <a:cxnSpLocks/>
          </p:cNvCxnSpPr>
          <p:nvPr/>
        </p:nvCxnSpPr>
        <p:spPr>
          <a:xfrm flipH="1">
            <a:off x="2919037" y="4061776"/>
            <a:ext cx="319602" cy="259249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789D65-6ADE-86F2-EED1-1EDF2AE70833}"/>
              </a:ext>
            </a:extLst>
          </p:cNvPr>
          <p:cNvCxnSpPr>
            <a:cxnSpLocks/>
          </p:cNvCxnSpPr>
          <p:nvPr/>
        </p:nvCxnSpPr>
        <p:spPr>
          <a:xfrm flipH="1" flipV="1">
            <a:off x="4436309" y="4061776"/>
            <a:ext cx="236920" cy="29044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9D570E-C40D-7106-1E6C-675F50C628A2}"/>
              </a:ext>
            </a:extLst>
          </p:cNvPr>
          <p:cNvCxnSpPr>
            <a:cxnSpLocks/>
          </p:cNvCxnSpPr>
          <p:nvPr/>
        </p:nvCxnSpPr>
        <p:spPr>
          <a:xfrm flipH="1">
            <a:off x="3479027" y="5101426"/>
            <a:ext cx="27138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emoCallout">
            <a:extLst>
              <a:ext uri="{FF2B5EF4-FFF2-40B4-BE49-F238E27FC236}">
                <a16:creationId xmlns:a16="http://schemas.microsoft.com/office/drawing/2014/main" id="{2CE8EC65-C1FD-3AED-811A-5C7EC76AE33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561539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E5A0-C9F5-1368-CC42-9D455FF1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Hands-on: Directly Accessing LLMs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741F7-E1CD-3E39-DDDE-D6C8953A8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Download and install Python </a:t>
            </a:r>
            <a:r>
              <a:rPr lang="en-US" b="1" noProof="0" dirty="0"/>
              <a:t>Version 3.12 </a:t>
            </a:r>
            <a:r>
              <a:rPr lang="en-US" noProof="0" dirty="0"/>
              <a:t>(</a:t>
            </a:r>
            <a:r>
              <a:rPr lang="en-US" noProof="0" dirty="0">
                <a:hlinkClick r:id="rId3"/>
              </a:rPr>
              <a:t>https://www.python.org/downloads/</a:t>
            </a:r>
            <a:r>
              <a:rPr lang="en-US" noProof="0" dirty="0"/>
              <a:t>)</a:t>
            </a:r>
            <a:endParaRPr lang="en-US" b="1" noProof="0" dirty="0"/>
          </a:p>
          <a:p>
            <a:r>
              <a:rPr lang="en-US" noProof="0" dirty="0"/>
              <a:t>Download and install VS Code (</a:t>
            </a:r>
            <a:r>
              <a:rPr lang="en-US" noProof="0" dirty="0">
                <a:hlinkClick r:id="rId4"/>
              </a:rPr>
              <a:t>https://code.visualstudio.com/download</a:t>
            </a:r>
            <a:r>
              <a:rPr lang="en-US" noProof="0" dirty="0"/>
              <a:t>)</a:t>
            </a:r>
          </a:p>
          <a:p>
            <a:r>
              <a:rPr lang="en-US" noProof="0" dirty="0"/>
              <a:t>Create a directory (e.g. c:\code\agenticai_realpage) on your machine</a:t>
            </a:r>
          </a:p>
          <a:p>
            <a:r>
              <a:rPr lang="en-US" noProof="0" dirty="0"/>
              <a:t>Set up Python in VS Code: Open VS Code and press </a:t>
            </a:r>
            <a:r>
              <a:rPr lang="en-US" noProof="0" dirty="0" err="1"/>
              <a:t>Ctrl+Shift+P</a:t>
            </a:r>
            <a:r>
              <a:rPr lang="en-US" noProof="0" dirty="0"/>
              <a:t> -&gt; Python: Select interpreter -&gt; Select Python that you have installed on your machine</a:t>
            </a:r>
          </a:p>
          <a:p>
            <a:r>
              <a:rPr lang="en-US" noProof="0" dirty="0"/>
              <a:t>Create a virtual environment in VS Code</a:t>
            </a:r>
          </a:p>
          <a:p>
            <a:pPr lvl="1"/>
            <a:r>
              <a:rPr lang="en-US" noProof="0" dirty="0"/>
              <a:t>Terminal -&gt; New Terminal -&gt; </a:t>
            </a:r>
            <a:r>
              <a:rPr lang="en-US" b="1" noProof="0" dirty="0"/>
              <a:t>cd c:\code\agenticai_realpage</a:t>
            </a:r>
          </a:p>
          <a:p>
            <a:pPr lvl="1"/>
            <a:r>
              <a:rPr lang="en-US" b="1" noProof="0" dirty="0"/>
              <a:t>python -m </a:t>
            </a:r>
            <a:r>
              <a:rPr lang="en-US" b="1" noProof="0" dirty="0" err="1"/>
              <a:t>venv</a:t>
            </a:r>
            <a:r>
              <a:rPr lang="en-US" b="1" noProof="0" dirty="0"/>
              <a:t> </a:t>
            </a:r>
            <a:r>
              <a:rPr lang="en-US" b="1" noProof="0" dirty="0" err="1"/>
              <a:t>myenv</a:t>
            </a:r>
            <a:endParaRPr lang="en-US" b="1" noProof="0" dirty="0"/>
          </a:p>
          <a:p>
            <a:pPr lvl="1"/>
            <a:r>
              <a:rPr lang="en-US" b="1" noProof="0" dirty="0" err="1"/>
              <a:t>myenv</a:t>
            </a:r>
            <a:r>
              <a:rPr lang="en-US" b="1" noProof="0" dirty="0"/>
              <a:t>\Scripts\activate</a:t>
            </a:r>
            <a:r>
              <a:rPr lang="en-US" noProof="0" dirty="0"/>
              <a:t> (On Windows) and </a:t>
            </a:r>
            <a:r>
              <a:rPr lang="en-US" b="1" noProof="0" dirty="0"/>
              <a:t>source </a:t>
            </a:r>
            <a:r>
              <a:rPr lang="en-US" b="1" noProof="0" dirty="0" err="1"/>
              <a:t>myenv</a:t>
            </a:r>
            <a:r>
              <a:rPr lang="en-US" b="1" noProof="0" dirty="0"/>
              <a:t>/bin/activate</a:t>
            </a:r>
            <a:r>
              <a:rPr lang="en-US" noProof="0" dirty="0"/>
              <a:t>  (on Linux)</a:t>
            </a:r>
          </a:p>
          <a:p>
            <a:pPr lvl="1"/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 </a:t>
            </a:r>
            <a:r>
              <a:rPr lang="en-US" b="1" noProof="0" dirty="0" err="1"/>
              <a:t>openai</a:t>
            </a:r>
            <a:r>
              <a:rPr lang="en-US" b="1" noProof="0" dirty="0"/>
              <a:t>-agents</a:t>
            </a:r>
          </a:p>
          <a:p>
            <a:pPr lvl="1"/>
            <a:r>
              <a:rPr lang="en-US" noProof="0" dirty="0"/>
              <a:t>Later to deactivate: deactivate</a:t>
            </a:r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BA9A2C7-6603-781D-756A-025E70D4681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2_openai_agents/2_1_openai_agent_basic.py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198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00B3-34C9-CBAE-17A1-60DD0D96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LLMs: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76EC-436E-9D32-EDB9-59AE96E4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Get an API key: https://platform.openai.com/settings/organization/api-keys</a:t>
            </a:r>
          </a:p>
          <a:p>
            <a:r>
              <a:rPr lang="en-US" noProof="0" dirty="0"/>
              <a:t>Copy it in .env file</a:t>
            </a:r>
          </a:p>
          <a:p>
            <a:r>
              <a:rPr lang="en-US" noProof="0" dirty="0"/>
              <a:t>pip install </a:t>
            </a:r>
            <a:r>
              <a:rPr lang="en-US" noProof="0" dirty="0" err="1"/>
              <a:t>openai</a:t>
            </a:r>
            <a:r>
              <a:rPr lang="en-US" noProof="0" dirty="0"/>
              <a:t>  </a:t>
            </a:r>
            <a:r>
              <a:rPr lang="en-US" noProof="0" dirty="0" err="1"/>
              <a:t>dotenv</a:t>
            </a:r>
            <a:endParaRPr lang="en-US" noProof="0" dirty="0"/>
          </a:p>
          <a:p>
            <a:r>
              <a:rPr lang="en-US" noProof="0" dirty="0"/>
              <a:t>Run C:\code\agenticai_realpage\module_1\1_openai_basic.py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C5D282E-1BDD-3337-346A-F08A2041140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2_openai_agents/2_1_openai_agent_basic.py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542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27C4A0-0772-8D33-F778-33744DDB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Terms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AF7CD5-566B-8A01-3288-4FC12043B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111971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45015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001698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0005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Full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Where located?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Software 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our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Application Programming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the server side (LLM)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777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97B7F-2A4D-9060-19EA-37CA14F02D44}"/>
              </a:ext>
            </a:extLst>
          </p:cNvPr>
          <p:cNvSpPr txBox="1"/>
          <p:nvPr/>
        </p:nvSpPr>
        <p:spPr>
          <a:xfrm>
            <a:off x="1220042" y="4851852"/>
            <a:ext cx="125344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ADF21-0A99-F968-071A-EBDF011637BE}"/>
              </a:ext>
            </a:extLst>
          </p:cNvPr>
          <p:cNvSpPr txBox="1"/>
          <p:nvPr/>
        </p:nvSpPr>
        <p:spPr>
          <a:xfrm>
            <a:off x="7277631" y="4752318"/>
            <a:ext cx="133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API </a:t>
            </a:r>
          </a:p>
          <a:p>
            <a:pPr algn="ctr"/>
            <a:r>
              <a:rPr lang="en-US" b="1" noProof="0" dirty="0">
                <a:solidFill>
                  <a:srgbClr val="C00000"/>
                </a:solidFill>
              </a:rPr>
              <a:t>end-point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E6B46-CB8E-A864-81A8-943BDD5502EA}"/>
              </a:ext>
            </a:extLst>
          </p:cNvPr>
          <p:cNvSpPr txBox="1"/>
          <p:nvPr/>
        </p:nvSpPr>
        <p:spPr>
          <a:xfrm>
            <a:off x="2326127" y="4859790"/>
            <a:ext cx="133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SDK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43DC8BA5-E1A9-7538-46BB-41C4D1E978F8}"/>
              </a:ext>
            </a:extLst>
          </p:cNvPr>
          <p:cNvSpPr/>
          <p:nvPr/>
        </p:nvSpPr>
        <p:spPr>
          <a:xfrm>
            <a:off x="3503023" y="4911258"/>
            <a:ext cx="3944594" cy="2824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142FD1-B660-54B6-A8F1-E36A6A2DC4BD}"/>
              </a:ext>
            </a:extLst>
          </p:cNvPr>
          <p:cNvSpPr txBox="1"/>
          <p:nvPr/>
        </p:nvSpPr>
        <p:spPr>
          <a:xfrm>
            <a:off x="8759567" y="5060877"/>
            <a:ext cx="170411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GPT </a:t>
            </a:r>
          </a:p>
          <a:p>
            <a:pPr algn="ctr"/>
            <a:r>
              <a:rPr lang="en-US" b="1" noProof="0" dirty="0"/>
              <a:t>(OpenAI LLM)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D43EDD-6D21-07DE-42CB-D7BA8AC9F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086" y="3283023"/>
            <a:ext cx="1704112" cy="1769469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3FE047BA-3828-F45C-7D36-8EBD8FF29B1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2412175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7AA3C1-5A66-87CA-F078-914CF7AA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F3C67-034A-5F49-9486-64AC7BCA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b="1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Code: C:\code\agenticai\2_openai_agents\2_1_openai_agent.py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4E51A7-D37E-C8EC-39E8-DAFF87769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671536"/>
              </p:ext>
            </p:extLst>
          </p:nvPr>
        </p:nvGraphicFramePr>
        <p:xfrm>
          <a:off x="963260" y="1481503"/>
          <a:ext cx="10515599" cy="4224428"/>
        </p:xfrm>
        <a:graphic>
          <a:graphicData uri="http://schemas.openxmlformats.org/drawingml/2006/table">
            <a:tbl>
              <a:tblPr/>
              <a:tblGrid>
                <a:gridCol w="2452241">
                  <a:extLst>
                    <a:ext uri="{9D8B030D-6E8A-4147-A177-3AD203B41FA5}">
                      <a16:colId xmlns:a16="http://schemas.microsoft.com/office/drawing/2014/main" val="4182698781"/>
                    </a:ext>
                  </a:extLst>
                </a:gridCol>
                <a:gridCol w="8063358">
                  <a:extLst>
                    <a:ext uri="{9D8B030D-6E8A-4147-A177-3AD203B41FA5}">
                      <a16:colId xmlns:a16="http://schemas.microsoft.com/office/drawing/2014/main" val="2641310142"/>
                    </a:ext>
                  </a:extLst>
                </a:gridCol>
              </a:tblGrid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Aspect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Description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13008"/>
                  </a:ext>
                </a:extLst>
              </a:tr>
              <a:tr h="854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Official Definition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“</a:t>
                      </a:r>
                      <a:r>
                        <a:rPr lang="en-US" sz="1500" b="1" noProof="0" dirty="0"/>
                        <a:t>Agents represent systems that intelligently accomplish tasks, ranging from executing simple workflows to pursuing complex, open-ended objectives.</a:t>
                      </a:r>
                      <a:r>
                        <a:rPr lang="en-US" sz="1500" noProof="0" dirty="0"/>
                        <a:t>” — </a:t>
                      </a:r>
                      <a:r>
                        <a:rPr lang="en-US" sz="1500" i="1" noProof="0" dirty="0"/>
                        <a:t>OpenAI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312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Agents combine </a:t>
                      </a:r>
                      <a:r>
                        <a:rPr lang="en-US" sz="1500" b="1" noProof="0" dirty="0"/>
                        <a:t>reasoning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b="1" noProof="0" dirty="0"/>
                        <a:t>tool use</a:t>
                      </a:r>
                      <a:r>
                        <a:rPr lang="en-US" sz="1500" noProof="0" dirty="0"/>
                        <a:t>, and </a:t>
                      </a:r>
                      <a:r>
                        <a:rPr lang="en-US" sz="1500" b="1" noProof="0" dirty="0"/>
                        <a:t>memory</a:t>
                      </a:r>
                      <a:r>
                        <a:rPr lang="en-US" sz="1500" noProof="0" dirty="0"/>
                        <a:t> to autonomously complete tasks — from basic automation to multi-step decision-making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91019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Examples of Tasks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• Run data analysis scripts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Search the web or use APIs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Send messages or emails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Plan and execute multi-step goals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54786"/>
                  </a:ext>
                </a:extLst>
              </a:tr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Installation Command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-agents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0653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Integration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Works seamlessly with the </a:t>
                      </a:r>
                      <a:r>
                        <a:rPr lang="en-US" sz="1500" b="1" noProof="0" dirty="0"/>
                        <a:t>OpenAI Responses API</a:t>
                      </a:r>
                      <a:r>
                        <a:rPr lang="en-US" sz="1500" noProof="0" dirty="0"/>
                        <a:t>, enabling dynamic tool-calling and multi-step task completion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716649"/>
                  </a:ext>
                </a:extLst>
              </a:tr>
              <a:tr h="45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Benefit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Turns LLMs from reactive assistants into </a:t>
                      </a:r>
                      <a:r>
                        <a:rPr lang="en-US" sz="1500" b="1" noProof="0" dirty="0"/>
                        <a:t>goal-driven, autonomous systems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0798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E403E359-E27C-ED84-3BD2-D65ADE0D09F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2_openai_agents/2_1_openai_agent_basic.py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243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5946-4DD0-BD92-AA53-84A0114E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587" y="354265"/>
            <a:ext cx="10202826" cy="1286136"/>
          </a:xfrm>
        </p:spPr>
        <p:txBody>
          <a:bodyPr>
            <a:normAutofit/>
          </a:bodyPr>
          <a:lstStyle/>
          <a:p>
            <a:r>
              <a:rPr lang="en-US" sz="4300" noProof="0" dirty="0"/>
              <a:t>Agents API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5988-D4A7-6685-1814-D5225EC3C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87" y="1771324"/>
            <a:ext cx="10202826" cy="4221912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87856-73F6-E779-223A-A2ED8DB128DC}"/>
              </a:ext>
            </a:extLst>
          </p:cNvPr>
          <p:cNvSpPr txBox="1">
            <a:spLocks/>
          </p:cNvSpPr>
          <p:nvPr/>
        </p:nvSpPr>
        <p:spPr>
          <a:xfrm>
            <a:off x="648623" y="2404251"/>
            <a:ext cx="4849136" cy="1821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b="1" noProof="0" dirty="0"/>
              <a:t>Step 1: Defining an Agent</a:t>
            </a:r>
          </a:p>
          <a:p>
            <a:endParaRPr lang="en-US" sz="1700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name="Assistant",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instructions=instruction,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model=“gpt-4o-mini” // optional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6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ACEE-5C36-A4FC-5F88-1B63CE418D68}"/>
              </a:ext>
            </a:extLst>
          </p:cNvPr>
          <p:cNvSpPr txBox="1">
            <a:spLocks/>
          </p:cNvSpPr>
          <p:nvPr/>
        </p:nvSpPr>
        <p:spPr>
          <a:xfrm>
            <a:off x="5795747" y="2316369"/>
            <a:ext cx="5038768" cy="13139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Agent: Object representing our intelligent assistant</a:t>
            </a:r>
          </a:p>
          <a:p>
            <a:r>
              <a:rPr lang="en-US" sz="1600" noProof="0" dirty="0"/>
              <a:t>instructions: Tell the agent how to behave</a:t>
            </a:r>
          </a:p>
          <a:p>
            <a:endParaRPr lang="en-US" sz="1600" noProof="0" dirty="0"/>
          </a:p>
          <a:p>
            <a:r>
              <a:rPr lang="en-US" sz="1600" noProof="0" dirty="0"/>
              <a:t>Note: This will create but not run the agent</a:t>
            </a:r>
          </a:p>
          <a:p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FB2CE-B9D9-23AC-8969-ABEDF6A54210}"/>
              </a:ext>
            </a:extLst>
          </p:cNvPr>
          <p:cNvSpPr txBox="1">
            <a:spLocks/>
          </p:cNvSpPr>
          <p:nvPr/>
        </p:nvSpPr>
        <p:spPr>
          <a:xfrm>
            <a:off x="648623" y="4238221"/>
            <a:ext cx="4849136" cy="11347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b="1" noProof="0" dirty="0"/>
              <a:t>Step 2: Running the Agent</a:t>
            </a:r>
          </a:p>
          <a:p>
            <a:endParaRPr lang="en-US" sz="1700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result = </a:t>
            </a:r>
            <a:r>
              <a:rPr lang="en-US" sz="16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Runner.run_sync</a:t>
            </a:r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message)</a:t>
            </a:r>
          </a:p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7E146-5ACA-6717-0FFB-2F94366438B4}"/>
              </a:ext>
            </a:extLst>
          </p:cNvPr>
          <p:cNvSpPr txBox="1">
            <a:spLocks/>
          </p:cNvSpPr>
          <p:nvPr/>
        </p:nvSpPr>
        <p:spPr>
          <a:xfrm>
            <a:off x="5795747" y="3811712"/>
            <a:ext cx="5038768" cy="25382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 err="1"/>
              <a:t>Runner.run_sync</a:t>
            </a:r>
            <a:r>
              <a:rPr lang="en-US" sz="1600" noProof="0" dirty="0"/>
              <a:t> executes the agent synchronously</a:t>
            </a:r>
          </a:p>
          <a:p>
            <a:endParaRPr lang="en-US" sz="1600" noProof="0" dirty="0"/>
          </a:p>
          <a:p>
            <a:r>
              <a:rPr lang="en-US" sz="1600" noProof="0" dirty="0"/>
              <a:t>Sends the message to the agent along with instructions</a:t>
            </a:r>
          </a:p>
          <a:p>
            <a:endParaRPr lang="en-US" sz="1600" noProof="0" dirty="0"/>
          </a:p>
          <a:p>
            <a:r>
              <a:rPr lang="en-US" sz="1600" noProof="0" dirty="0"/>
              <a:t>Internally:</a:t>
            </a:r>
          </a:p>
          <a:p>
            <a:r>
              <a:rPr lang="en-US" sz="1600" noProof="0" dirty="0"/>
              <a:t>1. The agent formats the message for the LLM</a:t>
            </a:r>
          </a:p>
          <a:p>
            <a:r>
              <a:rPr lang="en-US" sz="1600" noProof="0" dirty="0"/>
              <a:t>2. The LLM generates a response based on the instruction and message</a:t>
            </a:r>
          </a:p>
          <a:p>
            <a:r>
              <a:rPr lang="en-US" sz="1600" noProof="0" dirty="0"/>
              <a:t>3. Runner wraps this execution and stores the final output in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D05C8-12DD-80FE-0A0F-79488B7CAC71}"/>
              </a:ext>
            </a:extLst>
          </p:cNvPr>
          <p:cNvSpPr txBox="1">
            <a:spLocks/>
          </p:cNvSpPr>
          <p:nvPr/>
        </p:nvSpPr>
        <p:spPr>
          <a:xfrm>
            <a:off x="994587" y="1308459"/>
            <a:ext cx="9455869" cy="9257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instruction = "You are a helpful customer support analyst.“</a:t>
            </a:r>
          </a:p>
          <a:p>
            <a:endParaRPr lang="en-US" sz="1400" noProof="0" dirty="0"/>
          </a:p>
          <a:p>
            <a:r>
              <a:rPr lang="en-US" sz="1400" noProof="0" dirty="0"/>
              <a:t>message = "Analyze this customer feedback and suggest improvements to the product: 'The packaging is great, but the delivery was delayed by two days.'"</a:t>
            </a:r>
          </a:p>
        </p:txBody>
      </p:sp>
      <p:sp>
        <p:nvSpPr>
          <p:cNvPr id="9" name="DemoCallout">
            <a:extLst>
              <a:ext uri="{FF2B5EF4-FFF2-40B4-BE49-F238E27FC236}">
                <a16:creationId xmlns:a16="http://schemas.microsoft.com/office/drawing/2014/main" id="{A6449580-08E9-4149-EDAE-BADF5A7EA7C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2_openai_agents/2_1_openai_agent_basic.py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6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C96-86DD-FD90-D3E4-8A30CCFA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535" y="353157"/>
            <a:ext cx="10170930" cy="1282115"/>
          </a:xfrm>
        </p:spPr>
        <p:txBody>
          <a:bodyPr>
            <a:normAutofit/>
          </a:bodyPr>
          <a:lstStyle/>
          <a:p>
            <a:r>
              <a:rPr lang="en-US" sz="4300" noProof="0" dirty="0"/>
              <a:t>OpenAI Agents SDK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01EB-49D5-3EBA-216C-C6339E04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535" y="1765787"/>
            <a:ext cx="10170930" cy="4208714"/>
          </a:xfrm>
        </p:spPr>
        <p:txBody>
          <a:bodyPr/>
          <a:lstStyle/>
          <a:p>
            <a:r>
              <a:rPr lang="en-US" sz="2700" noProof="0" dirty="0"/>
              <a:t>Allows us to build agentic apps with basic primitives: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25BEE-F3C2-6731-5F43-051E63E96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846101"/>
              </p:ext>
            </p:extLst>
          </p:nvPr>
        </p:nvGraphicFramePr>
        <p:xfrm>
          <a:off x="1010535" y="2284607"/>
          <a:ext cx="10170931" cy="406539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44438">
                  <a:extLst>
                    <a:ext uri="{9D8B030D-6E8A-4147-A177-3AD203B41FA5}">
                      <a16:colId xmlns:a16="http://schemas.microsoft.com/office/drawing/2014/main" val="2469913142"/>
                    </a:ext>
                  </a:extLst>
                </a:gridCol>
                <a:gridCol w="3945149">
                  <a:extLst>
                    <a:ext uri="{9D8B030D-6E8A-4147-A177-3AD203B41FA5}">
                      <a16:colId xmlns:a16="http://schemas.microsoft.com/office/drawing/2014/main" val="1365375933"/>
                    </a:ext>
                  </a:extLst>
                </a:gridCol>
                <a:gridCol w="4681344">
                  <a:extLst>
                    <a:ext uri="{9D8B030D-6E8A-4147-A177-3AD203B41FA5}">
                      <a16:colId xmlns:a16="http://schemas.microsoft.com/office/drawing/2014/main" val="3864009623"/>
                    </a:ext>
                  </a:extLst>
                </a:gridCol>
              </a:tblGrid>
              <a:tr h="400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Primitive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Description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Example Use Case</a:t>
                      </a:r>
                      <a:endParaRPr lang="en-US" sz="19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516050"/>
                  </a:ext>
                </a:extLst>
              </a:tr>
              <a:tr h="831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Agents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LLMs equipped with instructions and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customer support bot that answers FAQs using a knowledge base and function calling.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38369"/>
                  </a:ext>
                </a:extLst>
              </a:tr>
              <a:tr h="831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Handoffs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Allow agents to delegate to other agents for specific tasks.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general support agent escalates a billing-related query to a specialized billing agent.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061710"/>
                  </a:ext>
                </a:extLst>
              </a:tr>
              <a:tr h="1000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Guardrails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Enable validation of agent inputs and outputs.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Prevent an agent from generating unsafe instructions or validate that output is JSON before returning.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341352"/>
                  </a:ext>
                </a:extLst>
              </a:tr>
              <a:tr h="1000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noProof="0" dirty="0"/>
                        <a:t>Sessions</a:t>
                      </a:r>
                      <a:endParaRPr lang="en-US" sz="19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Automatically maintain conversation history across agent runs.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noProof="0" dirty="0"/>
                        <a:t>A tutoring agent remembers what topics a student has already covered across multiple sessions.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033266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6AA1126D-CC0F-72C1-3163-B418CA5118A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2_openai_agents/2_1_openai_agent_basic.py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6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278B-1E8B-F2C2-9CAE-EC0C73D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Agent SDK Example (Sync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A2D0-C299-4CE6-136E-7063EDBF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agent = Agent(name="Assistant", instructions="You are a helpful assistant")</a:t>
            </a:r>
          </a:p>
          <a:p>
            <a:pPr lvl="1"/>
            <a:r>
              <a:rPr lang="en-US" noProof="0" dirty="0"/>
              <a:t>Create an Agent object, giving it a name and system prompt (to tell it what role to perform)</a:t>
            </a:r>
          </a:p>
          <a:p>
            <a:r>
              <a:rPr lang="en-US" noProof="0" dirty="0">
                <a:solidFill>
                  <a:srgbClr val="FF0000"/>
                </a:solidFill>
              </a:rPr>
              <a:t>result = </a:t>
            </a:r>
            <a:r>
              <a:rPr lang="en-US" noProof="0" dirty="0" err="1">
                <a:solidFill>
                  <a:srgbClr val="FF0000"/>
                </a:solidFill>
              </a:rPr>
              <a:t>Runner.run_sync</a:t>
            </a:r>
            <a:r>
              <a:rPr lang="en-US" noProof="0" dirty="0">
                <a:solidFill>
                  <a:srgbClr val="FF0000"/>
                </a:solidFill>
              </a:rPr>
              <a:t>(agent, "Write a joke about vibe coding.")</a:t>
            </a:r>
          </a:p>
          <a:p>
            <a:pPr lvl="1"/>
            <a:r>
              <a:rPr lang="en-US" noProof="0" dirty="0"/>
              <a:t>Runner executes a task for the agent</a:t>
            </a:r>
          </a:p>
          <a:p>
            <a:pPr lvl="1"/>
            <a:r>
              <a:rPr lang="en-US" noProof="0" dirty="0"/>
              <a:t>Actual task is mentioned in the method call</a:t>
            </a:r>
          </a:p>
          <a:p>
            <a:pPr lvl="1"/>
            <a:r>
              <a:rPr lang="en-US" noProof="0" dirty="0"/>
              <a:t>_sync part indicates that the program will wait for the LLM to finish its work</a:t>
            </a:r>
          </a:p>
          <a:p>
            <a:pPr lvl="1"/>
            <a:r>
              <a:rPr lang="en-US" noProof="0" dirty="0"/>
              <a:t>Output is stored in the result variable</a:t>
            </a:r>
          </a:p>
          <a:p>
            <a:r>
              <a:rPr lang="en-US" noProof="0" dirty="0"/>
              <a:t>Code: 2_1_openai_agent_basic.py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22F0CAC-24EE-1280-CA06-91217A080F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2_openai_agents/2_1_openai_agent_basic.py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92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7AA1E-9A8F-D46B-F1D6-F3AD34C2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3DE901-3B8E-098F-E1F2-261C988160A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32" y="0"/>
            <a:ext cx="10552466" cy="6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6B3F4F8-38C6-8F89-026F-454FD17A035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2_openai_agents/2_0_1_openai_agent_pattern_tool.py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930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5ECD-3366-6E30-2947-87B0572F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Function (Tool) Calling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A928-EE00-4365-2C76-83C9BFC8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Tool calling</a:t>
            </a:r>
            <a:r>
              <a:rPr lang="en-US" noProof="0" dirty="0"/>
              <a:t>: Allows an LLM to </a:t>
            </a:r>
            <a:r>
              <a:rPr lang="en-US" b="1" noProof="0" dirty="0"/>
              <a:t>delegate specific tasks</a:t>
            </a:r>
            <a:r>
              <a:rPr lang="en-US" noProof="0" dirty="0"/>
              <a:t> to external functions, APIs, or knowledge sources, making them more useful for real-world tasks, beyond just text generation</a:t>
            </a:r>
          </a:p>
          <a:p>
            <a:r>
              <a:rPr lang="en-US" noProof="0" dirty="0"/>
              <a:t>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64F03B-37BF-D800-905E-75D62306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74094"/>
              </p:ext>
            </p:extLst>
          </p:nvPr>
        </p:nvGraphicFramePr>
        <p:xfrm>
          <a:off x="998744" y="3566795"/>
          <a:ext cx="10515600" cy="228600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3301031">
                  <a:extLst>
                    <a:ext uri="{9D8B030D-6E8A-4147-A177-3AD203B41FA5}">
                      <a16:colId xmlns:a16="http://schemas.microsoft.com/office/drawing/2014/main" val="1845314149"/>
                    </a:ext>
                  </a:extLst>
                </a:gridCol>
                <a:gridCol w="7214569">
                  <a:extLst>
                    <a:ext uri="{9D8B030D-6E8A-4147-A177-3AD203B41FA5}">
                      <a16:colId xmlns:a16="http://schemas.microsoft.com/office/drawing/2014/main" val="4125678451"/>
                    </a:ext>
                  </a:extLst>
                </a:gridCol>
              </a:tblGrid>
              <a:tr h="209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Role /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35592"/>
                  </a:ext>
                </a:extLst>
              </a:tr>
              <a:tr h="366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LLM (Agent)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Generates responses and decides when to call a tool. Uses instructions, context, and available tool schemas.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284055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 / Function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Encapsulates a task the agent can perform. Has a name, description, and parameter schema. Provides a callback function to execute when called.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11033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Runner / Executor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Middleware that passes the tool call from the agent to our function. Handles asynchronous execution, error handling, and return of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474913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8913FE32-AC95-44CA-9544-FBC6D56249D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2_openai_agents/2_0_1_openai_agent_pattern_tool.py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624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F947-4D32-DF06-401F-E5506E50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55" y="220353"/>
            <a:ext cx="3033915" cy="1325563"/>
          </a:xfrm>
        </p:spPr>
        <p:txBody>
          <a:bodyPr/>
          <a:lstStyle/>
          <a:p>
            <a:r>
              <a:rPr lang="en-US" noProof="0" dirty="0"/>
              <a:t>Tool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4453BA-0C98-A8BD-1EA4-96036E3FB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065551"/>
              </p:ext>
            </p:extLst>
          </p:nvPr>
        </p:nvGraphicFramePr>
        <p:xfrm>
          <a:off x="788757" y="1688226"/>
          <a:ext cx="10944879" cy="458964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558719537"/>
                    </a:ext>
                  </a:extLst>
                </a:gridCol>
                <a:gridCol w="4397497">
                  <a:extLst>
                    <a:ext uri="{9D8B030D-6E8A-4147-A177-3AD203B41FA5}">
                      <a16:colId xmlns:a16="http://schemas.microsoft.com/office/drawing/2014/main" val="1256724825"/>
                    </a:ext>
                  </a:extLst>
                </a:gridCol>
                <a:gridCol w="4620860">
                  <a:extLst>
                    <a:ext uri="{9D8B030D-6E8A-4147-A177-3AD203B41FA5}">
                      <a16:colId xmlns:a16="http://schemas.microsoft.com/office/drawing/2014/main" val="146345522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/ Notes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4505173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1. Agent receives user input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User types a message. Agent receives it along with instructions and context.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"What is the return policy?"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6238299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2. Agent decides whether to call a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checks available tools. Decides whether to call a tool or answer internally.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 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 tool for known topic or answer directly.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71434506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3. Agent generates a tool call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creates a structured function call matching the tool’s schema. Ensures required fields are present and types are correct.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{ "name": "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", "parameters": { "topic": "return policy" } }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2094827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4. Runner executes the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Runner calls the registered callback function. Passes parameters and tool context (metadata).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params = {"topic": "return policy"} </a:t>
                      </a:r>
                      <a:r>
                        <a:rPr lang="en-US" sz="1600" noProof="0" dirty="0" err="1"/>
                        <a:t>tool_context</a:t>
                      </a:r>
                      <a:r>
                        <a:rPr lang="en-US" sz="1600" noProof="0" dirty="0"/>
                        <a:t> includes agent name, conversation ID, etc.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884221783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5. Tool returns results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Callback function fetches the answer from knowledge base or API. Runner passes it back to the agent.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"You can return any product within 30 days of delivery."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082697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6. Agent generates final response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combines tool output with conversational context and formats response for the user.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Bot: You can return any product within 30 days of delivery.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7997517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7. Optional – Logging / Analytics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Tool calls, parameters, and results can be logged for auditing, analytics, or improving accuracy.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Useful for monitoring and refining agent behavior.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092289236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2A02E99-1C66-37A6-3882-03AE2D8C2B14}"/>
              </a:ext>
            </a:extLst>
          </p:cNvPr>
          <p:cNvSpPr/>
          <p:nvPr/>
        </p:nvSpPr>
        <p:spPr>
          <a:xfrm>
            <a:off x="3846064" y="388591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0AFB-FBC0-E39A-CF82-98631908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091" y="124101"/>
            <a:ext cx="844598" cy="80191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6AF3259-4FE3-394B-3E71-F7FC31CDC5D6}"/>
              </a:ext>
            </a:extLst>
          </p:cNvPr>
          <p:cNvSpPr/>
          <p:nvPr/>
        </p:nvSpPr>
        <p:spPr>
          <a:xfrm>
            <a:off x="5030652" y="388590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897644-0652-0866-2BAD-78AFDD6AD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27" y="107409"/>
            <a:ext cx="821354" cy="835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7CF5C6-5AE9-C0B7-6779-09C7BE168C7F}"/>
              </a:ext>
            </a:extLst>
          </p:cNvPr>
          <p:cNvSpPr txBox="1"/>
          <p:nvPr/>
        </p:nvSpPr>
        <p:spPr>
          <a:xfrm>
            <a:off x="5372679" y="977213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Tool call needed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B917F78-BFAD-A3F8-2F6E-AA1BED87BBE2}"/>
              </a:ext>
            </a:extLst>
          </p:cNvPr>
          <p:cNvSpPr/>
          <p:nvPr/>
        </p:nvSpPr>
        <p:spPr>
          <a:xfrm>
            <a:off x="6268324" y="388589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B7DE3-E620-47A2-0A2A-7F073DB22687}"/>
              </a:ext>
            </a:extLst>
          </p:cNvPr>
          <p:cNvSpPr txBox="1"/>
          <p:nvPr/>
        </p:nvSpPr>
        <p:spPr>
          <a:xfrm>
            <a:off x="7847973" y="228036"/>
            <a:ext cx="84459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Tool </a:t>
            </a:r>
          </a:p>
          <a:p>
            <a:pPr algn="ctr"/>
            <a:r>
              <a:rPr lang="en-US" sz="1400" b="1" noProof="0" dirty="0"/>
              <a:t>call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F3F1D-BFF3-8DA2-A7C6-3402D2C6F0CF}"/>
              </a:ext>
            </a:extLst>
          </p:cNvPr>
          <p:cNvSpPr txBox="1"/>
          <p:nvPr/>
        </p:nvSpPr>
        <p:spPr>
          <a:xfrm>
            <a:off x="7847973" y="951227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Returns output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E84A73-9678-6695-D126-D03336505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794" y="65758"/>
            <a:ext cx="607036" cy="91859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73F929-1768-B679-48FF-C8A3973394FA}"/>
              </a:ext>
            </a:extLst>
          </p:cNvPr>
          <p:cNvSpPr/>
          <p:nvPr/>
        </p:nvSpPr>
        <p:spPr>
          <a:xfrm>
            <a:off x="7454949" y="367316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37761-5390-F4B0-CBB5-34C4A4DEEE78}"/>
              </a:ext>
            </a:extLst>
          </p:cNvPr>
          <p:cNvSpPr txBox="1"/>
          <p:nvPr/>
        </p:nvSpPr>
        <p:spPr>
          <a:xfrm>
            <a:off x="6556355" y="997677"/>
            <a:ext cx="844598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Runner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E5AFFB-85F3-C732-EC58-C443942C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496" y="78043"/>
            <a:ext cx="844598" cy="80191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F7E0A9DC-6300-21A4-0341-6595A38B119B}"/>
              </a:ext>
            </a:extLst>
          </p:cNvPr>
          <p:cNvSpPr/>
          <p:nvPr/>
        </p:nvSpPr>
        <p:spPr>
          <a:xfrm>
            <a:off x="8773469" y="377963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3F2B870-DD8B-16B1-1058-840D829A84EC}"/>
              </a:ext>
            </a:extLst>
          </p:cNvPr>
          <p:cNvSpPr/>
          <p:nvPr/>
        </p:nvSpPr>
        <p:spPr>
          <a:xfrm>
            <a:off x="10032427" y="367315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3A19F35-FCAC-0A4E-A3A0-DB378ACDE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264757" y="124101"/>
            <a:ext cx="526693" cy="10540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83C9539-FF2D-A546-11BB-410DBFE3D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437469" y="90848"/>
            <a:ext cx="526693" cy="1054004"/>
          </a:xfrm>
          <a:prstGeom prst="rect">
            <a:avLst/>
          </a:prstGeom>
        </p:spPr>
      </p:pic>
      <p:sp>
        <p:nvSpPr>
          <p:cNvPr id="3" name="DemoCallout">
            <a:extLst>
              <a:ext uri="{FF2B5EF4-FFF2-40B4-BE49-F238E27FC236}">
                <a16:creationId xmlns:a16="http://schemas.microsoft.com/office/drawing/2014/main" id="{93601ED8-61D3-EDFA-4132-5C9A5BE7DF5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2_openai_agents/2_0_1_openai_agent_pattern_tool.py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234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6773-F51B-24A1-A43E-444D087F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56" y="80842"/>
            <a:ext cx="10515600" cy="63961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Function (Tool) Calling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F4B2D-B96C-5E8D-8A33-E283CF955E49}"/>
              </a:ext>
            </a:extLst>
          </p:cNvPr>
          <p:cNvSpPr txBox="1"/>
          <p:nvPr/>
        </p:nvSpPr>
        <p:spPr>
          <a:xfrm>
            <a:off x="1298309" y="720456"/>
            <a:ext cx="6282136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1: Write the actual function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b="1" noProof="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noProof="0" dirty="0"/>
              <a:t>async def </a:t>
            </a:r>
            <a:r>
              <a:rPr lang="en-US" noProof="0" dirty="0" err="1"/>
              <a:t>add_numbers</a:t>
            </a:r>
            <a:r>
              <a:rPr lang="en-US" noProof="0" dirty="0"/>
              <a:t>(a: float, b: float) -&gt; float: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Add two numbers and return the result.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noProof="0" dirty="0"/>
              <a:t>    return a + b</a:t>
            </a:r>
          </a:p>
          <a:p>
            <a:r>
              <a:rPr lang="en-US" noProof="0" dirty="0"/>
              <a:t>   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1585-4EBB-CE30-32FE-FFA9B1095CDF}"/>
              </a:ext>
            </a:extLst>
          </p:cNvPr>
          <p:cNvSpPr txBox="1"/>
          <p:nvPr/>
        </p:nvSpPr>
        <p:spPr>
          <a:xfrm>
            <a:off x="1298309" y="3571207"/>
            <a:ext cx="6282136" cy="2769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2: Define the Agent with the Tool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noProof="0" dirty="0" err="1"/>
              <a:t>adder_agent</a:t>
            </a:r>
            <a:r>
              <a:rPr lang="en-US" noProof="0" dirty="0"/>
              <a:t> = Agent(</a:t>
            </a:r>
          </a:p>
          <a:p>
            <a:r>
              <a:rPr lang="en-US" noProof="0" dirty="0"/>
              <a:t>    name=“Adder Bot",</a:t>
            </a:r>
          </a:p>
          <a:p>
            <a:r>
              <a:rPr lang="en-US" noProof="0" dirty="0"/>
              <a:t>    instructions=(</a:t>
            </a:r>
          </a:p>
          <a:p>
            <a:r>
              <a:rPr lang="en-US" noProof="0" dirty="0"/>
              <a:t>        "You are a helpful customer support adder assistant. "</a:t>
            </a:r>
          </a:p>
          <a:p>
            <a:r>
              <a:rPr lang="en-US" noProof="0" dirty="0"/>
              <a:t>        “Perform the addition when the user instructs."</a:t>
            </a:r>
          </a:p>
          <a:p>
            <a:r>
              <a:rPr lang="en-US" noProof="0" dirty="0"/>
              <a:t>    ),</a:t>
            </a:r>
          </a:p>
          <a:p>
            <a:r>
              <a:rPr lang="en-US" noProof="0" dirty="0"/>
              <a:t>    </a:t>
            </a:r>
            <a:r>
              <a:rPr lang="en-US" b="1" noProof="0" dirty="0">
                <a:solidFill>
                  <a:srgbClr val="FF0000"/>
                </a:solidFill>
              </a:rPr>
              <a:t>tools</a:t>
            </a:r>
            <a:r>
              <a:rPr lang="en-US" noProof="0" dirty="0"/>
              <a:t>=[</a:t>
            </a:r>
            <a:r>
              <a:rPr lang="en-US" noProof="0" dirty="0" err="1"/>
              <a:t>add_numbers</a:t>
            </a:r>
            <a:r>
              <a:rPr lang="en-US" noProof="0" dirty="0"/>
              <a:t>]</a:t>
            </a:r>
          </a:p>
          <a:p>
            <a:r>
              <a:rPr lang="en-US" noProof="0" dirty="0"/>
              <a:t>)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11EE0-0D8B-5BAE-A811-6B3D07E5BDEA}"/>
              </a:ext>
            </a:extLst>
          </p:cNvPr>
          <p:cNvSpPr txBox="1"/>
          <p:nvPr/>
        </p:nvSpPr>
        <p:spPr>
          <a:xfrm>
            <a:off x="5551257" y="1899804"/>
            <a:ext cx="4793331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Provide very clear docstring – the agent uses this to decide whether to make a tool call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3097EE-81AE-D8AE-889B-DB2D293FB274}"/>
              </a:ext>
            </a:extLst>
          </p:cNvPr>
          <p:cNvCxnSpPr/>
          <p:nvPr/>
        </p:nvCxnSpPr>
        <p:spPr>
          <a:xfrm flipH="1">
            <a:off x="593313" y="5863328"/>
            <a:ext cx="86553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EA21EC-2FB0-E20F-8F1B-9578C937A6D5}"/>
              </a:ext>
            </a:extLst>
          </p:cNvPr>
          <p:cNvCxnSpPr>
            <a:cxnSpLocks/>
          </p:cNvCxnSpPr>
          <p:nvPr/>
        </p:nvCxnSpPr>
        <p:spPr>
          <a:xfrm flipV="1">
            <a:off x="586333" y="1354150"/>
            <a:ext cx="0" cy="4523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11FC61-9D37-F68F-6FCF-BFB7F05122A0}"/>
              </a:ext>
            </a:extLst>
          </p:cNvPr>
          <p:cNvCxnSpPr>
            <a:cxnSpLocks/>
          </p:cNvCxnSpPr>
          <p:nvPr/>
        </p:nvCxnSpPr>
        <p:spPr>
          <a:xfrm>
            <a:off x="586333" y="1354150"/>
            <a:ext cx="78177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emoCallout">
            <a:extLst>
              <a:ext uri="{FF2B5EF4-FFF2-40B4-BE49-F238E27FC236}">
                <a16:creationId xmlns:a16="http://schemas.microsoft.com/office/drawing/2014/main" id="{5960B08C-0FCE-05D3-27EC-353F35A7C21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2_openai_agents/2_0_1_openai_agent_pattern_tool.py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568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F43407-80E3-33B1-361F-F1A740E072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E4D7EE9-012D-A95E-A329-D3E6849A742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599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A1C4-5CC8-F5F3-62BF-CC0F452F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27CD-28D4-DDA0-846F-3BBC2E86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agents import Agent, Runner,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function_tool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datetime import datetime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AB87BA-0DF5-F6F0-FC8C-09A31C156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688138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OpenAI Agents SDK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For running multiple queries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function_tool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to convert functions into agent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2F4C94-6CED-2742-B341-F8E3C78F0D67}"/>
              </a:ext>
            </a:extLst>
          </p:cNvPr>
          <p:cNvSpPr txBox="1"/>
          <p:nvPr/>
        </p:nvSpPr>
        <p:spPr>
          <a:xfrm>
            <a:off x="6479908" y="4425417"/>
            <a:ext cx="3697154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Installations</a:t>
            </a:r>
          </a:p>
          <a:p>
            <a:endParaRPr lang="en-US" noProof="0" dirty="0"/>
          </a:p>
          <a:p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  </a:t>
            </a:r>
            <a:r>
              <a:rPr lang="en-US" b="1" noProof="0" dirty="0" err="1"/>
              <a:t>dotenv</a:t>
            </a:r>
            <a:endParaRPr lang="en-US" b="1" noProof="0" dirty="0"/>
          </a:p>
          <a:p>
            <a:r>
              <a:rPr lang="en-US" dirty="0"/>
              <a:t>OR</a:t>
            </a:r>
          </a:p>
          <a:p>
            <a:r>
              <a:rPr lang="en-US" b="1" noProof="0" dirty="0" err="1"/>
              <a:t>uv</a:t>
            </a:r>
            <a:r>
              <a:rPr lang="en-US" b="1" noProof="0" dirty="0"/>
              <a:t> add </a:t>
            </a:r>
            <a:r>
              <a:rPr lang="en-US" b="1" dirty="0" err="1"/>
              <a:t>openai</a:t>
            </a:r>
            <a:r>
              <a:rPr lang="en-US" b="1" dirty="0"/>
              <a:t>-agents  </a:t>
            </a:r>
            <a:r>
              <a:rPr lang="en-US" b="1" dirty="0" err="1"/>
              <a:t>dotenv</a:t>
            </a:r>
            <a:endParaRPr lang="en-US" b="1" noProof="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21D2D8E6-194B-8F1B-4E5B-5694D5F862F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618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E80EF-FA53-5833-723A-DBE59DDD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799-5DC0-97DE-3EA4-16B31CE1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041B-0DD0-914D-065A-0F282F1E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873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(city: str) -&gt; str: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mock temperature for a city."""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temps = {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"new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york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"72°F",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london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"65°F",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tokyo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sydney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mumbai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"85°F"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temps.get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city.lower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(), "70°F")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F8337-AAB2-FC77-B157-CC0484C9E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36852"/>
              </p:ext>
            </p:extLst>
          </p:nvPr>
        </p:nvGraphicFramePr>
        <p:xfrm>
          <a:off x="6505503" y="3429000"/>
          <a:ext cx="5423578" cy="1651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243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42114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@function_tool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tells the agent that it is a callable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“””  …  ‘’’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Docstring helps the agent decide if and when to use this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5F862955-09F8-761B-FE81-E7F2D57D5E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605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F5AFB-3F10-F669-C276-9BAB4AC9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D80C-16C2-4295-B9DB-D8B610F7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0E36-51D6-B2E6-C665-A8F0BCDF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79441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current time for a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datetime.now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().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strftime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("%I:%M %p")</a:t>
            </a:r>
          </a:p>
          <a:p>
            <a:pPr marL="0" indent="0">
              <a:buNone/>
            </a:pPr>
            <a:endParaRPr lang="en-US" sz="2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calculate(expression: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"""Evaluates a simple math expression."""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try: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result = eval(expression)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f"{expression} = {result}"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except: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"Invalid expression"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FEB7448-DF9A-03FC-7B9B-D347A44A353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493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9AF7-25C8-987A-ED4C-6F237956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0B76-4095-E894-38D1-2B4D0D7D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78AE-BB34-E490-56EE-0E26E1BB0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3: Create Agent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QuickAssistant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model="gpt-4o-mini",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tools=[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calculate],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instructions="You are a helpful assistant. Use tools when needed. Be concise."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9983C-14A4-63BC-2AF5-BDA273AC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8884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Identifies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available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 prompt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B2691999-78E0-96B7-D614-FC027096C4E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376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D9723-4FF1-2AE9-9748-91BA0F91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D96C-D922-5B28-191E-33A33C9E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D982-B819-A6FF-1FA8-95985975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4: Prepare Test Queries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async 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queries = [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"What's the temperature in Tokyo?",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"Calculate 25 * 4 + 10",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 time is it in New York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print("Processing queries in parallel...\n")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C8BA5-CA61-9263-D37A-0D73BE311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050725"/>
              </p:ext>
            </p:extLst>
          </p:nvPr>
        </p:nvGraphicFramePr>
        <p:xfrm>
          <a:off x="7817770" y="2047240"/>
          <a:ext cx="4271853" cy="138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88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035971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queries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queries to be sent to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async 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 this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3989DA-B438-059E-D27D-58587E5B967D}"/>
              </a:ext>
            </a:extLst>
          </p:cNvPr>
          <p:cNvSpPr txBox="1"/>
          <p:nvPr/>
        </p:nvSpPr>
        <p:spPr>
          <a:xfrm>
            <a:off x="8334301" y="4069429"/>
            <a:ext cx="3134089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Queries are in natural (human) language</a:t>
            </a:r>
          </a:p>
          <a:p>
            <a:endParaRPr lang="en-US" b="1" noProof="0" dirty="0"/>
          </a:p>
          <a:p>
            <a:r>
              <a:rPr lang="en-US" b="1" noProof="0" dirty="0"/>
              <a:t>Agent will figure out if and which tool to call </a:t>
            </a:r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B0D65E38-CCE0-F9A6-05A4-9AD648A11D9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004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48ED3-504C-760C-8974-CB5A75FC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7789-DADC-77A2-798D-07B94B0D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E6C7-F4FC-F004-4294-32C844CA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5: Run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Process all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tasks = [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query) for query in queries]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results = await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asyncio.gather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(*tasks)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F79C5-8CE6-5DE5-ACC6-066A67816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83369"/>
              </p:ext>
            </p:extLst>
          </p:nvPr>
        </p:nvGraphicFramePr>
        <p:xfrm>
          <a:off x="723609" y="3750397"/>
          <a:ext cx="1103096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Runner.run</a:t>
                      </a:r>
                      <a:r>
                        <a:rPr lang="en-US" noProof="0" dirty="0"/>
                        <a:t>(agent, 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agent with a query, [ ] creates a list comprehension, i.e. multiple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asyncio.gather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all tasks simultaneously and waits for all to complete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await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Waits for all results before continuing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88084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DD6C82D4-5D6A-311F-9CEF-084B1A60116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111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AC3F4-FBE6-125D-7293-24856C9B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8DEB-B75E-D300-2A22-88407593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0692-73F6-AB4D-98E2-66ECF52F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6: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for query, result in zip(queries, results):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f"Q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{query}")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f"A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result.final_output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}\n")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79A348-EA05-09EC-D5D6-CFCBBE4F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10240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zip()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Pairs each query with its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result.final_output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Agent’s final answer, after all tool calls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FD90E0E2-018E-C5B6-9878-B415E5E9935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93686-CCFF-5BB6-0A05-A6C58CCA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9727-BFDB-4B90-89CD-727B8EBB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6786-D363-B0F1-D5AC-3C206C09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7: Run the Program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FD8BCD-AE52-3C77-D74C-69A3E8E7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835848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if __name__ == “__main__”: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Standard Python syntax – Only runs if the file is executing directly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asyncio.run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Starts the async event loop and runs main()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28FF72B1-8A14-9704-8973-3AED05CBFD6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2_openai_agents/2_0_my_first_agent.py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957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6D3-4109-4E2D-E4F6-551587E9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1" y="341564"/>
            <a:ext cx="9837038" cy="1240026"/>
          </a:xfrm>
        </p:spPr>
        <p:txBody>
          <a:bodyPr>
            <a:normAutofit/>
          </a:bodyPr>
          <a:lstStyle/>
          <a:p>
            <a:r>
              <a:rPr lang="en-US" sz="4100" noProof="0" dirty="0"/>
              <a:t>Agents API: Sync or Async?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7860-E044-7F56-74A2-7FA1AF363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81" y="1707819"/>
            <a:ext cx="9837038" cy="4070550"/>
          </a:xfrm>
        </p:spPr>
        <p:txBody>
          <a:bodyPr/>
          <a:lstStyle/>
          <a:p>
            <a:r>
              <a:rPr lang="en-US" sz="2600" noProof="0" dirty="0"/>
              <a:t>Agents API supports two modes of operation: </a:t>
            </a:r>
            <a:r>
              <a:rPr lang="en-US" sz="2600" b="1" noProof="0" dirty="0"/>
              <a:t>synchronous</a:t>
            </a:r>
            <a:r>
              <a:rPr lang="en-US" sz="2600" noProof="0" dirty="0"/>
              <a:t> and </a:t>
            </a:r>
            <a:r>
              <a:rPr lang="en-US" sz="2600" b="1" noProof="0" dirty="0"/>
              <a:t>asynchronous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E6E5B-E743-D5FB-0800-7B2F164CB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69968"/>
              </p:ext>
            </p:extLst>
          </p:nvPr>
        </p:nvGraphicFramePr>
        <p:xfrm>
          <a:off x="1177481" y="2670660"/>
          <a:ext cx="9990487" cy="304922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95499">
                  <a:extLst>
                    <a:ext uri="{9D8B030D-6E8A-4147-A177-3AD203B41FA5}">
                      <a16:colId xmlns:a16="http://schemas.microsoft.com/office/drawing/2014/main" val="3291926472"/>
                    </a:ext>
                  </a:extLst>
                </a:gridCol>
                <a:gridCol w="3610941">
                  <a:extLst>
                    <a:ext uri="{9D8B030D-6E8A-4147-A177-3AD203B41FA5}">
                      <a16:colId xmlns:a16="http://schemas.microsoft.com/office/drawing/2014/main" val="3225460055"/>
                    </a:ext>
                  </a:extLst>
                </a:gridCol>
                <a:gridCol w="4284047">
                  <a:extLst>
                    <a:ext uri="{9D8B030D-6E8A-4147-A177-3AD203B41FA5}">
                      <a16:colId xmlns:a16="http://schemas.microsoft.com/office/drawing/2014/main" val="612264176"/>
                    </a:ext>
                  </a:extLst>
                </a:gridCol>
              </a:tblGrid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Synchronous</a:t>
                      </a:r>
                      <a:r>
                        <a:rPr lang="en-US" sz="1600" b="1" noProof="0" dirty="0"/>
                        <a:t>: </a:t>
                      </a:r>
                      <a:r>
                        <a:rPr lang="en-US" sz="1600" b="1" noProof="0" dirty="0" err="1"/>
                        <a:t>Runner.run_sync</a:t>
                      </a:r>
                      <a:r>
                        <a:rPr lang="en-US" sz="16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>
                          <a:solidFill>
                            <a:srgbClr val="FF0000"/>
                          </a:solidFill>
                        </a:rPr>
                        <a:t>Asynchronous</a:t>
                      </a:r>
                      <a:r>
                        <a:rPr lang="en-US" sz="1600" b="1" noProof="0" dirty="0"/>
                        <a:t>: await </a:t>
                      </a:r>
                      <a:r>
                        <a:rPr lang="en-US" sz="1600" b="1" noProof="0" dirty="0" err="1"/>
                        <a:t>Runner.run</a:t>
                      </a:r>
                      <a:r>
                        <a:rPr lang="en-US" sz="16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3010442310"/>
                  </a:ext>
                </a:extLst>
              </a:tr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Programming style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Blocking (runs one task at a time)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Non-blocking (can run multiple tasks concurrently)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619753185"/>
                  </a:ext>
                </a:extLst>
              </a:tr>
              <a:tr h="277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Ease of use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Simpler to write, no async/await needed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Requires </a:t>
                      </a:r>
                      <a:r>
                        <a:rPr lang="en-US" sz="1600" b="1" noProof="0" dirty="0" err="1"/>
                        <a:t>asyncio</a:t>
                      </a:r>
                      <a:r>
                        <a:rPr lang="en-US" sz="1600" noProof="0" dirty="0"/>
                        <a:t> and </a:t>
                      </a:r>
                      <a:r>
                        <a:rPr lang="en-US" sz="1600" b="1" noProof="0" dirty="0"/>
                        <a:t>await </a:t>
                      </a:r>
                      <a:r>
                        <a:rPr lang="en-US" sz="1600" noProof="0" dirty="0"/>
                        <a:t>keywords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494663685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Best for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Quick scripts, one-off calls, debugging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Production apps, web servers, handling multiple sessions or tool calls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778826006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Concurrency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Cannot overlap calls – each waits for the previous to finish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Can run multiple LLM calls or tool calls in parallel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464696240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Performance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Slower if many requests, since they run sequentially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Faster throughput when managing many tasks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043531246"/>
                  </a:ext>
                </a:extLst>
              </a:tr>
              <a:tr h="50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Error handling</a:t>
                      </a:r>
                      <a:endParaRPr lang="en-US" sz="16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Traditional try/except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Async exception handling (</a:t>
                      </a:r>
                      <a:r>
                        <a:rPr lang="en-US" sz="1600" noProof="0" dirty="0" err="1"/>
                        <a:t>asyncio.gather</a:t>
                      </a:r>
                      <a:r>
                        <a:rPr lang="en-US" sz="1600" noProof="0" dirty="0"/>
                        <a:t>, cancellation, timeouts)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43743613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2C3C57E8-D3AD-A08C-0630-3630E2B99CE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2_openai_agents/2_8_openai_agent_sync.py, 2_9_openai_agent_async.py</a:t>
            </a:r>
          </a:p>
        </p:txBody>
      </p:sp>
    </p:spTree>
    <p:extLst>
      <p:ext uri="{BB962C8B-B14F-4D97-AF65-F5344CB8AC3E}">
        <p14:creationId xmlns:p14="http://schemas.microsoft.com/office/powerpoint/2010/main" val="2057732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F21-85EA-70A8-D331-38C0B964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Async: Sample Code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B4B982-1536-A196-5614-1CC8B2B03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130911"/>
              </p:ext>
            </p:extLst>
          </p:nvPr>
        </p:nvGraphicFramePr>
        <p:xfrm>
          <a:off x="782359" y="1392855"/>
          <a:ext cx="10515600" cy="4851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2002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9514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975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r>
                        <a:rPr lang="en-US" noProof="0" dirty="0"/>
                        <a:t>    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result =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Runner.run_sync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import </a:t>
                      </a:r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async </a:t>
                      </a:r>
                      <a:r>
                        <a:rPr lang="en-US" noProof="0" dirty="0"/>
                        <a:t>def main():</a:t>
                      </a:r>
                    </a:p>
                    <a:p>
                      <a:r>
                        <a:rPr lang="en-US" noProof="0" dirty="0"/>
                        <a:t>    result = </a:t>
                      </a: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await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“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)</a:t>
                      </a:r>
                    </a:p>
                    <a:p>
                      <a:r>
                        <a:rPr lang="en-US" noProof="0" dirty="0"/>
                        <a:t>    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asyncio.run</a:t>
                      </a:r>
                      <a:r>
                        <a:rPr lang="en-US" noProof="0" dirty="0"/>
                        <a:t>(main())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028337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43132BAE-257A-C2E4-E867-AB29361CE5B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2_openai_agents/2_8_openai_agent_sync.py, 2_9_openai_agent_async.py</a:t>
            </a:r>
          </a:p>
        </p:txBody>
      </p:sp>
    </p:spTree>
    <p:extLst>
      <p:ext uri="{BB962C8B-B14F-4D97-AF65-F5344CB8AC3E}">
        <p14:creationId xmlns:p14="http://schemas.microsoft.com/office/powerpoint/2010/main" val="3357839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68CE-0C44-2BD5-EE14-5AD67AE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 Processing in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8A89-7D07-B19F-DD61-15371D5D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two agents one after the other, i.e. in sync mode, wait for their work to complete, and then output the final combined result</a:t>
            </a:r>
          </a:p>
          <a:p>
            <a:pPr lvl="1"/>
            <a:r>
              <a:rPr lang="en-US" noProof="0" dirty="0"/>
              <a:t>2_8_openai_agent_sync.py</a:t>
            </a:r>
          </a:p>
          <a:p>
            <a:r>
              <a:rPr lang="en-US" noProof="0" dirty="0"/>
              <a:t>Run the same two agents at the same time, i.e. in async mode, wait for their work to complete, and then output the final combined result</a:t>
            </a:r>
          </a:p>
          <a:p>
            <a:pPr lvl="1"/>
            <a:r>
              <a:rPr lang="en-US" noProof="0" dirty="0"/>
              <a:t>2_9_openai_agent_async.py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CE6BB30-B1AB-BFCB-996C-582F67F825F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2_openai_agents/2_8_openai_agent_sync.py, 2_9_openai_agent_async.py</a:t>
            </a:r>
          </a:p>
        </p:txBody>
      </p:sp>
    </p:spTree>
    <p:extLst>
      <p:ext uri="{BB962C8B-B14F-4D97-AF65-F5344CB8AC3E}">
        <p14:creationId xmlns:p14="http://schemas.microsoft.com/office/powerpoint/2010/main" val="1473590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4013-1070-8360-4F06-D48A877C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 Use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FEE5-EB3B-4701-2972-FFB3B79B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GB" dirty="0"/>
              <a:t>The agent decides when and how to invoke external tools or APIs to complete a task</a:t>
            </a:r>
            <a:endParaRPr lang="en-US" noProof="0" dirty="0"/>
          </a:p>
          <a:p>
            <a:pPr lvl="1"/>
            <a:r>
              <a:rPr lang="en-US" noProof="0" dirty="0"/>
              <a:t>Instead of doing everything internally, the agent delegates tasks to specialized modules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Agent analyzes the task</a:t>
            </a:r>
          </a:p>
          <a:p>
            <a:pPr lvl="1"/>
            <a:r>
              <a:rPr lang="en-US" noProof="0" dirty="0"/>
              <a:t>Determines which tool is suitable</a:t>
            </a:r>
          </a:p>
          <a:p>
            <a:pPr lvl="1"/>
            <a:r>
              <a:rPr lang="en-US" noProof="0" dirty="0"/>
              <a:t>Sends structured input to the tool</a:t>
            </a:r>
          </a:p>
          <a:p>
            <a:pPr lvl="1"/>
            <a:r>
              <a:rPr lang="en-US" noProof="0" dirty="0"/>
              <a:t>Receives output / result</a:t>
            </a:r>
          </a:p>
          <a:p>
            <a:pPr lvl="1"/>
            <a:r>
              <a:rPr lang="en-US" noProof="0" dirty="0"/>
              <a:t>Integrates result into final reasoning / answer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Modularity: Each tool is specialized; agent remains flexible</a:t>
            </a:r>
          </a:p>
          <a:p>
            <a:pPr lvl="1"/>
            <a:r>
              <a:rPr lang="en-US" noProof="0" dirty="0"/>
              <a:t>Scalability: Add new tools without changing core agent logic</a:t>
            </a:r>
          </a:p>
          <a:p>
            <a:pPr lvl="1"/>
            <a:r>
              <a:rPr lang="en-US" noProof="0" dirty="0"/>
              <a:t>Auditability: Clear trace of which tool produced what output</a:t>
            </a:r>
          </a:p>
          <a:p>
            <a:pPr lvl="1"/>
            <a:r>
              <a:rPr lang="en-US" noProof="0" dirty="0"/>
              <a:t>Efficiency: Offloads complex computations to optimized tools</a:t>
            </a:r>
          </a:p>
        </p:txBody>
      </p:sp>
      <p:pic>
        <p:nvPicPr>
          <p:cNvPr id="1026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947B51EB-2097-FD71-24ED-8FAE07314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773" y="18615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4F41DC3-8350-71A6-4459-78BE45C4F62A}"/>
              </a:ext>
            </a:extLst>
          </p:cNvPr>
          <p:cNvSpPr/>
          <p:nvPr/>
        </p:nvSpPr>
        <p:spPr>
          <a:xfrm>
            <a:off x="5074572" y="20756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 Containing Tools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10F5504-93A8-5BED-058A-A69FAE1375F4}"/>
              </a:ext>
            </a:extLst>
          </p:cNvPr>
          <p:cNvSpPr/>
          <p:nvPr/>
        </p:nvSpPr>
        <p:spPr>
          <a:xfrm>
            <a:off x="6463621" y="617490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4615C02-3BD4-FF8B-93D9-6B8286780AFC}"/>
              </a:ext>
            </a:extLst>
          </p:cNvPr>
          <p:cNvSpPr/>
          <p:nvPr/>
        </p:nvSpPr>
        <p:spPr>
          <a:xfrm>
            <a:off x="8268570" y="60043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28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3AB6585E-2211-64F1-F44C-054326C5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822" y="108532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118926-0348-AD3C-08FB-C2D2AFAB511B}"/>
              </a:ext>
            </a:extLst>
          </p:cNvPr>
          <p:cNvCxnSpPr>
            <a:cxnSpLocks/>
          </p:cNvCxnSpPr>
          <p:nvPr/>
        </p:nvCxnSpPr>
        <p:spPr>
          <a:xfrm>
            <a:off x="9793154" y="1387367"/>
            <a:ext cx="0" cy="514666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2E473-E0A5-9120-C830-39D766F568E1}"/>
              </a:ext>
            </a:extLst>
          </p:cNvPr>
          <p:cNvCxnSpPr>
            <a:cxnSpLocks/>
          </p:cNvCxnSpPr>
          <p:nvPr/>
        </p:nvCxnSpPr>
        <p:spPr>
          <a:xfrm flipH="1">
            <a:off x="5698132" y="1910878"/>
            <a:ext cx="4102002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F9C338-2B42-A3F4-2023-5E63F87ED85E}"/>
              </a:ext>
            </a:extLst>
          </p:cNvPr>
          <p:cNvCxnSpPr>
            <a:cxnSpLocks/>
          </p:cNvCxnSpPr>
          <p:nvPr/>
        </p:nvCxnSpPr>
        <p:spPr>
          <a:xfrm flipV="1">
            <a:off x="5705112" y="1439088"/>
            <a:ext cx="0" cy="47179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89D6434B-17F8-093A-C2D2-CCB3AA7B1672}"/>
              </a:ext>
            </a:extLst>
          </p:cNvPr>
          <p:cNvSpPr/>
          <p:nvPr/>
        </p:nvSpPr>
        <p:spPr>
          <a:xfrm>
            <a:off x="10965822" y="0"/>
            <a:ext cx="1226178" cy="1025594"/>
          </a:xfrm>
          <a:prstGeom prst="cloudCallout">
            <a:avLst>
              <a:gd name="adj1" fmla="val -74343"/>
              <a:gd name="adj2" fmla="val 169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tx1"/>
                </a:solidFill>
              </a:rPr>
              <a:t>Need to call a Tool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FD50A8D-8D57-AC88-C5A9-74C879076B8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2_openai_agents/2_0_1_openai_agent_pattern_tool.py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21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E26B14-7E7E-8A19-D8FB-A385E9EEB5A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925C10A5-DD25-F2AF-1CB9-E8F5E64B7CF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2_openai_agents/2_0_2_openai_agent_pattern_plan.py, 2_0_3_openai_agent_pattern_react.py, 2_0_4_openai_agent_pattern_reflection.py, 2_0_5_openai_agent_pattern_rewoo.py</a:t>
            </a:r>
          </a:p>
        </p:txBody>
      </p:sp>
    </p:spTree>
    <p:extLst>
      <p:ext uri="{BB962C8B-B14F-4D97-AF65-F5344CB8AC3E}">
        <p14:creationId xmlns:p14="http://schemas.microsoft.com/office/powerpoint/2010/main" val="1782605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6B5-58B1-8C67-3DF1-D44A85C7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D366-BF25-2EEE-46E5-0EB4E737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ReAct</a:t>
            </a:r>
            <a:r>
              <a:rPr lang="en-IN" noProof="0" dirty="0"/>
              <a:t> -&gt; </a:t>
            </a:r>
            <a:r>
              <a:rPr lang="en-IN" b="1" noProof="0" dirty="0"/>
              <a:t>Re</a:t>
            </a:r>
            <a:r>
              <a:rPr lang="en-IN" noProof="0" dirty="0"/>
              <a:t> = Reasoning, </a:t>
            </a:r>
            <a:r>
              <a:rPr lang="en-IN" b="1" noProof="0" dirty="0"/>
              <a:t>Act</a:t>
            </a:r>
            <a:r>
              <a:rPr lang="en-IN" noProof="0" dirty="0"/>
              <a:t> = Acting </a:t>
            </a:r>
          </a:p>
          <a:p>
            <a:r>
              <a:rPr lang="en-IN" noProof="0" dirty="0"/>
              <a:t>Instead of immediately answering a question, the AI agent:</a:t>
            </a:r>
          </a:p>
          <a:p>
            <a:pPr lvl="1"/>
            <a:r>
              <a:rPr lang="en-IN" noProof="0" dirty="0"/>
              <a:t>Thinks about the problem </a:t>
            </a:r>
          </a:p>
          <a:p>
            <a:pPr lvl="1"/>
            <a:r>
              <a:rPr lang="en-IN" noProof="0" dirty="0"/>
              <a:t>Decides which tool to use </a:t>
            </a:r>
          </a:p>
          <a:p>
            <a:pPr lvl="1"/>
            <a:r>
              <a:rPr lang="en-IN" noProof="0" dirty="0"/>
              <a:t>Executes the tool </a:t>
            </a:r>
          </a:p>
          <a:p>
            <a:pPr lvl="1"/>
            <a:r>
              <a:rPr lang="en-IN" noProof="0" dirty="0"/>
              <a:t>Observes the result </a:t>
            </a:r>
          </a:p>
          <a:p>
            <a:pPr lvl="1"/>
            <a:r>
              <a:rPr lang="en-IN" noProof="0" dirty="0"/>
              <a:t>Thinks again </a:t>
            </a:r>
          </a:p>
          <a:p>
            <a:pPr lvl="1"/>
            <a:r>
              <a:rPr lang="en-IN" noProof="0" dirty="0"/>
              <a:t>Repeats until the goal is achieved</a:t>
            </a:r>
          </a:p>
          <a:p>
            <a:r>
              <a:rPr lang="en-IN" noProof="0" dirty="0"/>
              <a:t>The </a:t>
            </a:r>
            <a:r>
              <a:rPr lang="en-IN" noProof="0" dirty="0" err="1"/>
              <a:t>ReAct</a:t>
            </a:r>
            <a:r>
              <a:rPr lang="en-IN" noProof="0" dirty="0"/>
              <a:t> Loop: Thought → Action → Observation → Thought → Action → Observation → Answer</a:t>
            </a:r>
          </a:p>
          <a:p>
            <a:r>
              <a:rPr lang="en-IN" noProof="0" dirty="0"/>
              <a:t>C:\code\agenticai\14_advanced\06_langchain_agents\react_agent_web_search_python_repl.py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C5892F9-D045-6B11-AE1B-A6729A040D6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2_openai_agents/2_0_3_openai_agent_pattern_react.py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576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9D020-9DC4-F1D1-9665-1A8569FD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A68-587D-4820-2F3E-59AB1936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Plan-and-Execute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3F1-B644-7202-FF18-3800AF42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Plan-and-Execute</a:t>
            </a:r>
            <a:r>
              <a:rPr lang="en-IN" noProof="0" dirty="0"/>
              <a:t>: Separates an AI agent's work into two distinct phases</a:t>
            </a:r>
          </a:p>
          <a:p>
            <a:pPr lvl="1"/>
            <a:r>
              <a:rPr lang="en-IN" b="1" noProof="0" dirty="0"/>
              <a:t>Planning</a:t>
            </a:r>
            <a:r>
              <a:rPr lang="en-IN" noProof="0" dirty="0"/>
              <a:t> – Create a complete plan to achieve the goal</a:t>
            </a:r>
          </a:p>
          <a:p>
            <a:pPr lvl="1"/>
            <a:r>
              <a:rPr lang="en-IN" b="1" noProof="0" dirty="0"/>
              <a:t>Execution</a:t>
            </a:r>
            <a:r>
              <a:rPr lang="en-IN" noProof="0" dirty="0"/>
              <a:t> – Carry out each step in the plan</a:t>
            </a:r>
          </a:p>
          <a:p>
            <a:r>
              <a:rPr lang="en-IN" noProof="0" dirty="0"/>
              <a:t>Instead of deciding the next action after every observation (as in </a:t>
            </a:r>
            <a:r>
              <a:rPr lang="en-IN" noProof="0" dirty="0" err="1"/>
              <a:t>ReAct</a:t>
            </a:r>
            <a:r>
              <a:rPr lang="en-IN" noProof="0" dirty="0"/>
              <a:t>), the agent first develops an overall strategy</a:t>
            </a:r>
          </a:p>
          <a:p>
            <a:r>
              <a:rPr lang="en-IN" noProof="0" dirty="0"/>
              <a:t>Goal → Planner → Execution Plan → Executor → Step 1 → Step 2 → Step 3 → Final Answer</a:t>
            </a:r>
          </a:p>
          <a:p>
            <a:r>
              <a:rPr lang="en-IN" noProof="0" dirty="0"/>
              <a:t>Each step itself is a </a:t>
            </a:r>
            <a:r>
              <a:rPr lang="en-IN" noProof="0" dirty="0" err="1"/>
              <a:t>ReAct</a:t>
            </a:r>
            <a:r>
              <a:rPr lang="en-IN" noProof="0" dirty="0"/>
              <a:t> loop internally</a:t>
            </a:r>
          </a:p>
          <a:p>
            <a:r>
              <a:rPr lang="en-IN" noProof="0" dirty="0"/>
              <a:t>14_advanced\06_langchain_agents\plan_and_execute_agent.py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A8ED442-3595-5E64-3265-8330D5EE29F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2_openai_agents/2_0_2_openai_agent_pattern_plan.py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952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5E7F3-AA61-D34F-B927-A52147F2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4FDC0-B782-902B-8809-68A1A1D9D8EA}"/>
              </a:ext>
            </a:extLst>
          </p:cNvPr>
          <p:cNvSpPr/>
          <p:nvPr/>
        </p:nvSpPr>
        <p:spPr>
          <a:xfrm>
            <a:off x="5933130" y="103511"/>
            <a:ext cx="921380" cy="1940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39AE7-CA6A-B8FE-CC00-335B1C4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Multi-agent</a:t>
            </a:r>
            <a:br>
              <a:rPr lang="en-US" noProof="0" dirty="0"/>
            </a:br>
            <a:r>
              <a:rPr lang="en-US" noProof="0" dirty="0"/>
              <a:t>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E7DF-B5D1-15EC-AF0B-770E765B1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US" noProof="0" dirty="0"/>
              <a:t>Multiple specialized agents collaborate to solve a single problem</a:t>
            </a:r>
          </a:p>
          <a:p>
            <a:pPr lvl="1"/>
            <a:r>
              <a:rPr lang="en-US" noProof="0" dirty="0"/>
              <a:t>Each agent has a </a:t>
            </a:r>
            <a:r>
              <a:rPr lang="en-US" b="1" noProof="0" dirty="0"/>
              <a:t>clear role</a:t>
            </a:r>
            <a:r>
              <a:rPr lang="en-US" noProof="0" dirty="0"/>
              <a:t>, </a:t>
            </a:r>
            <a:r>
              <a:rPr lang="en-US" b="1" noProof="0" dirty="0"/>
              <a:t>responsibility</a:t>
            </a:r>
            <a:r>
              <a:rPr lang="en-US" noProof="0" dirty="0"/>
              <a:t>, and </a:t>
            </a:r>
            <a:r>
              <a:rPr lang="en-US" b="1" noProof="0" dirty="0"/>
              <a:t>scope</a:t>
            </a:r>
          </a:p>
          <a:p>
            <a:pPr lvl="1"/>
            <a:r>
              <a:rPr lang="en-US" noProof="0" dirty="0"/>
              <a:t>Complex tasks are decomposed across agents instead of a single monolithic agent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User request is received by an orchestrator (or coordinator agent)</a:t>
            </a:r>
          </a:p>
          <a:p>
            <a:pPr lvl="1"/>
            <a:r>
              <a:rPr lang="en-US" noProof="0" dirty="0"/>
              <a:t>Task is decomposed into sub-tasks</a:t>
            </a:r>
          </a:p>
          <a:p>
            <a:pPr lvl="1"/>
            <a:r>
              <a:rPr lang="en-US" noProof="0" dirty="0"/>
              <a:t>Sub-tasks are assigned to specialized agents</a:t>
            </a:r>
          </a:p>
          <a:p>
            <a:pPr lvl="1"/>
            <a:r>
              <a:rPr lang="en-US" noProof="0" dirty="0"/>
              <a:t>Agents execute independently or sequentially</a:t>
            </a:r>
          </a:p>
          <a:p>
            <a:pPr lvl="1"/>
            <a:r>
              <a:rPr lang="en-US" noProof="0" dirty="0"/>
              <a:t>Outputs are aggregated and validated</a:t>
            </a:r>
          </a:p>
          <a:p>
            <a:pPr lvl="1"/>
            <a:r>
              <a:rPr lang="en-US" noProof="0" dirty="0"/>
              <a:t>Final result is produced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Specialization: Each agent focuses on what it does best</a:t>
            </a:r>
          </a:p>
          <a:p>
            <a:pPr lvl="1"/>
            <a:r>
              <a:rPr lang="en-US" noProof="0" dirty="0"/>
              <a:t>Scalability: Add or replace agents without redesigning the system</a:t>
            </a:r>
          </a:p>
          <a:p>
            <a:pPr lvl="1"/>
            <a:r>
              <a:rPr lang="en-US" noProof="0" dirty="0"/>
              <a:t>Parallelism: Agents can work concurrently for faster results</a:t>
            </a:r>
          </a:p>
          <a:p>
            <a:pPr lvl="1"/>
            <a:r>
              <a:rPr lang="en-US" noProof="0" dirty="0"/>
              <a:t>Robustness: Failure of one agent does not collapse the entire system</a:t>
            </a:r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F1AAA476-CDB9-D5E7-54F7-6E69D0824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207022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4BB0007-BFD5-8BE6-FDFA-5CDE2E21F499}"/>
              </a:ext>
            </a:extLst>
          </p:cNvPr>
          <p:cNvSpPr/>
          <p:nvPr/>
        </p:nvSpPr>
        <p:spPr>
          <a:xfrm>
            <a:off x="3821194" y="44223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2F99422-4357-4E54-3CF3-624C643CB43D}"/>
              </a:ext>
            </a:extLst>
          </p:cNvPr>
          <p:cNvSpPr/>
          <p:nvPr/>
        </p:nvSpPr>
        <p:spPr>
          <a:xfrm>
            <a:off x="5316551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5E91B5-801A-A79C-E983-306068512289}"/>
              </a:ext>
            </a:extLst>
          </p:cNvPr>
          <p:cNvSpPr/>
          <p:nvPr/>
        </p:nvSpPr>
        <p:spPr>
          <a:xfrm>
            <a:off x="6948952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F057EE37-BB50-6290-31E9-8241F5337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267" y="343200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4F2B88B4-950A-C4BD-67A1-B24097D9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800881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BCA391B6-4504-3E98-117E-A26EC6D47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1378407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emoCallout">
            <a:extLst>
              <a:ext uri="{FF2B5EF4-FFF2-40B4-BE49-F238E27FC236}">
                <a16:creationId xmlns:a16="http://schemas.microsoft.com/office/drawing/2014/main" id="{19AD7BC8-3BD2-D3C8-3F30-F296B0BB282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2_openai_agents/2_0_6_openai_agent_pattern_multi_agent.py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187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70A3E-DC7B-225C-62CA-C38046A6D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875801"/>
              </p:ext>
            </p:extLst>
          </p:nvPr>
        </p:nvGraphicFramePr>
        <p:xfrm>
          <a:off x="763939" y="192852"/>
          <a:ext cx="10832164" cy="59821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55470">
                  <a:extLst>
                    <a:ext uri="{9D8B030D-6E8A-4147-A177-3AD203B41FA5}">
                      <a16:colId xmlns:a16="http://schemas.microsoft.com/office/drawing/2014/main" val="4114190081"/>
                    </a:ext>
                  </a:extLst>
                </a:gridCol>
                <a:gridCol w="2085429">
                  <a:extLst>
                    <a:ext uri="{9D8B030D-6E8A-4147-A177-3AD203B41FA5}">
                      <a16:colId xmlns:a16="http://schemas.microsoft.com/office/drawing/2014/main" val="448936344"/>
                    </a:ext>
                  </a:extLst>
                </a:gridCol>
                <a:gridCol w="1977710">
                  <a:extLst>
                    <a:ext uri="{9D8B030D-6E8A-4147-A177-3AD203B41FA5}">
                      <a16:colId xmlns:a16="http://schemas.microsoft.com/office/drawing/2014/main" val="968096629"/>
                    </a:ext>
                  </a:extLst>
                </a:gridCol>
                <a:gridCol w="2352570">
                  <a:extLst>
                    <a:ext uri="{9D8B030D-6E8A-4147-A177-3AD203B41FA5}">
                      <a16:colId xmlns:a16="http://schemas.microsoft.com/office/drawing/2014/main" val="2007595872"/>
                    </a:ext>
                  </a:extLst>
                </a:gridCol>
                <a:gridCol w="1893690">
                  <a:extLst>
                    <a:ext uri="{9D8B030D-6E8A-4147-A177-3AD203B41FA5}">
                      <a16:colId xmlns:a16="http://schemas.microsoft.com/office/drawing/2014/main" val="1187256254"/>
                    </a:ext>
                  </a:extLst>
                </a:gridCol>
                <a:gridCol w="2167295">
                  <a:extLst>
                    <a:ext uri="{9D8B030D-6E8A-4147-A177-3AD203B41FA5}">
                      <a16:colId xmlns:a16="http://schemas.microsoft.com/office/drawing/2014/main" val="2615636929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Design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Improvements still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5311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 customer support bot that answers FAQs using a knowledge base and function calling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Information Retrieval Pattern: Pull an answer directly from a predefined 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Function (Tool) calling*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Knowledgebase is hardcoded, Customer queries are searched on keywords,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2_2_openai_agent_tool_hardcoded_knowledge.py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53611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Do not search the customer query based on keywords, but perform semantic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Semantic Search Pattern: Understand meaning behind the user’s query, not just keywords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Compute embeddings for knowledge base and compare with embeddings for customer query*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Knowledgebase is hardcoded,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2_3_openai_agent_hardcoded_semantic.py</a:t>
                      </a:r>
                    </a:p>
                    <a:p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953588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OpenAI’s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without we coding for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OpenAI embeddings instead of Hugging Face/Chroma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2_4_openai_agent_openai_vectorstore.py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651522"/>
                  </a:ext>
                </a:extLst>
              </a:tr>
              <a:tr h="860778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Store our FAQs in </a:t>
                      </a:r>
                      <a:r>
                        <a:rPr lang="en-US" sz="1200" noProof="0" dirty="0" err="1"/>
                        <a:t>Sqllite</a:t>
                      </a:r>
                      <a:r>
                        <a:rPr lang="en-US" sz="1200" noProof="0" dirty="0"/>
                        <a:t> DB and then vectorize them and use them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– Basic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We create our own vectorized database, but limited in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Use real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First run 2_openai_agent_create_faq_db.py and then 2_5_openai_agent_faq_db_vectorized.py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11108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Make it like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Not a pattern, but separating the 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Added </a:t>
                      </a:r>
                      <a:r>
                        <a:rPr lang="en-US" sz="1200" noProof="0" dirty="0" err="1"/>
                        <a:t>Gradio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Make it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2_6_openai_agent_rag.py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8734"/>
                  </a:ext>
                </a:extLst>
              </a:tr>
              <a:tr h="34337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 RAG 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RAG (Insurance document)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Added RAG*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2_7_openai_agent_insurance.py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17971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Guardrails*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Different 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2_10_openai_agent_guardrails.py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694069"/>
                  </a:ext>
                </a:extLst>
              </a:tr>
              <a:tr h="564445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Agents as Tools*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Convert agents into tools, which a high-level agent can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2_12_openai_agent_agent_as_tool.py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2244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Short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Memory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Default: Agents are stateless, Each call: New Agent, Change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 long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/>
                        <a:t>2_13_openai_agent_short_term_memory.py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9283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54C939A8-93CD-3543-2E59-CAFBE11F34F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2_openai_agents/2_2_* … 2_13_*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856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7850-BB97-EE94-55D7-19F435ED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129" y="346033"/>
            <a:ext cx="9965742" cy="1256250"/>
          </a:xfrm>
        </p:spPr>
        <p:txBody>
          <a:bodyPr>
            <a:normAutofit/>
          </a:bodyPr>
          <a:lstStyle/>
          <a:p>
            <a:r>
              <a:rPr lang="en-US" sz="4200" noProof="0" dirty="0"/>
              <a:t>Agentic AI Frameworks/Technologies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7F94FB-B338-3A3A-D903-0A93D861C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50130"/>
              </p:ext>
            </p:extLst>
          </p:nvPr>
        </p:nvGraphicFramePr>
        <p:xfrm>
          <a:off x="1198849" y="1335293"/>
          <a:ext cx="9794302" cy="5014491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42444">
                  <a:extLst>
                    <a:ext uri="{9D8B030D-6E8A-4147-A177-3AD203B41FA5}">
                      <a16:colId xmlns:a16="http://schemas.microsoft.com/office/drawing/2014/main" val="2423690562"/>
                    </a:ext>
                  </a:extLst>
                </a:gridCol>
                <a:gridCol w="1898277">
                  <a:extLst>
                    <a:ext uri="{9D8B030D-6E8A-4147-A177-3AD203B41FA5}">
                      <a16:colId xmlns:a16="http://schemas.microsoft.com/office/drawing/2014/main" val="3588942070"/>
                    </a:ext>
                  </a:extLst>
                </a:gridCol>
                <a:gridCol w="2321922">
                  <a:extLst>
                    <a:ext uri="{9D8B030D-6E8A-4147-A177-3AD203B41FA5}">
                      <a16:colId xmlns:a16="http://schemas.microsoft.com/office/drawing/2014/main" val="3518952007"/>
                    </a:ext>
                  </a:extLst>
                </a:gridCol>
                <a:gridCol w="5031659">
                  <a:extLst>
                    <a:ext uri="{9D8B030D-6E8A-4147-A177-3AD203B41FA5}">
                      <a16:colId xmlns:a16="http://schemas.microsoft.com/office/drawing/2014/main" val="475231840"/>
                    </a:ext>
                  </a:extLst>
                </a:gridCol>
              </a:tblGrid>
              <a:tr h="25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Level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Tool / Framework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Role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Why it fits here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622050"/>
                  </a:ext>
                </a:extLst>
              </a:tr>
              <a:tr h="536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OpenAI SDK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Base API/SDK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Lowest level </a:t>
                      </a:r>
                      <a:r>
                        <a:rPr lang="en-US" sz="1500" noProof="0" dirty="0"/>
                        <a:t>– just an SDK to call LLMs, embeddings, etc. We build everything else on top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029069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OpenAI Agents SDK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Structured agent building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More structured agents</a:t>
                      </a:r>
                      <a:r>
                        <a:rPr lang="en-US" sz="1500" noProof="0" dirty="0"/>
                        <a:t>  – adds abstractions for tools, memory, structured responses, making agent creation easier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503595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3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LangGraph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Workflow + Agent graphs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Lets us compose agents/workflows as state machines/graphs. Good for </a:t>
                      </a:r>
                      <a:r>
                        <a:rPr lang="en-US" sz="1500" b="1" noProof="0" dirty="0"/>
                        <a:t>predictable flows </a:t>
                      </a:r>
                      <a:r>
                        <a:rPr lang="en-US" sz="1500" noProof="0" dirty="0"/>
                        <a:t>or </a:t>
                      </a:r>
                      <a:r>
                        <a:rPr lang="en-US" sz="1500" b="1" noProof="0" dirty="0"/>
                        <a:t>multi-agent orchestration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798398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4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CrewAI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orchestration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Specializes in </a:t>
                      </a:r>
                      <a:r>
                        <a:rPr lang="en-US" sz="1500" b="1" noProof="0" dirty="0"/>
                        <a:t>multi-agent “crew” collaboration</a:t>
                      </a:r>
                      <a:r>
                        <a:rPr lang="en-US" sz="1500" noProof="0" dirty="0"/>
                        <a:t>, roles, and task distribution, built for autonomy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117643"/>
                  </a:ext>
                </a:extLst>
              </a:tr>
              <a:tr h="659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5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/>
                        <a:t>AutoGen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conversation framework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Similar to </a:t>
                      </a:r>
                      <a:r>
                        <a:rPr lang="en-US" sz="1500" noProof="0" dirty="0" err="1"/>
                        <a:t>CrewAI</a:t>
                      </a:r>
                      <a:r>
                        <a:rPr lang="en-US" sz="1500" noProof="0" dirty="0"/>
                        <a:t>, but focuses heavily on </a:t>
                      </a:r>
                      <a:r>
                        <a:rPr lang="en-US" sz="1500" b="1" noProof="0" dirty="0"/>
                        <a:t>conversational agent-to-agent loops </a:t>
                      </a:r>
                      <a:r>
                        <a:rPr lang="en-US" sz="1500" noProof="0" dirty="0"/>
                        <a:t>(like negotiation, reasoning)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525689"/>
                  </a:ext>
                </a:extLst>
              </a:tr>
              <a:tr h="783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6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MCP (Model Context Protocol)</a:t>
                      </a:r>
                      <a:endParaRPr lang="en-US" sz="15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Standard protocol for agent ↔ tool ↔ client communication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Sits at the top as </a:t>
                      </a:r>
                      <a:r>
                        <a:rPr lang="en-US" sz="1500" b="1" noProof="0" dirty="0"/>
                        <a:t>infrastructure</a:t>
                      </a:r>
                      <a:r>
                        <a:rPr lang="en-US" sz="1500" noProof="0" dirty="0"/>
                        <a:t> – not an agent framework itself, but a </a:t>
                      </a:r>
                      <a:r>
                        <a:rPr lang="en-US" sz="1500" b="1" noProof="0" dirty="0"/>
                        <a:t>protocol </a:t>
                      </a:r>
                      <a:r>
                        <a:rPr lang="en-US" sz="1500" noProof="0" dirty="0"/>
                        <a:t>that makes all the above interoperable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884396"/>
                  </a:ext>
                </a:extLst>
              </a:tr>
              <a:tr h="783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7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No Code-Low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Create agentic AI applications without writing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Uses drag-and-drop features with a rich set of connectors to create powerful applications (Examples: n8n, OpenAI Agent Builder)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900668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A4FC2233-0142-D40F-83DA-B553F4E7F8C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1294222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5989-AACB-52EF-7F43-6B2903152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0F052-F7BE-7943-E5DB-CD18D120B1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LangChain Core: Chains, Memory and RAG</a:t>
            </a:r>
          </a:p>
          <a:p>
            <a:r>
              <a:rPr lang="en-US"/>
              <a:t>Sat 25-Oct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80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71D0-CA72-CD43-066F-86539C59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FEC43-E701-075F-6644-0131FD32F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LangChain overview and architecture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LCEL and Runnables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Prompt templates and output parsers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Conversation memory (session and persistent)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Embeddings and vector databases (Chroma, FAISS)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Document loaders, text splitters and chunking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Building a RAG pipeline with retrievers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Hands-on: Q&amp;A bot over PDFs</a:t>
            </a:r>
          </a:p>
        </p:txBody>
      </p:sp>
    </p:spTree>
    <p:extLst>
      <p:ext uri="{BB962C8B-B14F-4D97-AF65-F5344CB8AC3E}">
        <p14:creationId xmlns:p14="http://schemas.microsoft.com/office/powerpoint/2010/main" val="1139310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FD0F-E3B8-9E96-F864-591E8BC1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r>
              <a:rPr lang="en-IN" dirty="0"/>
              <a:t>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6931-A954-464F-E020-32FAADAD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Core packages</a:t>
            </a:r>
          </a:p>
          <a:p>
            <a:pPr lvl="1"/>
            <a:r>
              <a:rPr lang="en-GB" dirty="0" err="1"/>
              <a:t>langchain</a:t>
            </a:r>
            <a:endParaRPr lang="en-GB" dirty="0"/>
          </a:p>
          <a:p>
            <a:pPr lvl="1"/>
            <a:r>
              <a:rPr lang="en-GB" dirty="0" err="1"/>
              <a:t>langchain</a:t>
            </a:r>
            <a:r>
              <a:rPr lang="en-GB" dirty="0"/>
              <a:t>-core</a:t>
            </a:r>
          </a:p>
          <a:p>
            <a:pPr lvl="1"/>
            <a:r>
              <a:rPr lang="en-GB" dirty="0" err="1"/>
              <a:t>langchain</a:t>
            </a:r>
            <a:r>
              <a:rPr lang="en-GB" dirty="0"/>
              <a:t>-community</a:t>
            </a:r>
          </a:p>
          <a:p>
            <a:pPr lvl="1"/>
            <a:r>
              <a:rPr lang="en-GB" dirty="0" err="1"/>
              <a:t>langchain-openai</a:t>
            </a:r>
            <a:endParaRPr lang="en-GB" dirty="0"/>
          </a:p>
          <a:p>
            <a:r>
              <a:rPr lang="en-GB" dirty="0"/>
              <a:t>Models</a:t>
            </a:r>
          </a:p>
          <a:p>
            <a:r>
              <a:rPr lang="en-GB" dirty="0"/>
              <a:t>Prompts: String, Chat, Message</a:t>
            </a:r>
          </a:p>
          <a:p>
            <a:r>
              <a:rPr lang="en-GB" dirty="0"/>
              <a:t>Output parsers: String, JSON, </a:t>
            </a:r>
            <a:r>
              <a:rPr lang="en-GB" dirty="0" err="1"/>
              <a:t>Pydantic</a:t>
            </a:r>
            <a:r>
              <a:rPr lang="en-GB" dirty="0"/>
              <a:t>, CSV</a:t>
            </a:r>
          </a:p>
          <a:p>
            <a:r>
              <a:rPr lang="en-GB" dirty="0" err="1"/>
              <a:t>LangChain</a:t>
            </a:r>
            <a:r>
              <a:rPr lang="en-GB" dirty="0"/>
              <a:t> Expression Language (LCEL)</a:t>
            </a:r>
          </a:p>
          <a:p>
            <a:r>
              <a:rPr lang="en-GB" dirty="0" err="1"/>
              <a:t>Runnables</a:t>
            </a:r>
            <a:r>
              <a:rPr lang="en-GB" dirty="0"/>
              <a:t>: </a:t>
            </a:r>
            <a:r>
              <a:rPr lang="en-GB" dirty="0" err="1"/>
              <a:t>RunnableLambda</a:t>
            </a:r>
            <a:r>
              <a:rPr lang="en-GB" dirty="0"/>
              <a:t>, </a:t>
            </a:r>
            <a:r>
              <a:rPr lang="en-GB" dirty="0" err="1"/>
              <a:t>RunnableParallel</a:t>
            </a:r>
            <a:r>
              <a:rPr lang="en-GB" dirty="0"/>
              <a:t>, </a:t>
            </a:r>
            <a:r>
              <a:rPr lang="en-GB" dirty="0" err="1"/>
              <a:t>RunnablePassthrough</a:t>
            </a:r>
            <a:endParaRPr lang="en-GB" dirty="0"/>
          </a:p>
          <a:p>
            <a:r>
              <a:rPr lang="en-GB" dirty="0"/>
              <a:t>Example: prompt | </a:t>
            </a:r>
            <a:r>
              <a:rPr lang="en-GB" dirty="0" err="1"/>
              <a:t>llm</a:t>
            </a:r>
            <a:r>
              <a:rPr lang="en-GB" dirty="0"/>
              <a:t> | parser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16544097-37A6-3C14-2F0E-B3CA5A35393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3_langgraph/3_0_langchain_lcel.py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40073752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F3ED9B-85F9-F600-D11C-7D7377C6AA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3BFBB7B-898D-D1AA-B329-C78F60EA294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3_langgraph/3_0_langchain_lcel.py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12411830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4575C-3331-3912-2818-D017E9FC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58990-C7AD-DE8D-04B5-DF3B8B8E84A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6EA2F822-FAFE-EFDF-B495-888DB332B36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3_langgraph/3_0_langchain_lcel.py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40739101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374B9-16AC-3988-3939-482934ED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A82516-24A0-2C45-E581-A1B0B067CD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5A29919-3FC5-7951-6595-246EB01F8A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3_langgraph/3_0_langchain_lcel.py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3347619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36F02-C473-52FC-DF10-74D707A6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19D7-03D6-384E-9154-03580430CC6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26EB11A-3D39-FB62-141F-5B6B2BD66A5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3_langgraph/3_0_langchain_lcel.py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983539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00B09-9603-5640-7A95-5BFE7E1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3BA114-1C22-C56A-44FF-56AC5C1007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C218E8B-E135-FDD0-8D9C-F843680CDA4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3_langgraph/3_0_langchain_lcel.py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5591535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2D9D-E3FD-2DE3-35BD-BCE9B190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EC36A-1CAD-CF5A-438F-51B6FB14E4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A3D01D0C-9AAE-76F3-D257-E42F218D8B3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3_langgraph/3_0_langchain_lcel.py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27781707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E331-2BEA-2CB1-57E8-FFC67F38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4FEF-BD01-E243-65F6-B4D81D4C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An open-source framework designed to help developers build applications using large language models (LLMs)</a:t>
            </a:r>
          </a:p>
          <a:p>
            <a:r>
              <a:rPr lang="en-IN" noProof="0" dirty="0" err="1"/>
              <a:t>LangChain</a:t>
            </a:r>
            <a:r>
              <a:rPr lang="en-IN" noProof="0" dirty="0"/>
              <a:t> evolution 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5A9AF-F6BB-A14C-E823-16E219C81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28565"/>
              </p:ext>
            </p:extLst>
          </p:nvPr>
        </p:nvGraphicFramePr>
        <p:xfrm>
          <a:off x="935922" y="3289319"/>
          <a:ext cx="10515600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136844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939818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1881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4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Early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LLMChain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91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Intermediate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SequentialChain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6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Modern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LCEL (Runnable Architecture)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27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Agentic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LangGraph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Current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577353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61E1221-75F4-3723-C9B0-44DDDAD6BCE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3_langgraph/3_0_langchain_lcel.py</a:t>
            </a:r>
          </a:p>
        </p:txBody>
      </p:sp>
    </p:spTree>
    <p:extLst>
      <p:ext uri="{BB962C8B-B14F-4D97-AF65-F5344CB8AC3E}">
        <p14:creationId xmlns:p14="http://schemas.microsoft.com/office/powerpoint/2010/main" val="19070696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CBCB-2010-7566-570F-D7110B38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LCEL, Runnable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5C07-00CF-E474-2C20-595C5EFF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LCEL (</a:t>
            </a:r>
            <a:r>
              <a:rPr lang="en-IN" b="1" noProof="0" dirty="0" err="1"/>
              <a:t>LangChain</a:t>
            </a:r>
            <a:r>
              <a:rPr lang="en-IN" b="1" noProof="0" dirty="0"/>
              <a:t> Expression Language)</a:t>
            </a:r>
            <a:r>
              <a:rPr lang="en-IN" noProof="0" dirty="0"/>
              <a:t>: A declarative way to compose AI applications</a:t>
            </a:r>
          </a:p>
          <a:p>
            <a:r>
              <a:rPr lang="en-IN" noProof="0" dirty="0"/>
              <a:t>Instead of creating many chain objects, you connect </a:t>
            </a:r>
            <a:r>
              <a:rPr lang="en-IN" b="1" noProof="0" dirty="0" err="1"/>
              <a:t>Runnables</a:t>
            </a:r>
            <a:r>
              <a:rPr lang="en-IN" noProof="0" dirty="0"/>
              <a:t> together</a:t>
            </a:r>
          </a:p>
          <a:p>
            <a:r>
              <a:rPr lang="en-IN" noProof="0" dirty="0"/>
              <a:t>Everything in modern </a:t>
            </a:r>
            <a:r>
              <a:rPr lang="en-IN" noProof="0" dirty="0" err="1"/>
              <a:t>LangChain</a:t>
            </a:r>
            <a:r>
              <a:rPr lang="en-IN" noProof="0" dirty="0"/>
              <a:t> is a Runnable</a:t>
            </a:r>
          </a:p>
          <a:p>
            <a:pPr lvl="1"/>
            <a:r>
              <a:rPr lang="en-IN" noProof="0" dirty="0"/>
              <a:t>Prompt </a:t>
            </a:r>
          </a:p>
          <a:p>
            <a:pPr lvl="1"/>
            <a:r>
              <a:rPr lang="en-IN" noProof="0" dirty="0"/>
              <a:t>LLM Output </a:t>
            </a:r>
          </a:p>
          <a:p>
            <a:pPr lvl="1"/>
            <a:r>
              <a:rPr lang="en-IN" noProof="0" dirty="0"/>
              <a:t>Parser </a:t>
            </a:r>
          </a:p>
          <a:p>
            <a:pPr lvl="1"/>
            <a:r>
              <a:rPr lang="en-IN" noProof="0" dirty="0"/>
              <a:t>Retriever </a:t>
            </a:r>
          </a:p>
          <a:p>
            <a:pPr lvl="1"/>
            <a:r>
              <a:rPr lang="en-IN" noProof="0" dirty="0"/>
              <a:t>Lambda Function </a:t>
            </a:r>
          </a:p>
          <a:p>
            <a:pPr lvl="1"/>
            <a:r>
              <a:rPr lang="en-IN" noProof="0" dirty="0"/>
              <a:t>…</a:t>
            </a:r>
          </a:p>
          <a:p>
            <a:r>
              <a:rPr lang="en-IN" noProof="0" dirty="0"/>
              <a:t>Pipe operator (|) connects </a:t>
            </a:r>
            <a:r>
              <a:rPr lang="en-IN" noProof="0" dirty="0" err="1"/>
              <a:t>Runnables</a:t>
            </a:r>
            <a:endParaRPr lang="en-IN" noProof="0" dirty="0"/>
          </a:p>
          <a:p>
            <a:pPr lvl="1"/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r>
              <a:rPr lang="en-IN" noProof="0" dirty="0"/>
              <a:t> | parser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070E0D9-E289-3403-DFD5-932CA659EF2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LLM</a:t>
            </a:r>
          </a:p>
        </p:txBody>
      </p:sp>
    </p:spTree>
    <p:extLst>
      <p:ext uri="{BB962C8B-B14F-4D97-AF65-F5344CB8AC3E}">
        <p14:creationId xmlns:p14="http://schemas.microsoft.com/office/powerpoint/2010/main" val="25669947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3144-D333-48DB-AD80-259E05C0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Example: Prompt |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5E51-A467-2B0E-88B6-4F2C470B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langchain_core.prompts</a:t>
            </a:r>
            <a:r>
              <a:rPr lang="en-IN" noProof="0" dirty="0"/>
              <a:t> import </a:t>
            </a:r>
            <a:r>
              <a:rPr lang="en-IN" noProof="0" dirty="0" err="1"/>
              <a:t>ChatPromptTemplate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langchain_ollama</a:t>
            </a:r>
            <a:r>
              <a:rPr lang="en-IN" noProof="0" dirty="0"/>
              <a:t> import </a:t>
            </a:r>
            <a:r>
              <a:rPr lang="en-IN" noProof="0" dirty="0" err="1"/>
              <a:t>ChatOllama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prompt = </a:t>
            </a:r>
            <a:r>
              <a:rPr lang="en-IN" noProof="0" dirty="0" err="1"/>
              <a:t>ChatPromptTemplate.from_template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"Explain {topic} in simple terms."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llm</a:t>
            </a:r>
            <a:r>
              <a:rPr lang="en-IN" noProof="0" dirty="0"/>
              <a:t> = </a:t>
            </a:r>
            <a:r>
              <a:rPr lang="en-IN" noProof="0" dirty="0" err="1"/>
              <a:t>ChatOllama</a:t>
            </a:r>
            <a:r>
              <a:rPr lang="en-IN" noProof="0" dirty="0"/>
              <a:t>(model="llama3.2")</a:t>
            </a:r>
          </a:p>
          <a:p>
            <a:endParaRPr lang="en-IN" noProof="0" dirty="0"/>
          </a:p>
          <a:p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response = </a:t>
            </a:r>
            <a:r>
              <a:rPr lang="en-IN" noProof="0" dirty="0" err="1"/>
              <a:t>chain.invoke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{"</a:t>
            </a:r>
            <a:r>
              <a:rPr lang="en-IN" noProof="0" dirty="0" err="1"/>
              <a:t>topic":"embeddings</a:t>
            </a:r>
            <a:r>
              <a:rPr lang="en-IN" noProof="0" dirty="0"/>
              <a:t>"}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</a:t>
            </a:r>
            <a:r>
              <a:rPr lang="en-IN" noProof="0" dirty="0" err="1"/>
              <a:t>response.content</a:t>
            </a:r>
            <a:r>
              <a:rPr lang="en-IN" noProof="0" dirty="0"/>
              <a:t>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38F89A2-87E8-D1AE-BA6D-A92585042B2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LLM</a:t>
            </a:r>
          </a:p>
        </p:txBody>
      </p:sp>
    </p:spTree>
    <p:extLst>
      <p:ext uri="{BB962C8B-B14F-4D97-AF65-F5344CB8AC3E}">
        <p14:creationId xmlns:p14="http://schemas.microsoft.com/office/powerpoint/2010/main" val="37011539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36AC5-83D2-8F3C-F545-BD10AE38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F0BC-500C-7F17-4DBC-A4A6B153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Output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C0B5-EF42-4425-BB9F-77E78958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Without a parser: Prompt -&gt; LLM -&gt; </a:t>
            </a:r>
            <a:r>
              <a:rPr lang="en-IN" noProof="0" dirty="0" err="1"/>
              <a:t>AIMessage</a:t>
            </a:r>
            <a:endParaRPr lang="en-IN" noProof="0" dirty="0"/>
          </a:p>
          <a:p>
            <a:r>
              <a:rPr lang="en-IN" noProof="0" dirty="0"/>
              <a:t>Many applications want plain text, JSON, or structured output</a:t>
            </a:r>
          </a:p>
          <a:p>
            <a:pPr lvl="1"/>
            <a:r>
              <a:rPr lang="en-IN" noProof="0" dirty="0"/>
              <a:t>Prompt -&gt; LLM -&gt; </a:t>
            </a:r>
            <a:r>
              <a:rPr lang="en-IN" noProof="0" dirty="0" err="1"/>
              <a:t>AIMessage</a:t>
            </a:r>
            <a:r>
              <a:rPr lang="en-IN" noProof="0" dirty="0"/>
              <a:t> -&gt; Parser</a:t>
            </a:r>
          </a:p>
          <a:p>
            <a:r>
              <a:rPr lang="en-IN" noProof="0" dirty="0"/>
              <a:t>Code: C:\code\agenticai\14_advanced\05_langchain\output_parsers.py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92D3BBE-4AC8-0E77-8F49-068AC2B645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14_advanced/05_langchain/output_parsers.py, output_parsers_openai.py</a:t>
            </a:r>
          </a:p>
        </p:txBody>
      </p:sp>
    </p:spTree>
    <p:extLst>
      <p:ext uri="{BB962C8B-B14F-4D97-AF65-F5344CB8AC3E}">
        <p14:creationId xmlns:p14="http://schemas.microsoft.com/office/powerpoint/2010/main" val="4038883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A8F0F-4ECE-5A5B-5E57-587B2B06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7DE5-4045-CFBC-54B7-EDF091CA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0656-8718-04F7-2E1D-3765A6789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Prompt template: Reusable prompt with placeholders (variables) that are filled at runtime</a:t>
            </a:r>
          </a:p>
          <a:p>
            <a:r>
              <a:rPr lang="en-IN" noProof="0" dirty="0"/>
              <a:t>Example: Instead of </a:t>
            </a:r>
          </a:p>
          <a:p>
            <a:pPr lvl="1"/>
            <a:r>
              <a:rPr lang="en-IN" noProof="0" dirty="0"/>
              <a:t>Explain Artificial Intelligence</a:t>
            </a:r>
          </a:p>
          <a:p>
            <a:pPr lvl="1"/>
            <a:r>
              <a:rPr lang="en-IN" noProof="0" dirty="0"/>
              <a:t>Explain {topic}</a:t>
            </a:r>
          </a:p>
          <a:p>
            <a:r>
              <a:rPr lang="en-IN" noProof="0" dirty="0"/>
              <a:t>C:\code\agenticai\14_advanced\05_langchain\prompt_templates.py</a:t>
            </a:r>
          </a:p>
          <a:p>
            <a:pPr lvl="1"/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30E680F-248D-9BD2-6B48-59833965969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14_advanced/05_langchain/prompt_templates.py, prompt_templates_openai.py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009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E463-EFBE-E87F-E689-AEAD68980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18" y="39301"/>
            <a:ext cx="4997473" cy="553898"/>
          </a:xfrm>
        </p:spPr>
        <p:txBody>
          <a:bodyPr>
            <a:noAutofit/>
          </a:bodyPr>
          <a:lstStyle/>
          <a:p>
            <a:r>
              <a:rPr lang="en-IN" sz="3800" noProof="0" dirty="0"/>
              <a:t>Session Memory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DE94-C396-7079-BBF6-955A9CD67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58" y="3078391"/>
            <a:ext cx="4695640" cy="2960495"/>
          </a:xfrm>
        </p:spPr>
        <p:txBody>
          <a:bodyPr>
            <a:normAutofit/>
          </a:bodyPr>
          <a:lstStyle/>
          <a:p>
            <a:r>
              <a:rPr lang="en-IN" sz="1500" noProof="0" dirty="0"/>
              <a:t>Sample conversation</a:t>
            </a:r>
          </a:p>
          <a:p>
            <a:pPr lvl="1"/>
            <a:r>
              <a:rPr lang="en-US" sz="1500" dirty="0"/>
              <a:t>Turn 1: Customer says they bought a laptop</a:t>
            </a:r>
          </a:p>
          <a:p>
            <a:pPr lvl="1"/>
            <a:r>
              <a:rPr lang="en-US" sz="1500" dirty="0"/>
              <a:t>Turn 2: Customer asks about the return policy</a:t>
            </a:r>
          </a:p>
          <a:p>
            <a:pPr lvl="1"/>
            <a:r>
              <a:rPr lang="en-US" sz="1500" dirty="0"/>
              <a:t>Turn 3: Customer says the laptop battery is not working</a:t>
            </a:r>
          </a:p>
          <a:p>
            <a:pPr lvl="1"/>
            <a:r>
              <a:rPr lang="en-US" sz="1500" dirty="0"/>
              <a:t>Turn 4: Customer asks about delivery charges</a:t>
            </a:r>
          </a:p>
          <a:p>
            <a:pPr lvl="1"/>
            <a:r>
              <a:rPr lang="en-US" sz="1500" dirty="0"/>
              <a:t>Turn 5: Customer says they want to replace the laptop</a:t>
            </a:r>
          </a:p>
          <a:p>
            <a:pPr lvl="1"/>
            <a:r>
              <a:rPr lang="en-US" sz="1500" dirty="0"/>
              <a:t>Turn 6: Customer asks how to contact customer support</a:t>
            </a:r>
            <a:endParaRPr lang="en-IN" sz="15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6D633B-9D71-3BEA-FC1B-947BF8928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384886"/>
              </p:ext>
            </p:extLst>
          </p:nvPr>
        </p:nvGraphicFramePr>
        <p:xfrm>
          <a:off x="579458" y="624890"/>
          <a:ext cx="4695639" cy="2202921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809304">
                  <a:extLst>
                    <a:ext uri="{9D8B030D-6E8A-4147-A177-3AD203B41FA5}">
                      <a16:colId xmlns:a16="http://schemas.microsoft.com/office/drawing/2014/main" val="1060707316"/>
                    </a:ext>
                  </a:extLst>
                </a:gridCol>
                <a:gridCol w="1886335">
                  <a:extLst>
                    <a:ext uri="{9D8B030D-6E8A-4147-A177-3AD203B41FA5}">
                      <a16:colId xmlns:a16="http://schemas.microsoft.com/office/drawing/2014/main" val="295965595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865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BufferMemory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Entire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131669"/>
                  </a:ext>
                </a:extLst>
              </a:tr>
              <a:tr h="514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ConversationSummaryMemory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Conversation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069670"/>
                  </a:ext>
                </a:extLst>
              </a:tr>
              <a:tr h="107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VectorStoreMemory</a:t>
                      </a:r>
                      <a:endParaRPr lang="en-IN" sz="13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Semantic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13693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4FB5E3-BDE8-61ED-7076-87B2012F12C9}"/>
              </a:ext>
            </a:extLst>
          </p:cNvPr>
          <p:cNvSpPr txBox="1">
            <a:spLocks/>
          </p:cNvSpPr>
          <p:nvPr/>
        </p:nvSpPr>
        <p:spPr>
          <a:xfrm>
            <a:off x="5772878" y="85148"/>
            <a:ext cx="5839664" cy="62648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600" dirty="0"/>
              <a:t>Buffer Memory</a:t>
            </a:r>
          </a:p>
          <a:p>
            <a:pPr lvl="1"/>
            <a:r>
              <a:rPr lang="en-IN" sz="1900" dirty="0"/>
              <a:t>Stores everything and sends the entire conversation to the LLM</a:t>
            </a:r>
          </a:p>
          <a:p>
            <a:pPr lvl="2"/>
            <a:r>
              <a:rPr lang="en-US" sz="1300" dirty="0"/>
              <a:t>Turn 1</a:t>
            </a:r>
          </a:p>
          <a:p>
            <a:pPr lvl="2"/>
            <a:r>
              <a:rPr lang="en-US" sz="1300" dirty="0"/>
              <a:t>Turn 2</a:t>
            </a:r>
          </a:p>
          <a:p>
            <a:pPr lvl="2"/>
            <a:r>
              <a:rPr lang="en-US" sz="1300" dirty="0"/>
              <a:t>Turn 3</a:t>
            </a:r>
          </a:p>
          <a:p>
            <a:pPr lvl="2"/>
            <a:r>
              <a:rPr lang="en-US" sz="1300" dirty="0"/>
              <a:t>Turn 4</a:t>
            </a:r>
          </a:p>
          <a:p>
            <a:pPr lvl="2"/>
            <a:r>
              <a:rPr lang="en-US" sz="1300" dirty="0"/>
              <a:t>Turn 5</a:t>
            </a:r>
          </a:p>
          <a:p>
            <a:pPr lvl="2"/>
            <a:r>
              <a:rPr lang="en-US" sz="1300" dirty="0"/>
              <a:t>Turn 6</a:t>
            </a:r>
          </a:p>
          <a:p>
            <a:r>
              <a:rPr lang="en-IN" sz="2600" dirty="0"/>
              <a:t>Conversation Summary Memory</a:t>
            </a:r>
          </a:p>
          <a:p>
            <a:pPr lvl="1"/>
            <a:r>
              <a:rPr lang="en-IN" sz="1900" dirty="0"/>
              <a:t>Instead of keeping every turn, keeps a summary of the conversation</a:t>
            </a:r>
          </a:p>
          <a:p>
            <a:pPr lvl="2"/>
            <a:r>
              <a:rPr lang="en-US" sz="1300" dirty="0"/>
              <a:t>Customer purchased a laptop and is experiencing a battery problem. They have asked about the return policy and delivery charges and now want to replace the laptop and contact support.</a:t>
            </a:r>
          </a:p>
          <a:p>
            <a:r>
              <a:rPr lang="en-US" sz="2600" dirty="0"/>
              <a:t>Vector Store Memory</a:t>
            </a:r>
          </a:p>
          <a:p>
            <a:pPr lvl="1"/>
            <a:r>
              <a:rPr lang="en-GB" sz="2300" dirty="0"/>
              <a:t>Stores the individual turns as embeddings and retrieves the turns most relevant to the current question</a:t>
            </a:r>
          </a:p>
          <a:p>
            <a:pPr lvl="2"/>
            <a:r>
              <a:rPr lang="en-GB" sz="1300" dirty="0"/>
              <a:t>Example: Suppose the customer asks: “I want to replace my laptop. What is the process?“</a:t>
            </a:r>
          </a:p>
          <a:p>
            <a:pPr lvl="2"/>
            <a:r>
              <a:rPr lang="en-GB" sz="1300" dirty="0"/>
              <a:t>It might retrieve</a:t>
            </a:r>
          </a:p>
          <a:p>
            <a:pPr lvl="3"/>
            <a:r>
              <a:rPr lang="en-US" sz="1000" dirty="0"/>
              <a:t>Turn 5: Customer wants to replace the laptop.</a:t>
            </a:r>
          </a:p>
          <a:p>
            <a:pPr lvl="3"/>
            <a:r>
              <a:rPr lang="en-US" sz="1000" dirty="0"/>
              <a:t>Turn 2: Customer asks about the return policy.</a:t>
            </a:r>
          </a:p>
          <a:p>
            <a:pPr lvl="3"/>
            <a:r>
              <a:rPr lang="en-US" sz="1000" dirty="0"/>
              <a:t>Turn 3: Laptop battery is not working.</a:t>
            </a:r>
          </a:p>
          <a:p>
            <a:pPr lvl="2"/>
            <a:r>
              <a:rPr lang="en-GB" sz="1300" dirty="0"/>
              <a:t>Does not necessarily retrieve the most recent turns. It retrieves the turns that are semantically most relevant</a:t>
            </a:r>
            <a:endParaRPr lang="en-IN" sz="130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C23EFC7A-32C7-F657-9D01-A4AC270D882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14_advanced/05_langchain/memory_types.py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978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0512-69D2-C8E9-3FCC-C82C0939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Persistent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8A11-6E0C-FA6E-1C02-27ADC693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Multi-turn conversation</a:t>
            </a:r>
            <a:r>
              <a:rPr lang="en-IN" noProof="0" dirty="0"/>
              <a:t>: Consists of multiple exchanges between a user and an AI assistant</a:t>
            </a:r>
          </a:p>
          <a:p>
            <a:r>
              <a:rPr lang="en-IN" b="1" noProof="0" dirty="0"/>
              <a:t>Session-based </a:t>
            </a:r>
            <a:r>
              <a:rPr lang="en-IN" noProof="0" dirty="0"/>
              <a:t>memory exists only till the time the application is running - </a:t>
            </a:r>
            <a:r>
              <a:rPr lang="en-IN" b="1" noProof="0" dirty="0"/>
              <a:t>Persistent </a:t>
            </a:r>
            <a:r>
              <a:rPr lang="en-IN" noProof="0" dirty="0"/>
              <a:t>memory survives application restarts</a:t>
            </a:r>
          </a:p>
          <a:p>
            <a:r>
              <a:rPr lang="en-IN" noProof="0" dirty="0"/>
              <a:t>C:\code\agenticai\14_advanced\05_langchain\persistent_chatbot.py</a:t>
            </a:r>
          </a:p>
          <a:p>
            <a:r>
              <a:rPr lang="en-IN" dirty="0"/>
              <a:t>We send to LLM, 3 things: System instruction + Previous conversation + Current user question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122E200-55CE-B4E3-9B6D-20F51B58DF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14_advanced/05_langchain/persistent_chatbot.py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8133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A212A-11C4-FFF9-66BB-EE2F75ADEE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04530A9-AF4D-4D5C-8E66-11095D7479C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4107638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8B101-FD34-816A-C583-A75C4F50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A7F8D-3905-B259-0C35-26A51C6A42E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63" y="0"/>
            <a:ext cx="11206674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B5765B8-3382-FB01-BBEA-DD0FB9CE5C6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5959454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3CB09-B91C-5451-C798-78CB8DD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E9B6A-9D11-0C0F-22D4-FD5070DE0F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3A513C8D-E28D-5024-234F-C4558BF7CA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4704141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5144E-D103-B822-0E2B-3C5EF110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62F8B-BF29-FB00-0468-355F54A487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80C54E6F-2ED6-FDDF-777B-09FDC75224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2338314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70B84-177A-6DD9-162A-D0D2B1FC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495C16-BBB9-4250-1779-820FDCDC83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59457757-FD25-0D83-5DF0-03C86F3CFA2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6592715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FF346-F079-A88A-56EA-44457E9D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C1B1-2992-A5B7-C895-3BEEDB0A44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C6B9A0B-7897-CAB8-5B40-79F0862DB46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9767804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2F1C6-AE6D-7AD9-7CB8-DCADA8B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CAC3A-BE67-8D4B-4A51-349D9AC5A4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CF3F0B1D-A163-E17D-E4DC-9743A975146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18149506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3C76F-89B2-2CFA-D82B-4DD158E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FE05-6E93-FE9D-0880-A33E1999172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D7553A7-42C4-82E8-496D-E93B8399F1E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42609347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E833D-4454-2706-1D32-4B30D854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33621-B124-8D44-4EF3-68B5ECF870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0D9FA46A-20A9-CA1D-9502-5C0C4791C5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4654109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D20EA-6F36-B2F4-2E82-A3981EBD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84A7E-8258-EC7F-ACB3-7FA4B29C3F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A5CD17A6-88EE-34D2-E090-8815BE197B5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9_general/rag/rag_1_chroma_db_basic.py, 2_openai_agents/vector_embedding_cosine_similarity.py</a:t>
            </a:r>
          </a:p>
        </p:txBody>
      </p:sp>
    </p:spTree>
    <p:extLst>
      <p:ext uri="{BB962C8B-B14F-4D97-AF65-F5344CB8AC3E}">
        <p14:creationId xmlns:p14="http://schemas.microsoft.com/office/powerpoint/2010/main" val="20035772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BB6B-7D86-1187-A9BD-2DF3F59D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D4FEA-289D-5F46-4E67-1AFE93F7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Creating documents</a:t>
            </a:r>
          </a:p>
          <a:p>
            <a:pPr marL="457200" lvl="1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chromadb</a:t>
            </a:r>
            <a:endParaRPr lang="en-IN" noProof="0" dirty="0"/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client = </a:t>
            </a:r>
            <a:r>
              <a:rPr lang="en-IN" noProof="0" dirty="0" err="1"/>
              <a:t>chromadb.PersistentClient</a:t>
            </a:r>
            <a:r>
              <a:rPr lang="en-IN" noProof="0" dirty="0"/>
              <a:t>(path="./</a:t>
            </a:r>
            <a:r>
              <a:rPr lang="en-IN" noProof="0" dirty="0" err="1"/>
              <a:t>chroma_db</a:t>
            </a:r>
            <a:r>
              <a:rPr lang="en-IN" noProof="0" dirty="0"/>
              <a:t>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collection = </a:t>
            </a:r>
            <a:r>
              <a:rPr lang="en-IN" noProof="0" dirty="0" err="1"/>
              <a:t>client.get_or_create_collection</a:t>
            </a:r>
            <a:r>
              <a:rPr lang="en-IN" noProof="0" dirty="0"/>
              <a:t>("employees")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 err="1"/>
              <a:t>collection.add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ids=["1", "2"],</a:t>
            </a:r>
          </a:p>
          <a:p>
            <a:pPr marL="457200" lvl="1" indent="0">
              <a:buNone/>
            </a:pPr>
            <a:r>
              <a:rPr lang="en-IN" noProof="0" dirty="0"/>
              <a:t>    documents=[</a:t>
            </a:r>
          </a:p>
          <a:p>
            <a:pPr marL="457200" lvl="1" indent="0">
              <a:buNone/>
            </a:pPr>
            <a:r>
              <a:rPr lang="en-IN" noProof="0" dirty="0"/>
              <a:t>        "Alice works in Finance.",</a:t>
            </a:r>
          </a:p>
          <a:p>
            <a:pPr marL="457200" lvl="1" indent="0">
              <a:buNone/>
            </a:pPr>
            <a:r>
              <a:rPr lang="en-IN" noProof="0" dirty="0"/>
              <a:t>        "Bob works in HR."</a:t>
            </a:r>
          </a:p>
          <a:p>
            <a:pPr marL="457200" lvl="1" indent="0">
              <a:buNone/>
            </a:pPr>
            <a:r>
              <a:rPr lang="en-IN" noProof="0" dirty="0"/>
              <a:t>    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</a:t>
            </a:r>
          </a:p>
          <a:p>
            <a:pPr marL="457200" lvl="1" indent="0">
              <a:buNone/>
            </a:pPr>
            <a:r>
              <a:rPr lang="en-IN" noProof="0" dirty="0"/>
              <a:t>        {"department": "Finance"},</a:t>
            </a:r>
          </a:p>
          <a:p>
            <a:pPr marL="457200" lvl="1" indent="0">
              <a:buNone/>
            </a:pPr>
            <a:r>
              <a:rPr lang="en-IN" noProof="0" dirty="0"/>
              <a:t>        {"department": "HR"}</a:t>
            </a:r>
          </a:p>
          <a:p>
            <a:pPr marL="457200" lvl="1" indent="0">
              <a:buNone/>
            </a:pPr>
            <a:r>
              <a:rPr lang="en-IN" noProof="0" dirty="0"/>
              <a:t>    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34F0CF3-EFFE-DBBA-B137-8C6B0C62853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14_advanced/04_rag/chromadb_crud.py, chromadb_search.py, 9_general/rag/rag_4_chroma_db_adding_metadata.py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24517201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EE774-363C-D3C3-096F-DFC435D8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B90A-7AC9-6D14-4369-B1B39531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922F-DECB-F1EC-0029-2227FE4AC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Reading documents</a:t>
            </a:r>
          </a:p>
          <a:p>
            <a:pPr marL="457200" lvl="1" indent="0">
              <a:buNone/>
            </a:pPr>
            <a:r>
              <a:rPr lang="en-IN" noProof="0" dirty="0"/>
              <a:t>result = </a:t>
            </a:r>
            <a:r>
              <a:rPr lang="en-IN" noProof="0" dirty="0" err="1"/>
              <a:t>collection.get</a:t>
            </a:r>
            <a:r>
              <a:rPr lang="en-IN" noProof="0" dirty="0"/>
              <a:t>(ids=["1"])</a:t>
            </a:r>
          </a:p>
          <a:p>
            <a:pPr marL="457200" lvl="1" indent="0">
              <a:buNone/>
            </a:pPr>
            <a:r>
              <a:rPr lang="en-IN" noProof="0" dirty="0"/>
              <a:t>print(result["documents"])</a:t>
            </a:r>
          </a:p>
          <a:p>
            <a:r>
              <a:rPr lang="en-IN" noProof="0" dirty="0"/>
              <a:t>Updating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collection.update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ids=["1"],</a:t>
            </a:r>
          </a:p>
          <a:p>
            <a:pPr marL="457200" lvl="1" indent="0">
              <a:buNone/>
            </a:pPr>
            <a:r>
              <a:rPr lang="en-IN" noProof="0" dirty="0"/>
              <a:t>    documents=["Alice is now the Finance Manager."],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=[{"department": "Finance"}]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  <a:p>
            <a:r>
              <a:rPr lang="en-IN" noProof="0" dirty="0"/>
              <a:t>Deleting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collection.delete</a:t>
            </a:r>
            <a:r>
              <a:rPr lang="en-IN" noProof="0" dirty="0"/>
              <a:t>(ids=["2"])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5A7534D-A624-7114-17CD-8632F688FDC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14_advanced/04_rag/chromadb_crud.py, chromadb_search.py, 9_general/rag/rag_4_chroma_db_adding_metadata.py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31185655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966F-0FE0-01C6-66F2-31148993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-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03AA-B45B-00B3-502A-FEDF7017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noProof="0" dirty="0"/>
              <a:t>results = </a:t>
            </a:r>
            <a:r>
              <a:rPr lang="en-IN" noProof="0" dirty="0" err="1"/>
              <a:t>collection.query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query_texts</a:t>
            </a:r>
            <a:r>
              <a:rPr lang="en-IN" noProof="0" dirty="0"/>
              <a:t>=["budget"],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n_results</a:t>
            </a:r>
            <a:r>
              <a:rPr lang="en-IN" noProof="0" dirty="0"/>
              <a:t>=5,</a:t>
            </a:r>
          </a:p>
          <a:p>
            <a:pPr marL="0" indent="0">
              <a:buNone/>
            </a:pPr>
            <a:r>
              <a:rPr lang="en-IN" noProof="0" dirty="0"/>
              <a:t>    where={"department": "Finance"}</a:t>
            </a:r>
          </a:p>
          <a:p>
            <a:pPr marL="0" indent="0">
              <a:buNone/>
            </a:pPr>
            <a:r>
              <a:rPr lang="en-IN" noProof="0" dirty="0"/>
              <a:t>)</a:t>
            </a:r>
          </a:p>
          <a:p>
            <a:pPr marL="0" indent="0">
              <a:buNone/>
            </a:pPr>
            <a:endParaRPr lang="en-IN" noProof="0" dirty="0"/>
          </a:p>
          <a:p>
            <a:r>
              <a:rPr lang="en-IN" noProof="0" dirty="0"/>
              <a:t>Code: C:\code\agenticai\14_advanced\04_rag\chromadb_search.py and chromadb_crud.py</a:t>
            </a:r>
          </a:p>
          <a:p>
            <a:pPr marL="0" indent="0">
              <a:buNone/>
            </a:pP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3D54ED8-2F03-4342-1068-02E0AB024C6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14_advanced/04_rag/chromadb_crud.py, chromadb_search.py, 9_general/rag/rag_4_chroma_db_adding_metadata.py</a:t>
            </a:r>
          </a:p>
        </p:txBody>
      </p:sp>
    </p:spTree>
    <p:extLst>
      <p:ext uri="{BB962C8B-B14F-4D97-AF65-F5344CB8AC3E}">
        <p14:creationId xmlns:p14="http://schemas.microsoft.com/office/powerpoint/2010/main" val="21839345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A3CF-8697-37A6-D92D-40430B68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FAISS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0687-13EE-CEB0-0403-E78720C6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FAISS (Facebook AI Similarity Search)</a:t>
            </a:r>
            <a:r>
              <a:rPr lang="en-IN" noProof="0" dirty="0"/>
              <a:t>: An open-source library developed by Meta for efficient similarity search and clustering of dense vectors (embeddings)</a:t>
            </a:r>
          </a:p>
          <a:p>
            <a:r>
              <a:rPr lang="en-IN" noProof="0" dirty="0"/>
              <a:t>Uses index for very fast search</a:t>
            </a:r>
          </a:p>
          <a:p>
            <a:r>
              <a:rPr lang="en-IN" noProof="0" dirty="0"/>
              <a:t>Why needed?</a:t>
            </a:r>
          </a:p>
          <a:p>
            <a:pPr lvl="1"/>
            <a:r>
              <a:rPr lang="en-IN" noProof="0" dirty="0"/>
              <a:t>Suppose we have 1 million documents and user asks </a:t>
            </a:r>
            <a:r>
              <a:rPr lang="en-IN" i="1" noProof="0" dirty="0"/>
              <a:t>What is machine learning?</a:t>
            </a:r>
            <a:endParaRPr lang="en-IN" noProof="0" dirty="0"/>
          </a:p>
          <a:p>
            <a:pPr lvl="1"/>
            <a:r>
              <a:rPr lang="en-IN" noProof="0" dirty="0"/>
              <a:t>Without FAISS: Query embedding -&gt; Compare with document 1 -&gt; Compare with document 2 -&gt; … -&gt; Compare with document 1000000 (Linear search)</a:t>
            </a:r>
          </a:p>
          <a:p>
            <a:pPr lvl="1"/>
            <a:r>
              <a:rPr lang="en-IN" noProof="0" dirty="0"/>
              <a:t>With FAISS: Query embedding -&gt; FAISS index -&gt; Top 5 results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43C8E49-540E-1931-8612-5157B934558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14_advanced/04_rag/faiss_search.py, faiss_search_ollama.py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385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B8FA-124E-AEF6-EB4C-5C79F37D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Nearest-neighbour retrieval: understanding similarity metrics (cosine, L2, dot product)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CF9F-7696-4EBE-F3FC-51B87109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Common similarity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75B3D-D8B8-C579-BDD5-C95A5E669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3462"/>
              </p:ext>
            </p:extLst>
          </p:nvPr>
        </p:nvGraphicFramePr>
        <p:xfrm>
          <a:off x="949882" y="2446116"/>
          <a:ext cx="10515600" cy="1463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220997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630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4104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84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Angle between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75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L2 Distance (Euclidean)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Straight-line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33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Dot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Alignment and magnitude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097732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A6C8772F-2ECA-8927-C6AC-1C545D60DBE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it-IT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it-IT" sz="1200">
                <a:solidFill>
                  <a:srgbClr val="333333"/>
                </a:solidFill>
                <a:latin typeface="Calibri" panose="020F0502020204030204" pitchFamily="34" charset="0"/>
              </a:rPr>
              <a:t>  9_general/rag/rag_cosine_euclidean_1.py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5791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DF8A-3CE2-ACC3-C528-76A15C9E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Document Loaders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A2E5-28A2-97A1-6F16-231F523FD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Document Loader</a:t>
            </a:r>
            <a:r>
              <a:rPr lang="en-IN" noProof="0" dirty="0"/>
              <a:t>: Responsible for reading data from a source and converting it into </a:t>
            </a:r>
            <a:r>
              <a:rPr lang="en-IN" noProof="0" dirty="0" err="1"/>
              <a:t>LangChain</a:t>
            </a:r>
            <a:r>
              <a:rPr lang="en-IN" noProof="0" dirty="0"/>
              <a:t> </a:t>
            </a:r>
            <a:r>
              <a:rPr lang="en-IN" i="1" noProof="0" dirty="0"/>
              <a:t>Document </a:t>
            </a:r>
            <a:r>
              <a:rPr lang="en-IN" noProof="0" dirty="0"/>
              <a:t>objects</a:t>
            </a:r>
          </a:p>
          <a:p>
            <a:r>
              <a:rPr lang="en-IN" noProof="0" dirty="0"/>
              <a:t>Every RAG application has this</a:t>
            </a:r>
          </a:p>
          <a:p>
            <a:pPr lvl="1"/>
            <a:r>
              <a:rPr lang="en-IN" noProof="0" dirty="0"/>
              <a:t>Data Source -&gt; Document Loader -&gt; Document Objects -&gt; Text Splitter -&gt; Embeddings -&gt; Vector Database -&gt; Retriever -&gt; LLM</a:t>
            </a:r>
          </a:p>
          <a:p>
            <a:r>
              <a:rPr lang="en-IN" noProof="0" dirty="0"/>
              <a:t>Real world applications use PDF, MS-Word, HTML, CSV, Excel, etc</a:t>
            </a:r>
          </a:p>
          <a:p>
            <a:r>
              <a:rPr lang="en-IN" noProof="0" dirty="0"/>
              <a:t>One format = One loader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langchain_community.document_loaders</a:t>
            </a:r>
            <a:r>
              <a:rPr lang="en-IN" noProof="0" dirty="0"/>
              <a:t> import </a:t>
            </a:r>
            <a:r>
              <a:rPr lang="en-IN" noProof="0" dirty="0" err="1"/>
              <a:t>PyPDFLoader</a:t>
            </a:r>
            <a:endParaRPr lang="en-IN" noProof="0" dirty="0"/>
          </a:p>
          <a:p>
            <a:pPr lvl="1"/>
            <a:r>
              <a:rPr lang="en-IN" noProof="0" dirty="0"/>
              <a:t>loader = </a:t>
            </a:r>
            <a:r>
              <a:rPr lang="en-IN" noProof="0" dirty="0" err="1"/>
              <a:t>PyPDFLoader</a:t>
            </a:r>
            <a:r>
              <a:rPr lang="en-IN" noProof="0" dirty="0"/>
              <a:t>("banking.pdf")</a:t>
            </a:r>
          </a:p>
          <a:p>
            <a:pPr lvl="1"/>
            <a:r>
              <a:rPr lang="en-IN" noProof="0" dirty="0"/>
              <a:t>documents = </a:t>
            </a:r>
            <a:r>
              <a:rPr lang="en-IN" noProof="0" dirty="0" err="1"/>
              <a:t>loader.load</a:t>
            </a:r>
            <a:r>
              <a:rPr lang="en-IN" noProof="0" dirty="0"/>
              <a:t>()</a:t>
            </a:r>
          </a:p>
          <a:p>
            <a:r>
              <a:rPr lang="en-IN" noProof="0" dirty="0"/>
              <a:t>Each page = One document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D303615-7858-F7D8-A38E-C6D48E0D9C2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14_advanced/05_langchain/document_loaders.py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34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7425-5C78-90DB-BD74-12944695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Text Splitters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F13D-11FA-CEA1-2CE6-8075233A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Splitting documents before embedding them into a vector database for RAG</a:t>
            </a:r>
          </a:p>
          <a:p>
            <a:r>
              <a:rPr lang="en-IN" noProof="0" dirty="0" err="1"/>
              <a:t>RecursiveCharacterTextSplitter</a:t>
            </a:r>
            <a:r>
              <a:rPr lang="en-IN" noProof="0" dirty="0"/>
              <a:t>: Instead of cutting every N characters, it tries to split intelligently in this order</a:t>
            </a:r>
          </a:p>
          <a:p>
            <a:pPr lvl="1"/>
            <a:r>
              <a:rPr lang="en-IN" noProof="0" dirty="0"/>
              <a:t>Paragraph -&gt; New line -&gt; Sentence -&gt; Space -&gt; Character</a:t>
            </a:r>
          </a:p>
          <a:p>
            <a:pPr lvl="1"/>
            <a:r>
              <a:rPr lang="en-IN" noProof="0" dirty="0"/>
              <a:t>Example text</a:t>
            </a:r>
          </a:p>
          <a:p>
            <a:pPr lvl="2"/>
            <a:r>
              <a:rPr lang="en-IN" noProof="0" dirty="0"/>
              <a:t>Artificial Intelligence is changing the world.</a:t>
            </a:r>
          </a:p>
          <a:p>
            <a:pPr lvl="2"/>
            <a:r>
              <a:rPr lang="en-IN" noProof="0" dirty="0"/>
              <a:t>Machine Learning is one branch of AI.</a:t>
            </a:r>
          </a:p>
          <a:p>
            <a:pPr lvl="2"/>
            <a:r>
              <a:rPr lang="en-IN" noProof="0" dirty="0"/>
              <a:t>Deep Learning is a subset of Machine Learning.</a:t>
            </a:r>
          </a:p>
          <a:p>
            <a:pPr lvl="2"/>
            <a:r>
              <a:rPr lang="en-IN" noProof="0" dirty="0"/>
              <a:t>Neural Networks are inspired by the human brain.</a:t>
            </a:r>
          </a:p>
          <a:p>
            <a:pPr lvl="1"/>
            <a:r>
              <a:rPr lang="en-IN" noProof="0" dirty="0"/>
              <a:t>Suppose chunk size = 80</a:t>
            </a:r>
          </a:p>
          <a:p>
            <a:pPr lvl="1"/>
            <a:r>
              <a:rPr lang="en-IN" noProof="0" dirty="0"/>
              <a:t>First attempt: Paragraph separator – Too large</a:t>
            </a:r>
          </a:p>
          <a:p>
            <a:pPr lvl="1"/>
            <a:r>
              <a:rPr lang="en-IN" noProof="0" dirty="0"/>
              <a:t>Second attempt: New line separator – Result: 4 chunks – Preserves complete sentences</a:t>
            </a:r>
          </a:p>
          <a:p>
            <a:r>
              <a:rPr lang="en-IN" noProof="0" dirty="0" err="1"/>
              <a:t>SemanticChunker</a:t>
            </a:r>
            <a:r>
              <a:rPr lang="en-IN" noProof="0" dirty="0"/>
              <a:t>: Uses meaning</a:t>
            </a:r>
          </a:p>
          <a:p>
            <a:pPr lvl="1"/>
            <a:r>
              <a:rPr lang="en-IN" noProof="0" dirty="0"/>
              <a:t>Instead of </a:t>
            </a:r>
            <a:r>
              <a:rPr lang="en-IN" i="1" noProof="0" dirty="0"/>
              <a:t>How many characters</a:t>
            </a:r>
            <a:r>
              <a:rPr lang="en-IN" noProof="0" dirty="0"/>
              <a:t>, asks </a:t>
            </a:r>
            <a:r>
              <a:rPr lang="en-IN" i="1" noProof="0" dirty="0"/>
              <a:t>Does the topic change here?</a:t>
            </a:r>
            <a:endParaRPr lang="en-IN" noProof="0" dirty="0"/>
          </a:p>
          <a:p>
            <a:pPr lvl="1"/>
            <a:r>
              <a:rPr lang="en-IN" noProof="0" dirty="0"/>
              <a:t>Computes embeddings and decides</a:t>
            </a:r>
          </a:p>
          <a:p>
            <a:r>
              <a:rPr lang="en-IN" noProof="0" dirty="0"/>
              <a:t>C:\code\agenticai\14_advanced\05_langchain\text_splitters.py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80800DA-A1AA-744A-EBF7-7612FA05478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7014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4A3F-F8C2-9973-22A5-79F7E76D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RAG -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7F23-98DF-A1B5-A9D5-2E7F7D9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Why can we not send an entire document to LLM?</a:t>
            </a:r>
          </a:p>
          <a:p>
            <a:pPr marL="971550" lvl="1" indent="-514350">
              <a:buAutoNum type="arabicPeriod"/>
            </a:pPr>
            <a:r>
              <a:rPr lang="en-IN" dirty="0"/>
              <a:t>Limited context window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Faster responses</a:t>
            </a:r>
          </a:p>
          <a:p>
            <a:pPr marL="971550" lvl="1" indent="-514350">
              <a:buAutoNum type="arabicPeriod"/>
            </a:pPr>
            <a:r>
              <a:rPr lang="en-IN" dirty="0"/>
              <a:t>Embedding model have lower context windows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Better retrieval quality</a:t>
            </a:r>
          </a:p>
          <a:p>
            <a:r>
              <a:rPr lang="en-IN" noProof="0" dirty="0"/>
              <a:t>Basic RAG using </a:t>
            </a:r>
            <a:r>
              <a:rPr lang="en-IN" noProof="0" dirty="0" err="1"/>
              <a:t>LangChain</a:t>
            </a:r>
            <a:r>
              <a:rPr lang="en-IN" noProof="0" dirty="0"/>
              <a:t>: 3_1_langchain_rag.py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67740F7-499B-2EBE-7EF7-FD904A99AB8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478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9F47A-C9DC-733C-BF1B-D2300A0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5431-88D7-9405-E826-69F47CAA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256" y="55704"/>
            <a:ext cx="10489490" cy="557025"/>
          </a:xfrm>
        </p:spPr>
        <p:txBody>
          <a:bodyPr>
            <a:noAutofit/>
          </a:bodyPr>
          <a:lstStyle/>
          <a:p>
            <a:r>
              <a:rPr lang="en-IN" sz="4000" noProof="0" dirty="0"/>
              <a:t>Chunking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6ED7-CF50-8744-CEF3-ED557EADB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50" y="758947"/>
            <a:ext cx="5332940" cy="5876621"/>
          </a:xfrm>
        </p:spPr>
        <p:txBody>
          <a:bodyPr>
            <a:normAutofit fontScale="70000" lnSpcReduction="20000"/>
          </a:bodyPr>
          <a:lstStyle/>
          <a:p>
            <a:r>
              <a:rPr lang="en-US" sz="2900" dirty="0"/>
              <a:t>Fixed-size chunking</a:t>
            </a:r>
          </a:p>
          <a:p>
            <a:pPr lvl="1"/>
            <a:r>
              <a:rPr lang="en-US" dirty="0"/>
              <a:t>Split text into chunks of a fixed number of characters or tokens</a:t>
            </a:r>
          </a:p>
          <a:p>
            <a:pPr lvl="1"/>
            <a:r>
              <a:rPr lang="en-US" dirty="0"/>
              <a:t>Simple, but may split sentences or ideas</a:t>
            </a:r>
          </a:p>
          <a:p>
            <a:pPr lvl="1"/>
            <a:r>
              <a:rPr lang="en-US" dirty="0"/>
              <a:t>Solution: Use overlapping chunks</a:t>
            </a:r>
          </a:p>
          <a:p>
            <a:r>
              <a:rPr lang="en-US" sz="2900" dirty="0"/>
              <a:t>Sentence / Paragraph chunking</a:t>
            </a:r>
          </a:p>
          <a:p>
            <a:pPr lvl="1"/>
            <a:r>
              <a:rPr lang="en-US" dirty="0"/>
              <a:t>Split at natural boundaries such as sentences or paragraphs</a:t>
            </a:r>
          </a:p>
          <a:p>
            <a:pPr lvl="1"/>
            <a:r>
              <a:rPr lang="en-US" dirty="0"/>
              <a:t>Preserves readability and context</a:t>
            </a:r>
          </a:p>
          <a:p>
            <a:r>
              <a:rPr lang="en-US" sz="2900" dirty="0"/>
              <a:t>Recursive chunking</a:t>
            </a:r>
          </a:p>
          <a:p>
            <a:pPr lvl="1"/>
            <a:r>
              <a:rPr lang="en-US" dirty="0"/>
              <a:t>Split using progressively smaller units: Paragraph → Sentence → Clause</a:t>
            </a:r>
          </a:p>
          <a:p>
            <a:pPr lvl="1"/>
            <a:r>
              <a:rPr lang="en-US" dirty="0"/>
              <a:t>Maintains structure while meeting the desired chunk size.</a:t>
            </a:r>
          </a:p>
          <a:p>
            <a:r>
              <a:rPr lang="en-US" sz="2900" dirty="0"/>
              <a:t>Document-structure chunking</a:t>
            </a:r>
          </a:p>
          <a:p>
            <a:pPr lvl="1"/>
            <a:r>
              <a:rPr lang="en-US" dirty="0"/>
              <a:t>Use document structure such as headings, sections, or Markdown (#, ##, ###)</a:t>
            </a:r>
          </a:p>
          <a:p>
            <a:pPr lvl="1"/>
            <a:r>
              <a:rPr lang="en-US" dirty="0"/>
              <a:t>Keeps related content together</a:t>
            </a:r>
          </a:p>
          <a:p>
            <a:r>
              <a:rPr lang="en-US" sz="2900" dirty="0"/>
              <a:t>Semantic chunking</a:t>
            </a:r>
          </a:p>
          <a:p>
            <a:pPr lvl="1"/>
            <a:r>
              <a:rPr lang="en-US" dirty="0"/>
              <a:t>Group text based on meaning or topic instead of size</a:t>
            </a:r>
          </a:p>
          <a:p>
            <a:pPr lvl="1"/>
            <a:r>
              <a:rPr lang="en-US" dirty="0"/>
              <a:t>Produces the most meaningful chunks but is computationally more expensive</a:t>
            </a:r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E41781-85A8-959A-3351-3F8FA7C5B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78274"/>
              </p:ext>
            </p:extLst>
          </p:nvPr>
        </p:nvGraphicFramePr>
        <p:xfrm>
          <a:off x="5648059" y="1859342"/>
          <a:ext cx="6472523" cy="20979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700166">
                  <a:extLst>
                    <a:ext uri="{9D8B030D-6E8A-4147-A177-3AD203B41FA5}">
                      <a16:colId xmlns:a16="http://schemas.microsoft.com/office/drawing/2014/main" val="3960344284"/>
                    </a:ext>
                  </a:extLst>
                </a:gridCol>
                <a:gridCol w="3772357">
                  <a:extLst>
                    <a:ext uri="{9D8B030D-6E8A-4147-A177-3AD203B41FA5}">
                      <a16:colId xmlns:a16="http://schemas.microsoft.com/office/drawing/2014/main" val="2190642293"/>
                    </a:ext>
                  </a:extLst>
                </a:gridCol>
              </a:tblGrid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283050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Fixed-size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Simple text,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437358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Sentence / Paragraph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Articles,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22379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Recursive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General-purpose RAG (most common)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189340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Document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Markdown, manuals,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079627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Semantic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High-quality enterprise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278994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5F970166-0120-85FD-761A-470D993609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14_advanced/05_langchain/text_splitters.py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3696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FB8D-6DE1-DCF3-DCE3-89EB30A9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EDE1-7973-64EB-8CB5-432683A9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Documents (PDF, Word, Web, CSV, Database) → Document Loader → Raw Document Objects → Text Splitter → Small Text Chunks → Embedding Model → Embeddings (Vector Representations) → Vector Database (Chroma / FAISS / Pinecone) ← User Question → Question Embedding → Retriever (Similarity Search) → Top-K Relevant Chunks → Prompt (Context + User Question) → LLM / Generator → Final Answer</a:t>
            </a:r>
          </a:p>
          <a:p>
            <a:r>
              <a:rPr lang="en-IN" noProof="0" dirty="0"/>
              <a:t>C:\code\agenticai\14_advanced\05_langchain\rag_pipeline.py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AF44DA5-78F3-9269-72AB-CD28CFDDBFA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14_advanced/05_langchain/rag_pipeline.py, rag_pipeline_ollama.py, 3_langgraph/3_1_langchain_rag.py</a:t>
            </a:r>
          </a:p>
        </p:txBody>
      </p:sp>
    </p:spTree>
    <p:extLst>
      <p:ext uri="{BB962C8B-B14F-4D97-AF65-F5344CB8AC3E}">
        <p14:creationId xmlns:p14="http://schemas.microsoft.com/office/powerpoint/2010/main" val="40652698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D506-5293-71EB-A58D-4016E2C7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230" y="338596"/>
            <a:ext cx="9751539" cy="1229248"/>
          </a:xfrm>
        </p:spPr>
        <p:txBody>
          <a:bodyPr>
            <a:normAutofit/>
          </a:bodyPr>
          <a:lstStyle/>
          <a:p>
            <a:r>
              <a:rPr lang="en-IN" sz="4000" noProof="0" dirty="0"/>
              <a:t>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E061-4676-F28D-7767-31359B243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30" y="1692976"/>
            <a:ext cx="9751539" cy="4035170"/>
          </a:xfrm>
        </p:spPr>
        <p:txBody>
          <a:bodyPr>
            <a:normAutofit fontScale="92500"/>
          </a:bodyPr>
          <a:lstStyle/>
          <a:p>
            <a:r>
              <a:rPr lang="en-IN" sz="2600" b="1" noProof="0" dirty="0"/>
              <a:t>Retriever</a:t>
            </a:r>
            <a:r>
              <a:rPr lang="en-IN" sz="2600" noProof="0" dirty="0"/>
              <a:t>: Responsible for finding the most relevant documents for a user's query</a:t>
            </a:r>
          </a:p>
          <a:p>
            <a:r>
              <a:rPr lang="en-IN" sz="2600" noProof="0" dirty="0"/>
              <a:t>Instead of sending every document to the LLM, the retriever selects only the most relevant ones</a:t>
            </a:r>
          </a:p>
          <a:p>
            <a:r>
              <a:rPr lang="en-IN" sz="2600" noProof="0" dirty="0"/>
              <a:t>Knowledge Base → Document Loader → Text Splitter → Embedding Model → Vector Database ← User Question → Question Embedding → </a:t>
            </a:r>
            <a:r>
              <a:rPr lang="en-IN" sz="2600" noProof="0" dirty="0">
                <a:solidFill>
                  <a:srgbClr val="FF0000"/>
                </a:solidFill>
              </a:rPr>
              <a:t>Retriever</a:t>
            </a:r>
            <a:r>
              <a:rPr lang="en-IN" sz="2600" noProof="0" dirty="0"/>
              <a:t> → Relevant Chunks → Prompt (Context + Question) → LLM → Final Answer</a:t>
            </a:r>
          </a:p>
          <a:p>
            <a:r>
              <a:rPr lang="en-IN" sz="2600" noProof="0" dirty="0"/>
              <a:t>Bridge between the vector database and the LLM</a:t>
            </a:r>
          </a:p>
          <a:p>
            <a:r>
              <a:rPr lang="en-IN" sz="2600" noProof="0" dirty="0"/>
              <a:t>Instead of sending all documents, the retriever selects only the relevant chunks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5681F86-D7F7-FD44-613F-75B7FEC10D1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14_advanced/05_langchain/retrievers.py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926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05689-A6A2-D4D5-8DA9-626A8D97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D7C7-8598-B920-BAF9-27C77537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859" y="345010"/>
            <a:ext cx="9936282" cy="1252537"/>
          </a:xfrm>
        </p:spPr>
        <p:txBody>
          <a:bodyPr>
            <a:noAutofit/>
          </a:bodyPr>
          <a:lstStyle/>
          <a:p>
            <a:r>
              <a:rPr lang="en-IN" sz="3000" noProof="0" dirty="0"/>
              <a:t>Retriever Types (C:\code\</a:t>
            </a:r>
            <a:r>
              <a:rPr lang="en-IN" sz="3000" noProof="0" dirty="0" err="1"/>
              <a:t>agenticai</a:t>
            </a:r>
            <a:r>
              <a:rPr lang="en-IN" sz="3000" noProof="0" dirty="0"/>
              <a:t>\14_advanced\05_langchain\retrievers.py)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D353BA-8173-6F8F-D1D2-D1B12982C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172287"/>
              </p:ext>
            </p:extLst>
          </p:nvPr>
        </p:nvGraphicFramePr>
        <p:xfrm>
          <a:off x="691998" y="1645568"/>
          <a:ext cx="10638717" cy="455606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218658">
                  <a:extLst>
                    <a:ext uri="{9D8B030D-6E8A-4147-A177-3AD203B41FA5}">
                      <a16:colId xmlns:a16="http://schemas.microsoft.com/office/drawing/2014/main" val="2456004626"/>
                    </a:ext>
                  </a:extLst>
                </a:gridCol>
                <a:gridCol w="7420059">
                  <a:extLst>
                    <a:ext uri="{9D8B030D-6E8A-4147-A177-3AD203B41FA5}">
                      <a16:colId xmlns:a16="http://schemas.microsoft.com/office/drawing/2014/main" val="2804059574"/>
                    </a:ext>
                  </a:extLst>
                </a:gridCol>
              </a:tblGrid>
              <a:tr h="29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Retriever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What it actually does internally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846220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VectorStoreRetriever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Converts the query into an embedding, compares it with stored document embeddings, and returns the most similar chunks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872651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MultiQueryRetriever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Uses an LLM to generate multiple alternative versions of the user’s query, retrieves documents for each version, then combines the results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515763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/>
                        <a:t>ContextualCompressionRetriever</a:t>
                      </a:r>
                      <a:endParaRPr lang="en-GB" sz="16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First retrieves candidate documents, then uses a compressor/</a:t>
                      </a:r>
                      <a:r>
                        <a:rPr lang="en-GB" sz="1600" dirty="0" err="1"/>
                        <a:t>reranker</a:t>
                      </a:r>
                      <a:r>
                        <a:rPr lang="en-GB" sz="1600" dirty="0"/>
                        <a:t>/LLM to remove irrelevant portions and keep only information relevant to the query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902872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SelfQueryRetriever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Uses an LLM to convert the natural-language query into </a:t>
                      </a:r>
                      <a:r>
                        <a:rPr lang="en-GB" sz="1600" b="1" dirty="0"/>
                        <a:t>two parts</a:t>
                      </a:r>
                      <a:r>
                        <a:rPr lang="en-GB" sz="1600" dirty="0"/>
                        <a:t>: a semantic search query and structured metadata filters; then applies both to the vector store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564661"/>
                  </a:ext>
                </a:extLst>
              </a:tr>
              <a:tr h="53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ParentDocumentRetriever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Stores small child chunks for accurate similarity matching, but when a child chunk matches, returns its larger parent document so the LLM gets more context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67001"/>
                  </a:ext>
                </a:extLst>
              </a:tr>
              <a:tr h="782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MultiVectorRetriever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Represents one document using multiple vectors (for example, summaries, chunks, or hypothetical questions); searches those vectors and maps the matches back to the original document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133197"/>
                  </a:ext>
                </a:extLst>
              </a:tr>
              <a:tr h="621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EnsembleRetriever</a:t>
                      </a:r>
                      <a:endParaRPr lang="en-GB" sz="16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Runs multiple retrievers independently, combines their results, and uses a ranking method such as </a:t>
                      </a:r>
                      <a:r>
                        <a:rPr lang="en-GB" sz="1600" b="1" dirty="0"/>
                        <a:t>Reciprocal Rank Fusion (RRF)</a:t>
                      </a:r>
                      <a:r>
                        <a:rPr lang="en-GB" sz="1600" dirty="0"/>
                        <a:t> to produce a final ranked list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819481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ED84A7AA-B30F-6A71-B031-629C1F23230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14_advanced/05_langchain/retrievers.py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45792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2938-B1F2-F5E3-DA83-1F8D78AF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 a Q&amp;A Bot from PDFs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4CAF-D7BC-CBC6-ACB6-4C41425BE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Chroma DB, Insurance example: </a:t>
            </a:r>
            <a:r>
              <a:rPr lang="fr-FR" dirty="0"/>
              <a:t>C:\code\agenticai_realpage\module_2\2_langchain_qand_a_bot_chroma.py</a:t>
            </a:r>
          </a:p>
          <a:p>
            <a:r>
              <a:rPr lang="fr-FR" dirty="0"/>
              <a:t>Test: Browser - </a:t>
            </a:r>
            <a:r>
              <a:rPr lang="fr-FR" dirty="0">
                <a:hlinkClick r:id="rId3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fr-FR" dirty="0"/>
              <a:t>FAISS: C:\code\agenticai_realpage\module_2\2_langchain_qanda_bot_faiss.py</a:t>
            </a:r>
          </a:p>
          <a:p>
            <a:r>
              <a:rPr lang="fr-FR" dirty="0"/>
              <a:t>Test: Browser - </a:t>
            </a:r>
            <a:r>
              <a:rPr lang="fr-FR" dirty="0">
                <a:hlinkClick r:id="rId3"/>
              </a:rPr>
              <a:t>http://localhost:8000/ask/playground/</a:t>
            </a:r>
            <a:endParaRPr lang="fr-FR" dirty="0"/>
          </a:p>
          <a:p>
            <a:endParaRPr lang="fr-FR" dirty="0"/>
          </a:p>
          <a:p>
            <a:r>
              <a:rPr lang="en-US" dirty="0"/>
              <a:t>While Chroma manages a directory of files automatically, FAISS typically saves to a single .index file along with a .</a:t>
            </a:r>
            <a:r>
              <a:rPr lang="en-US" dirty="0" err="1"/>
              <a:t>pkl</a:t>
            </a:r>
            <a:r>
              <a:rPr lang="en-US" dirty="0"/>
              <a:t> for the documents</a:t>
            </a:r>
          </a:p>
          <a:p>
            <a:r>
              <a:rPr lang="en-US" dirty="0"/>
              <a:t>In </a:t>
            </a:r>
            <a:r>
              <a:rPr lang="en-US" dirty="0" err="1"/>
              <a:t>LangChain</a:t>
            </a:r>
            <a:r>
              <a:rPr lang="en-US" dirty="0"/>
              <a:t>, we use </a:t>
            </a:r>
            <a:r>
              <a:rPr lang="en-US" dirty="0" err="1"/>
              <a:t>save_local</a:t>
            </a:r>
            <a:r>
              <a:rPr lang="en-US" dirty="0"/>
              <a:t> and </a:t>
            </a:r>
            <a:r>
              <a:rPr lang="en-US" dirty="0" err="1"/>
              <a:t>load_local</a:t>
            </a:r>
            <a:r>
              <a:rPr lang="en-US" dirty="0"/>
              <a:t> for this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D9CCA05-7F15-97B5-F50C-1DDCDE754B9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15_real/langchain_qand_a_bot_chroma.py, langchain_qand_a_bot_chroma_ollama.py, 9_general/rag/rag_10_chroma_db_data_science_pdf_chatbot.py</a:t>
            </a:r>
          </a:p>
        </p:txBody>
      </p:sp>
    </p:spTree>
    <p:extLst>
      <p:ext uri="{BB962C8B-B14F-4D97-AF65-F5344CB8AC3E}">
        <p14:creationId xmlns:p14="http://schemas.microsoft.com/office/powerpoint/2010/main" val="1705994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7943-B7E9-AC17-D1AB-F4331A32AC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65B91-9106-AAB2-A8BA-FAE8114A0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LangChain Agents and Tool Use</a:t>
            </a:r>
          </a:p>
          <a:p>
            <a:r>
              <a:rPr lang="en-US"/>
              <a:t>Sun 31-Oct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070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A639-1CEB-1C53-E602-09ED9D6B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5941-A334-B846-75EE-1506DA914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 fundamentals (recap)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Prompting techniques that drive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Creating custom tools and binding them to an LLM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Tools with Pydantic schemas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AgentExecutor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ReAct 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Plan-and-Execute agent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SQL database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Multi-step reasoning and tool chaining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Tool-augmented research agent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2503532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2E93-9E57-5979-7C84-E745478D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64CD-8059-0E30-E160-785B1F205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AI Agent</a:t>
            </a:r>
            <a:r>
              <a:rPr lang="en-IN" noProof="0" dirty="0"/>
              <a:t>: An AI system that can</a:t>
            </a:r>
          </a:p>
          <a:p>
            <a:pPr lvl="1"/>
            <a:r>
              <a:rPr lang="en-IN" noProof="0" dirty="0"/>
              <a:t>Perceive its environment </a:t>
            </a:r>
          </a:p>
          <a:p>
            <a:pPr lvl="1"/>
            <a:r>
              <a:rPr lang="en-IN" noProof="0" dirty="0"/>
              <a:t>Reason about a problem </a:t>
            </a:r>
          </a:p>
          <a:p>
            <a:pPr lvl="1"/>
            <a:r>
              <a:rPr lang="en-IN" noProof="0" dirty="0"/>
              <a:t>Decide what action to take </a:t>
            </a:r>
          </a:p>
          <a:p>
            <a:pPr lvl="1"/>
            <a:r>
              <a:rPr lang="en-IN" noProof="0" dirty="0"/>
              <a:t>Execute actions using tools </a:t>
            </a:r>
          </a:p>
          <a:p>
            <a:pPr lvl="1"/>
            <a:r>
              <a:rPr lang="en-IN" noProof="0" dirty="0"/>
              <a:t>Observe the results </a:t>
            </a:r>
          </a:p>
          <a:p>
            <a:pPr lvl="1"/>
            <a:r>
              <a:rPr lang="en-IN" noProof="0" dirty="0"/>
              <a:t>Continue until the goal is achieved </a:t>
            </a:r>
          </a:p>
          <a:p>
            <a:r>
              <a:rPr lang="en-IN" noProof="0" dirty="0"/>
              <a:t>Unlike a traditional chatbot, an AI agent can make decisions and perform tasks autonomously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DA2A104-04F7-2C7A-813F-685D6B7F0A0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6615554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88A2-5774-1001-4FC4-2E9E8690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Structuring System Prompts for Domain-Expert 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1A7A-4966-971F-2CB6-09147E01B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System prompt</a:t>
            </a:r>
            <a:r>
              <a:rPr lang="en-IN" noProof="0" dirty="0"/>
              <a:t>: Defines the AI assistant's role, expertise, </a:t>
            </a:r>
            <a:r>
              <a:rPr lang="en-IN" noProof="0" dirty="0" err="1"/>
              <a:t>behavior</a:t>
            </a:r>
            <a:r>
              <a:rPr lang="en-IN" noProof="0" dirty="0"/>
              <a:t>, constraints, and response style before any user interaction</a:t>
            </a:r>
          </a:p>
          <a:p>
            <a:r>
              <a:rPr lang="en-IN" noProof="0" dirty="0"/>
              <a:t>Helps produce consistent, domain-specific, and reliable responses</a:t>
            </a:r>
          </a:p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1BFC51-EB8A-3083-E3C2-337BBDB4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37858"/>
              </p:ext>
            </p:extLst>
          </p:nvPr>
        </p:nvGraphicFramePr>
        <p:xfrm>
          <a:off x="956862" y="3333991"/>
          <a:ext cx="10515600" cy="2926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061868">
                  <a:extLst>
                    <a:ext uri="{9D8B030D-6E8A-4147-A177-3AD203B41FA5}">
                      <a16:colId xmlns:a16="http://schemas.microsoft.com/office/drawing/2014/main" val="2211020382"/>
                    </a:ext>
                  </a:extLst>
                </a:gridCol>
                <a:gridCol w="6453732">
                  <a:extLst>
                    <a:ext uri="{9D8B030D-6E8A-4147-A177-3AD203B41FA5}">
                      <a16:colId xmlns:a16="http://schemas.microsoft.com/office/drawing/2014/main" val="4183869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02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assistant's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932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the primary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6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Knowledge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State the domain or information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23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Describe how responses should be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77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what the model should 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12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Output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desired response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58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Formal, friendly, technical,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58083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6B1DD230-2A41-1BC9-D40A-03DD068D6EE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14_advanced/03_llm_examples/prompting_techniques.py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1940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66CD-FC8E-B4F9-E2EE-E0D89C8A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System Prompt Template and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4B561-14D1-2862-B083-E06B466AB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648200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noProof="0" dirty="0"/>
              <a:t>You are an expert &lt;ROLE&gt;.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Your goal is to &lt;OBJECTIVE&gt;.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Use your expertise in &lt;DOMAIN&gt;.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When answering:</a:t>
            </a:r>
          </a:p>
          <a:p>
            <a:pPr marL="0" indent="0">
              <a:buNone/>
            </a:pPr>
            <a:r>
              <a:rPr lang="en-IN" noProof="0" dirty="0"/>
              <a:t>- Explain concepts clearly.</a:t>
            </a:r>
          </a:p>
          <a:p>
            <a:pPr marL="0" indent="0">
              <a:buNone/>
            </a:pPr>
            <a:r>
              <a:rPr lang="en-IN" noProof="0" dirty="0"/>
              <a:t>- Ask clarifying questions if information is missing.</a:t>
            </a:r>
          </a:p>
          <a:p>
            <a:pPr marL="0" indent="0">
              <a:buNone/>
            </a:pPr>
            <a:r>
              <a:rPr lang="en-IN" noProof="0" dirty="0"/>
              <a:t>- Do not make up facts.</a:t>
            </a:r>
          </a:p>
          <a:p>
            <a:pPr marL="0" indent="0">
              <a:buNone/>
            </a:pPr>
            <a:r>
              <a:rPr lang="en-IN" noProof="0" dirty="0"/>
              <a:t>- If uncertain, say so.</a:t>
            </a:r>
          </a:p>
          <a:p>
            <a:pPr marL="0" indent="0">
              <a:buNone/>
            </a:pPr>
            <a:r>
              <a:rPr lang="en-IN" noProof="0" dirty="0"/>
              <a:t>- Use bullet points where appropriate.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Respond in a professional and concise manner.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9F8061-F6CC-CE30-8186-63E5E760ED9C}"/>
              </a:ext>
            </a:extLst>
          </p:cNvPr>
          <p:cNvSpPr txBox="1">
            <a:spLocks/>
          </p:cNvSpPr>
          <p:nvPr/>
        </p:nvSpPr>
        <p:spPr>
          <a:xfrm>
            <a:off x="6155914" y="1825625"/>
            <a:ext cx="4648200" cy="4351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noProof="0" dirty="0"/>
              <a:t>You are an experienced physician specializing in internal medicine.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Answer questions using evidence-based medical knowledge.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Always:</a:t>
            </a:r>
          </a:p>
          <a:p>
            <a:pPr marL="0" indent="0">
              <a:buNone/>
            </a:pPr>
            <a:r>
              <a:rPr lang="en-IN" noProof="0" dirty="0"/>
              <a:t>- Explain medical terminology simply.</a:t>
            </a:r>
          </a:p>
          <a:p>
            <a:pPr marL="0" indent="0">
              <a:buNone/>
            </a:pPr>
            <a:r>
              <a:rPr lang="en-IN" noProof="0" dirty="0"/>
              <a:t>- Recommend consulting a healthcare professional for emergencies.</a:t>
            </a:r>
          </a:p>
          <a:p>
            <a:pPr marL="0" indent="0">
              <a:buNone/>
            </a:pPr>
            <a:r>
              <a:rPr lang="en-IN" noProof="0" dirty="0"/>
              <a:t>- Do not diagnose with certainty from limited information.</a:t>
            </a:r>
          </a:p>
          <a:p>
            <a:pPr marL="0" indent="0">
              <a:buNone/>
            </a:pPr>
            <a:r>
              <a:rPr lang="en-IN" noProof="0" dirty="0"/>
              <a:t>- Clearly distinguish facts from assumptions.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5AC4BA32-7B7A-8A0F-5355-64B8E2C5624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14_advanced/03_llm_examples/prompting_techniques.py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2203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AA16-A549-9DB0-A6DA-00D6BB40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537470"/>
          </a:xfrm>
        </p:spPr>
        <p:txBody>
          <a:bodyPr>
            <a:normAutofit fontScale="90000"/>
          </a:bodyPr>
          <a:lstStyle/>
          <a:p>
            <a:r>
              <a:rPr lang="en-IN" sz="3600" noProof="0" dirty="0"/>
              <a:t>Zero-shot, one-shot, and few-shot prompting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D12C1-5376-60B5-C4E1-143AAD136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063625"/>
              </p:ext>
            </p:extLst>
          </p:nvPr>
        </p:nvGraphicFramePr>
        <p:xfrm>
          <a:off x="319922" y="698008"/>
          <a:ext cx="11552156" cy="5150235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62295">
                  <a:extLst>
                    <a:ext uri="{9D8B030D-6E8A-4147-A177-3AD203B41FA5}">
                      <a16:colId xmlns:a16="http://schemas.microsoft.com/office/drawing/2014/main" val="3353472813"/>
                    </a:ext>
                  </a:extLst>
                </a:gridCol>
                <a:gridCol w="1012122">
                  <a:extLst>
                    <a:ext uri="{9D8B030D-6E8A-4147-A177-3AD203B41FA5}">
                      <a16:colId xmlns:a16="http://schemas.microsoft.com/office/drawing/2014/main" val="318577303"/>
                    </a:ext>
                  </a:extLst>
                </a:gridCol>
                <a:gridCol w="1361130">
                  <a:extLst>
                    <a:ext uri="{9D8B030D-6E8A-4147-A177-3AD203B41FA5}">
                      <a16:colId xmlns:a16="http://schemas.microsoft.com/office/drawing/2014/main" val="3222287752"/>
                    </a:ext>
                  </a:extLst>
                </a:gridCol>
                <a:gridCol w="2865685">
                  <a:extLst>
                    <a:ext uri="{9D8B030D-6E8A-4147-A177-3AD203B41FA5}">
                      <a16:colId xmlns:a16="http://schemas.microsoft.com/office/drawing/2014/main" val="3243655979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118482980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2039853928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533064233"/>
                    </a:ext>
                  </a:extLst>
                </a:gridCol>
              </a:tblGrid>
              <a:tr h="31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Prompting Pattern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Number of Examples in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Structure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Example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Best Use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Advantages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Limitations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401319"/>
                  </a:ext>
                </a:extLst>
              </a:tr>
              <a:tr h="895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Zero-shot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0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Instruction only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"Classify the sentiment of this review: The product arrived on time and works perfectly."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General question answering, summarization, translation, simple classification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Simple, fast, minimal prompt engineering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May produce inconsistent results for complex tasks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000293"/>
                  </a:ext>
                </a:extLst>
              </a:tr>
              <a:tr h="127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One-shot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1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Example:</a:t>
                      </a:r>
                      <a:r>
                        <a:rPr lang="en-IN" sz="1200" noProof="0" dirty="0"/>
                        <a:t> Review: This phone is terrible. → Sentiment: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Teaching the desired format or style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Helps the model understand the expected output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may not cover all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399780"/>
                  </a:ext>
                </a:extLst>
              </a:tr>
              <a:tr h="185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Few-shot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2–10 examples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Multiple examples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 err="1"/>
                        <a:t>Examples:</a:t>
                      </a:r>
                      <a:r>
                        <a:rPr lang="en-IN" sz="1200" noProof="0" dirty="0" err="1"/>
                        <a:t>Review</a:t>
                      </a:r>
                      <a:r>
                        <a:rPr lang="en-IN" sz="1200" noProof="0" dirty="0"/>
                        <a:t>: Excellent service. → </a:t>
                      </a:r>
                      <a:r>
                        <a:rPr lang="en-IN" sz="1200" b="1" noProof="0" dirty="0"/>
                        <a:t>Positive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Very slow delivery.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Packaging was damaged.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Complex classification, information extraction, structured output generation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Usually improves consistency and accuracy without retraining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Longer prompts consume more tokens and increase latency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99331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416F3E3-CD3D-C41D-8154-9F7072E833F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14_advanced/03_llm_examples/prompting_techniques.py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008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3F90-6DA4-20F6-37FC-65F9F736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Chain-of-Thought (</a:t>
            </a:r>
            <a:r>
              <a:rPr lang="en-IN" noProof="0" dirty="0" err="1"/>
              <a:t>CoT</a:t>
            </a:r>
            <a:r>
              <a:rPr lang="en-IN" noProof="0" dirty="0"/>
              <a:t>)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8974C-DF33-5F4F-78B5-68C19383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Chain-of-Thought (</a:t>
            </a:r>
            <a:r>
              <a:rPr lang="en-IN" b="1" noProof="0" dirty="0" err="1"/>
              <a:t>CoT</a:t>
            </a:r>
            <a:r>
              <a:rPr lang="en-IN" b="1" noProof="0" dirty="0"/>
              <a:t>) prompting</a:t>
            </a:r>
            <a:r>
              <a:rPr lang="en-IN" noProof="0" dirty="0"/>
              <a:t>: Encourages an LLM to break down a complex problem into a sequence of intermediate reasoning steps before producing the final answer</a:t>
            </a:r>
          </a:p>
          <a:p>
            <a:r>
              <a:rPr lang="en-IN" noProof="0" dirty="0"/>
              <a:t>Particularly useful for tasks that require logical reasoning, planning, multi-step calculations, or decision-making</a:t>
            </a:r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9885B74-62B6-1C19-4D6D-DCEBBD92B50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14_advanced/03_llm_examples/prompting_techniques.py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4584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D486F-357B-376C-37EE-BF19C436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2ED8-259B-46AF-9FAE-68FE2F81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946" y="347087"/>
            <a:ext cx="9996108" cy="1260077"/>
          </a:xfrm>
        </p:spPr>
        <p:txBody>
          <a:bodyPr>
            <a:normAutofit/>
          </a:bodyPr>
          <a:lstStyle/>
          <a:p>
            <a:r>
              <a:rPr lang="en-IN" sz="4200" noProof="0" dirty="0"/>
              <a:t>Chain-of-Thought (</a:t>
            </a:r>
            <a:r>
              <a:rPr lang="en-IN" sz="4200" noProof="0" dirty="0" err="1"/>
              <a:t>CoT</a:t>
            </a:r>
            <a:r>
              <a:rPr lang="en-IN" sz="4200" noProof="0" dirty="0"/>
              <a:t>)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E7BC-CA3A-3E98-29BB-5398A4FF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86" y="1708894"/>
            <a:ext cx="3463083" cy="4136373"/>
          </a:xfrm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r>
              <a:rPr lang="en-IN" sz="2700" noProof="0" dirty="0"/>
              <a:t>Without </a:t>
            </a:r>
            <a:r>
              <a:rPr lang="en-IN" sz="2700" noProof="0" dirty="0" err="1"/>
              <a:t>CoT</a:t>
            </a:r>
            <a:endParaRPr lang="en-IN" sz="2700" noProof="0" dirty="0"/>
          </a:p>
          <a:p>
            <a:r>
              <a:rPr lang="en-IN" sz="2700" noProof="0" dirty="0"/>
              <a:t>Prompt</a:t>
            </a:r>
          </a:p>
          <a:p>
            <a:pPr lvl="1"/>
            <a:r>
              <a:rPr lang="en-IN" sz="2200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sz="2200" noProof="0" dirty="0"/>
              <a:t>Recommend the best option.</a:t>
            </a:r>
          </a:p>
          <a:p>
            <a:endParaRPr lang="en-IN" sz="2700" noProof="0" dirty="0"/>
          </a:p>
          <a:p>
            <a:r>
              <a:rPr lang="en-IN" sz="2700" noProof="0" dirty="0"/>
              <a:t>Response</a:t>
            </a:r>
          </a:p>
          <a:p>
            <a:pPr lvl="1"/>
            <a:r>
              <a:rPr lang="en-IN" sz="2200" noProof="0" dirty="0"/>
              <a:t>I recommend Laptop B because it offers the best balance of CPU, GPU, memory, and price for your requirements.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B31C97-F206-51AF-4EA3-BCB41F306F66}"/>
              </a:ext>
            </a:extLst>
          </p:cNvPr>
          <p:cNvSpPr txBox="1">
            <a:spLocks/>
          </p:cNvSpPr>
          <p:nvPr/>
        </p:nvSpPr>
        <p:spPr>
          <a:xfrm>
            <a:off x="4561031" y="1406687"/>
            <a:ext cx="6967083" cy="4943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700" noProof="0" dirty="0"/>
              <a:t>Using </a:t>
            </a:r>
            <a:r>
              <a:rPr lang="en-IN" sz="2700" noProof="0" dirty="0" err="1"/>
              <a:t>CoT</a:t>
            </a:r>
            <a:endParaRPr lang="en-IN" sz="2700" noProof="0" dirty="0"/>
          </a:p>
          <a:p>
            <a:r>
              <a:rPr lang="en-IN" sz="2700" noProof="0" dirty="0"/>
              <a:t>Prompt</a:t>
            </a:r>
          </a:p>
          <a:p>
            <a:pPr lvl="1"/>
            <a:r>
              <a:rPr lang="en-IN" sz="2200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sz="2200" noProof="0" dirty="0"/>
              <a:t>Reason through the problem step by step before giving the final recommendation.</a:t>
            </a:r>
          </a:p>
          <a:p>
            <a:endParaRPr lang="en-IN" sz="2700" noProof="0" dirty="0"/>
          </a:p>
          <a:p>
            <a:r>
              <a:rPr lang="en-IN" sz="2700" noProof="0" dirty="0"/>
              <a:t>Response</a:t>
            </a:r>
          </a:p>
          <a:p>
            <a:pPr lvl="1"/>
            <a:r>
              <a:rPr lang="en-IN" sz="2200" noProof="0" dirty="0"/>
              <a:t>1. Budget limit is $1,200.</a:t>
            </a:r>
          </a:p>
          <a:p>
            <a:pPr lvl="1"/>
            <a:r>
              <a:rPr lang="en-IN" sz="2200" noProof="0" dirty="0"/>
              <a:t>2. Programming benefits from a fast CPU and at least 16 GB RAM.</a:t>
            </a:r>
          </a:p>
          <a:p>
            <a:pPr lvl="1"/>
            <a:r>
              <a:rPr lang="en-IN" sz="2200" noProof="0" dirty="0"/>
              <a:t>3. Machine learning benefits from a dedicated GPU.</a:t>
            </a:r>
          </a:p>
          <a:p>
            <a:pPr lvl="1"/>
            <a:r>
              <a:rPr lang="en-IN" sz="2200" noProof="0" dirty="0"/>
              <a:t>4. Occasional gaming also requires a capable GPU.</a:t>
            </a:r>
          </a:p>
          <a:p>
            <a:pPr lvl="1"/>
            <a:r>
              <a:rPr lang="en-IN" sz="2200" noProof="0" dirty="0"/>
              <a:t>5. Compare available laptops within the budget.</a:t>
            </a:r>
          </a:p>
          <a:p>
            <a:pPr lvl="1"/>
            <a:r>
              <a:rPr lang="en-IN" sz="2200" noProof="0" dirty="0"/>
              <a:t>6. Laptop B offers:</a:t>
            </a:r>
          </a:p>
          <a:p>
            <a:pPr lvl="2"/>
            <a:r>
              <a:rPr lang="en-IN" sz="1900" noProof="0" dirty="0"/>
              <a:t>Intel Core i7 processor</a:t>
            </a:r>
          </a:p>
          <a:p>
            <a:pPr lvl="2"/>
            <a:r>
              <a:rPr lang="en-IN" sz="1900" noProof="0" dirty="0"/>
              <a:t>16 GB RAM</a:t>
            </a:r>
          </a:p>
          <a:p>
            <a:pPr lvl="2"/>
            <a:r>
              <a:rPr lang="en-IN" sz="1900" noProof="0" dirty="0"/>
              <a:t>NVIDIA RTX 4060 GPU</a:t>
            </a:r>
          </a:p>
          <a:p>
            <a:pPr lvl="2"/>
            <a:r>
              <a:rPr lang="en-IN" sz="1900" noProof="0" dirty="0"/>
              <a:t>1 TB SSD</a:t>
            </a:r>
          </a:p>
          <a:p>
            <a:pPr lvl="2"/>
            <a:r>
              <a:rPr lang="en-IN" sz="1900" noProof="0" dirty="0"/>
              <a:t>Price: $1,180</a:t>
            </a:r>
          </a:p>
          <a:p>
            <a:pPr lvl="1"/>
            <a:r>
              <a:rPr lang="en-IN" sz="2200" noProof="0" dirty="0"/>
              <a:t>Final Recommendation:</a:t>
            </a:r>
          </a:p>
          <a:p>
            <a:pPr lvl="2"/>
            <a:r>
              <a:rPr lang="en-IN" sz="1900" noProof="0" dirty="0"/>
              <a:t>Laptop B best satisfies the user's performance requirements while staying within budget.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699E5AF4-98E7-6EAC-2739-0423C442613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14_advanced/03_llm_examples/prompting_techniques.py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9751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BDFD-2665-D8C8-6110-0225C47B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93" y="357973"/>
            <a:ext cx="10309613" cy="1299597"/>
          </a:xfrm>
        </p:spPr>
        <p:txBody>
          <a:bodyPr>
            <a:normAutofit/>
          </a:bodyPr>
          <a:lstStyle/>
          <a:p>
            <a:r>
              <a:rPr lang="en-IN" sz="4300" noProof="0" dirty="0" err="1"/>
              <a:t>ReAct</a:t>
            </a:r>
            <a:r>
              <a:rPr lang="en-IN" sz="4300" noProof="0" dirty="0"/>
              <a:t>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BB3E-CFF0-200A-22F2-795303FA3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193" y="1789863"/>
            <a:ext cx="10309613" cy="4266101"/>
          </a:xfrm>
        </p:spPr>
        <p:txBody>
          <a:bodyPr>
            <a:normAutofit/>
          </a:bodyPr>
          <a:lstStyle/>
          <a:p>
            <a:r>
              <a:rPr lang="en-IN" sz="2700" b="1" noProof="0" dirty="0" err="1"/>
              <a:t>ReAct</a:t>
            </a:r>
            <a:r>
              <a:rPr lang="en-IN" sz="2700" b="1" noProof="0" dirty="0"/>
              <a:t> (Reason + Act)</a:t>
            </a:r>
            <a:r>
              <a:rPr lang="en-IN" sz="2700" noProof="0" dirty="0"/>
              <a:t>: A prompting technique where an AI model alternates between reasoning about the problem and taking actions such as calling tools, searching documents, querying databases, or invoking APIs</a:t>
            </a:r>
          </a:p>
          <a:p>
            <a:r>
              <a:rPr lang="en-IN" sz="2700" noProof="0" dirty="0"/>
              <a:t>Instead of relying only on its internal knowledge, the model thinks, acts, observes the result, and continues reasoning until it reaches an answer</a:t>
            </a:r>
          </a:p>
          <a:p>
            <a:r>
              <a:rPr lang="en-IN" sz="2700" noProof="0" dirty="0"/>
              <a:t>Workflow:  User Question -&gt; Thought ("What information do I need?") -&gt; Action (Call a tool / Search / API) -&gt; Observation -&gt; (Receive tool result) -&gt; Thought (Updated) -&gt; Final Answer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9B6D808-1BF2-DCA0-5851-6AFDC1AD3C7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14_advanced/03_llm_examples/prompting_techniques.py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9249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9C6E-AD6D-3DCF-EE51-5DAFC68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287F-94C6-DB99-5B72-14540615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User query: I have ₹10 lakh to invest for the next 10 years. Should I invest in an equity mutual fund, a fixed deposit, or a balanced fund?</a:t>
            </a:r>
          </a:p>
          <a:p>
            <a:r>
              <a:rPr lang="en-IN" noProof="0" dirty="0" err="1"/>
              <a:t>ReAct</a:t>
            </a:r>
            <a:r>
              <a:rPr lang="en-IN" noProof="0" dirty="0"/>
              <a:t> execution</a:t>
            </a:r>
          </a:p>
          <a:p>
            <a:pPr lvl="1"/>
            <a:r>
              <a:rPr lang="en-IN" noProof="0" dirty="0"/>
              <a:t>Thought: To recommend an investment, I need the user's risk profile.</a:t>
            </a:r>
          </a:p>
          <a:p>
            <a:pPr lvl="1"/>
            <a:r>
              <a:rPr lang="en-IN" noProof="0" dirty="0" err="1"/>
              <a:t>Action:Call</a:t>
            </a:r>
            <a:r>
              <a:rPr lang="en-IN" noProof="0" dirty="0"/>
              <a:t> </a:t>
            </a:r>
            <a:r>
              <a:rPr lang="en-IN" noProof="0" dirty="0" err="1"/>
              <a:t>getCustomerProfile</a:t>
            </a:r>
            <a:r>
              <a:rPr lang="en-IN" noProof="0" dirty="0"/>
              <a:t>(</a:t>
            </a:r>
            <a:r>
              <a:rPr lang="en-IN" noProof="0" dirty="0" err="1"/>
              <a:t>customer_id</a:t>
            </a:r>
            <a:r>
              <a:rPr lang="en-IN" noProof="0" dirty="0"/>
              <a:t>)</a:t>
            </a:r>
          </a:p>
          <a:p>
            <a:pPr lvl="1"/>
            <a:r>
              <a:rPr lang="en-IN" noProof="0" dirty="0"/>
              <a:t>Observation: Age: 38, Risk Appetite: Moderate, Investment Horizon: 10 years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Now I should compare the expected returns and risk of the available investment options.</a:t>
            </a:r>
          </a:p>
          <a:p>
            <a:pPr lvl="1"/>
            <a:r>
              <a:rPr lang="en-IN" noProof="0" dirty="0"/>
              <a:t>Action: Call </a:t>
            </a:r>
            <a:r>
              <a:rPr lang="en-IN" noProof="0" dirty="0" err="1"/>
              <a:t>getInvestmentOptions</a:t>
            </a:r>
            <a:r>
              <a:rPr lang="en-IN" noProof="0" dirty="0"/>
              <a:t>(["Equity Mutual Fund",      "Fixed Deposit",      "Balanced Fund"])</a:t>
            </a:r>
          </a:p>
          <a:p>
            <a:pPr lvl="1"/>
            <a:r>
              <a:rPr lang="en-IN" noProof="0" dirty="0"/>
              <a:t>Observation: Equity Mutual Fund: Expected Return: 12%  Risk: High; Fixed Deposit: Expected Return: 7% Risk: Low; Balanced Fund: Expected Return: 10% Risk: Medium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The customer has a moderate risk appetite and a long investment horizon. A balanced fund provides a good balance between growth and risk.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Final Answer: Based on your moderate risk profile and 10-year investment horizon, a Balanced Fund is the most suitable option. It offers better growth potential than a Fixed Deposit while exposing you to less risk than an Equity Mutual Fund.</a:t>
            </a:r>
          </a:p>
          <a:p>
            <a:pPr lvl="1"/>
            <a:endParaRPr lang="en-IN" dirty="0"/>
          </a:p>
          <a:p>
            <a:r>
              <a:rPr lang="en-US" dirty="0"/>
              <a:t>Code example: 14_advanced\03_llm_examples\prompting_techniques.py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3A4395D-3BE0-6923-3C8E-D0AA6116F4C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14_advanced/03_llm_examples/prompting_techniques.py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1190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88B8-C8FA-1766-C89B-31390380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DD739-B82F-219A-6C0D-AC489A42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b="1" dirty="0"/>
              <a:t>Tool calling</a:t>
            </a:r>
            <a:r>
              <a:rPr lang="en-GB" dirty="0"/>
              <a:t>: Allows an LLM to request the execution of an external function/tool</a:t>
            </a:r>
          </a:p>
          <a:p>
            <a:pPr lvl="0"/>
            <a:r>
              <a:rPr lang="en-GB" dirty="0"/>
              <a:t>The LLM does not execute the function itself, it just generates a tool call</a:t>
            </a:r>
          </a:p>
          <a:p>
            <a:r>
              <a:rPr lang="en-GB" dirty="0"/>
              <a:t>The application/agent executes the tool </a:t>
            </a:r>
          </a:p>
          <a:p>
            <a:r>
              <a:rPr lang="en-GB" dirty="0"/>
              <a:t>Example</a:t>
            </a:r>
          </a:p>
          <a:p>
            <a:pPr lvl="1"/>
            <a:r>
              <a:rPr lang="en-GB" dirty="0"/>
              <a:t>User: </a:t>
            </a:r>
            <a:r>
              <a:rPr lang="en-GB" i="1" dirty="0"/>
              <a:t>“Find the most downloaded Project Gutenberg book by Jane Austen”</a:t>
            </a:r>
            <a:endParaRPr lang="en-GB" dirty="0"/>
          </a:p>
          <a:p>
            <a:pPr lvl="1"/>
            <a:r>
              <a:rPr lang="en-GB" dirty="0"/>
              <a:t>The LLM realizes that it needs to search an external book </a:t>
            </a:r>
            <a:r>
              <a:rPr lang="en-GB" dirty="0" err="1"/>
              <a:t>catalog</a:t>
            </a:r>
            <a:r>
              <a:rPr lang="en-GB" dirty="0"/>
              <a:t> and requests: </a:t>
            </a:r>
            <a:r>
              <a:rPr lang="en-GB" dirty="0" err="1"/>
              <a:t>search_gutenberg_books</a:t>
            </a:r>
            <a:r>
              <a:rPr lang="en-GB" dirty="0"/>
              <a:t>(query="Jane Austen")</a:t>
            </a:r>
          </a:p>
          <a:p>
            <a:r>
              <a:rPr lang="en-GB" dirty="0"/>
              <a:t>Summary: LLM can generate text but cannot (1) Query an API, (2) Send an email, (3) Read a company’s database, (4) Run local function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736F4E2-8A0E-B01B-A7ED-5023E62459C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14_advanced/06_langchain_agents/tool_calling.py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8784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A33F-8B79-850F-95E2-F7CF92A9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in </a:t>
            </a:r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6AE9-24F6-03DE-F976-D247596B3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Define a tool</a:t>
            </a:r>
          </a:p>
          <a:p>
            <a:pPr marL="457200" lvl="1" indent="0">
              <a:buNone/>
            </a:pPr>
            <a:r>
              <a:rPr lang="en-IN" dirty="0"/>
              <a:t>from </a:t>
            </a:r>
            <a:r>
              <a:rPr lang="en-IN" dirty="0" err="1"/>
              <a:t>langchain_core.tools</a:t>
            </a:r>
            <a:r>
              <a:rPr lang="en-IN" dirty="0"/>
              <a:t> import tool</a:t>
            </a:r>
          </a:p>
          <a:p>
            <a:pPr marL="457200" lvl="1" indent="0">
              <a:buNone/>
            </a:pPr>
            <a:r>
              <a:rPr lang="en-IN" b="1" dirty="0"/>
              <a:t>@tool</a:t>
            </a:r>
          </a:p>
          <a:p>
            <a:pPr marL="457200" lvl="1" indent="0">
              <a:buNone/>
            </a:pPr>
            <a:r>
              <a:rPr lang="en-IN" dirty="0"/>
              <a:t>def </a:t>
            </a:r>
            <a:r>
              <a:rPr lang="en-IN" dirty="0" err="1"/>
              <a:t>search_gutenberg_books</a:t>
            </a:r>
            <a:r>
              <a:rPr lang="en-IN" dirty="0"/>
              <a:t>(query: str) -&gt; str:</a:t>
            </a:r>
          </a:p>
          <a:p>
            <a:pPr marL="457200" lvl="1" indent="0">
              <a:buNone/>
            </a:pPr>
            <a:r>
              <a:rPr lang="en-IN" dirty="0"/>
              <a:t>    """Search Project Gutenberg books."""</a:t>
            </a:r>
          </a:p>
          <a:p>
            <a:pPr marL="457200" lvl="1" indent="0">
              <a:buNone/>
            </a:pPr>
            <a:r>
              <a:rPr lang="en-IN" dirty="0"/>
              <a:t>    ...</a:t>
            </a:r>
          </a:p>
          <a:p>
            <a:r>
              <a:rPr lang="en-IN" noProof="0" dirty="0"/>
              <a:t>Binding a tool to an LLM</a:t>
            </a:r>
          </a:p>
          <a:p>
            <a:pPr marL="457200" lvl="1" indent="0">
              <a:buNone/>
            </a:pPr>
            <a:r>
              <a:rPr lang="en-IN" dirty="0"/>
              <a:t>tools = [</a:t>
            </a:r>
            <a:r>
              <a:rPr lang="en-IN" dirty="0" err="1"/>
              <a:t>search_gutenberg_books</a:t>
            </a:r>
            <a:r>
              <a:rPr lang="en-IN" dirty="0"/>
              <a:t>]</a:t>
            </a:r>
            <a:endParaRPr lang="en-IN" noProof="0" dirty="0"/>
          </a:p>
          <a:p>
            <a:pPr marL="457200" lvl="1" indent="0">
              <a:buNone/>
            </a:pPr>
            <a:r>
              <a:rPr lang="en-US" dirty="0" err="1"/>
              <a:t>llm_with_tools</a:t>
            </a:r>
            <a:r>
              <a:rPr lang="en-US" dirty="0"/>
              <a:t> = </a:t>
            </a:r>
            <a:r>
              <a:rPr lang="en-US" dirty="0" err="1"/>
              <a:t>llm.bind_tools</a:t>
            </a:r>
            <a:r>
              <a:rPr lang="en-US" dirty="0"/>
              <a:t>(tools)</a:t>
            </a:r>
          </a:p>
          <a:p>
            <a:r>
              <a:rPr lang="en-US" dirty="0"/>
              <a:t>Code: tool_calling.py</a:t>
            </a:r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A284D69-83BF-235D-2512-4C0F71F3D81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14_advanced/06_langchain_agents/tool_calling.py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26600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70EB-C905-BB18-3BC1-FD8C3A9C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</a:t>
            </a:r>
            <a:r>
              <a:rPr lang="en-IN" dirty="0" err="1"/>
              <a:t>Pydantic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A49D-2A88-2E31-AEB7-C6DDADE7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Pydantic</a:t>
            </a:r>
            <a:r>
              <a:rPr lang="en-IN" dirty="0"/>
              <a:t> ensures that inputs/outputs to or from the LLM are as per some specific schema</a:t>
            </a:r>
          </a:p>
          <a:p>
            <a:r>
              <a:rPr lang="en-GB" dirty="0"/>
              <a:t> TOOL -&gt; </a:t>
            </a:r>
            <a:r>
              <a:rPr lang="en-GB" dirty="0" err="1"/>
              <a:t>Pydantic</a:t>
            </a:r>
            <a:r>
              <a:rPr lang="en-GB" dirty="0"/>
              <a:t> Schema -&gt; LLM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C:\code\agenticai\14_advanced\06_langchain_agents\tool_calling_pydantic.py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7B552D6-6F30-2E4B-EC0B-D3730F14DAD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14_advanced/06_langchain_agents/tool_calling_pydantic.py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9373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BAAB-AB7B-639B-D024-0D67C74C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AgentExecutor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3C59-86C1-449B-57B2-216C0CC0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1669" cy="4351338"/>
          </a:xfrm>
        </p:spPr>
        <p:txBody>
          <a:bodyPr>
            <a:normAutofit fontScale="70000" lnSpcReduction="20000"/>
          </a:bodyPr>
          <a:lstStyle/>
          <a:p>
            <a:r>
              <a:rPr lang="en-IN" b="1" noProof="0" dirty="0" err="1"/>
              <a:t>AgentExecutor</a:t>
            </a:r>
            <a:r>
              <a:rPr lang="en-IN" noProof="0" dirty="0"/>
              <a:t>: Runtime engine that manages an AI agent</a:t>
            </a:r>
          </a:p>
          <a:p>
            <a:r>
              <a:rPr lang="en-IN" noProof="0" dirty="0"/>
              <a:t>Without it, </a:t>
            </a:r>
            <a:r>
              <a:rPr lang="en-GB" dirty="0"/>
              <a:t>we have to manually wire together the reasoning loop ourself</a:t>
            </a:r>
          </a:p>
          <a:p>
            <a:pPr lvl="0"/>
            <a:r>
              <a:rPr lang="en-GB" dirty="0"/>
              <a:t>An LLM alone can only generate text — it cannot </a:t>
            </a:r>
          </a:p>
          <a:p>
            <a:pPr lvl="1"/>
            <a:r>
              <a:rPr lang="en-GB" dirty="0"/>
              <a:t>Call a tool and get the result back</a:t>
            </a:r>
          </a:p>
          <a:p>
            <a:pPr lvl="1"/>
            <a:r>
              <a:rPr lang="en-GB" dirty="0"/>
              <a:t>Feed that result back into the next reasoning step</a:t>
            </a:r>
          </a:p>
          <a:p>
            <a:pPr lvl="1"/>
            <a:r>
              <a:rPr lang="en-GB" dirty="0"/>
              <a:t>Know when to stop and return an answer instead of looping forever</a:t>
            </a:r>
          </a:p>
          <a:p>
            <a:pPr lvl="0"/>
            <a:r>
              <a:rPr lang="en-GB" dirty="0" err="1"/>
              <a:t>AgentExecutor</a:t>
            </a:r>
            <a:r>
              <a:rPr lang="en-GB" dirty="0"/>
              <a:t> automates this cycle so we do not have to hand-code it every time</a:t>
            </a:r>
            <a:endParaRPr lang="en-IN" noProof="0" dirty="0"/>
          </a:p>
          <a:p>
            <a:r>
              <a:rPr lang="en-IN" noProof="0" dirty="0"/>
              <a:t>Think of it as the </a:t>
            </a:r>
            <a:r>
              <a:rPr lang="en-IN" b="1" noProof="0" dirty="0"/>
              <a:t>orchestrator</a:t>
            </a:r>
            <a:r>
              <a:rPr lang="en-IN" noProof="0" dirty="0"/>
              <a:t> that coordinates all agent activities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435BC-49E8-CFA5-A045-DECB2AD2DCF8}"/>
              </a:ext>
            </a:extLst>
          </p:cNvPr>
          <p:cNvSpPr txBox="1"/>
          <p:nvPr/>
        </p:nvSpPr>
        <p:spPr>
          <a:xfrm>
            <a:off x="4907048" y="656135"/>
            <a:ext cx="68405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run: </a:t>
            </a:r>
            <a:r>
              <a:rPr lang="en-US" dirty="0"/>
              <a:t>agent_executor_serp_gutenberg.py</a:t>
            </a:r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1: </a:t>
            </a:r>
            <a:r>
              <a:rPr lang="en-GB" dirty="0" err="1"/>
              <a:t>AgentExecutor</a:t>
            </a:r>
            <a:r>
              <a:rPr lang="en-GB" dirty="0"/>
              <a:t> sends the question to the model; the model doesn't answer yet, instead it returns a tool call — </a:t>
            </a:r>
            <a:r>
              <a:rPr lang="en-GB" dirty="0" err="1"/>
              <a:t>serp_search</a:t>
            </a:r>
            <a:r>
              <a:rPr lang="en-GB" dirty="0"/>
              <a:t>(query="who wrote Pride and Prejudice").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Executor runs the tool: Not the model. </a:t>
            </a:r>
            <a:r>
              <a:rPr lang="en-GB" dirty="0" err="1"/>
              <a:t>AgentExecutor</a:t>
            </a:r>
            <a:r>
              <a:rPr lang="en-GB" dirty="0"/>
              <a:t> looks up </a:t>
            </a:r>
            <a:r>
              <a:rPr lang="en-GB" dirty="0" err="1"/>
              <a:t>serp_search</a:t>
            </a:r>
            <a:r>
              <a:rPr lang="en-GB" dirty="0"/>
              <a:t>, executes it, and gets back the web search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Result feeds back into context: The (tool call, tool result) pair is appended to </a:t>
            </a:r>
            <a:r>
              <a:rPr lang="en-GB" dirty="0" err="1"/>
              <a:t>agent_scratchpad</a:t>
            </a:r>
            <a:r>
              <a:rPr lang="en-GB" dirty="0"/>
              <a:t>, and the executor loops back to the 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2: Now seeing the search results, the model spots "Jane Austen" but still is not done — it fires a second tool call, </a:t>
            </a:r>
            <a:r>
              <a:rPr lang="en-GB" dirty="0" err="1"/>
              <a:t>search_gutenberg_books</a:t>
            </a:r>
            <a:r>
              <a:rPr lang="en-GB" dirty="0"/>
              <a:t>(query="Jane Austen"). Executor runs it, appends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3: With both tool results in context, the model finally returns plain text instead of a tool call — this is an </a:t>
            </a:r>
            <a:r>
              <a:rPr lang="en-GB" dirty="0" err="1"/>
              <a:t>AgentFinish</a:t>
            </a:r>
            <a:r>
              <a:rPr lang="en-GB" dirty="0"/>
              <a:t>, which ends the loop.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Final output: </a:t>
            </a:r>
            <a:r>
              <a:rPr lang="en-GB" dirty="0" err="1"/>
              <a:t>agent_executor.invoke</a:t>
            </a:r>
            <a:r>
              <a:rPr lang="en-GB" dirty="0"/>
              <a:t>(...) returns that text as result["output"], printed as the final answer.</a:t>
            </a:r>
          </a:p>
          <a:p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01CCA00B-8B46-FA58-6E20-EB877FC06FE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14_advanced/06_langchain_agents/agent_executor_serp_gutenberg.py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0105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6B5-58B1-8C67-3DF1-D44A85C7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D366-BF25-2EEE-46E5-0EB4E737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ReAct</a:t>
            </a:r>
            <a:r>
              <a:rPr lang="en-IN" noProof="0" dirty="0"/>
              <a:t> -&gt; </a:t>
            </a:r>
            <a:r>
              <a:rPr lang="en-IN" b="1" noProof="0" dirty="0"/>
              <a:t>Re</a:t>
            </a:r>
            <a:r>
              <a:rPr lang="en-IN" noProof="0" dirty="0"/>
              <a:t> = Reasoning, </a:t>
            </a:r>
            <a:r>
              <a:rPr lang="en-IN" b="1" noProof="0" dirty="0"/>
              <a:t>Act</a:t>
            </a:r>
            <a:r>
              <a:rPr lang="en-IN" noProof="0" dirty="0"/>
              <a:t> = Acting </a:t>
            </a:r>
          </a:p>
          <a:p>
            <a:r>
              <a:rPr lang="en-IN" noProof="0" dirty="0"/>
              <a:t>Instead of immediately answering a question, the AI agent:</a:t>
            </a:r>
          </a:p>
          <a:p>
            <a:pPr lvl="1"/>
            <a:r>
              <a:rPr lang="en-IN" noProof="0" dirty="0"/>
              <a:t>Thinks about the problem </a:t>
            </a:r>
          </a:p>
          <a:p>
            <a:pPr lvl="1"/>
            <a:r>
              <a:rPr lang="en-IN" noProof="0" dirty="0"/>
              <a:t>Decides which tool to use </a:t>
            </a:r>
          </a:p>
          <a:p>
            <a:pPr lvl="1"/>
            <a:r>
              <a:rPr lang="en-IN" noProof="0" dirty="0"/>
              <a:t>Executes the tool </a:t>
            </a:r>
          </a:p>
          <a:p>
            <a:pPr lvl="1"/>
            <a:r>
              <a:rPr lang="en-IN" noProof="0" dirty="0"/>
              <a:t>Observes the result </a:t>
            </a:r>
          </a:p>
          <a:p>
            <a:pPr lvl="1"/>
            <a:r>
              <a:rPr lang="en-IN" noProof="0" dirty="0"/>
              <a:t>Thinks again </a:t>
            </a:r>
          </a:p>
          <a:p>
            <a:pPr lvl="1"/>
            <a:r>
              <a:rPr lang="en-IN" noProof="0" dirty="0"/>
              <a:t>Repeats until the goal is achieved</a:t>
            </a:r>
          </a:p>
          <a:p>
            <a:r>
              <a:rPr lang="en-IN" noProof="0" dirty="0"/>
              <a:t>The </a:t>
            </a:r>
            <a:r>
              <a:rPr lang="en-IN" noProof="0" dirty="0" err="1"/>
              <a:t>ReAct</a:t>
            </a:r>
            <a:r>
              <a:rPr lang="en-IN" noProof="0" dirty="0"/>
              <a:t> Loop: Thought → Action → Observation → Thought → Action → Observation → Answer</a:t>
            </a:r>
          </a:p>
          <a:p>
            <a:r>
              <a:rPr lang="en-IN" noProof="0" dirty="0"/>
              <a:t>C:\code\agenticai\14_advanced\06_langchain_agents\react_agent_web_search_python_repl.py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60AC910-5DCF-8DBC-99AD-07EA4F52A13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14_advanced/06_langchain_agents/react_agent_web_search_python_repl.py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3068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9D020-9DC4-F1D1-9665-1A8569FD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A68-587D-4820-2F3E-59AB1936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Plan-and-Execute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3F1-B644-7202-FF18-3800AF42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Plan-and-Execute</a:t>
            </a:r>
            <a:r>
              <a:rPr lang="en-IN" noProof="0" dirty="0"/>
              <a:t>: Separates an AI agent's work into two distinct phases</a:t>
            </a:r>
          </a:p>
          <a:p>
            <a:pPr lvl="1"/>
            <a:r>
              <a:rPr lang="en-IN" b="1" noProof="0" dirty="0"/>
              <a:t>Planning</a:t>
            </a:r>
            <a:r>
              <a:rPr lang="en-IN" noProof="0" dirty="0"/>
              <a:t> – Create a complete plan to achieve the goal</a:t>
            </a:r>
          </a:p>
          <a:p>
            <a:pPr lvl="1"/>
            <a:r>
              <a:rPr lang="en-IN" b="1" noProof="0" dirty="0"/>
              <a:t>Execution</a:t>
            </a:r>
            <a:r>
              <a:rPr lang="en-IN" noProof="0" dirty="0"/>
              <a:t> – Carry out each step in the plan</a:t>
            </a:r>
          </a:p>
          <a:p>
            <a:r>
              <a:rPr lang="en-IN" noProof="0" dirty="0"/>
              <a:t>Instead of deciding the next action after every observation (as in </a:t>
            </a:r>
            <a:r>
              <a:rPr lang="en-IN" noProof="0" dirty="0" err="1"/>
              <a:t>ReAct</a:t>
            </a:r>
            <a:r>
              <a:rPr lang="en-IN" noProof="0" dirty="0"/>
              <a:t>), the agent first develops an overall strategy</a:t>
            </a:r>
          </a:p>
          <a:p>
            <a:r>
              <a:rPr lang="en-IN" noProof="0" dirty="0"/>
              <a:t>Goal → Planner → Execution Plan → Executor → Step 1 → Step 2 → Step 3 → Final Answer</a:t>
            </a:r>
          </a:p>
          <a:p>
            <a:r>
              <a:rPr lang="en-IN" noProof="0" dirty="0"/>
              <a:t>Each step itself is a </a:t>
            </a:r>
            <a:r>
              <a:rPr lang="en-IN" noProof="0" dirty="0" err="1"/>
              <a:t>ReAct</a:t>
            </a:r>
            <a:r>
              <a:rPr lang="en-IN" noProof="0" dirty="0"/>
              <a:t> loop internally</a:t>
            </a:r>
          </a:p>
          <a:p>
            <a:r>
              <a:rPr lang="en-IN" noProof="0" dirty="0"/>
              <a:t>14_advanced\06_langchain_agents\plan_and_execute_agent.py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3E33334-E629-59A2-E9B1-C082942FEFE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14_advanced/06_langchain_agents/plan_and_execute_agent.py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664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7F49-65E5-ABF5-AC66-C4E5C7AA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SQLDatabaseToolkit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A22-28AC-47AC-20E9-B5919408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noProof="0" dirty="0" err="1"/>
              <a:t>SQLDatabaseToolkit</a:t>
            </a:r>
            <a:r>
              <a:rPr lang="en-IN" noProof="0" dirty="0"/>
              <a:t>: Connects an LLM to a SQL database</a:t>
            </a:r>
          </a:p>
          <a:p>
            <a:pPr lvl="0"/>
            <a:r>
              <a:rPr lang="en-GB" dirty="0"/>
              <a:t>Allows an LLM-powered agent to work with relational databases </a:t>
            </a:r>
          </a:p>
          <a:p>
            <a:pPr lvl="0"/>
            <a:r>
              <a:rPr lang="en-GB" dirty="0"/>
              <a:t>Can inspect database structure, Generate SQL queries, Execute SQL queries, </a:t>
            </a:r>
            <a:r>
              <a:rPr lang="en-GB" dirty="0" err="1"/>
              <a:t>Analyze</a:t>
            </a:r>
            <a:r>
              <a:rPr lang="en-GB" dirty="0"/>
              <a:t> query results, Correct SQL when a query fails</a:t>
            </a:r>
          </a:p>
          <a:p>
            <a:r>
              <a:rPr lang="en-GB" dirty="0"/>
              <a:t>Natural Language → Database Query → Answer</a:t>
            </a:r>
          </a:p>
          <a:p>
            <a:r>
              <a:rPr lang="en-GB" noProof="0" dirty="0"/>
              <a:t>Example: </a:t>
            </a:r>
            <a:r>
              <a:rPr lang="en-GB" dirty="0"/>
              <a:t>“Which department has the highest average salary?”</a:t>
            </a:r>
          </a:p>
          <a:p>
            <a:pPr lvl="1"/>
            <a:r>
              <a:rPr lang="en-GB" dirty="0"/>
              <a:t>Agent can determine the appropriate SQL, execute it, and explain the result</a:t>
            </a:r>
          </a:p>
          <a:p>
            <a:r>
              <a:rPr lang="en-IN" noProof="0" dirty="0"/>
              <a:t>Provides four important tools</a:t>
            </a:r>
          </a:p>
          <a:p>
            <a:pPr marL="457200" lvl="1" indent="0">
              <a:buNone/>
            </a:pPr>
            <a:r>
              <a:rPr lang="en-GB" dirty="0"/>
              <a:t>1. </a:t>
            </a:r>
            <a:r>
              <a:rPr lang="en-GB" dirty="0" err="1"/>
              <a:t>sql_db_list_tables</a:t>
            </a:r>
            <a:r>
              <a:rPr lang="en-GB" dirty="0"/>
              <a:t>: Lists the tables available in the database</a:t>
            </a:r>
          </a:p>
          <a:p>
            <a:pPr marL="457200" lvl="1" indent="0">
              <a:buNone/>
            </a:pPr>
            <a:r>
              <a:rPr lang="en-GB" dirty="0"/>
              <a:t>2. </a:t>
            </a:r>
            <a:r>
              <a:rPr lang="en-GB" dirty="0" err="1"/>
              <a:t>sql_db_schema</a:t>
            </a:r>
            <a:r>
              <a:rPr lang="en-GB" dirty="0"/>
              <a:t>: Provides schema information for selected tables</a:t>
            </a:r>
          </a:p>
          <a:p>
            <a:pPr marL="457200" lvl="1" indent="0">
              <a:buNone/>
            </a:pPr>
            <a:r>
              <a:rPr lang="en-GB" dirty="0"/>
              <a:t>3. </a:t>
            </a:r>
            <a:r>
              <a:rPr lang="en-GB" dirty="0" err="1"/>
              <a:t>sql_db_query</a:t>
            </a:r>
            <a:r>
              <a:rPr lang="en-GB" dirty="0"/>
              <a:t>: Executes a SQL query</a:t>
            </a:r>
          </a:p>
          <a:p>
            <a:pPr marL="457200" lvl="1" indent="0">
              <a:buNone/>
            </a:pPr>
            <a:r>
              <a:rPr lang="en-GB" dirty="0"/>
              <a:t>4. </a:t>
            </a:r>
            <a:r>
              <a:rPr lang="en-GB" dirty="0" err="1"/>
              <a:t>sql_db_query_checker</a:t>
            </a:r>
            <a:r>
              <a:rPr lang="en-GB" dirty="0"/>
              <a:t>: Checks a SQL query for possible problems before execution</a:t>
            </a:r>
            <a:endParaRPr lang="en-IN" noProof="0" dirty="0"/>
          </a:p>
          <a:p>
            <a:r>
              <a:rPr lang="en-IN" noProof="0" dirty="0"/>
              <a:t>C:\code\agenticai\14_advanced\06_langchain_agents\sql_database_toolkit_agent.py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DFF84EE-19C5-190B-AB66-AF862088544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14_advanced/06_langchain_agents/sql_database_toolkit_agent.py, 14_advanced/03_llm_examples/sales_db_agent.py (create_sales_db.py first)</a:t>
            </a:r>
          </a:p>
        </p:txBody>
      </p:sp>
    </p:spTree>
    <p:extLst>
      <p:ext uri="{BB962C8B-B14F-4D97-AF65-F5344CB8AC3E}">
        <p14:creationId xmlns:p14="http://schemas.microsoft.com/office/powerpoint/2010/main" val="29629976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89571-C885-4022-1C79-0F62A208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06E7-5B76-58EE-FAC9-97B1F9C6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Multi-Step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11FD-E5E2-0B70-11DF-4C1AC1BFE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7250" cy="4351338"/>
          </a:xfrm>
        </p:spPr>
        <p:txBody>
          <a:bodyPr>
            <a:normAutofit fontScale="92500"/>
          </a:bodyPr>
          <a:lstStyle/>
          <a:p>
            <a:r>
              <a:rPr lang="en-IN" noProof="0" dirty="0"/>
              <a:t>Why needed? </a:t>
            </a:r>
          </a:p>
          <a:p>
            <a:pPr lvl="1"/>
            <a:r>
              <a:rPr lang="en-IN" noProof="0" dirty="0"/>
              <a:t>Book the cheapest flight and email me the ticket</a:t>
            </a:r>
          </a:p>
          <a:p>
            <a:r>
              <a:rPr lang="en-IN" noProof="0" dirty="0"/>
              <a:t>One tool cannot do this</a:t>
            </a:r>
          </a:p>
          <a:p>
            <a:r>
              <a:rPr lang="en-IN" noProof="0" dirty="0"/>
              <a:t>Tool chaining: Tool 1 → Output → Tool 2 → Output → Tool 3 -&gt; Final Output</a:t>
            </a:r>
          </a:p>
          <a:p>
            <a:r>
              <a:rPr lang="en-US" dirty="0"/>
              <a:t>C:\code\agenticai\14_advanced\06_langchain_agents\chaining_tool_outputs_flask.py -&gt; Calls C:\code\agenticai\14_advanced\06_langchain_agents\chaining_tool_outputs.py</a:t>
            </a:r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8E27E-0D1F-F4B9-439B-6ED2ED8E5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21" y="1294027"/>
            <a:ext cx="3839111" cy="4563112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9134CD0F-86E3-73EE-47A6-8F6681F342B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14_advanced/06_langchain_agents/chaining_tool_outputs.py, chaining_tool_outputs_flask.py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05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A1F318-66FE-2AF6-1D8D-40785B65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Tool-Augmented Research Agent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0A784A-31FE-A317-E91B-5315F427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SERP API for researching on the specified topic</a:t>
            </a:r>
          </a:p>
          <a:p>
            <a:r>
              <a:rPr lang="en-US" dirty="0"/>
              <a:t>If the topic is recent, try date-based search</a:t>
            </a:r>
          </a:p>
          <a:p>
            <a:r>
              <a:rPr lang="en-US" dirty="0"/>
              <a:t>For specific topics, retrieve more details using Python </a:t>
            </a:r>
            <a:r>
              <a:rPr lang="en-US" dirty="0" err="1"/>
              <a:t>BeautifulSoup</a:t>
            </a:r>
            <a:r>
              <a:rPr lang="en-US" dirty="0"/>
              <a:t> library</a:t>
            </a:r>
          </a:p>
          <a:p>
            <a:r>
              <a:rPr lang="en-US" dirty="0"/>
              <a:t>C:\code\agenticai\15_real\research_agent_tools.py</a:t>
            </a:r>
            <a:endParaRPr lang="en-GB" dirty="0"/>
          </a:p>
        </p:txBody>
      </p:sp>
      <p:sp>
        <p:nvSpPr>
          <p:cNvPr id="2" name="DemoCallout">
            <a:extLst>
              <a:ext uri="{FF2B5EF4-FFF2-40B4-BE49-F238E27FC236}">
                <a16:creationId xmlns:a16="http://schemas.microsoft.com/office/drawing/2014/main" id="{CE935C84-7AAB-A7F5-D8B0-8793480F8D3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15_real/research_agent_tools.py, research_agent_tools_serp.py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8382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CF2D-9196-433F-0BD7-18B871277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1B05A-1DA1-3CAA-3482-6988CC37B5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LangGraph: Stateful Workflows and Routing</a:t>
            </a:r>
          </a:p>
          <a:p>
            <a:r>
              <a:rPr lang="en-US"/>
              <a:t>Sat 1-Nov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1922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0492-5476-EDE9-8569-E95974AB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4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8FDF0-3501-15F5-9FB8-702C9E257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Why LangGraph (LangChain vs LangGraph)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Core components: State, nodes, edges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Building the first graph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Reducers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Conditional routing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Message graphs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Streaming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Multi-node pipelines and LangGraph Studio</a:t>
            </a:r>
          </a:p>
        </p:txBody>
      </p:sp>
    </p:spTree>
    <p:extLst>
      <p:ext uri="{BB962C8B-B14F-4D97-AF65-F5344CB8AC3E}">
        <p14:creationId xmlns:p14="http://schemas.microsoft.com/office/powerpoint/2010/main" val="169396471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784" y="351473"/>
            <a:ext cx="10122432" cy="1276001"/>
          </a:xfrm>
        </p:spPr>
        <p:txBody>
          <a:bodyPr>
            <a:normAutofit/>
          </a:bodyPr>
          <a:lstStyle/>
          <a:p>
            <a:r>
              <a:rPr lang="en-US" sz="4200" noProof="0" dirty="0"/>
              <a:t>Evolution of Approaches to Work with LLMs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427731"/>
              </p:ext>
            </p:extLst>
          </p:nvPr>
        </p:nvGraphicFramePr>
        <p:xfrm>
          <a:off x="846087" y="1505094"/>
          <a:ext cx="10569256" cy="4514928"/>
        </p:xfrm>
        <a:graphic>
          <a:graphicData uri="http://schemas.openxmlformats.org/drawingml/2006/table">
            <a:tbl>
              <a:tblPr/>
              <a:tblGrid>
                <a:gridCol w="2642314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642314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681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OOP-style (Manual)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 err="1"/>
                        <a:t>LangChain</a:t>
                      </a:r>
                      <a:r>
                        <a:rPr lang="en-US" sz="1500" b="1" noProof="0" dirty="0"/>
                        <a:t> (LCEL)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 err="1"/>
                        <a:t>LangGraph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Core idea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Functional and declarative LLM “chains” using the </a:t>
                      </a:r>
                      <a:r>
                        <a:rPr lang="en-US" sz="1500" b="1" noProof="0" dirty="0" err="1"/>
                        <a:t>LangChain</a:t>
                      </a:r>
                      <a:r>
                        <a:rPr lang="en-US" sz="1500" b="1" noProof="0" dirty="0"/>
                        <a:t> Expression Language (LCEL)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Level of abstraction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State management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Error handling / control flow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708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Reactivity / branching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070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Use case fit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4882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noProof="0" dirty="0"/>
                        <a:t>Example use case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Same, but wrapped in a </a:t>
                      </a:r>
                      <a:r>
                        <a:rPr lang="en-US" sz="1500" noProof="0" dirty="0" err="1"/>
                        <a:t>LangChain</a:t>
                      </a:r>
                      <a:r>
                        <a:rPr lang="en-US" sz="1500" noProof="0" dirty="0"/>
                        <a:t>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US" sz="15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noProof="0" dirty="0"/>
                        <a:t>Same, but modeled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63439548-AE3A-41F8-302D-3552B676282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3_langgraph/3_1_not_langgraph_langchain_instead.py</a:t>
            </a:r>
          </a:p>
        </p:txBody>
      </p:sp>
    </p:spTree>
    <p:extLst>
      <p:ext uri="{BB962C8B-B14F-4D97-AF65-F5344CB8AC3E}">
        <p14:creationId xmlns:p14="http://schemas.microsoft.com/office/powerpoint/2010/main" val="26997109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Comparison of the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openai</a:t>
            </a:r>
            <a:r>
              <a:rPr lang="en-US" sz="1200" noProof="0" dirty="0"/>
              <a:t> import OpenAI</a:t>
            </a:r>
          </a:p>
          <a:p>
            <a:r>
              <a:rPr lang="en-US" sz="1200" noProof="0" dirty="0"/>
              <a:t>client = OpenAI()</a:t>
            </a:r>
          </a:p>
          <a:p>
            <a:endParaRPr lang="en-US" sz="1200" noProof="0" dirty="0"/>
          </a:p>
          <a:p>
            <a:r>
              <a:rPr lang="en-US" sz="1200" noProof="0" dirty="0"/>
              <a:t>text =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endParaRPr lang="en-US" sz="1200" noProof="0" dirty="0"/>
          </a:p>
          <a:p>
            <a:r>
              <a:rPr lang="en-US" sz="1200" noProof="0" dirty="0"/>
              <a:t>response = </a:t>
            </a:r>
            <a:r>
              <a:rPr lang="en-US" sz="1200" noProof="0" dirty="0" err="1"/>
              <a:t>client.chat.completions.create</a:t>
            </a:r>
            <a:r>
              <a:rPr lang="en-US" sz="1200" noProof="0" dirty="0"/>
              <a:t>(</a:t>
            </a:r>
          </a:p>
          <a:p>
            <a:r>
              <a:rPr lang="en-US" sz="1200" noProof="0" dirty="0"/>
              <a:t>    model="gpt-4o-mini",</a:t>
            </a:r>
          </a:p>
          <a:p>
            <a:r>
              <a:rPr lang="en-US" sz="1200" noProof="0" dirty="0"/>
              <a:t>    messages=[{"role": "user", "content": prompt}]</a:t>
            </a:r>
          </a:p>
          <a:p>
            <a:r>
              <a:rPr lang="en-US" sz="1200" noProof="0" dirty="0"/>
              <a:t>)</a:t>
            </a:r>
          </a:p>
          <a:p>
            <a:endParaRPr lang="en-US" sz="1200" noProof="0" dirty="0"/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response.choices</a:t>
            </a:r>
            <a:r>
              <a:rPr lang="en-US" sz="1200" noProof="0" dirty="0"/>
              <a:t>[0].</a:t>
            </a:r>
            <a:r>
              <a:rPr lang="en-US" sz="1200" noProof="0" dirty="0" err="1"/>
              <a:t>message.content</a:t>
            </a:r>
            <a:r>
              <a:rPr lang="en-US" sz="12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langchain.prompts</a:t>
            </a:r>
            <a:r>
              <a:rPr lang="en-US" sz="1200" noProof="0" dirty="0"/>
              <a:t> import </a:t>
            </a:r>
            <a:r>
              <a:rPr lang="en-US" sz="1200" noProof="0" dirty="0" err="1"/>
              <a:t>PromptTemplate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langchain.schema.runnable</a:t>
            </a:r>
            <a:r>
              <a:rPr lang="en-US" sz="1200" noProof="0" dirty="0"/>
              <a:t> import </a:t>
            </a:r>
            <a:r>
              <a:rPr lang="en-US" sz="1200" noProof="0" dirty="0" err="1"/>
              <a:t>RunnableMap</a:t>
            </a:r>
            <a:r>
              <a:rPr lang="en-US" sz="1200" noProof="0" dirty="0"/>
              <a:t>, </a:t>
            </a:r>
            <a:r>
              <a:rPr lang="en-US" sz="1200" noProof="0" dirty="0" err="1"/>
              <a:t>RunnablePassthrough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PromptTemplate.from_template</a:t>
            </a:r>
            <a:r>
              <a:rPr lang="en-US" sz="1200" noProof="0" dirty="0"/>
              <a:t>("Summarize this: {text}")</a:t>
            </a:r>
          </a:p>
          <a:p>
            <a:endParaRPr lang="en-US" sz="1200" noProof="0" dirty="0"/>
          </a:p>
          <a:p>
            <a:r>
              <a:rPr lang="en-US" sz="1200" noProof="0" dirty="0"/>
              <a:t>chain = {"text": </a:t>
            </a:r>
            <a:r>
              <a:rPr lang="en-US" sz="1200" noProof="0" dirty="0" err="1"/>
              <a:t>RunnablePassthrough</a:t>
            </a:r>
            <a:r>
              <a:rPr lang="en-US" sz="1200" noProof="0" dirty="0"/>
              <a:t>()} | prompt | </a:t>
            </a:r>
            <a:r>
              <a:rPr lang="en-US" sz="1200" noProof="0" dirty="0" err="1"/>
              <a:t>llm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chain.invoke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langgraph.graph</a:t>
            </a:r>
            <a:r>
              <a:rPr lang="en-US" sz="1200" noProof="0" dirty="0"/>
              <a:t> import Graph, END</a:t>
            </a:r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endParaRPr lang="en-US" sz="1200" noProof="0" dirty="0"/>
          </a:p>
          <a:p>
            <a:r>
              <a:rPr lang="en-US" sz="1200" noProof="0" dirty="0"/>
              <a:t># Define the node (a summarization step)</a:t>
            </a:r>
          </a:p>
          <a:p>
            <a:r>
              <a:rPr lang="en-US" sz="1200" noProof="0" dirty="0"/>
              <a:t>def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(state):</a:t>
            </a:r>
          </a:p>
          <a:p>
            <a:r>
              <a:rPr lang="en-US" sz="1200" noProof="0" dirty="0"/>
              <a:t>    text = state["text"]</a:t>
            </a:r>
          </a:p>
          <a:p>
            <a:r>
              <a:rPr lang="en-US" sz="1200" noProof="0" dirty="0"/>
              <a:t>    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r>
              <a:rPr lang="en-US" sz="1200" noProof="0" dirty="0"/>
              <a:t>    result = </a:t>
            </a:r>
            <a:r>
              <a:rPr lang="en-US" sz="1200" noProof="0" dirty="0" err="1"/>
              <a:t>llm.invoke</a:t>
            </a:r>
            <a:r>
              <a:rPr lang="en-US" sz="1200" noProof="0" dirty="0"/>
              <a:t>(prompt)</a:t>
            </a:r>
          </a:p>
          <a:p>
            <a:r>
              <a:rPr lang="en-US" sz="1200" noProof="0" dirty="0"/>
              <a:t>    return {"summary": 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}</a:t>
            </a:r>
          </a:p>
          <a:p>
            <a:endParaRPr lang="en-US" sz="1200" noProof="0" dirty="0"/>
          </a:p>
          <a:p>
            <a:r>
              <a:rPr lang="en-US" sz="1200" noProof="0" dirty="0"/>
              <a:t># Build graph</a:t>
            </a:r>
          </a:p>
          <a:p>
            <a:r>
              <a:rPr lang="en-US" sz="1200" noProof="0" dirty="0"/>
              <a:t>graph = Graph()</a:t>
            </a:r>
          </a:p>
          <a:p>
            <a:r>
              <a:rPr lang="en-US" sz="1200" noProof="0" dirty="0" err="1"/>
              <a:t>graph.add_node</a:t>
            </a:r>
            <a:r>
              <a:rPr lang="en-US" sz="1200" noProof="0" dirty="0"/>
              <a:t>("summarize",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)</a:t>
            </a:r>
          </a:p>
          <a:p>
            <a:r>
              <a:rPr lang="en-US" sz="1200" noProof="0" dirty="0" err="1"/>
              <a:t>graph.set_entry_point</a:t>
            </a:r>
            <a:r>
              <a:rPr lang="en-US" sz="1200" noProof="0" dirty="0"/>
              <a:t>("summarize")</a:t>
            </a:r>
          </a:p>
          <a:p>
            <a:r>
              <a:rPr lang="en-US" sz="1200" noProof="0" dirty="0" err="1"/>
              <a:t>graph.add_edge</a:t>
            </a:r>
            <a:r>
              <a:rPr lang="en-US" sz="1200" noProof="0" dirty="0"/>
              <a:t>("summarize", END)</a:t>
            </a:r>
          </a:p>
          <a:p>
            <a:endParaRPr lang="en-US" sz="1200" noProof="0" dirty="0"/>
          </a:p>
          <a:p>
            <a:r>
              <a:rPr lang="en-US" sz="1200" noProof="0" dirty="0"/>
              <a:t># Run</a:t>
            </a:r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graph.invoke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Object-Oriented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LangChain</a:t>
            </a:r>
            <a:endParaRPr lang="en-US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LangGraph</a:t>
            </a:r>
            <a:endParaRPr lang="en-US" b="1" noProof="0" dirty="0"/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88D817D9-510B-875A-FE66-CB254B548D0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3_langgraph/3_1_not_langgraph_langchain_instead.py</a:t>
            </a:r>
          </a:p>
        </p:txBody>
      </p:sp>
    </p:spTree>
    <p:extLst>
      <p:ext uri="{BB962C8B-B14F-4D97-AF65-F5344CB8AC3E}">
        <p14:creationId xmlns:p14="http://schemas.microsoft.com/office/powerpoint/2010/main" val="42882649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768" y="0"/>
            <a:ext cx="10392465" cy="607061"/>
          </a:xfrm>
        </p:spPr>
        <p:txBody>
          <a:bodyPr>
            <a:noAutofit/>
          </a:bodyPr>
          <a:lstStyle/>
          <a:p>
            <a:r>
              <a:rPr lang="en-IN" sz="4000" noProof="0" dirty="0" err="1"/>
              <a:t>LangChain</a:t>
            </a:r>
            <a:r>
              <a:rPr lang="en-IN" sz="4000" noProof="0" dirty="0"/>
              <a:t> versus </a:t>
            </a:r>
            <a:r>
              <a:rPr lang="en-IN" sz="4000" noProof="0" dirty="0" err="1"/>
              <a:t>LangGraph</a:t>
            </a:r>
            <a:endParaRPr lang="en-IN" sz="4000" noProof="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079069"/>
              </p:ext>
            </p:extLst>
          </p:nvPr>
        </p:nvGraphicFramePr>
        <p:xfrm>
          <a:off x="981974" y="814013"/>
          <a:ext cx="10202757" cy="536161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41931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52793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08033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1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Aspect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 err="1"/>
                        <a:t>LangChain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 err="1"/>
                        <a:t>LangGraph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Purpose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Workflow type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Agents involved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State management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01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Dynamic execution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Best for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Learning curve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0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noProof="0" dirty="0"/>
                        <a:t>Relationship</a:t>
                      </a:r>
                      <a:endParaRPr lang="en-IN" sz="17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Builds on and extends </a:t>
                      </a:r>
                      <a:r>
                        <a:rPr lang="en-IN" sz="1700" noProof="0" dirty="0" err="1"/>
                        <a:t>LangChain</a:t>
                      </a:r>
                      <a:r>
                        <a:rPr lang="en-IN" sz="1700" noProof="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0B6620AC-B07D-3D11-F2BF-D22CAE76945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3_langgraph/3_1_not_langgraph_langchain_instead.py</a:t>
            </a:r>
          </a:p>
        </p:txBody>
      </p:sp>
    </p:spTree>
    <p:extLst>
      <p:ext uri="{BB962C8B-B14F-4D97-AF65-F5344CB8AC3E}">
        <p14:creationId xmlns:p14="http://schemas.microsoft.com/office/powerpoint/2010/main" val="37426958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112" y="351867"/>
            <a:ext cx="10133775" cy="1277431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LangGraph</a:t>
            </a:r>
            <a:r>
              <a:rPr lang="en-US" sz="4200" noProof="0" dirty="0"/>
              <a:t>: </a:t>
            </a:r>
            <a:br>
              <a:rPr lang="en-US" sz="4200" noProof="0" dirty="0"/>
            </a:br>
            <a:r>
              <a:rPr lang="en-US" sz="4200" noProof="0" dirty="0"/>
              <a:t>Key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>
            <a:spLocks/>
          </p:cNvSpPr>
          <p:nvPr/>
        </p:nvSpPr>
        <p:spPr>
          <a:xfrm>
            <a:off x="2382396" y="5180209"/>
            <a:ext cx="3497324" cy="88980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>
            <a:spLocks/>
          </p:cNvSpPr>
          <p:nvPr/>
        </p:nvSpPr>
        <p:spPr>
          <a:xfrm>
            <a:off x="2408087" y="2176311"/>
            <a:ext cx="3497324" cy="88980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>
            <a:spLocks/>
          </p:cNvSpPr>
          <p:nvPr/>
        </p:nvSpPr>
        <p:spPr>
          <a:xfrm>
            <a:off x="2408087" y="3971760"/>
            <a:ext cx="3497324" cy="62286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>
            <a:spLocks/>
          </p:cNvSpPr>
          <p:nvPr/>
        </p:nvSpPr>
        <p:spPr>
          <a:xfrm>
            <a:off x="5879720" y="408113"/>
            <a:ext cx="3497324" cy="62286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32274" y="1152510"/>
            <a:ext cx="3192217" cy="519749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>
            <a:spLocks/>
          </p:cNvSpPr>
          <p:nvPr/>
        </p:nvSpPr>
        <p:spPr>
          <a:xfrm>
            <a:off x="1208450" y="2354340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>
            <a:spLocks/>
          </p:cNvSpPr>
          <p:nvPr/>
        </p:nvSpPr>
        <p:spPr>
          <a:xfrm>
            <a:off x="1208450" y="4022853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>
            <a:spLocks/>
          </p:cNvSpPr>
          <p:nvPr/>
        </p:nvSpPr>
        <p:spPr>
          <a:xfrm>
            <a:off x="9491856" y="418813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>
            <a:spLocks/>
          </p:cNvSpPr>
          <p:nvPr/>
        </p:nvSpPr>
        <p:spPr>
          <a:xfrm>
            <a:off x="1219148" y="5339225"/>
            <a:ext cx="1123360" cy="5717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>
            <a:cxnSpLocks/>
          </p:cNvCxnSpPr>
          <p:nvPr/>
        </p:nvCxnSpPr>
        <p:spPr>
          <a:xfrm>
            <a:off x="5952498" y="5562977"/>
            <a:ext cx="1298253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>
            <a:spLocks/>
          </p:cNvSpPr>
          <p:nvPr/>
        </p:nvSpPr>
        <p:spPr>
          <a:xfrm>
            <a:off x="8111769" y="5266177"/>
            <a:ext cx="894652" cy="622863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700" noProof="0" dirty="0"/>
              <a:t>Final balance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23D98A10-C70A-313E-1181-249A7DAF8AC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14_advanced/07_langgraph/greeter_graph.py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15763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C626-AB83-71ED-A855-2C8CC154D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612" y="357458"/>
            <a:ext cx="10294776" cy="1297727"/>
          </a:xfrm>
        </p:spPr>
        <p:txBody>
          <a:bodyPr>
            <a:normAutofit/>
          </a:bodyPr>
          <a:lstStyle/>
          <a:p>
            <a:r>
              <a:rPr lang="en-IN" sz="4300" noProof="0" dirty="0"/>
              <a:t>State using </a:t>
            </a:r>
            <a:r>
              <a:rPr lang="en-IN" sz="4300" noProof="0" dirty="0" err="1"/>
              <a:t>TypeDict</a:t>
            </a:r>
            <a:endParaRPr lang="en-IN" sz="43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2E7B9-0EE0-B693-9152-FB52233AD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612" y="1787288"/>
            <a:ext cx="10294776" cy="4259961"/>
          </a:xfrm>
        </p:spPr>
        <p:txBody>
          <a:bodyPr>
            <a:normAutofit fontScale="85000" lnSpcReduction="20000"/>
          </a:bodyPr>
          <a:lstStyle/>
          <a:p>
            <a:r>
              <a:rPr lang="en-IN" sz="2700" noProof="0" dirty="0"/>
              <a:t>Unlike traditional function calls, </a:t>
            </a:r>
            <a:r>
              <a:rPr lang="en-IN" sz="2700" noProof="0" dirty="0" err="1"/>
              <a:t>LangGraph</a:t>
            </a:r>
            <a:r>
              <a:rPr lang="en-IN" sz="2700" noProof="0" dirty="0"/>
              <a:t> nodes need a common place to store information</a:t>
            </a:r>
          </a:p>
          <a:p>
            <a:r>
              <a:rPr lang="en-IN" sz="2700" noProof="0" dirty="0"/>
              <a:t>Instead of passing many variables between nodes, a shared state is passed</a:t>
            </a:r>
          </a:p>
          <a:p>
            <a:r>
              <a:rPr lang="en-IN" sz="2700" noProof="0" dirty="0" err="1"/>
              <a:t>TypedDict</a:t>
            </a:r>
            <a:r>
              <a:rPr lang="en-IN" sz="2700" noProof="0" dirty="0"/>
              <a:t>: A Python type that defines the structure of a dictionary</a:t>
            </a:r>
          </a:p>
          <a:p>
            <a:pPr marL="0" indent="0">
              <a:buNone/>
            </a:pPr>
            <a:r>
              <a:rPr lang="en-IN" sz="2700" noProof="0" dirty="0"/>
              <a:t>class </a:t>
            </a:r>
            <a:r>
              <a:rPr lang="en-IN" sz="2700" noProof="0" dirty="0" err="1"/>
              <a:t>BankState</a:t>
            </a:r>
            <a:r>
              <a:rPr lang="en-IN" sz="2700" noProof="0" dirty="0"/>
              <a:t>(</a:t>
            </a:r>
            <a:r>
              <a:rPr lang="en-IN" sz="2700" noProof="0" dirty="0" err="1"/>
              <a:t>TypedDict</a:t>
            </a:r>
            <a:r>
              <a:rPr lang="en-IN" sz="2700" noProof="0" dirty="0"/>
              <a:t>):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customer_id</a:t>
            </a:r>
            <a:r>
              <a:rPr lang="en-IN" sz="2700" noProof="0" dirty="0"/>
              <a:t>: str</a:t>
            </a:r>
          </a:p>
          <a:p>
            <a:pPr marL="0" indent="0">
              <a:buNone/>
            </a:pPr>
            <a:r>
              <a:rPr lang="en-IN" sz="2700" noProof="0" dirty="0"/>
              <a:t>    balance: float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transfer_amount</a:t>
            </a:r>
            <a:r>
              <a:rPr lang="en-IN" sz="2700" noProof="0" dirty="0"/>
              <a:t>: float</a:t>
            </a:r>
          </a:p>
          <a:p>
            <a:pPr marL="0" indent="0">
              <a:buNone/>
            </a:pPr>
            <a:r>
              <a:rPr lang="en-IN" sz="2700" noProof="0" dirty="0"/>
              <a:t>    </a:t>
            </a:r>
            <a:r>
              <a:rPr lang="en-IN" sz="2700" noProof="0" dirty="0" err="1"/>
              <a:t>transaction_id</a:t>
            </a:r>
            <a:r>
              <a:rPr lang="en-IN" sz="2700" noProof="0" dirty="0"/>
              <a:t>: str</a:t>
            </a:r>
          </a:p>
          <a:p>
            <a:r>
              <a:rPr lang="en-IN" sz="2700" noProof="0" dirty="0"/>
              <a:t>Now every node knows what fields exist</a:t>
            </a:r>
          </a:p>
          <a:p>
            <a:r>
              <a:rPr lang="en-IN" sz="2700" noProof="0" dirty="0"/>
              <a:t>A node does not return the entire state – just what it updated; </a:t>
            </a:r>
            <a:r>
              <a:rPr lang="en-IN" sz="2700" noProof="0" dirty="0" err="1"/>
              <a:t>LangGraph</a:t>
            </a:r>
            <a:r>
              <a:rPr lang="en-IN" sz="2700" noProof="0" dirty="0"/>
              <a:t> updates it in the whole state object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5D5FFD2-B9D7-17DD-908C-2007D4229CE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14_advanced/07_langgraph/greeter_graph.py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7540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TypeDict</a:t>
            </a:r>
            <a:r>
              <a:rPr lang="en-US" noProof="0" dirty="0"/>
              <a:t> Versus </a:t>
            </a:r>
            <a:r>
              <a:rPr lang="en-US" noProof="0" dirty="0" err="1"/>
              <a:t>Pydantic</a:t>
            </a:r>
            <a:r>
              <a:rPr lang="en-US" noProof="0" dirty="0"/>
              <a:t> </a:t>
            </a:r>
            <a:r>
              <a:rPr lang="en-US" noProof="0" dirty="0" err="1"/>
              <a:t>BaseModel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513676"/>
              </p:ext>
            </p:extLst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US" sz="1500" b="1" noProof="0" dirty="0"/>
                        <a:t> (from 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US" sz="1500" b="1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Runtime behavior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Static type only (checked by linters/</a:t>
                      </a:r>
                      <a:r>
                        <a:rPr lang="en-US" sz="1500" noProof="0" dirty="0" err="1"/>
                        <a:t>myPy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Validation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Automatic type conversion and 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Default values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Field aliasing and renaming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(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Nested models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Manual nesting (just </a:t>
                      </a:r>
                      <a:r>
                        <a:rPr lang="en-US" sz="1500" noProof="0" dirty="0" err="1"/>
                        <a:t>dicts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Fully supported (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 inside 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Serialization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Just a </a:t>
                      </a:r>
                      <a:r>
                        <a:rPr lang="en-US" sz="1500" noProof="0" dirty="0" err="1"/>
                        <a:t>dict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Performance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Use case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9ACBE3EC-C931-5A95-3CE3-3D675666002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2528578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16" y="351235"/>
            <a:ext cx="10115568" cy="1275136"/>
          </a:xfrm>
        </p:spPr>
        <p:txBody>
          <a:bodyPr>
            <a:noAutofit/>
          </a:bodyPr>
          <a:lstStyle/>
          <a:p>
            <a:r>
              <a:rPr lang="en-IN" sz="3500" noProof="0" dirty="0"/>
              <a:t>First </a:t>
            </a:r>
            <a:r>
              <a:rPr lang="en-IN" sz="3500" noProof="0" dirty="0" err="1"/>
              <a:t>LangGraph</a:t>
            </a:r>
            <a:r>
              <a:rPr lang="en-IN" sz="3500" noProof="0" dirty="0"/>
              <a:t> Application </a:t>
            </a:r>
            <a:r>
              <a:rPr lang="en-IN" sz="3100" noProof="0" dirty="0"/>
              <a:t>(3_1_langgraph_basic.py)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10041"/>
              </p:ext>
            </p:extLst>
          </p:nvPr>
        </p:nvGraphicFramePr>
        <p:xfrm>
          <a:off x="5784889" y="1767881"/>
          <a:ext cx="5660421" cy="2042308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376497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283924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278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289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StateGraph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The main class for building graphs in </a:t>
                      </a:r>
                      <a:r>
                        <a:rPr lang="en-IN" sz="1300" noProof="0" dirty="0" err="1"/>
                        <a:t>LangGraph</a:t>
                      </a:r>
                      <a:endParaRPr lang="en-IN" sz="13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/>
                        <a:t>START / END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ChatOpenAI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The OpenAI integration from </a:t>
                      </a:r>
                      <a:r>
                        <a:rPr lang="en-IN" sz="1300" noProof="0" dirty="0" err="1"/>
                        <a:t>LangChain</a:t>
                      </a:r>
                      <a:r>
                        <a:rPr lang="en-IN" sz="1300" noProof="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69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noProof="0" dirty="0" err="1"/>
                        <a:t>TypedDict</a:t>
                      </a:r>
                      <a:endParaRPr lang="en-IN" sz="13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noProof="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>
            <a:spLocks/>
          </p:cNvSpPr>
          <p:nvPr/>
        </p:nvSpPr>
        <p:spPr>
          <a:xfrm>
            <a:off x="395295" y="2303114"/>
            <a:ext cx="5307902" cy="710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IN" sz="13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3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>
            <a:spLocks/>
          </p:cNvSpPr>
          <p:nvPr/>
        </p:nvSpPr>
        <p:spPr>
          <a:xfrm>
            <a:off x="395294" y="4437242"/>
            <a:ext cx="5307902" cy="9178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>
            <a:spLocks/>
          </p:cNvSpPr>
          <p:nvPr/>
        </p:nvSpPr>
        <p:spPr>
          <a:xfrm>
            <a:off x="5784888" y="4129489"/>
            <a:ext cx="5660421" cy="2220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noProof="0" dirty="0" err="1"/>
              <a:t>LangGraph</a:t>
            </a:r>
            <a:r>
              <a:rPr lang="en-IN" sz="1700" noProof="0" dirty="0"/>
              <a:t> uses a </a:t>
            </a:r>
            <a:r>
              <a:rPr lang="en-IN" sz="1700" noProof="0" dirty="0">
                <a:solidFill>
                  <a:srgbClr val="FF0000"/>
                </a:solidFill>
              </a:rPr>
              <a:t>state-based architecture</a:t>
            </a:r>
            <a:r>
              <a:rPr lang="en-IN" sz="1700" noProof="0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IN" sz="1700" noProof="0" dirty="0"/>
          </a:p>
          <a:p>
            <a:r>
              <a:rPr lang="en-IN" sz="1700" noProof="0" dirty="0" err="1"/>
              <a:t>user_name</a:t>
            </a:r>
            <a:r>
              <a:rPr lang="en-IN" sz="1700" noProof="0" dirty="0"/>
              <a:t>: Stores the user's name</a:t>
            </a:r>
          </a:p>
          <a:p>
            <a:r>
              <a:rPr lang="en-IN" sz="1700" noProof="0" dirty="0"/>
              <a:t>greeting: Stores the generated greeting message</a:t>
            </a:r>
          </a:p>
          <a:p>
            <a:r>
              <a:rPr lang="en-IN" sz="1700" noProof="0" dirty="0"/>
              <a:t>messages: Keeps a log of the conversation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0F7CBE77-11C6-7C3A-7850-DBD919EDA40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362828829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28" y="349137"/>
            <a:ext cx="10055144" cy="1267519"/>
          </a:xfrm>
        </p:spPr>
        <p:txBody>
          <a:bodyPr>
            <a:noAutofit/>
          </a:bodyPr>
          <a:lstStyle/>
          <a:p>
            <a:r>
              <a:rPr lang="en-IN" sz="3400" noProof="0" dirty="0"/>
              <a:t>First </a:t>
            </a:r>
            <a:r>
              <a:rPr lang="en-IN" sz="3400" noProof="0" dirty="0" err="1"/>
              <a:t>LangGraph</a:t>
            </a:r>
            <a:r>
              <a:rPr lang="en-IN" sz="3400" noProof="0" dirty="0"/>
              <a:t> Application </a:t>
            </a:r>
            <a:r>
              <a:rPr lang="en-IN" sz="3100" noProof="0" dirty="0"/>
              <a:t>(3_1_langgraph_basic.py)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>
            <a:spLocks/>
          </p:cNvSpPr>
          <p:nvPr/>
        </p:nvSpPr>
        <p:spPr>
          <a:xfrm>
            <a:off x="449372" y="1549123"/>
            <a:ext cx="5276196" cy="2148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>
            <a:spLocks/>
          </p:cNvSpPr>
          <p:nvPr/>
        </p:nvSpPr>
        <p:spPr>
          <a:xfrm>
            <a:off x="5780074" y="1699864"/>
            <a:ext cx="5226139" cy="16775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700" b="1" noProof="0" dirty="0"/>
              <a:t>Node function 1</a:t>
            </a:r>
          </a:p>
          <a:p>
            <a:r>
              <a:rPr lang="en-IN" sz="1700" noProof="0" dirty="0"/>
              <a:t>Takes the current state as input</a:t>
            </a:r>
          </a:p>
          <a:p>
            <a:r>
              <a:rPr lang="en-IN" sz="1700" noProof="0" dirty="0"/>
              <a:t>Asks user for their name</a:t>
            </a:r>
          </a:p>
          <a:p>
            <a:r>
              <a:rPr lang="en-IN" sz="1700" noProof="0" dirty="0"/>
              <a:t>Returns a </a:t>
            </a:r>
            <a:r>
              <a:rPr lang="en-IN" sz="1700" b="1" noProof="0" dirty="0"/>
              <a:t>new state </a:t>
            </a:r>
            <a:r>
              <a:rPr lang="en-IN" sz="1700" noProof="0" dirty="0"/>
              <a:t>with updated information</a:t>
            </a:r>
          </a:p>
          <a:p>
            <a:pPr lvl="1"/>
            <a:r>
              <a:rPr lang="en-IN" sz="1700" noProof="0" dirty="0"/>
              <a:t>**state copies all existing state data</a:t>
            </a:r>
          </a:p>
          <a:p>
            <a:pPr lvl="1"/>
            <a:r>
              <a:rPr lang="en-IN" sz="1700" noProof="0" dirty="0"/>
              <a:t>Updates specific fields (</a:t>
            </a:r>
            <a:r>
              <a:rPr lang="en-IN" sz="1700" noProof="0" dirty="0" err="1"/>
              <a:t>user_name</a:t>
            </a:r>
            <a:r>
              <a:rPr lang="en-IN" sz="1700" noProof="0" dirty="0"/>
              <a:t>, messages)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>
            <a:spLocks/>
          </p:cNvSpPr>
          <p:nvPr/>
        </p:nvSpPr>
        <p:spPr>
          <a:xfrm>
            <a:off x="449372" y="3789593"/>
            <a:ext cx="5276196" cy="25604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3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IN" sz="13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>
            <a:spLocks/>
          </p:cNvSpPr>
          <p:nvPr/>
        </p:nvSpPr>
        <p:spPr>
          <a:xfrm>
            <a:off x="5780074" y="3940334"/>
            <a:ext cx="5226139" cy="1147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700" b="1" noProof="0" dirty="0"/>
              <a:t>Node function 2</a:t>
            </a:r>
          </a:p>
          <a:p>
            <a:r>
              <a:rPr lang="en-IN" sz="1700" noProof="0" dirty="0"/>
              <a:t>Reads </a:t>
            </a:r>
            <a:r>
              <a:rPr lang="en-IN" sz="1700" noProof="0" dirty="0" err="1"/>
              <a:t>user_name</a:t>
            </a:r>
            <a:r>
              <a:rPr lang="en-IN" sz="1700" noProof="0" dirty="0"/>
              <a:t> from the current state</a:t>
            </a:r>
          </a:p>
          <a:p>
            <a:r>
              <a:rPr lang="en-IN" sz="1700" noProof="0" dirty="0"/>
              <a:t>Creates a personalized greeting</a:t>
            </a:r>
          </a:p>
          <a:p>
            <a:r>
              <a:rPr lang="en-IN" sz="1700" noProof="0" dirty="0"/>
              <a:t>Updates state with the greeting and conversation log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7B66E946-1805-1B8C-19BB-ED9961E76B4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1628386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Graph Construction</a:t>
            </a:r>
          </a:p>
          <a:p>
            <a:r>
              <a:rPr lang="en-IN" noProof="0" dirty="0"/>
              <a:t>Structure: START →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r>
              <a:rPr lang="en-IN" noProof="0" dirty="0"/>
              <a:t> → END</a:t>
            </a:r>
          </a:p>
          <a:p>
            <a:endParaRPr lang="en-IN" noProof="0" dirty="0"/>
          </a:p>
          <a:p>
            <a:r>
              <a:rPr lang="en-IN" noProof="0" dirty="0"/>
              <a:t>Nodes represent processing steps (functions)</a:t>
            </a:r>
          </a:p>
          <a:p>
            <a:r>
              <a:rPr lang="en-IN" noProof="0" dirty="0"/>
              <a:t>Edges define the flow between steps</a:t>
            </a:r>
          </a:p>
          <a:p>
            <a:r>
              <a:rPr lang="en-IN" noProof="0" dirty="0"/>
              <a:t>START is where execution begins</a:t>
            </a:r>
          </a:p>
          <a:p>
            <a:r>
              <a:rPr lang="en-IN" noProof="0" dirty="0"/>
              <a:t>END is where execution terminates</a:t>
            </a:r>
          </a:p>
          <a:p>
            <a:r>
              <a:rPr lang="en-IN" noProof="0" dirty="0"/>
              <a:t>.compile() creates the executable graph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B9A8CD0F-00A7-F397-74FC-26F78394DFE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17718152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Flow: State passes through: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endParaRPr lang="en-IN" noProof="0" dirty="0"/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Result: Get final state with all accumulated data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7ED78CAF-A3A9-BEBB-F75E-D8405EED019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90827188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14D3-1A65-B17B-0A17-8F9F937E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474649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Building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CA07-622E-EE60-A95E-CABD4DD97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234"/>
            <a:ext cx="10515600" cy="6086693"/>
          </a:xfrm>
        </p:spPr>
        <p:txBody>
          <a:bodyPr>
            <a:normAutofit fontScale="62500" lnSpcReduction="20000"/>
          </a:bodyPr>
          <a:lstStyle/>
          <a:p>
            <a:r>
              <a:rPr lang="en-IN" b="1" noProof="0" dirty="0" err="1"/>
              <a:t>StateGraph</a:t>
            </a:r>
            <a:r>
              <a:rPr lang="en-IN" noProof="0" dirty="0"/>
              <a:t>: Central object used to build workflows in </a:t>
            </a:r>
            <a:r>
              <a:rPr lang="en-IN" noProof="0" dirty="0" err="1"/>
              <a:t>LangGraph</a:t>
            </a:r>
            <a:endParaRPr lang="en-IN" noProof="0" dirty="0"/>
          </a:p>
          <a:p>
            <a:r>
              <a:rPr lang="en-IN" noProof="0" dirty="0"/>
              <a:t>Defines Shared state, Nodes, Edges, Entry point, Exit point</a:t>
            </a:r>
          </a:p>
          <a:p>
            <a:r>
              <a:rPr lang="en-IN" noProof="0" dirty="0"/>
              <a:t>Think of it as the blueprint of your AI workflow</a:t>
            </a:r>
          </a:p>
          <a:p>
            <a:pPr marL="0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langgraph.graph</a:t>
            </a:r>
            <a:r>
              <a:rPr lang="en-IN" noProof="0" dirty="0"/>
              <a:t> import </a:t>
            </a:r>
            <a:r>
              <a:rPr lang="en-IN" noProof="0" dirty="0" err="1"/>
              <a:t>StateGraph</a:t>
            </a:r>
            <a:r>
              <a:rPr lang="en-IN" noProof="0" dirty="0"/>
              <a:t>, END</a:t>
            </a:r>
          </a:p>
          <a:p>
            <a:pPr marL="0" indent="0">
              <a:buNone/>
            </a:pPr>
            <a:r>
              <a:rPr lang="en-IN" noProof="0" dirty="0"/>
              <a:t>graph = </a:t>
            </a:r>
            <a:r>
              <a:rPr lang="en-IN" noProof="0" dirty="0" err="1"/>
              <a:t>StateGraph</a:t>
            </a:r>
            <a:r>
              <a:rPr lang="en-IN" noProof="0" dirty="0"/>
              <a:t>(</a:t>
            </a:r>
            <a:r>
              <a:rPr lang="en-IN" noProof="0" dirty="0" err="1"/>
              <a:t>AgentState</a:t>
            </a:r>
            <a:r>
              <a:rPr lang="en-IN" noProof="0" dirty="0"/>
              <a:t>)</a:t>
            </a:r>
          </a:p>
          <a:p>
            <a:r>
              <a:rPr lang="en-IN" noProof="0" dirty="0"/>
              <a:t>No nodes exist yet – we add them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"search", </a:t>
            </a:r>
            <a:r>
              <a:rPr lang="en-IN" noProof="0" dirty="0" err="1"/>
              <a:t>search_node</a:t>
            </a:r>
            <a:r>
              <a:rPr lang="en-IN" noProof="0" dirty="0"/>
              <a:t>)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“summarize", </a:t>
            </a:r>
            <a:r>
              <a:rPr lang="en-IN" noProof="0" dirty="0" err="1"/>
              <a:t>summarize_node</a:t>
            </a:r>
            <a:r>
              <a:rPr lang="en-IN" noProof="0" dirty="0"/>
              <a:t>)</a:t>
            </a:r>
          </a:p>
          <a:p>
            <a:r>
              <a:rPr lang="en-IN" noProof="0" dirty="0"/>
              <a:t>Add edges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("search", "summary")</a:t>
            </a:r>
          </a:p>
          <a:p>
            <a:r>
              <a:rPr lang="en-IN" noProof="0" dirty="0"/>
              <a:t>Define the entry point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graph.set_entry_point</a:t>
            </a:r>
            <a:r>
              <a:rPr lang="en-IN" noProof="0" dirty="0"/>
              <a:t>("search")</a:t>
            </a:r>
          </a:p>
          <a:p>
            <a:r>
              <a:rPr lang="en-IN" noProof="0" dirty="0"/>
              <a:t>Define the end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(“</a:t>
            </a:r>
            <a:r>
              <a:rPr lang="en-IN" noProof="0" dirty="0" err="1"/>
              <a:t>sumary</a:t>
            </a:r>
            <a:r>
              <a:rPr lang="en-IN" noProof="0" dirty="0"/>
              <a:t>", END)</a:t>
            </a:r>
          </a:p>
          <a:p>
            <a:r>
              <a:rPr lang="en-IN" noProof="0" dirty="0"/>
              <a:t>Compile the graph</a:t>
            </a:r>
          </a:p>
          <a:p>
            <a:pPr marL="0" indent="0">
              <a:buNone/>
            </a:pPr>
            <a:r>
              <a:rPr lang="en-IN" noProof="0" dirty="0"/>
              <a:t>         app = </a:t>
            </a:r>
            <a:r>
              <a:rPr lang="en-IN" noProof="0" dirty="0" err="1"/>
              <a:t>graph.compile</a:t>
            </a:r>
            <a:r>
              <a:rPr lang="en-IN" noProof="0" dirty="0"/>
              <a:t>()</a:t>
            </a:r>
          </a:p>
          <a:p>
            <a:r>
              <a:rPr lang="en-IN" noProof="0" dirty="0"/>
              <a:t>Execute the graph</a:t>
            </a:r>
          </a:p>
          <a:p>
            <a:pPr marL="0" indent="0">
              <a:buNone/>
            </a:pPr>
            <a:r>
              <a:rPr lang="en-IN" noProof="0" dirty="0"/>
              <a:t>         result = </a:t>
            </a:r>
            <a:r>
              <a:rPr lang="en-IN" noProof="0" dirty="0" err="1"/>
              <a:t>app.invoke</a:t>
            </a:r>
            <a:r>
              <a:rPr lang="en-IN" noProof="0" dirty="0"/>
              <a:t> ( {“question”: “What is AI?”})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B91A6EC-6DF6-9D99-5399-8DE0BEED255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3_langgraph/3_1_langgraph_basic.py</a:t>
            </a:r>
          </a:p>
        </p:txBody>
      </p:sp>
    </p:spTree>
    <p:extLst>
      <p:ext uri="{BB962C8B-B14F-4D97-AF65-F5344CB8AC3E}">
        <p14:creationId xmlns:p14="http://schemas.microsoft.com/office/powerpoint/2010/main" val="406519895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DD70-3D97-70DC-67F8-2CA73976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370" y="352683"/>
            <a:ext cx="10157262" cy="1280392"/>
          </a:xfrm>
        </p:spPr>
        <p:txBody>
          <a:bodyPr>
            <a:noAutofit/>
          </a:bodyPr>
          <a:lstStyle/>
          <a:p>
            <a:r>
              <a:rPr lang="en-IN" sz="3100" dirty="0" err="1"/>
              <a:t>LangGraph</a:t>
            </a:r>
            <a:r>
              <a:rPr lang="en-IN" sz="3100" dirty="0"/>
              <a:t> Reducer </a:t>
            </a:r>
            <a:br>
              <a:rPr lang="en-IN" sz="3100" dirty="0"/>
            </a:br>
            <a:r>
              <a:rPr lang="en-IN" sz="2300" dirty="0"/>
              <a:t>(</a:t>
            </a:r>
            <a:r>
              <a:rPr lang="en-US" sz="2300" dirty="0"/>
              <a:t>3_2_langgraph_without_reducer.py, 3_3_langgraph_without_reducer.py)</a:t>
            </a:r>
            <a:endParaRPr lang="en-GB" sz="2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D955-A403-45D0-E353-0C027A325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370" y="1375428"/>
            <a:ext cx="10157262" cy="4591043"/>
          </a:xfrm>
        </p:spPr>
        <p:txBody>
          <a:bodyPr/>
          <a:lstStyle/>
          <a:p>
            <a:r>
              <a:rPr lang="en-US" sz="2700" b="1" dirty="0"/>
              <a:t>Reducer</a:t>
            </a:r>
            <a:r>
              <a:rPr lang="en-US" sz="2700" dirty="0"/>
              <a:t>: Defines how state values are merged when multiple nodes write to the same key</a:t>
            </a:r>
          </a:p>
          <a:p>
            <a:r>
              <a:rPr lang="en-US" sz="2700" dirty="0"/>
              <a:t>Answers the question: “When many agents update the same state, how do we combine it?”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B39E5-6800-419E-5656-9D37E4A02DA6}"/>
              </a:ext>
            </a:extLst>
          </p:cNvPr>
          <p:cNvSpPr txBox="1">
            <a:spLocks/>
          </p:cNvSpPr>
          <p:nvPr/>
        </p:nvSpPr>
        <p:spPr>
          <a:xfrm>
            <a:off x="740374" y="3499248"/>
            <a:ext cx="4672407" cy="27647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b="1" dirty="0"/>
              <a:t>Without reducer</a:t>
            </a:r>
          </a:p>
          <a:p>
            <a:endParaRPr lang="en-GB" sz="1700" dirty="0"/>
          </a:p>
          <a:p>
            <a:r>
              <a:rPr lang="en-US" sz="1700" dirty="0"/>
              <a:t>class State(</a:t>
            </a:r>
            <a:r>
              <a:rPr lang="en-US" sz="1700" dirty="0" err="1"/>
              <a:t>TypedDict</a:t>
            </a:r>
            <a:r>
              <a:rPr lang="en-US" sz="1700" dirty="0"/>
              <a:t>):</a:t>
            </a:r>
          </a:p>
          <a:p>
            <a:r>
              <a:rPr lang="en-US" sz="1700" dirty="0"/>
              <a:t>    messages: List[str]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agent_a</a:t>
            </a:r>
            <a:r>
              <a:rPr lang="en-US" sz="1700" dirty="0"/>
              <a:t>(state: State):</a:t>
            </a:r>
          </a:p>
          <a:p>
            <a:r>
              <a:rPr lang="en-US" sz="1700" strike="sngStrike" dirty="0"/>
              <a:t>    return {"messages": ["Hello from Agent A"]}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agent_b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B"]}</a:t>
            </a:r>
            <a:endParaRPr lang="en-GB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65E82-1BB1-5B47-ACCD-64CDD63607D4}"/>
              </a:ext>
            </a:extLst>
          </p:cNvPr>
          <p:cNvSpPr txBox="1">
            <a:spLocks/>
          </p:cNvSpPr>
          <p:nvPr/>
        </p:nvSpPr>
        <p:spPr>
          <a:xfrm>
            <a:off x="5842883" y="2782537"/>
            <a:ext cx="5712125" cy="35674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b="1" dirty="0"/>
              <a:t>With reducer</a:t>
            </a:r>
          </a:p>
          <a:p>
            <a:endParaRPr lang="en-IN" sz="1700" dirty="0"/>
          </a:p>
          <a:p>
            <a:r>
              <a:rPr lang="en-US" sz="1700" dirty="0"/>
              <a:t>def </a:t>
            </a:r>
            <a:r>
              <a:rPr lang="en-US" sz="1700" dirty="0" err="1">
                <a:solidFill>
                  <a:srgbClr val="FF0000"/>
                </a:solidFill>
              </a:rPr>
              <a:t>add_messages</a:t>
            </a:r>
            <a:r>
              <a:rPr lang="en-US" sz="1700" dirty="0"/>
              <a:t>(old: List[str], new: List[str]) -&gt; List[str]:</a:t>
            </a:r>
          </a:p>
          <a:p>
            <a:r>
              <a:rPr lang="en-US" sz="1700" dirty="0"/>
              <a:t>    return old + new # This is the reducer function</a:t>
            </a:r>
          </a:p>
          <a:p>
            <a:endParaRPr lang="en-US" sz="1700" dirty="0"/>
          </a:p>
          <a:p>
            <a:r>
              <a:rPr lang="en-US" sz="1700" dirty="0"/>
              <a:t>class State(</a:t>
            </a:r>
            <a:r>
              <a:rPr lang="en-US" sz="1700" dirty="0" err="1"/>
              <a:t>TypedDict</a:t>
            </a:r>
            <a:r>
              <a:rPr lang="en-US" sz="1700" dirty="0"/>
              <a:t>):</a:t>
            </a:r>
          </a:p>
          <a:p>
            <a:r>
              <a:rPr lang="en-US" sz="1700" dirty="0"/>
              <a:t>    messages: </a:t>
            </a:r>
            <a:r>
              <a:rPr lang="en-US" sz="1700" dirty="0">
                <a:solidFill>
                  <a:srgbClr val="FF0000"/>
                </a:solidFill>
              </a:rPr>
              <a:t>Annotated[List[str], </a:t>
            </a:r>
            <a:r>
              <a:rPr lang="en-US" sz="1700" dirty="0" err="1">
                <a:solidFill>
                  <a:srgbClr val="FF0000"/>
                </a:solidFill>
              </a:rPr>
              <a:t>add_messages</a:t>
            </a:r>
            <a:r>
              <a:rPr lang="en-US" sz="1700" dirty="0"/>
              <a:t>]</a:t>
            </a:r>
          </a:p>
          <a:p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agent_a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A"]} # Not lost</a:t>
            </a:r>
            <a:br>
              <a:rPr lang="en-US" sz="1700" dirty="0"/>
            </a:br>
            <a:endParaRPr lang="en-US" sz="1700" dirty="0"/>
          </a:p>
          <a:p>
            <a:r>
              <a:rPr lang="en-US" sz="1700" dirty="0"/>
              <a:t>def </a:t>
            </a:r>
            <a:r>
              <a:rPr lang="en-US" sz="1700" dirty="0" err="1"/>
              <a:t>agent_b</a:t>
            </a:r>
            <a:r>
              <a:rPr lang="en-US" sz="1700" dirty="0"/>
              <a:t>(state: State):</a:t>
            </a:r>
          </a:p>
          <a:p>
            <a:r>
              <a:rPr lang="en-US" sz="1700" dirty="0"/>
              <a:t>    return {"messages": ["Hello from Agent B"]}</a:t>
            </a:r>
            <a:endParaRPr lang="en-GB" sz="1700" dirty="0"/>
          </a:p>
        </p:txBody>
      </p:sp>
      <p:sp>
        <p:nvSpPr>
          <p:cNvPr id="6" name="DemoCallout">
            <a:extLst>
              <a:ext uri="{FF2B5EF4-FFF2-40B4-BE49-F238E27FC236}">
                <a16:creationId xmlns:a16="http://schemas.microsoft.com/office/drawing/2014/main" id="{87F8AE94-408C-A709-5392-BDA62A49088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7558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ED00-06AC-B941-A8D9-CF0B1F17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Reducer with LLM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9FB02-19FF-5E49-235D-AD7E8A5F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Check the product return policy of two e-commerce websites</a:t>
            </a:r>
          </a:p>
          <a:p>
            <a:r>
              <a:rPr lang="en-IN" dirty="0"/>
              <a:t>Use a reducer to combine the outputs of the two</a:t>
            </a:r>
          </a:p>
          <a:p>
            <a:r>
              <a:rPr lang="en-IN" dirty="0"/>
              <a:t>Create two agents and run them in parallel</a:t>
            </a:r>
          </a:p>
          <a:p>
            <a:r>
              <a:rPr lang="en-IN" dirty="0"/>
              <a:t>Code: 3_4_langgraph_reducer_return_policy.py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87546B2-A968-97D5-6FB1-90B9409A9F8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7670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A0BF-B5F2-8D66-669B-8F68A849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78" y="354828"/>
            <a:ext cx="10219043" cy="1288180"/>
          </a:xfrm>
        </p:spPr>
        <p:txBody>
          <a:bodyPr>
            <a:normAutofit/>
          </a:bodyPr>
          <a:lstStyle/>
          <a:p>
            <a:r>
              <a:rPr lang="en-IN" sz="4300" noProof="0" dirty="0"/>
              <a:t>Conditional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794B-C17F-0F4A-DF08-B630F4ECD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478" y="1774139"/>
            <a:ext cx="10219043" cy="4228623"/>
          </a:xfrm>
        </p:spPr>
        <p:txBody>
          <a:bodyPr>
            <a:normAutofit fontScale="92500" lnSpcReduction="20000"/>
          </a:bodyPr>
          <a:lstStyle/>
          <a:p>
            <a:r>
              <a:rPr lang="en-IN" sz="2700" b="1" noProof="0" dirty="0"/>
              <a:t>Conditional edge</a:t>
            </a:r>
            <a:r>
              <a:rPr lang="en-IN" sz="2700" noProof="0" dirty="0"/>
              <a:t>: Allows the graph to choose the next node based on the current state, instead of following one fixed path</a:t>
            </a:r>
          </a:p>
          <a:p>
            <a:pPr lvl="0"/>
            <a:r>
              <a:rPr lang="en-IN" sz="2700" noProof="0" dirty="0"/>
              <a:t>Loan approved or rejected?, Enough account balance?, Customer authenticated?</a:t>
            </a:r>
          </a:p>
          <a:p>
            <a:pPr lvl="0"/>
            <a:r>
              <a:rPr lang="en-IN" sz="2700" dirty="0"/>
              <a:t>Unconditional nodes: </a:t>
            </a:r>
            <a:r>
              <a:rPr lang="en-US" sz="2700" dirty="0"/>
              <a:t>C:\code\agenticai\14_advanced\07_langgraph\stock_price_graph.py</a:t>
            </a:r>
            <a:endParaRPr lang="en-IN" sz="2600" noProof="0" dirty="0"/>
          </a:p>
          <a:p>
            <a:pPr lvl="0"/>
            <a:r>
              <a:rPr lang="en-IN" sz="2700" noProof="0" dirty="0"/>
              <a:t>Conditional nodes: </a:t>
            </a:r>
            <a:r>
              <a:rPr lang="en-US" sz="2700" dirty="0"/>
              <a:t>C:\code\agenticai\14_advanced\07_langgraph\stock_news_sentiment_graph.py</a:t>
            </a:r>
            <a:endParaRPr lang="en-IN" sz="2600" noProof="0" dirty="0"/>
          </a:p>
          <a:p>
            <a:pPr lvl="0"/>
            <a:r>
              <a:rPr lang="en-IN" sz="2700" dirty="0"/>
              <a:t>Another example: </a:t>
            </a:r>
            <a:r>
              <a:rPr lang="en-IN" sz="2700" noProof="0" dirty="0"/>
              <a:t>C:\code\agenticai\14_advanced\07_langgraph\conditional_routing_specialists.py</a:t>
            </a:r>
          </a:p>
          <a:p>
            <a:endParaRPr lang="en-IN" sz="2700" noProof="0" dirty="0"/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808EA53-2A3D-8EA1-A54D-4333F2BB993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14_advanced/07_langgraph/conditional_routing_specialists.py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60201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50EA-8731-66E9-7B25-673F3AC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Message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2F8A-B6DA-3EF8-C708-5B794E92B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Message graph</a:t>
            </a:r>
            <a:r>
              <a:rPr lang="en-GB" dirty="0"/>
              <a:t>: A </a:t>
            </a:r>
            <a:r>
              <a:rPr lang="en-GB" dirty="0" err="1"/>
              <a:t>LangGraph</a:t>
            </a:r>
            <a:r>
              <a:rPr lang="en-GB" dirty="0"/>
              <a:t> workflow where the primary state is the conversation history</a:t>
            </a:r>
          </a:p>
          <a:p>
            <a:r>
              <a:rPr lang="en-GB" dirty="0"/>
              <a:t>Instead of passing separate variables such as: question, answer, context it works with messages</a:t>
            </a:r>
          </a:p>
          <a:p>
            <a:r>
              <a:rPr lang="en-GB" dirty="0"/>
              <a:t>Typical structure</a:t>
            </a:r>
          </a:p>
          <a:p>
            <a:r>
              <a:rPr lang="en-GB" dirty="0"/>
              <a:t>State</a:t>
            </a:r>
          </a:p>
          <a:p>
            <a:r>
              <a:rPr lang="en-GB" dirty="0"/>
              <a:t>└── messages</a:t>
            </a:r>
          </a:p>
          <a:p>
            <a:r>
              <a:rPr lang="en-GB" dirty="0"/>
              <a:t>      ├── </a:t>
            </a:r>
            <a:r>
              <a:rPr lang="en-GB" dirty="0" err="1"/>
              <a:t>HumanMessage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AIMessage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HumanMessage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SystemMessage</a:t>
            </a:r>
            <a:endParaRPr lang="en-GB" dirty="0"/>
          </a:p>
          <a:p>
            <a:r>
              <a:rPr lang="en-GB" dirty="0"/>
              <a:t>      └── </a:t>
            </a:r>
            <a:r>
              <a:rPr lang="en-GB" dirty="0" err="1"/>
              <a:t>AIMessage</a:t>
            </a:r>
            <a:endParaRPr lang="en-IN" noProof="0" dirty="0"/>
          </a:p>
          <a:p>
            <a:r>
              <a:rPr lang="en-IN" noProof="0" dirty="0"/>
              <a:t>Key idea: </a:t>
            </a:r>
            <a:r>
              <a:rPr lang="en-GB" dirty="0"/>
              <a:t>The conversation itself becomes the state of the graph</a:t>
            </a:r>
            <a:endParaRPr lang="en-IN" noProof="0" dirty="0"/>
          </a:p>
          <a:p>
            <a:r>
              <a:rPr lang="en-IN" noProof="0" dirty="0"/>
              <a:t>C:\code\agenticai\14_advanced\07_langgraph\message_graph_bank_faq.py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EBF3DE1-28B6-8EDA-DAC6-0A6C281426D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14_advanced/07_langgraph/message_graph_bank_faq.py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3007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14891-85C3-012D-4CE5-1545B63F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CD84-08DD-0C4C-F8A7-5D2F4ADA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F56F-6CBA-4557-CEE6-6743F54C6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Normally, the graph executes all nodes before returning a result</a:t>
            </a:r>
          </a:p>
          <a:p>
            <a:r>
              <a:rPr lang="en-IN" b="1" noProof="0" dirty="0"/>
              <a:t>Streaming</a:t>
            </a:r>
            <a:r>
              <a:rPr lang="en-IN" noProof="0" dirty="0"/>
              <a:t>: each completed node sends its output immediately</a:t>
            </a:r>
          </a:p>
          <a:p>
            <a:r>
              <a:rPr lang="en-IN" noProof="0" dirty="0"/>
              <a:t>User sees progress while the graph is running</a:t>
            </a:r>
          </a:p>
          <a:p>
            <a:r>
              <a:rPr lang="en-IN" noProof="0" dirty="0"/>
              <a:t>C:\code\agenticai\14_advanced\07_langgraph\streaming_stock_recommendation.py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4F93A77-E9DA-EB3D-7EA9-C645C872FF2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14_advanced/07_langgraph/streaming_stock_recommendation.py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16902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10D0-DC2E-117D-17A7-31747B508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148" y="294572"/>
            <a:ext cx="8483702" cy="1069428"/>
          </a:xfrm>
        </p:spPr>
        <p:txBody>
          <a:bodyPr>
            <a:noAutofit/>
          </a:bodyPr>
          <a:lstStyle/>
          <a:p>
            <a:r>
              <a:rPr lang="en-IN" sz="3600" noProof="0" dirty="0"/>
              <a:t>Visualizing and Debugging Graphs in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D08C-06C3-6553-4DDA-1D1B5878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148" y="1472864"/>
            <a:ext cx="2308404" cy="3510542"/>
          </a:xfrm>
        </p:spPr>
        <p:txBody>
          <a:bodyPr>
            <a:normAutofit fontScale="85000" lnSpcReduction="20000"/>
          </a:bodyPr>
          <a:lstStyle/>
          <a:p>
            <a:r>
              <a:rPr lang="en-IN" sz="2200" noProof="0" dirty="0" err="1"/>
              <a:t>LangGraph</a:t>
            </a:r>
            <a:r>
              <a:rPr lang="en-IN" sz="2200" noProof="0" dirty="0"/>
              <a:t> Studio: A visual development environment (IDE) for </a:t>
            </a:r>
            <a:r>
              <a:rPr lang="en-IN" sz="2200" noProof="0" dirty="0" err="1"/>
              <a:t>LangGraph</a:t>
            </a:r>
            <a:r>
              <a:rPr lang="en-IN" sz="2200" noProof="0" dirty="0"/>
              <a:t> applications</a:t>
            </a:r>
          </a:p>
          <a:p>
            <a:r>
              <a:rPr lang="en-IN" sz="2200" noProof="0" dirty="0"/>
              <a:t>Allows developers to View graph structure, Execute graphs, Inspect state, Debug nodes, Replay execution, Modify prompts, Test agents interactively</a:t>
            </a:r>
          </a:p>
          <a:p>
            <a:endParaRPr lang="en-IN" sz="2200" noProof="0" dirty="0"/>
          </a:p>
          <a:p>
            <a:endParaRPr lang="en-IN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78995C-08C0-3035-9F54-D42D89AAD832}"/>
              </a:ext>
            </a:extLst>
          </p:cNvPr>
          <p:cNvSpPr txBox="1">
            <a:spLocks/>
          </p:cNvSpPr>
          <p:nvPr/>
        </p:nvSpPr>
        <p:spPr>
          <a:xfrm>
            <a:off x="4156922" y="1472864"/>
            <a:ext cx="6684470" cy="35105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300" noProof="0" dirty="0"/>
              <a:t>Create </a:t>
            </a:r>
            <a:r>
              <a:rPr lang="en-IN" sz="2300" noProof="0" dirty="0" err="1"/>
              <a:t>langgraph.json</a:t>
            </a:r>
            <a:r>
              <a:rPr lang="en-IN" sz="2300" noProof="0" dirty="0"/>
              <a:t> to set up Stock market example</a:t>
            </a:r>
          </a:p>
          <a:p>
            <a:r>
              <a:rPr lang="en-IN" sz="2300" noProof="0" dirty="0"/>
              <a:t>Install and run the dev-server CLI</a:t>
            </a:r>
          </a:p>
          <a:p>
            <a:pPr lvl="1"/>
            <a:r>
              <a:rPr lang="en-IN" sz="1800" noProof="0" dirty="0" err="1"/>
              <a:t>uv</a:t>
            </a:r>
            <a:r>
              <a:rPr lang="en-IN" sz="1800" noProof="0" dirty="0"/>
              <a:t> pip install "</a:t>
            </a:r>
            <a:r>
              <a:rPr lang="en-IN" sz="1800" noProof="0" dirty="0" err="1"/>
              <a:t>langgraph</a:t>
            </a:r>
            <a:r>
              <a:rPr lang="en-IN" sz="1800" noProof="0" dirty="0"/>
              <a:t>-cli[</a:t>
            </a:r>
            <a:r>
              <a:rPr lang="en-IN" sz="1800" noProof="0" dirty="0" err="1"/>
              <a:t>inmem</a:t>
            </a:r>
            <a:r>
              <a:rPr lang="en-IN" sz="1800" noProof="0" dirty="0"/>
              <a:t>]"</a:t>
            </a:r>
          </a:p>
          <a:p>
            <a:pPr lvl="1"/>
            <a:r>
              <a:rPr lang="en-IN" sz="1800" noProof="0" dirty="0" err="1"/>
              <a:t>langgraph</a:t>
            </a:r>
            <a:r>
              <a:rPr lang="en-IN" sz="1800" noProof="0" dirty="0"/>
              <a:t> dev --tunnel</a:t>
            </a:r>
          </a:p>
          <a:p>
            <a:pPr lvl="1"/>
            <a:r>
              <a:rPr lang="en-IN" sz="1800" noProof="0" dirty="0"/>
              <a:t>This should launch the studio in the browser</a:t>
            </a:r>
          </a:p>
          <a:p>
            <a:pPr lvl="1"/>
            <a:r>
              <a:rPr lang="en-IN" sz="1800" noProof="0" dirty="0"/>
              <a:t>If it gives a ‘domain not allowed’ error</a:t>
            </a:r>
          </a:p>
          <a:p>
            <a:pPr lvl="2"/>
            <a:r>
              <a:rPr lang="en-IN" sz="1600" noProof="0" dirty="0"/>
              <a:t>Look for Advanced </a:t>
            </a:r>
            <a:r>
              <a:rPr lang="en-IN" sz="1600" noProof="0" dirty="0" err="1"/>
              <a:t>setttings</a:t>
            </a:r>
            <a:r>
              <a:rPr lang="en-IN" sz="1600" noProof="0" dirty="0"/>
              <a:t> after clicking + on right</a:t>
            </a:r>
          </a:p>
          <a:p>
            <a:pPr lvl="2"/>
            <a:r>
              <a:rPr lang="en-IN" sz="1600" noProof="0" dirty="0"/>
              <a:t>Allowed domains: Add *.trycloudflare.com</a:t>
            </a:r>
          </a:p>
          <a:p>
            <a:pPr lvl="2"/>
            <a:r>
              <a:rPr lang="en-IN" sz="1600" noProof="0" dirty="0"/>
              <a:t>Connect</a:t>
            </a:r>
          </a:p>
          <a:p>
            <a:r>
              <a:rPr lang="en-IN" sz="2300" noProof="0" dirty="0"/>
              <a:t>In Studio, pick </a:t>
            </a:r>
            <a:r>
              <a:rPr lang="en-IN" sz="2300" i="1" noProof="0" dirty="0" err="1"/>
              <a:t>stock_news</a:t>
            </a:r>
            <a:r>
              <a:rPr lang="en-IN" sz="2300" i="1" noProof="0" dirty="0"/>
              <a:t> </a:t>
            </a:r>
            <a:r>
              <a:rPr lang="en-IN" sz="2300" noProof="0" dirty="0"/>
              <a:t>graph and give input: stock Name: </a:t>
            </a:r>
            <a:r>
              <a:rPr lang="en-IN" sz="2300" noProof="0" dirty="0" err="1"/>
              <a:t>hdfcbank</a:t>
            </a:r>
            <a:endParaRPr lang="en-IN" sz="2300" noProof="0" dirty="0"/>
          </a:p>
          <a:p>
            <a:r>
              <a:rPr lang="en-IN" sz="2300" noProof="0" dirty="0"/>
              <a:t>To stop, </a:t>
            </a:r>
            <a:r>
              <a:rPr lang="en-IN" sz="2300" noProof="0" dirty="0" err="1"/>
              <a:t>Ctrl+C</a:t>
            </a:r>
            <a:r>
              <a:rPr lang="en-IN" sz="2300" noProof="0" dirty="0"/>
              <a:t> in terminal</a:t>
            </a:r>
          </a:p>
          <a:p>
            <a:pPr lvl="1"/>
            <a:endParaRPr lang="en-IN" sz="1800" noProof="0" dirty="0"/>
          </a:p>
          <a:p>
            <a:pPr lvl="2"/>
            <a:endParaRPr lang="en-IN" sz="1600" noProof="0" dirty="0"/>
          </a:p>
          <a:p>
            <a:endParaRPr lang="en-IN" sz="2300" noProof="0" dirty="0"/>
          </a:p>
          <a:p>
            <a:endParaRPr lang="en-IN" noProof="0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BB965800-2E0A-04F5-E748-EBA7F999338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14_advanced/07_langgraph/langgraph.json, stock_price_graph.py, stock_news_sentiment_graph.py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41621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555790"/>
              </p:ext>
            </p:extLst>
          </p:nvPr>
        </p:nvGraphicFramePr>
        <p:xfrm>
          <a:off x="286187" y="1463040"/>
          <a:ext cx="11419529" cy="34747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External API Call and </a:t>
                      </a:r>
                      <a:r>
                        <a:rPr lang="en-US" b="0" noProof="0" dirty="0" err="1"/>
                        <a:t>LangGraph</a:t>
                      </a:r>
                      <a:r>
                        <a:rPr lang="en-US" b="0" noProof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3_2_langgraph_news_summarize.py (3_2_1 is its Ollama version)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Code Security Reviewer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Review code in a GitHub repository for security issues (1) Workflow type (2) Agentic – The Planner agent decides what to do, conditionally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3_3_0_langgraph_code_review.py and 3_3_1_langgraph_code_review_planner_agent.py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Adding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3_4_langgraph_memory.py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Text Embeddings (Real)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Bank chatbot (Kaggle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3_5_langgraph_bank_chromadb_chatbot.py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81C732BC-ABB2-46A2-0892-AB9F14503B8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3_langgraph/3_2_langgraph_news_summarizer.py (+ _ollama/_gemini versions), 3_2_3_langgraph_company_sector_outlook.py, 3_3_1_langgraph_code_review_planner_agent.py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249223611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406218"/>
              </p:ext>
            </p:extLst>
          </p:nvPr>
        </p:nvGraphicFramePr>
        <p:xfrm>
          <a:off x="386235" y="1556495"/>
          <a:ext cx="11419529" cy="47548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Add message and email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 notify.sh and </a:t>
                      </a:r>
                      <a:r>
                        <a:rPr lang="en-US" noProof="0" dirty="0" err="1"/>
                        <a:t>gmail</a:t>
                      </a:r>
                      <a:r>
                        <a:rPr lang="en-US" noProof="0" dirty="0"/>
                        <a:t>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3_9_langgraph_bank_ntfy_email.py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Create Guardrails from a Hugging Face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3_10_1_langgraph_create_guardrails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the above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3_10_2_langgraph_test_guardrails_flask.py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Guardrails for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Apply Guardrails to the earlier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3_10_3_langgraph_guardrails_bank_flask.py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76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Short Term Memory +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Search in STM, if not, in </a:t>
                      </a:r>
                      <a:r>
                        <a:rPr lang="en-US" noProof="0" dirty="0" err="1"/>
                        <a:t>VectorDB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3_11_langgraph_STM_RAG_chatbot.py</a:t>
                      </a:r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8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Looping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Allow agents to review their own actions till a looping condition is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3_12_langgraph_looping_agents.py</a:t>
                      </a:r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272881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28A8DF0D-AAA7-A32C-1E0B-10560BC109A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3_langgraph/3_2_langgraph_news_summarizer.py (+ _ollama/_gemini versions), 3_2_3_langgraph_company_sector_outlook.py, 3_3_1_langgraph_code_review_planner_agent.py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407070505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F863CD-2C34-5B34-E1B9-C783F64EC9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69" y="70306"/>
            <a:ext cx="9419541" cy="6279693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28F060AC-4E57-CB07-D316-96C0FA502F3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3_langgraph/3_2_langgraph_news_summarizer.py (+ _ollama/_gemini versions), 3_2_3_langgraph_company_sector_outlook.py, 3_3_1_langgraph_code_review_planner_agent.py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327225079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B9CB-0464-8888-7605-2598A8F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6462-DB25-4A8C-91F7-4EA604020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Your Google Account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Security and sign-in -&gt; 2-step verification -&gt;  Enable</a:t>
            </a:r>
          </a:p>
          <a:p>
            <a:r>
              <a:rPr lang="en-US" noProof="0" dirty="0"/>
              <a:t>If you see “App passwords” option, use it, otherwise click on </a:t>
            </a:r>
            <a:r>
              <a:rPr lang="en-US" noProof="0" dirty="0">
                <a:hlinkClick r:id="rId3"/>
              </a:rPr>
              <a:t>https://myaccount.google.com/apppasswords</a:t>
            </a:r>
            <a:r>
              <a:rPr lang="en-US" noProof="0" dirty="0"/>
              <a:t> and create an app password</a:t>
            </a:r>
          </a:p>
          <a:p>
            <a:r>
              <a:rPr lang="en-US" noProof="0" dirty="0"/>
              <a:t>Copy the 12-character password without spaces and use in the code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DDEF151E-35F9-23D4-8490-A9A5E9A32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783" y="62859"/>
            <a:ext cx="4334480" cy="2572109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81070BCE-6B17-42DF-3D80-1581E8C36BF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3_langgraph/3_2_langgraph_news_summarizer.py (+ _ollama/_gemini versions), 3_2_3_langgraph_company_sector_outlook.py, 3_3_1_langgraph_code_review_planner_agent.py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30589622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3D495D9-EDE5-3ED6-F9C1-863698FB82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C3C688D5-60A7-B9BB-5466-06CD0473AB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3_langgraph/3_2_langgraph_news_summarizer.py (+ _ollama/_gemini versions), 3_2_3_langgraph_company_sector_outlook.py, 3_3_1_langgraph_code_review_planner_agent.py</a:t>
            </a:r>
          </a:p>
        </p:txBody>
      </p:sp>
    </p:spTree>
    <p:extLst>
      <p:ext uri="{BB962C8B-B14F-4D97-AF65-F5344CB8AC3E}">
        <p14:creationId xmlns:p14="http://schemas.microsoft.com/office/powerpoint/2010/main" val="45792154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0CA4-E11A-1BB3-8301-CC8F6B437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D6403-9BF5-0988-16AE-6248D0C43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LangGraph: Cycles, Human-in-the-Loop and Persistence</a:t>
            </a:r>
          </a:p>
          <a:p>
            <a:r>
              <a:rPr lang="en-US"/>
              <a:t>Sun 7-Nov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95869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F764-4994-BF1C-0A52-0ED94820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5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CBA3-733A-6E21-F755-67AC952F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Cycles and loops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Human-in-the-loop (HITL)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Checkpointers and persistence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State schema design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Subgraphs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Guardrails in LangGraph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End-to-end: stateful banking chatbot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98454466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102A-41F6-F380-89C7-C87FC948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41" y="1"/>
            <a:ext cx="10015717" cy="648661"/>
          </a:xfrm>
        </p:spPr>
        <p:txBody>
          <a:bodyPr>
            <a:normAutofit/>
          </a:bodyPr>
          <a:lstStyle/>
          <a:p>
            <a:r>
              <a:rPr lang="en-US" sz="3800" noProof="0" dirty="0"/>
              <a:t>Looping in </a:t>
            </a:r>
            <a:r>
              <a:rPr lang="en-US" sz="3800" noProof="0" dirty="0" err="1"/>
              <a:t>LangGraph</a:t>
            </a:r>
            <a:endParaRPr lang="en-US" sz="38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95C5-8E14-90C7-B2E5-ADEF6C480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41" y="744613"/>
            <a:ext cx="10015717" cy="5138714"/>
          </a:xfrm>
        </p:spPr>
        <p:txBody>
          <a:bodyPr>
            <a:normAutofit/>
          </a:bodyPr>
          <a:lstStyle/>
          <a:p>
            <a:r>
              <a:rPr lang="en-US" sz="2700" b="1" noProof="0" dirty="0"/>
              <a:t>Loop</a:t>
            </a:r>
            <a:r>
              <a:rPr lang="en-US" sz="2700" noProof="0" dirty="0"/>
              <a:t>: A node can run more than once, based on state</a:t>
            </a:r>
          </a:p>
          <a:p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3F4F482-C065-87D7-CED4-A5292651ADB1}"/>
              </a:ext>
            </a:extLst>
          </p:cNvPr>
          <p:cNvSpPr>
            <a:spLocks/>
          </p:cNvSpPr>
          <p:nvPr/>
        </p:nvSpPr>
        <p:spPr>
          <a:xfrm>
            <a:off x="1034400" y="1249886"/>
            <a:ext cx="2798949" cy="1775106"/>
          </a:xfrm>
          <a:prstGeom prst="foldedCorner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noProof="0" dirty="0"/>
              <a:t>class </a:t>
            </a:r>
            <a:r>
              <a:rPr lang="en-US" sz="1300" noProof="0" dirty="0" err="1"/>
              <a:t>AgentState</a:t>
            </a:r>
            <a:r>
              <a:rPr lang="en-US" sz="1300" noProof="0" dirty="0"/>
              <a:t>(</a:t>
            </a:r>
            <a:r>
              <a:rPr lang="en-US" sz="1300" noProof="0" dirty="0" err="1"/>
              <a:t>TypedDict</a:t>
            </a:r>
            <a:r>
              <a:rPr lang="en-US" sz="1300" noProof="0" dirty="0"/>
              <a:t>):</a:t>
            </a:r>
          </a:p>
          <a:p>
            <a:r>
              <a:rPr lang="en-US" sz="1300" noProof="0" dirty="0"/>
              <a:t>    question: str</a:t>
            </a:r>
          </a:p>
          <a:p>
            <a:r>
              <a:rPr lang="en-US" sz="1300" noProof="0" dirty="0"/>
              <a:t>    answer: str</a:t>
            </a:r>
          </a:p>
          <a:p>
            <a:r>
              <a:rPr lang="en-US" sz="1300" noProof="0" dirty="0"/>
              <a:t>    history: List[str]</a:t>
            </a:r>
          </a:p>
          <a:p>
            <a:r>
              <a:rPr lang="en-US" sz="1300" noProof="0" dirty="0"/>
              <a:t>    iterations: int</a:t>
            </a:r>
          </a:p>
          <a:p>
            <a:r>
              <a:rPr lang="en-US" sz="1300" noProof="0" dirty="0"/>
              <a:t>    </a:t>
            </a:r>
            <a:r>
              <a:rPr lang="en-US" sz="1300" noProof="0" dirty="0">
                <a:solidFill>
                  <a:srgbClr val="FFFF00"/>
                </a:solidFill>
              </a:rPr>
              <a:t>decision</a:t>
            </a:r>
            <a:r>
              <a:rPr lang="en-US" sz="1300" noProof="0" dirty="0"/>
              <a:t>: str  # "continue" or "stop"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4DBA3-9983-AA09-1B44-D68BFA6282E6}"/>
              </a:ext>
            </a:extLst>
          </p:cNvPr>
          <p:cNvSpPr txBox="1">
            <a:spLocks/>
          </p:cNvSpPr>
          <p:nvPr/>
        </p:nvSpPr>
        <p:spPr>
          <a:xfrm>
            <a:off x="4105932" y="1249886"/>
            <a:ext cx="3643287" cy="32246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noProof="0" dirty="0"/>
              <a:t>Nodes to run in sequence:</a:t>
            </a:r>
          </a:p>
          <a:p>
            <a:r>
              <a:rPr lang="en-US" sz="1500" b="1" noProof="0" dirty="0"/>
              <a:t>answer</a:t>
            </a:r>
          </a:p>
          <a:p>
            <a:r>
              <a:rPr lang="en-US" sz="1500" b="1" noProof="0" dirty="0"/>
              <a:t>evaluate</a:t>
            </a:r>
          </a:p>
          <a:p>
            <a:endParaRPr lang="en-US" sz="1500" noProof="0" dirty="0"/>
          </a:p>
          <a:p>
            <a:r>
              <a:rPr lang="en-US" sz="1500" noProof="0" dirty="0"/>
              <a:t>Then a conditional edge</a:t>
            </a:r>
          </a:p>
          <a:p>
            <a:r>
              <a:rPr lang="en-US" sz="1500" noProof="0" dirty="0" err="1"/>
              <a:t>builder.add_conditional_edges</a:t>
            </a:r>
            <a:r>
              <a:rPr lang="en-US" sz="1500" noProof="0" dirty="0"/>
              <a:t>(</a:t>
            </a:r>
          </a:p>
          <a:p>
            <a:r>
              <a:rPr lang="en-US" sz="1500" noProof="0" dirty="0"/>
              <a:t>    "</a:t>
            </a:r>
            <a:r>
              <a:rPr lang="en-US" sz="1500" b="1" noProof="0" dirty="0"/>
              <a:t>evaluate</a:t>
            </a:r>
            <a:r>
              <a:rPr lang="en-US" sz="1500" noProof="0" dirty="0"/>
              <a:t>",</a:t>
            </a:r>
          </a:p>
          <a:p>
            <a:r>
              <a:rPr lang="en-US" sz="1500" noProof="0" dirty="0"/>
              <a:t>    </a:t>
            </a:r>
            <a:r>
              <a:rPr lang="en-US" sz="1500" b="1" noProof="0" dirty="0" err="1"/>
              <a:t>should_continue</a:t>
            </a:r>
            <a:r>
              <a:rPr lang="en-US" sz="1500" noProof="0" dirty="0"/>
              <a:t>,</a:t>
            </a:r>
          </a:p>
          <a:p>
            <a:r>
              <a:rPr lang="en-US" sz="1500" noProof="0" dirty="0"/>
              <a:t>    {</a:t>
            </a:r>
          </a:p>
          <a:p>
            <a:r>
              <a:rPr lang="en-US" sz="1500" noProof="0" dirty="0"/>
              <a:t>        "continue": "</a:t>
            </a:r>
            <a:r>
              <a:rPr lang="en-US" sz="1500" b="1" noProof="0" dirty="0"/>
              <a:t>answer</a:t>
            </a:r>
            <a:r>
              <a:rPr lang="en-US" sz="1500" noProof="0" dirty="0"/>
              <a:t>",  # LOOP</a:t>
            </a:r>
          </a:p>
          <a:p>
            <a:r>
              <a:rPr lang="en-US" sz="1500" noProof="0" dirty="0"/>
              <a:t>        "stop": END                    # EXIT</a:t>
            </a:r>
          </a:p>
          <a:p>
            <a:r>
              <a:rPr lang="en-US" sz="1500" noProof="0" dirty="0"/>
              <a:t>    }</a:t>
            </a:r>
          </a:p>
          <a:p>
            <a:r>
              <a:rPr lang="en-US" sz="1500" noProof="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F205E-3FEC-059F-FCF6-3CE6BB95A258}"/>
              </a:ext>
            </a:extLst>
          </p:cNvPr>
          <p:cNvSpPr txBox="1">
            <a:spLocks/>
          </p:cNvSpPr>
          <p:nvPr/>
        </p:nvSpPr>
        <p:spPr>
          <a:xfrm>
            <a:off x="8021803" y="1249886"/>
            <a:ext cx="3497024" cy="111395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Node = </a:t>
            </a:r>
            <a:r>
              <a:rPr lang="en-US" sz="1300" b="1" noProof="0" dirty="0">
                <a:solidFill>
                  <a:schemeClr val="bg1"/>
                </a:solidFill>
              </a:rPr>
              <a:t>answer</a:t>
            </a: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Send question and previous answer(s) to LLM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Improve answer if needed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Increase iteration count by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A4F68-F4EA-1ABB-66AF-397537549A08}"/>
              </a:ext>
            </a:extLst>
          </p:cNvPr>
          <p:cNvSpPr txBox="1">
            <a:spLocks/>
          </p:cNvSpPr>
          <p:nvPr/>
        </p:nvSpPr>
        <p:spPr>
          <a:xfrm>
            <a:off x="8021803" y="2624984"/>
            <a:ext cx="3497024" cy="9087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Node = </a:t>
            </a:r>
            <a:r>
              <a:rPr lang="en-US" sz="1300" b="1" noProof="0" dirty="0">
                <a:solidFill>
                  <a:schemeClr val="bg1"/>
                </a:solidFill>
              </a:rPr>
              <a:t>evaluate</a:t>
            </a: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Send question and latest answer to LLM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Ask if continue or stop and return the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9DAD8-7CF3-D677-D26B-BF4871993EAC}"/>
              </a:ext>
            </a:extLst>
          </p:cNvPr>
          <p:cNvSpPr txBox="1">
            <a:spLocks/>
          </p:cNvSpPr>
          <p:nvPr/>
        </p:nvSpPr>
        <p:spPr>
          <a:xfrm>
            <a:off x="8021801" y="3799779"/>
            <a:ext cx="3497024" cy="9087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noProof="0" dirty="0">
                <a:solidFill>
                  <a:schemeClr val="bg1"/>
                </a:solidFill>
              </a:rPr>
              <a:t>Conditional logic in function </a:t>
            </a:r>
            <a:r>
              <a:rPr lang="en-US" sz="1300" noProof="0" dirty="0" err="1">
                <a:solidFill>
                  <a:schemeClr val="bg1"/>
                </a:solidFill>
              </a:rPr>
              <a:t>should_continue</a:t>
            </a:r>
            <a:r>
              <a:rPr lang="en-US" sz="1300" noProof="0" dirty="0">
                <a:solidFill>
                  <a:schemeClr val="bg1"/>
                </a:solidFill>
              </a:rPr>
              <a:t>()</a:t>
            </a:r>
            <a:endParaRPr lang="en-US" sz="1200" b="1" noProof="0" dirty="0">
              <a:solidFill>
                <a:schemeClr val="bg1"/>
              </a:solidFill>
            </a:endParaRPr>
          </a:p>
          <a:p>
            <a:endParaRPr lang="en-US" sz="1300" noProof="0" dirty="0">
              <a:solidFill>
                <a:schemeClr val="bg1"/>
              </a:solidFill>
            </a:endParaRPr>
          </a:p>
          <a:p>
            <a:r>
              <a:rPr lang="en-US" sz="1300" noProof="0" dirty="0">
                <a:solidFill>
                  <a:schemeClr val="bg1"/>
                </a:solidFill>
              </a:rPr>
              <a:t>If iteration count &gt;= 3 then stop</a:t>
            </a:r>
          </a:p>
          <a:p>
            <a:r>
              <a:rPr lang="en-US" sz="1300" noProof="0" dirty="0">
                <a:solidFill>
                  <a:schemeClr val="bg1"/>
                </a:solidFill>
              </a:rPr>
              <a:t>Otherwise return the decision as it 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E3069-D762-E581-35C2-5D24B8820FB1}"/>
              </a:ext>
            </a:extLst>
          </p:cNvPr>
          <p:cNvSpPr txBox="1">
            <a:spLocks/>
          </p:cNvSpPr>
          <p:nvPr/>
        </p:nvSpPr>
        <p:spPr>
          <a:xfrm>
            <a:off x="569018" y="4591126"/>
            <a:ext cx="7259982" cy="1758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ctr"/>
            <a:r>
              <a:rPr lang="en-US" sz="1500" b="1" noProof="0" dirty="0"/>
              <a:t>Main logic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Call the “answer” node and get the latest/refined answer for the question from LLM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Using “evaluate” node, pass this on to LLM and ask, more iterations needed? It will return decision as “continue” or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Take this to the “</a:t>
            </a:r>
            <a:r>
              <a:rPr lang="en-US" sz="1500" noProof="0" dirty="0" err="1"/>
              <a:t>should_continue</a:t>
            </a:r>
            <a:r>
              <a:rPr lang="en-US" sz="1500" noProof="0" dirty="0"/>
              <a:t>()” function and check if iteration count has exceeded 3, in which case decision =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noProof="0" dirty="0"/>
              <a:t>Return the decision, which will either cause it to loop back to answer or stop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3844C4-825B-5143-88EA-0C1EF1C4AEB0}"/>
              </a:ext>
            </a:extLst>
          </p:cNvPr>
          <p:cNvCxnSpPr>
            <a:cxnSpLocks/>
          </p:cNvCxnSpPr>
          <p:nvPr/>
        </p:nvCxnSpPr>
        <p:spPr>
          <a:xfrm flipV="1">
            <a:off x="5581862" y="3799779"/>
            <a:ext cx="0" cy="993671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emoCallout">
            <a:extLst>
              <a:ext uri="{FF2B5EF4-FFF2-40B4-BE49-F238E27FC236}">
                <a16:creationId xmlns:a16="http://schemas.microsoft.com/office/drawing/2014/main" id="{54CA4B2D-3159-35DC-24D0-E840194F2C4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3_langgraph/3_12_langgraph_looping_agents.py.py</a:t>
            </a:r>
          </a:p>
        </p:txBody>
      </p:sp>
    </p:spTree>
    <p:extLst>
      <p:ext uri="{BB962C8B-B14F-4D97-AF65-F5344CB8AC3E}">
        <p14:creationId xmlns:p14="http://schemas.microsoft.com/office/powerpoint/2010/main" val="303489101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1570-3C11-A5F7-E114-4E5ABCBB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Loops in </a:t>
            </a:r>
            <a:r>
              <a:rPr lang="en-IN" dirty="0" err="1"/>
              <a:t>LangGraph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1F6C-9D55-3199-59D3-27DCA7541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88" y="1741863"/>
            <a:ext cx="4808744" cy="4351338"/>
          </a:xfrm>
        </p:spPr>
        <p:txBody>
          <a:bodyPr/>
          <a:lstStyle/>
          <a:p>
            <a:r>
              <a:rPr lang="en-IN" dirty="0"/>
              <a:t>Conditional edges are used</a:t>
            </a:r>
          </a:p>
          <a:p>
            <a:pPr marL="457200" lvl="1" indent="0">
              <a:buNone/>
            </a:pPr>
            <a:r>
              <a:rPr lang="en-US" dirty="0" err="1"/>
              <a:t>graph.add_conditional_edges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/>
              <a:t>    "</a:t>
            </a:r>
            <a:r>
              <a:rPr lang="en-US" dirty="0" err="1"/>
              <a:t>process_payment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route_after_payment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    {</a:t>
            </a:r>
          </a:p>
          <a:p>
            <a:pPr marL="457200" lvl="1" indent="0">
              <a:buNone/>
            </a:pPr>
            <a:r>
              <a:rPr lang="en-US" dirty="0"/>
              <a:t>        "approved": "</a:t>
            </a:r>
            <a:r>
              <a:rPr lang="en-US" dirty="0" err="1"/>
              <a:t>ship_order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    "retry": "</a:t>
            </a:r>
            <a:r>
              <a:rPr lang="en-US" dirty="0" err="1"/>
              <a:t>process_payment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    "</a:t>
            </a:r>
            <a:r>
              <a:rPr lang="en-US" dirty="0" err="1"/>
              <a:t>give_up</a:t>
            </a:r>
            <a:r>
              <a:rPr lang="en-US" dirty="0"/>
              <a:t>": "</a:t>
            </a:r>
            <a:r>
              <a:rPr lang="en-US" dirty="0" err="1"/>
              <a:t>fail_order</a:t>
            </a:r>
            <a:r>
              <a:rPr lang="en-US" dirty="0"/>
              <a:t>"</a:t>
            </a:r>
          </a:p>
          <a:p>
            <a:pPr marL="457200" lvl="1" indent="0">
              <a:buNone/>
            </a:pPr>
            <a:r>
              <a:rPr lang="en-US" dirty="0"/>
              <a:t>    },</a:t>
            </a:r>
          </a:p>
          <a:p>
            <a:pPr marL="457200" lvl="1" indent="0">
              <a:buNone/>
            </a:pPr>
            <a:r>
              <a:rPr lang="en-US" dirty="0"/>
              <a:t>)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B5D31D-7E7C-A033-CD83-C064E8EC49C2}"/>
              </a:ext>
            </a:extLst>
          </p:cNvPr>
          <p:cNvSpPr txBox="1">
            <a:spLocks/>
          </p:cNvSpPr>
          <p:nvPr/>
        </p:nvSpPr>
        <p:spPr>
          <a:xfrm>
            <a:off x="5325274" y="1741863"/>
            <a:ext cx="66456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err="1"/>
              <a:t>process_payment</a:t>
            </a:r>
            <a:r>
              <a:rPr lang="en-IN" dirty="0"/>
              <a:t>: Source node</a:t>
            </a:r>
          </a:p>
          <a:p>
            <a:pPr lvl="1"/>
            <a:r>
              <a:rPr lang="en-IN" dirty="0" err="1"/>
              <a:t>route_after_payment</a:t>
            </a:r>
            <a:r>
              <a:rPr lang="en-IN" dirty="0"/>
              <a:t>: Will make a decision (Routing function)</a:t>
            </a:r>
          </a:p>
          <a:p>
            <a:pPr lvl="2"/>
            <a:r>
              <a:rPr lang="en-IN" dirty="0"/>
              <a:t>This function looks at the state and returns one of the following three strings</a:t>
            </a:r>
          </a:p>
          <a:p>
            <a:pPr lvl="3"/>
            <a:r>
              <a:rPr lang="en-IN" dirty="0"/>
              <a:t>approved, retry, </a:t>
            </a:r>
            <a:r>
              <a:rPr lang="en-IN" dirty="0" err="1"/>
              <a:t>give_up</a:t>
            </a:r>
            <a:endParaRPr lang="en-IN" dirty="0"/>
          </a:p>
          <a:p>
            <a:pPr lvl="2"/>
            <a:r>
              <a:rPr lang="en-IN" dirty="0"/>
              <a:t>If approved -&gt; will go to </a:t>
            </a:r>
            <a:r>
              <a:rPr lang="en-IN" dirty="0" err="1"/>
              <a:t>ship_order</a:t>
            </a:r>
            <a:r>
              <a:rPr lang="en-IN" dirty="0"/>
              <a:t> node</a:t>
            </a:r>
          </a:p>
          <a:p>
            <a:pPr lvl="2"/>
            <a:r>
              <a:rPr lang="en-IN" dirty="0">
                <a:solidFill>
                  <a:srgbClr val="FF0000"/>
                </a:solidFill>
              </a:rPr>
              <a:t>If retry -&gt; will go back to </a:t>
            </a:r>
            <a:r>
              <a:rPr lang="en-IN" dirty="0" err="1">
                <a:solidFill>
                  <a:srgbClr val="FF0000"/>
                </a:solidFill>
              </a:rPr>
              <a:t>process_payment</a:t>
            </a:r>
            <a:r>
              <a:rPr lang="en-IN" dirty="0">
                <a:solidFill>
                  <a:srgbClr val="FF0000"/>
                </a:solidFill>
              </a:rPr>
              <a:t> node (loop)</a:t>
            </a:r>
          </a:p>
          <a:p>
            <a:pPr lvl="2"/>
            <a:r>
              <a:rPr lang="en-IN" dirty="0"/>
              <a:t>If </a:t>
            </a:r>
            <a:r>
              <a:rPr lang="en-IN" dirty="0" err="1"/>
              <a:t>give_up</a:t>
            </a:r>
            <a:r>
              <a:rPr lang="en-IN" dirty="0"/>
              <a:t> -&gt; will go to </a:t>
            </a:r>
            <a:r>
              <a:rPr lang="en-IN" dirty="0" err="1"/>
              <a:t>fail_order</a:t>
            </a:r>
            <a:r>
              <a:rPr lang="en-IN" dirty="0"/>
              <a:t> node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D1FE9C52-1AA0-B4D9-518E-98C3B89603A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3_langgraph/3_3_0_langgraph_code_review.py, 14_advanced/08_langgraph_cycles_HIL_persistence/order_processing_state_machine.py</a:t>
            </a:r>
          </a:p>
        </p:txBody>
      </p:sp>
    </p:spTree>
    <p:extLst>
      <p:ext uri="{BB962C8B-B14F-4D97-AF65-F5344CB8AC3E}">
        <p14:creationId xmlns:p14="http://schemas.microsoft.com/office/powerpoint/2010/main" val="273656680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AAF2-537C-D04D-4618-AA3503C7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Human In the Loop (HIL)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7769-600B-A948-938D-B30D92B4D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54515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1" noProof="0" dirty="0"/>
              <a:t>Human-in-the-Loop (HIL)</a:t>
            </a:r>
            <a:r>
              <a:rPr lang="en-IN" noProof="0" dirty="0"/>
              <a:t>: The graph pauses execution at specific points, allowing a human to inspect, approve, modify, or reject the workflow before it continues</a:t>
            </a:r>
          </a:p>
          <a:p>
            <a:pPr lvl="0"/>
            <a:r>
              <a:rPr lang="en-IN" noProof="0" dirty="0"/>
              <a:t>Examples: Loan approvals, Large bank transfers, Medical recommendations, Legal document generation, Contract signing</a:t>
            </a:r>
          </a:p>
          <a:p>
            <a:pPr lvl="0"/>
            <a:r>
              <a:rPr lang="en-IN" noProof="0" dirty="0"/>
              <a:t>An interrupt tells </a:t>
            </a:r>
            <a:r>
              <a:rPr lang="en-IN" noProof="0" dirty="0" err="1"/>
              <a:t>LangGraph</a:t>
            </a:r>
            <a:r>
              <a:rPr lang="en-IN" noProof="0" dirty="0"/>
              <a:t> to pause execution and wait</a:t>
            </a:r>
          </a:p>
          <a:p>
            <a:pPr lvl="0"/>
            <a:r>
              <a:rPr lang="en-IN" noProof="0" dirty="0"/>
              <a:t>Types: </a:t>
            </a:r>
            <a:r>
              <a:rPr lang="en-IN" noProof="0" dirty="0" err="1"/>
              <a:t>interrupt_before</a:t>
            </a:r>
            <a:r>
              <a:rPr lang="en-IN" noProof="0" dirty="0"/>
              <a:t> (Before a node executes), </a:t>
            </a:r>
            <a:r>
              <a:rPr lang="en-IN" noProof="0" dirty="0" err="1"/>
              <a:t>interrupt_after</a:t>
            </a:r>
            <a:r>
              <a:rPr lang="en-IN" noProof="0" dirty="0"/>
              <a:t> (After a node executes)</a:t>
            </a:r>
          </a:p>
          <a:p>
            <a:pPr lvl="0"/>
            <a:r>
              <a:rPr lang="en-IN" noProof="0" dirty="0"/>
              <a:t>C:\code\agenticai\14_advanced\08_langgraph_cycles_HIL_persistence\human_approval_gate.py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E62F4-B7A2-AC84-87CD-92497E728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903" y="1748845"/>
            <a:ext cx="2770172" cy="4100295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3053DFA5-A37F-45FE-F786-C75FC1EBA22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14_advanced/08_langgraph_cycles_HIL_persistence/human_approval_gate.py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82515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1146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 current graph state, current node, conversation history, variables, thread identifier, pending interrupts</a:t>
            </a:r>
          </a:p>
          <a:p>
            <a:r>
              <a:rPr lang="en-US" dirty="0"/>
              <a:t>Without persistence: Graph → State → RAM -&gt; program ends -&gt; LOST</a:t>
            </a:r>
          </a:p>
          <a:p>
            <a:r>
              <a:rPr lang="en-US" dirty="0"/>
              <a:t>With persistence: Graph → State → SQLite database -&gt; program ends -&gt; RETAINED</a:t>
            </a:r>
            <a:endParaRPr lang="en-IN" noProof="0" dirty="0"/>
          </a:p>
          <a:p>
            <a:r>
              <a:rPr lang="en-IN" noProof="0" dirty="0"/>
              <a:t>C:\code\agenticai\14_advanced\08_langgraph_cycles_HIL_persistence\sqlite_checkpointing_crash_recovery.py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325BB8-FC95-61F7-78C3-F951F3CB6486}"/>
              </a:ext>
            </a:extLst>
          </p:cNvPr>
          <p:cNvSpPr txBox="1">
            <a:spLocks/>
          </p:cNvSpPr>
          <p:nvPr/>
        </p:nvSpPr>
        <p:spPr>
          <a:xfrm>
            <a:off x="6449661" y="216385"/>
            <a:ext cx="5611460" cy="64915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THREAD_ID = "transfer-1”</a:t>
            </a:r>
          </a:p>
          <a:p>
            <a:pPr lvl="1"/>
            <a:r>
              <a:rPr lang="en-IN" dirty="0"/>
              <a:t>Identifies a workflow/execution -&gt; </a:t>
            </a:r>
            <a:r>
              <a:rPr lang="en-GB" dirty="0"/>
              <a:t>"Which saved workflow state are we talking about?“</a:t>
            </a:r>
          </a:p>
          <a:p>
            <a:r>
              <a:rPr lang="en-GB" dirty="0"/>
              <a:t>After debit but before credit, the code deliberately crashes</a:t>
            </a:r>
          </a:p>
          <a:p>
            <a:r>
              <a:rPr lang="en-US" dirty="0"/>
              <a:t>START -&gt; </a:t>
            </a:r>
            <a:r>
              <a:rPr lang="en-US" dirty="0" err="1"/>
              <a:t>debit_account</a:t>
            </a:r>
            <a:r>
              <a:rPr lang="en-US" dirty="0"/>
              <a:t> -&gt; checkpoint saved -&gt; </a:t>
            </a:r>
            <a:r>
              <a:rPr lang="en-US" dirty="0" err="1"/>
              <a:t>credit_account</a:t>
            </a:r>
            <a:r>
              <a:rPr lang="en-US" dirty="0"/>
              <a:t> -&gt; 💥 CRASH</a:t>
            </a:r>
          </a:p>
          <a:p>
            <a:r>
              <a:rPr lang="en-US" dirty="0"/>
              <a:t>When we resume: result = </a:t>
            </a:r>
            <a:r>
              <a:rPr lang="en-US" dirty="0" err="1"/>
              <a:t>app.invoke</a:t>
            </a:r>
            <a:r>
              <a:rPr lang="en-US" dirty="0"/>
              <a:t>(None, config) </a:t>
            </a:r>
          </a:p>
          <a:p>
            <a:pPr lvl="1"/>
            <a:r>
              <a:rPr lang="en-US" dirty="0"/>
              <a:t>None means do not give a new starting state, but resume the existing state associated with the thread ID</a:t>
            </a:r>
          </a:p>
          <a:p>
            <a:r>
              <a:rPr lang="en-US" dirty="0" err="1"/>
              <a:t>LangGraph</a:t>
            </a:r>
            <a:r>
              <a:rPr lang="en-US" dirty="0"/>
              <a:t> looks for transfer-1 and finds something like this</a:t>
            </a:r>
          </a:p>
          <a:p>
            <a:pPr lvl="1"/>
            <a:r>
              <a:rPr lang="en-US" dirty="0"/>
              <a:t>{</a:t>
            </a:r>
          </a:p>
          <a:p>
            <a:pPr lvl="1"/>
            <a:r>
              <a:rPr lang="en-US" dirty="0"/>
              <a:t>    "amount": 250.00,</a:t>
            </a:r>
          </a:p>
          <a:p>
            <a:pPr lvl="1"/>
            <a:r>
              <a:rPr lang="en-US" dirty="0"/>
              <a:t>    "</a:t>
            </a:r>
            <a:r>
              <a:rPr lang="en-US" dirty="0" err="1"/>
              <a:t>completed_steps</a:t>
            </a:r>
            <a:r>
              <a:rPr lang="en-US" dirty="0"/>
              <a:t>": [</a:t>
            </a:r>
          </a:p>
          <a:p>
            <a:pPr lvl="1"/>
            <a:r>
              <a:rPr lang="en-US" dirty="0"/>
              <a:t>        "</a:t>
            </a:r>
            <a:r>
              <a:rPr lang="en-US" dirty="0" err="1"/>
              <a:t>debit_account</a:t>
            </a:r>
            <a:r>
              <a:rPr lang="en-US" dirty="0"/>
              <a:t>"</a:t>
            </a:r>
          </a:p>
          <a:p>
            <a:pPr lvl="1"/>
            <a:r>
              <a:rPr lang="en-US" dirty="0"/>
              <a:t>    ]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So it does not run the whole graph, but instead, </a:t>
            </a:r>
            <a:r>
              <a:rPr lang="en-IN" dirty="0"/>
              <a:t>starts running </a:t>
            </a:r>
            <a:r>
              <a:rPr lang="en-IN" dirty="0" err="1"/>
              <a:t>credit_account</a:t>
            </a:r>
            <a:r>
              <a:rPr lang="en-IN" dirty="0"/>
              <a:t> node</a:t>
            </a:r>
          </a:p>
          <a:p>
            <a:pPr lvl="1"/>
            <a:r>
              <a:rPr lang="en-IN" dirty="0"/>
              <a:t>It had </a:t>
            </a:r>
            <a:r>
              <a:rPr lang="en-IN" dirty="0" err="1"/>
              <a:t>credit_attempts</a:t>
            </a:r>
            <a:r>
              <a:rPr lang="en-IN" dirty="0"/>
              <a:t> = 1, to which it adds 1, so it is 2</a:t>
            </a:r>
          </a:p>
          <a:p>
            <a:pPr lvl="1"/>
            <a:r>
              <a:rPr lang="en-IN" dirty="0"/>
              <a:t>Now the code will not crash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BC024DCC-02D0-0A29-CEBE-BB6F82CC71C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14_advanced/08_langgraph_cycles_HIL_persistence/human_approval_gate.py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2317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3F7C-4194-D103-03F6-EA6E3653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UX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EF6E-16EC-0DAB-D583-360EF26E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good HITL experience should provide</a:t>
            </a:r>
          </a:p>
          <a:p>
            <a:pPr lvl="1"/>
            <a:r>
              <a:rPr lang="en-GB" dirty="0"/>
              <a:t>Clear AI recommendation </a:t>
            </a:r>
          </a:p>
          <a:p>
            <a:pPr lvl="1"/>
            <a:r>
              <a:rPr lang="en-GB" dirty="0"/>
              <a:t>Supporting evidence </a:t>
            </a:r>
          </a:p>
          <a:p>
            <a:pPr lvl="1"/>
            <a:r>
              <a:rPr lang="en-GB" dirty="0"/>
              <a:t>Confidence score </a:t>
            </a:r>
          </a:p>
          <a:p>
            <a:pPr lvl="1"/>
            <a:r>
              <a:rPr lang="en-GB" dirty="0"/>
              <a:t>Retrieved documents </a:t>
            </a:r>
          </a:p>
          <a:p>
            <a:pPr lvl="1"/>
            <a:r>
              <a:rPr lang="en-GB" dirty="0"/>
              <a:t>Reasoning summary </a:t>
            </a:r>
          </a:p>
          <a:p>
            <a:pPr lvl="1"/>
            <a:r>
              <a:rPr lang="en-GB" dirty="0"/>
              <a:t>Action buttons</a:t>
            </a:r>
          </a:p>
          <a:p>
            <a:r>
              <a:rPr lang="en-GB" dirty="0"/>
              <a:t>Code: </a:t>
            </a:r>
            <a:r>
              <a:rPr lang="en-US" dirty="0"/>
              <a:t>C:\code\agenticai\15_real\support_ticketing_agent_hitl.py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2AD6B4E-0DEC-3E0D-8FB8-E59A471CAC4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15_real/support_ticketing_agent_hitl.py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6972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025C8-024D-5AA7-0011-35AA3C93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Code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E6736-9086-F266-FEE6-9947CEC38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Long term memory (in </a:t>
            </a:r>
            <a:r>
              <a:rPr lang="en-IN" dirty="0" err="1"/>
              <a:t>ChromaDB</a:t>
            </a:r>
            <a:r>
              <a:rPr lang="en-IN" dirty="0"/>
              <a:t>) using </a:t>
            </a:r>
            <a:r>
              <a:rPr lang="en-IN" dirty="0" err="1"/>
              <a:t>LangChain</a:t>
            </a:r>
            <a:r>
              <a:rPr lang="en-IN" dirty="0"/>
              <a:t>: </a:t>
            </a:r>
            <a:r>
              <a:rPr lang="en-US" dirty="0"/>
              <a:t>C:\code\agenticai\15_real\langchain_long_term_memory_rag.py</a:t>
            </a:r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6C0E1265-CF98-C262-DEA5-A8760A3497F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15_real/support_ticketing_agent_hitl.py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4652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</a:t>
            </a:r>
          </a:p>
          <a:p>
            <a:pPr lvl="1"/>
            <a:r>
              <a:rPr lang="en-IN" noProof="0" dirty="0"/>
              <a:t>Current graph state </a:t>
            </a:r>
          </a:p>
          <a:p>
            <a:pPr lvl="1"/>
            <a:r>
              <a:rPr lang="en-IN" noProof="0" dirty="0"/>
              <a:t>Current node </a:t>
            </a:r>
          </a:p>
          <a:p>
            <a:pPr lvl="1"/>
            <a:r>
              <a:rPr lang="en-IN" noProof="0" dirty="0"/>
              <a:t>Conversation history </a:t>
            </a:r>
          </a:p>
          <a:p>
            <a:pPr lvl="1"/>
            <a:r>
              <a:rPr lang="en-IN" noProof="0" dirty="0"/>
              <a:t>Variables </a:t>
            </a:r>
          </a:p>
          <a:p>
            <a:pPr lvl="1"/>
            <a:r>
              <a:rPr lang="en-IN" noProof="0" dirty="0"/>
              <a:t>Thread identifier </a:t>
            </a:r>
          </a:p>
          <a:p>
            <a:pPr lvl="1"/>
            <a:r>
              <a:rPr lang="en-IN" noProof="0" dirty="0"/>
              <a:t>Pending interrupts</a:t>
            </a:r>
          </a:p>
          <a:p>
            <a:r>
              <a:rPr lang="en-IN" noProof="0" dirty="0" err="1"/>
              <a:t>Checkpointer</a:t>
            </a:r>
            <a:r>
              <a:rPr lang="en-IN" noProof="0" dirty="0"/>
              <a:t> (</a:t>
            </a:r>
            <a:r>
              <a:rPr lang="en-IN" i="1" noProof="0" dirty="0"/>
              <a:t>Where was the agent?</a:t>
            </a:r>
            <a:r>
              <a:rPr lang="en-IN" noProof="0" dirty="0"/>
              <a:t>) ≠ Memory (</a:t>
            </a:r>
            <a:r>
              <a:rPr lang="en-IN" i="1" noProof="0" dirty="0"/>
              <a:t>What does the agent know?</a:t>
            </a:r>
            <a:r>
              <a:rPr lang="en-IN" noProof="0" dirty="0"/>
              <a:t>)</a:t>
            </a:r>
          </a:p>
          <a:p>
            <a:r>
              <a:rPr lang="en-IN" noProof="0" dirty="0"/>
              <a:t>C:\code\agenticai\14_advanced\08_langgraph_cycles_HIL_persistence\sqlite_checkpointing_crash_recovery.py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E1CF841A-6447-8803-A01E-BA008C56F5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3_langgraph/3_4_langgraph_memory.py, 14_advanced/08_langgraph_cycles_HIL_persistence/sqlite_checkpointing_crash_recovery.py</a:t>
            </a:r>
          </a:p>
        </p:txBody>
      </p:sp>
    </p:spTree>
    <p:extLst>
      <p:ext uri="{BB962C8B-B14F-4D97-AF65-F5344CB8AC3E}">
        <p14:creationId xmlns:p14="http://schemas.microsoft.com/office/powerpoint/2010/main" val="418445466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E079-473F-215D-559A-B71E0FFB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57" y="363176"/>
            <a:ext cx="10459484" cy="1318489"/>
          </a:xfrm>
        </p:spPr>
        <p:txBody>
          <a:bodyPr>
            <a:normAutofit/>
          </a:bodyPr>
          <a:lstStyle/>
          <a:p>
            <a:r>
              <a:rPr lang="en-IN" dirty="0"/>
              <a:t>State Schema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AF8C-8072-3337-98B8-5FFBDE4A6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58" y="1815883"/>
            <a:ext cx="3609732" cy="4328117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State</a:t>
            </a:r>
            <a:r>
              <a:rPr lang="en-GB" dirty="0"/>
              <a:t>: A structured data object that stores all the information an agent needs while executing a workflow</a:t>
            </a:r>
          </a:p>
          <a:p>
            <a:r>
              <a:rPr lang="en-GB" dirty="0"/>
              <a:t>As the workflow progresses, each node reads the current state and updates it</a:t>
            </a:r>
          </a:p>
          <a:p>
            <a:r>
              <a:rPr lang="en-GB" dirty="0"/>
              <a:t>Initial State -&gt; Agent Node A (Read and Update) -&gt; Updated State -&gt; Agent Node B (Read and Update) -&gt; Updated State -&gt; Final Response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8131DE-8E39-B624-A40F-3E70FC249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417467"/>
              </p:ext>
            </p:extLst>
          </p:nvPr>
        </p:nvGraphicFramePr>
        <p:xfrm>
          <a:off x="5239709" y="2280319"/>
          <a:ext cx="6672130" cy="3137841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688006">
                  <a:extLst>
                    <a:ext uri="{9D8B030D-6E8A-4147-A177-3AD203B41FA5}">
                      <a16:colId xmlns:a16="http://schemas.microsoft.com/office/drawing/2014/main" val="2021403941"/>
                    </a:ext>
                  </a:extLst>
                </a:gridCol>
                <a:gridCol w="3984124">
                  <a:extLst>
                    <a:ext uri="{9D8B030D-6E8A-4147-A177-3AD203B41FA5}">
                      <a16:colId xmlns:a16="http://schemas.microsoft.com/office/drawing/2014/main" val="2925762873"/>
                    </a:ext>
                  </a:extLst>
                </a:gridCol>
              </a:tblGrid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438816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Conversation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334593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 err="1"/>
                        <a:t>user_query</a:t>
                      </a:r>
                      <a:endParaRPr lang="en-GB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Current user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6154603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retrieved_docs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Retrieved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812220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tool_results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Results returned by tools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934045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Intermediate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996299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final_answer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Final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124531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 preferences and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657529"/>
                  </a:ext>
                </a:extLst>
              </a:tr>
              <a:tr h="348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Current workflow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995579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E421F8A2-8330-CAC2-DB7F-17164329AC9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0527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3C05-FE1B-2A93-053E-CE95BCC4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481" y="344898"/>
            <a:ext cx="3553323" cy="1252128"/>
          </a:xfrm>
        </p:spPr>
        <p:txBody>
          <a:bodyPr>
            <a:normAutofit/>
          </a:bodyPr>
          <a:lstStyle/>
          <a:p>
            <a:r>
              <a:rPr lang="en-IN" sz="4100" dirty="0"/>
              <a:t>Example of State Schema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5862-5750-714E-5047-18117550F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0" y="1724485"/>
            <a:ext cx="3414859" cy="4110276"/>
          </a:xfrm>
        </p:spPr>
        <p:txBody>
          <a:bodyPr>
            <a:normAutofit/>
          </a:bodyPr>
          <a:lstStyle/>
          <a:p>
            <a:r>
              <a:rPr lang="en-GB" sz="2700" dirty="0"/>
              <a:t>Agent State</a:t>
            </a:r>
          </a:p>
          <a:p>
            <a:pPr lvl="1"/>
            <a:r>
              <a:rPr lang="en-GB" sz="2300" dirty="0"/>
              <a:t>messages</a:t>
            </a:r>
          </a:p>
          <a:p>
            <a:pPr lvl="1"/>
            <a:r>
              <a:rPr lang="en-GB" sz="2300" dirty="0" err="1"/>
              <a:t>user_query</a:t>
            </a:r>
            <a:endParaRPr lang="en-GB" sz="2300" dirty="0"/>
          </a:p>
          <a:p>
            <a:pPr lvl="1"/>
            <a:r>
              <a:rPr lang="en-GB" sz="2300" dirty="0" err="1"/>
              <a:t>retrieved_docs</a:t>
            </a:r>
            <a:endParaRPr lang="en-GB" sz="2300" dirty="0"/>
          </a:p>
          <a:p>
            <a:pPr lvl="1"/>
            <a:r>
              <a:rPr lang="en-GB" sz="2300" dirty="0" err="1"/>
              <a:t>tool_results</a:t>
            </a:r>
            <a:endParaRPr lang="en-GB" sz="2300" dirty="0"/>
          </a:p>
          <a:p>
            <a:pPr lvl="1"/>
            <a:r>
              <a:rPr lang="en-GB" sz="2300" dirty="0"/>
              <a:t>reasoning</a:t>
            </a:r>
          </a:p>
          <a:p>
            <a:pPr lvl="1"/>
            <a:r>
              <a:rPr lang="en-GB" sz="2300" dirty="0" err="1"/>
              <a:t>final_answer</a:t>
            </a:r>
            <a:endParaRPr lang="en-GB" sz="2300" dirty="0"/>
          </a:p>
          <a:p>
            <a:pPr marL="0" indent="0">
              <a:buNone/>
            </a:pPr>
            <a:r>
              <a:rPr lang="en-GB" sz="27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AC6D7-C675-01BD-A2AB-8897B92BEE30}"/>
              </a:ext>
            </a:extLst>
          </p:cNvPr>
          <p:cNvSpPr txBox="1">
            <a:spLocks/>
          </p:cNvSpPr>
          <p:nvPr/>
        </p:nvSpPr>
        <p:spPr>
          <a:xfrm>
            <a:off x="4808079" y="344898"/>
            <a:ext cx="6731917" cy="58435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User asks: </a:t>
            </a:r>
            <a:r>
              <a:rPr lang="en-GB" sz="1200" dirty="0"/>
              <a:t>Am I eligible for a ₹50 lakh home loan?</a:t>
            </a:r>
          </a:p>
          <a:p>
            <a:endParaRPr lang="en-GB" sz="1200" dirty="0"/>
          </a:p>
          <a:p>
            <a:r>
              <a:rPr lang="en-GB" sz="1200" b="1" dirty="0"/>
              <a:t>Initial State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Everything else empty</a:t>
            </a:r>
          </a:p>
          <a:p>
            <a:endParaRPr lang="en-US" sz="1200" dirty="0"/>
          </a:p>
          <a:p>
            <a:r>
              <a:rPr lang="en-GB" sz="1200" b="1" dirty="0"/>
              <a:t>After retrieval</a:t>
            </a:r>
          </a:p>
          <a:p>
            <a:r>
              <a:rPr lang="en-GB" sz="1200" dirty="0"/>
              <a:t>messages</a:t>
            </a:r>
          </a:p>
          <a:p>
            <a:r>
              <a:rPr lang="en-GB" sz="1200" dirty="0" err="1"/>
              <a:t>user_query</a:t>
            </a:r>
            <a:endParaRPr lang="en-GB" sz="1200" dirty="0"/>
          </a:p>
          <a:p>
            <a:r>
              <a:rPr lang="en-GB" sz="1200" dirty="0" err="1"/>
              <a:t>retrieved_docs</a:t>
            </a:r>
            <a:endParaRPr lang="en-GB" sz="1200" dirty="0"/>
          </a:p>
          <a:p>
            <a:endParaRPr lang="en-GB" sz="1200" dirty="0"/>
          </a:p>
          <a:p>
            <a:r>
              <a:rPr lang="en-GB" sz="1200" b="1" dirty="0"/>
              <a:t>After tool execution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After reasoning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r>
              <a:rPr lang="en-US" sz="1200" dirty="0"/>
              <a:t>reasoning</a:t>
            </a:r>
          </a:p>
          <a:p>
            <a:endParaRPr lang="en-US" sz="1200" dirty="0"/>
          </a:p>
          <a:p>
            <a:r>
              <a:rPr lang="en-US" sz="1200" b="1" dirty="0"/>
              <a:t>Final State</a:t>
            </a:r>
          </a:p>
          <a:p>
            <a:r>
              <a:rPr lang="en-US" sz="1200" dirty="0"/>
              <a:t>messages</a:t>
            </a:r>
          </a:p>
          <a:p>
            <a:r>
              <a:rPr lang="en-US" sz="1200" dirty="0" err="1"/>
              <a:t>user_query</a:t>
            </a:r>
            <a:endParaRPr lang="en-US" sz="1200" dirty="0"/>
          </a:p>
          <a:p>
            <a:r>
              <a:rPr lang="en-US" sz="1200" dirty="0" err="1"/>
              <a:t>retrieved_docs</a:t>
            </a:r>
            <a:endParaRPr lang="en-US" sz="1200" dirty="0"/>
          </a:p>
          <a:p>
            <a:r>
              <a:rPr lang="en-US" sz="1200" dirty="0" err="1"/>
              <a:t>tool_results</a:t>
            </a:r>
            <a:endParaRPr lang="en-US" sz="1200" dirty="0"/>
          </a:p>
          <a:p>
            <a:r>
              <a:rPr lang="en-US" sz="1200" dirty="0"/>
              <a:t>reasoning</a:t>
            </a:r>
          </a:p>
          <a:p>
            <a:r>
              <a:rPr lang="en-US" sz="1200" dirty="0" err="1"/>
              <a:t>Final_answer</a:t>
            </a:r>
            <a:endParaRPr lang="en-US" sz="1200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5907C4A1-2AFC-07EC-BB6D-B2FF5CBAD77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15_real/langgraph_reducer_return_policy.py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79438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8D5B-9116-11D8-AE7F-93FB184C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63" y="359176"/>
            <a:ext cx="10344273" cy="1303966"/>
          </a:xfrm>
        </p:spPr>
        <p:txBody>
          <a:bodyPr>
            <a:normAutofit/>
          </a:bodyPr>
          <a:lstStyle/>
          <a:p>
            <a:r>
              <a:rPr lang="en-IN" noProof="0" dirty="0"/>
              <a:t>Subgraphs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31D8-9621-A242-260C-743CE10F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863" y="1795881"/>
            <a:ext cx="10344273" cy="4280442"/>
          </a:xfrm>
        </p:spPr>
        <p:txBody>
          <a:bodyPr>
            <a:normAutofit lnSpcReduction="10000"/>
          </a:bodyPr>
          <a:lstStyle/>
          <a:p>
            <a:r>
              <a:rPr lang="en-IN" b="1" noProof="0" dirty="0"/>
              <a:t>Subgraph</a:t>
            </a:r>
            <a:r>
              <a:rPr lang="en-IN" noProof="0" dirty="0"/>
              <a:t> = A graph inside another graph -&gt; </a:t>
            </a:r>
            <a:r>
              <a:rPr lang="en-IN" b="1" noProof="0" dirty="0"/>
              <a:t>Subgraph composition pattern</a:t>
            </a:r>
          </a:p>
          <a:p>
            <a:r>
              <a:rPr lang="en-IN" noProof="0" dirty="0"/>
              <a:t>Instead of placing every node into one huge graph, you divide the workflow into smaller, reusable graphs</a:t>
            </a:r>
          </a:p>
          <a:p>
            <a:r>
              <a:rPr lang="en-IN" noProof="0" dirty="0"/>
              <a:t>Each subgraph performs one well-defined responsibility</a:t>
            </a:r>
          </a:p>
          <a:p>
            <a:r>
              <a:rPr lang="en-IN" noProof="0" dirty="0"/>
              <a:t>Breaking a large problem into smaller problems</a:t>
            </a:r>
          </a:p>
          <a:p>
            <a:r>
              <a:rPr lang="en-IN" noProof="0" dirty="0"/>
              <a:t>C:\code\agenticai\14_advanced\08_langgraph_cycles_HIL_persistence\simple_subgraph_example.py</a:t>
            </a:r>
          </a:p>
          <a:p>
            <a:r>
              <a:rPr lang="en-IN" noProof="0" dirty="0"/>
              <a:t>14_advanced\08_langgraph_cycles_HIL_persistence\medical_diagnosis_subgraphs.py</a:t>
            </a:r>
          </a:p>
          <a:p>
            <a:endParaRPr lang="en-IN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2CDB946-29DE-7292-2B2A-53E70620A12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14_advanced/08_langgraph_cycles_HIL_persistence/simple_subgraph_example.py</a:t>
            </a:r>
          </a:p>
        </p:txBody>
      </p:sp>
    </p:spTree>
    <p:extLst>
      <p:ext uri="{BB962C8B-B14F-4D97-AF65-F5344CB8AC3E}">
        <p14:creationId xmlns:p14="http://schemas.microsoft.com/office/powerpoint/2010/main" val="79181542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CEFD-FCAC-AD81-A1CB-D2E2A075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78" y="346897"/>
            <a:ext cx="9990643" cy="1259389"/>
          </a:xfrm>
        </p:spPr>
        <p:txBody>
          <a:bodyPr>
            <a:normAutofit/>
          </a:bodyPr>
          <a:lstStyle/>
          <a:p>
            <a:r>
              <a:rPr lang="en-IN" sz="4200" dirty="0"/>
              <a:t>Guardrails</a:t>
            </a:r>
            <a:endParaRPr lang="en-GB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421C-BAC5-DCCC-5015-11BD26357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678" y="1734487"/>
            <a:ext cx="9990643" cy="4134112"/>
          </a:xfrm>
        </p:spPr>
        <p:txBody>
          <a:bodyPr>
            <a:normAutofit/>
          </a:bodyPr>
          <a:lstStyle/>
          <a:p>
            <a:r>
              <a:rPr lang="en-US" sz="2700" dirty="0"/>
              <a:t>A safety control mechanism that ensures the model operates within defined limits by preventing unsafe, harmful, incorrect, off-topic, or policy-violating behavior</a:t>
            </a:r>
            <a:endParaRPr lang="en-GB" sz="27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EC590-CE2D-1581-D49C-307E41D88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7319"/>
              </p:ext>
            </p:extLst>
          </p:nvPr>
        </p:nvGraphicFramePr>
        <p:xfrm>
          <a:off x="1283051" y="3053327"/>
          <a:ext cx="10093434" cy="32717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22806">
                  <a:extLst>
                    <a:ext uri="{9D8B030D-6E8A-4147-A177-3AD203B41FA5}">
                      <a16:colId xmlns:a16="http://schemas.microsoft.com/office/drawing/2014/main" val="1500301468"/>
                    </a:ext>
                  </a:extLst>
                </a:gridCol>
                <a:gridCol w="3587745">
                  <a:extLst>
                    <a:ext uri="{9D8B030D-6E8A-4147-A177-3AD203B41FA5}">
                      <a16:colId xmlns:a16="http://schemas.microsoft.com/office/drawing/2014/main" val="3207693654"/>
                    </a:ext>
                  </a:extLst>
                </a:gridCol>
                <a:gridCol w="3982883">
                  <a:extLst>
                    <a:ext uri="{9D8B030D-6E8A-4147-A177-3AD203B41FA5}">
                      <a16:colId xmlns:a16="http://schemas.microsoft.com/office/drawing/2014/main" val="761881727"/>
                    </a:ext>
                  </a:extLst>
                </a:gridCol>
              </a:tblGrid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Type of Guardrail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Purpose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Examples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339299965"/>
                  </a:ext>
                </a:extLst>
              </a:tr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Keyword / Phrase Blocking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Stop harmful or restricted 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300"/>
                        <a:t>Block: “bomb”, “hack”, “virus”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288825984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Input Validation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Reject malformed, long, or suspicious inputs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Max length, no URLs, no code blocks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62782866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Allow-List Topics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Only permit certain categories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Only allow: product queries, reviews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9346936"/>
                  </a:ext>
                </a:extLst>
              </a:tr>
              <a:tr h="43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Semantic Safety (Embedding-Based)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Detect harmful intent beyond keywords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Check if query is similar to “harm”, “illegal activity”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854544573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Prompt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Restrict what the LLM is allowed to answer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“Use context only”, “Don’t produce code”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594829134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Output Filtering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Post-process model output before showing it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Remove sensitive data, profanity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284521177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Tool-Use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Restrict which tools the agent is allowed to call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Don't allow web search for medical queries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51056724"/>
                  </a:ext>
                </a:extLst>
              </a:tr>
              <a:tr h="24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Rate and Abuse Control</a:t>
                      </a:r>
                      <a:endParaRPr lang="en-GB" sz="13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Prevent spam or automated misuse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Throttling, user authentication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245731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Content Policy Enforcement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Ensure model answers follow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Safety, factuality, privacy constraints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5607586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Hallucination Reduction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Prevent LLM from making up facts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Use retrieval-only answers; citations required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8350047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Business-Logic Guardrails</a:t>
                      </a:r>
                      <a:endParaRPr lang="en-GB" sz="13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Enforce domain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“Don’t show pricing for unlaunched products”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814944562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9E2AC68-3074-F090-92F2-0BBCA65110B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3_langgraph/3_10_1_langgraph_create_guardrails.py, 3_10_2_langgraph_test_guardrails_flask.py, 3_10_3_langgraph_guardrails_bank_flask.py</a:t>
            </a:r>
          </a:p>
        </p:txBody>
      </p:sp>
    </p:spTree>
    <p:extLst>
      <p:ext uri="{BB962C8B-B14F-4D97-AF65-F5344CB8AC3E}">
        <p14:creationId xmlns:p14="http://schemas.microsoft.com/office/powerpoint/2010/main" val="183888158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34E9-D675-8ECE-B3F1-7629C9DCE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60AB2-276B-7153-FC61-B924A1484E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Multi-Agent Orchestration with CrewAI</a:t>
            </a:r>
          </a:p>
          <a:p>
            <a:r>
              <a:rPr lang="en-US"/>
              <a:t>Sat 8-Nov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95449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B860-C74C-4981-7A7B-540F99D0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6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8062F-3F4D-9DEA-738B-82816F691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CrewAI concepts: agents, tasks, crews, process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Building crews for real tasks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Crew vs Flow, and conditional routing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Hierarchical crews and manager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Human-in-the-loop and controlled autonomy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Memory and knowledge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Structured outputs and agent-to-agent communication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Guardrails, error handling and reliability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Observability for crews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2000"/>
              <a:t>End-to-end crew application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46100346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70802-1578-3835-C0CD-A1D35049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307" y="356715"/>
            <a:ext cx="10273385" cy="1295030"/>
          </a:xfrm>
        </p:spPr>
        <p:txBody>
          <a:bodyPr>
            <a:normAutofit/>
          </a:bodyPr>
          <a:lstStyle/>
          <a:p>
            <a:r>
              <a:rPr lang="en-US" sz="4300" noProof="0" dirty="0"/>
              <a:t>What is </a:t>
            </a:r>
            <a:r>
              <a:rPr lang="en-US" sz="4300" noProof="0" dirty="0" err="1"/>
              <a:t>CrewAI</a:t>
            </a:r>
            <a:r>
              <a:rPr lang="en-US" sz="4300" noProof="0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1630B-FD8F-7BF1-325D-AA3FA196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307" y="1783574"/>
            <a:ext cx="10273385" cy="4251110"/>
          </a:xfrm>
        </p:spPr>
        <p:txBody>
          <a:bodyPr/>
          <a:lstStyle/>
          <a:p>
            <a:r>
              <a:rPr lang="en-US" sz="2700" b="1" noProof="0" dirty="0" err="1"/>
              <a:t>CrewAI</a:t>
            </a:r>
            <a:r>
              <a:rPr lang="en-US" sz="2700" noProof="0" dirty="0"/>
              <a:t>: Python framework for building multi-agent AI systems </a:t>
            </a:r>
          </a:p>
          <a:p>
            <a:r>
              <a:rPr lang="en-US" sz="2700" noProof="0" dirty="0"/>
              <a:t>Different AI agents collaborate to accomplish complex tasks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077E1-C18C-5CDA-0451-0AFFF4D9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14781"/>
              </p:ext>
            </p:extLst>
          </p:nvPr>
        </p:nvGraphicFramePr>
        <p:xfrm>
          <a:off x="474563" y="2918691"/>
          <a:ext cx="11306522" cy="321897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022906">
                  <a:extLst>
                    <a:ext uri="{9D8B030D-6E8A-4147-A177-3AD203B41FA5}">
                      <a16:colId xmlns:a16="http://schemas.microsoft.com/office/drawing/2014/main" val="3683519550"/>
                    </a:ext>
                  </a:extLst>
                </a:gridCol>
                <a:gridCol w="1929883">
                  <a:extLst>
                    <a:ext uri="{9D8B030D-6E8A-4147-A177-3AD203B41FA5}">
                      <a16:colId xmlns:a16="http://schemas.microsoft.com/office/drawing/2014/main" val="2336983210"/>
                    </a:ext>
                  </a:extLst>
                </a:gridCol>
                <a:gridCol w="2189019">
                  <a:extLst>
                    <a:ext uri="{9D8B030D-6E8A-4147-A177-3AD203B41FA5}">
                      <a16:colId xmlns:a16="http://schemas.microsoft.com/office/drawing/2014/main" val="1490546794"/>
                    </a:ext>
                  </a:extLst>
                </a:gridCol>
                <a:gridCol w="3232382">
                  <a:extLst>
                    <a:ext uri="{9D8B030D-6E8A-4147-A177-3AD203B41FA5}">
                      <a16:colId xmlns:a16="http://schemas.microsoft.com/office/drawing/2014/main" val="1523565383"/>
                    </a:ext>
                  </a:extLst>
                </a:gridCol>
                <a:gridCol w="2932332">
                  <a:extLst>
                    <a:ext uri="{9D8B030D-6E8A-4147-A177-3AD203B41FA5}">
                      <a16:colId xmlns:a16="http://schemas.microsoft.com/office/drawing/2014/main" val="2842640331"/>
                    </a:ext>
                  </a:extLst>
                </a:gridCol>
              </a:tblGrid>
              <a:tr h="239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Component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Definition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Analogy / Example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Key Properties / Responsibilities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Examples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878484082"/>
                  </a:ext>
                </a:extLst>
              </a:tr>
              <a:tr h="8467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1. Agents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Individual AI entities with specific roles, goals, and capabilities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Like team members in a software development team (developer, tester, architect)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Role</a:t>
                      </a:r>
                      <a:r>
                        <a:rPr lang="en-US" sz="1300" noProof="0" dirty="0"/>
                        <a:t>: What they do, </a:t>
                      </a:r>
                      <a:r>
                        <a:rPr lang="en-US" sz="1300" b="1" noProof="0" dirty="0"/>
                        <a:t>Goal</a:t>
                      </a:r>
                      <a:r>
                        <a:rPr lang="en-US" sz="1300" noProof="0" dirty="0"/>
                        <a:t>: What they aim to achieve, </a:t>
                      </a:r>
                      <a:r>
                        <a:rPr lang="en-US" sz="1300" b="1" noProof="0" dirty="0"/>
                        <a:t>Backstory</a:t>
                      </a:r>
                      <a:r>
                        <a:rPr lang="en-US" sz="1300" noProof="0" dirty="0"/>
                        <a:t>: Context to improve performance, </a:t>
                      </a:r>
                      <a:r>
                        <a:rPr lang="en-US" sz="1300" b="1" noProof="0" dirty="0"/>
                        <a:t>Tools</a:t>
                      </a:r>
                      <a:r>
                        <a:rPr lang="en-US" sz="1300" noProof="0" dirty="0"/>
                        <a:t>: Functions they can execute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A summarizer agent, a data extractor, a translator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964724608"/>
                  </a:ext>
                </a:extLst>
              </a:tr>
              <a:tr h="820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2. Tasks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Specific assignments given to agents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Work assigned to a team member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Description</a:t>
                      </a:r>
                      <a:r>
                        <a:rPr lang="en-US" sz="1300" noProof="0" dirty="0"/>
                        <a:t>: What needs to be done- </a:t>
                      </a:r>
                      <a:r>
                        <a:rPr lang="en-US" sz="1300" b="1" noProof="0" dirty="0"/>
                        <a:t>Expected output</a:t>
                      </a:r>
                      <a:r>
                        <a:rPr lang="en-US" sz="1300" noProof="0" dirty="0"/>
                        <a:t>: Format and content requirements </a:t>
                      </a:r>
                      <a:r>
                        <a:rPr lang="en-US" sz="1300" b="1" noProof="0" dirty="0"/>
                        <a:t>Agent assignment</a:t>
                      </a:r>
                      <a:r>
                        <a:rPr lang="en-US" sz="1300" noProof="0" dirty="0"/>
                        <a:t>: Who does the work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"Extract customer names from the document", "Translate text to Spanish"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592904924"/>
                  </a:ext>
                </a:extLst>
              </a:tr>
              <a:tr h="541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3. Crew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The orchestrator that manages agents and tasks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Project manager or team lead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Task delegation</a:t>
                      </a:r>
                      <a:r>
                        <a:rPr lang="en-US" sz="1300" b="0" noProof="0" dirty="0"/>
                        <a:t>,</a:t>
                      </a:r>
                      <a:r>
                        <a:rPr lang="en-US" sz="1300" b="1" noProof="0" dirty="0"/>
                        <a:t> Agent coordination</a:t>
                      </a:r>
                      <a:r>
                        <a:rPr lang="en-US" sz="1300" b="0" noProof="0" dirty="0"/>
                        <a:t>,</a:t>
                      </a:r>
                      <a:r>
                        <a:rPr lang="en-US" sz="1300" noProof="0" dirty="0"/>
                        <a:t> </a:t>
                      </a:r>
                      <a:r>
                        <a:rPr lang="en-US" sz="1300" b="1" noProof="0" dirty="0"/>
                        <a:t>Process management</a:t>
                      </a:r>
                      <a:r>
                        <a:rPr lang="en-US" sz="1300" b="0" noProof="0" dirty="0"/>
                        <a:t>, </a:t>
                      </a:r>
                      <a:r>
                        <a:rPr lang="en-US" sz="1300" b="1" noProof="0" dirty="0"/>
                        <a:t>Result aggregation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Assigning tasks, scheduling workflows, combining outputs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52007070"/>
                  </a:ext>
                </a:extLst>
              </a:tr>
              <a:tr h="745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4. Tools</a:t>
                      </a:r>
                      <a:endParaRPr lang="en-US" sz="13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Functions that agents can use to perform actions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Software utilities or APIs available to team members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Execute file operations, API calls, web scraping, database queries, Custom tools can be created for domain-specific needs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File readers, calculators, database connectors, REST APIs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16857960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0257447F-49E1-4700-16F1-8113EC2C740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41675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3DE0-B6DE-27CB-D4A6-CD6ABB8B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Sample </a:t>
            </a:r>
            <a:r>
              <a:rPr lang="en-US" noProof="0" dirty="0" err="1"/>
              <a:t>CrewAI</a:t>
            </a:r>
            <a:r>
              <a:rPr lang="en-US" noProof="0" dirty="0"/>
              <a:t> Usage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F2F30-4EB7-E511-9DC8-FE9056D712B7}"/>
              </a:ext>
            </a:extLst>
          </p:cNvPr>
          <p:cNvSpPr txBox="1"/>
          <p:nvPr/>
        </p:nvSpPr>
        <p:spPr>
          <a:xfrm>
            <a:off x="1570535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1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(Research)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6DB5E-78FA-8FC1-B7EF-074246A2F906}"/>
              </a:ext>
            </a:extLst>
          </p:cNvPr>
          <p:cNvSpPr txBox="1"/>
          <p:nvPr/>
        </p:nvSpPr>
        <p:spPr>
          <a:xfrm>
            <a:off x="4515577" y="2398857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2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(Analysis)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0112A-BC17-9807-8D16-26B1486FA02A}"/>
              </a:ext>
            </a:extLst>
          </p:cNvPr>
          <p:cNvSpPr txBox="1"/>
          <p:nvPr/>
        </p:nvSpPr>
        <p:spPr>
          <a:xfrm>
            <a:off x="7460620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3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(Writing)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80CA5-0E5F-3D38-C802-DC6933E64F70}"/>
              </a:ext>
            </a:extLst>
          </p:cNvPr>
          <p:cNvSpPr txBox="1"/>
          <p:nvPr/>
        </p:nvSpPr>
        <p:spPr>
          <a:xfrm>
            <a:off x="4515577" y="4477780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Crew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(Orchestrator)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A36E8-31A3-CF8D-27DD-50A75529AAF0}"/>
              </a:ext>
            </a:extLst>
          </p:cNvPr>
          <p:cNvCxnSpPr/>
          <p:nvPr/>
        </p:nvCxnSpPr>
        <p:spPr>
          <a:xfrm>
            <a:off x="5513739" y="3045188"/>
            <a:ext cx="0" cy="140814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66755D-6C98-E86B-E1C4-A3D7FB7E4C2C}"/>
              </a:ext>
            </a:extLst>
          </p:cNvPr>
          <p:cNvCxnSpPr/>
          <p:nvPr/>
        </p:nvCxnSpPr>
        <p:spPr>
          <a:xfrm>
            <a:off x="2491915" y="3045188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B95750-6FD0-C035-C451-37D2D3ADADA0}"/>
              </a:ext>
            </a:extLst>
          </p:cNvPr>
          <p:cNvCxnSpPr>
            <a:cxnSpLocks/>
          </p:cNvCxnSpPr>
          <p:nvPr/>
        </p:nvCxnSpPr>
        <p:spPr>
          <a:xfrm flipV="1">
            <a:off x="2491915" y="3783243"/>
            <a:ext cx="5904046" cy="1347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709274-DB51-3F2C-C4F7-AB85AD87C93A}"/>
              </a:ext>
            </a:extLst>
          </p:cNvPr>
          <p:cNvCxnSpPr/>
          <p:nvPr/>
        </p:nvCxnSpPr>
        <p:spPr>
          <a:xfrm>
            <a:off x="8388981" y="3048435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emoCallout">
            <a:extLst>
              <a:ext uri="{FF2B5EF4-FFF2-40B4-BE49-F238E27FC236}">
                <a16:creationId xmlns:a16="http://schemas.microsoft.com/office/drawing/2014/main" id="{8558025A-162D-E929-40F0-1870CB13A35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30788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04DA-DC7F-8779-ED9F-5AC768FB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0BD5-503F-0EEC-307D-C6CB8A29B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Basic Crew 		Advanced Crew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06BA7-535A-7C1D-5439-C188CF2F2CE9}"/>
              </a:ext>
            </a:extLst>
          </p:cNvPr>
          <p:cNvSpPr txBox="1"/>
          <p:nvPr/>
        </p:nvSpPr>
        <p:spPr>
          <a:xfrm>
            <a:off x="1204076" y="2465249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4E005-4B37-1CA6-E2CD-1A15B6C398CA}"/>
              </a:ext>
            </a:extLst>
          </p:cNvPr>
          <p:cNvSpPr txBox="1"/>
          <p:nvPr/>
        </p:nvSpPr>
        <p:spPr>
          <a:xfrm>
            <a:off x="1204076" y="3122165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Task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8464A-5F64-802E-3D72-9952B9F4F1B6}"/>
              </a:ext>
            </a:extLst>
          </p:cNvPr>
          <p:cNvSpPr txBox="1"/>
          <p:nvPr/>
        </p:nvSpPr>
        <p:spPr>
          <a:xfrm>
            <a:off x="1204076" y="3779081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Crew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F4E2D-191E-7D28-2DE9-CF49DFD061A9}"/>
              </a:ext>
            </a:extLst>
          </p:cNvPr>
          <p:cNvSpPr txBox="1"/>
          <p:nvPr/>
        </p:nvSpPr>
        <p:spPr>
          <a:xfrm>
            <a:off x="4820086" y="2465249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</a:t>
            </a:r>
            <a:endParaRPr lang="en-GB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CD724-864B-3C87-AD42-73E512D99451}"/>
              </a:ext>
            </a:extLst>
          </p:cNvPr>
          <p:cNvSpPr txBox="1"/>
          <p:nvPr/>
        </p:nvSpPr>
        <p:spPr>
          <a:xfrm>
            <a:off x="4820086" y="3122165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Orchestration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5AB65-EB3F-EDFE-BAEE-8C7962182118}"/>
              </a:ext>
            </a:extLst>
          </p:cNvPr>
          <p:cNvSpPr txBox="1"/>
          <p:nvPr/>
        </p:nvSpPr>
        <p:spPr>
          <a:xfrm>
            <a:off x="4820086" y="3779081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State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0B128-7DE7-CC2D-C631-B156183DF8A3}"/>
              </a:ext>
            </a:extLst>
          </p:cNvPr>
          <p:cNvSpPr txBox="1"/>
          <p:nvPr/>
        </p:nvSpPr>
        <p:spPr>
          <a:xfrm>
            <a:off x="4820086" y="4413110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Control</a:t>
            </a:r>
            <a:endParaRPr lang="en-GB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B054B6-9EF3-F99C-7174-4F3688E2E09E}"/>
              </a:ext>
            </a:extLst>
          </p:cNvPr>
          <p:cNvSpPr txBox="1"/>
          <p:nvPr/>
        </p:nvSpPr>
        <p:spPr>
          <a:xfrm>
            <a:off x="7643268" y="2183159"/>
            <a:ext cx="3867004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Advanced </a:t>
            </a:r>
            <a:r>
              <a:rPr lang="en-IN" dirty="0" err="1"/>
              <a:t>CrewAI</a:t>
            </a:r>
            <a:r>
              <a:rPr lang="en-IN" dirty="0"/>
              <a:t> applications need to answer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should happen next?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Which agent should act?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information should be carried forward?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if the result is poor?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Where should a human intervene?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E95951-A5D6-76F6-71D9-BBB4B1654BD2}"/>
              </a:ext>
            </a:extLst>
          </p:cNvPr>
          <p:cNvSpPr txBox="1"/>
          <p:nvPr/>
        </p:nvSpPr>
        <p:spPr>
          <a:xfrm>
            <a:off x="1430931" y="5430559"/>
            <a:ext cx="706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C:\code\agenticai\14_advanced\13_crew_ai\13_1_crewai_basics.py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82EE5148-1A0A-5166-079E-0A5A773670F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14_advanced/13_crew_ai/13_1_crewai_basics.py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511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0A94-6A59-FFE2-B63D-2461502D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CrewAI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1329A3-69F0-B3B4-EF06-370669F6C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22572"/>
              </p:ext>
            </p:extLst>
          </p:nvPr>
        </p:nvGraphicFramePr>
        <p:xfrm>
          <a:off x="621814" y="1621155"/>
          <a:ext cx="11453850" cy="4048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68476">
                  <a:extLst>
                    <a:ext uri="{9D8B030D-6E8A-4147-A177-3AD203B41FA5}">
                      <a16:colId xmlns:a16="http://schemas.microsoft.com/office/drawing/2014/main" val="2128550961"/>
                    </a:ext>
                  </a:extLst>
                </a:gridCol>
                <a:gridCol w="3385374">
                  <a:extLst>
                    <a:ext uri="{9D8B030D-6E8A-4147-A177-3AD203B41FA5}">
                      <a16:colId xmlns:a16="http://schemas.microsoft.com/office/drawing/2014/main" val="16992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02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1. Document Generator: Create a crew that researches a technology and writes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4_1_crewai_document_generator.py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2. Log Analyzer: Build agents that parse, analyze, and summarize system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4_2_crewai_log_analyzer.py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3. Code Reviewer: Design a multi-agent system for code quality assessment, and a second version to add memory to agents (Explanation on separate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4_3_crewai_Without_Memory.py, 4_3_crewai_With_Memory.py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3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4. Cloud Bill Analysis (We might need </a:t>
                      </a:r>
                      <a:r>
                        <a:rPr lang="en-US" b="1" noProof="0" dirty="0"/>
                        <a:t>pip install pandas</a:t>
                      </a:r>
                      <a:r>
                        <a:rPr lang="en-US" noProof="0" dirty="0"/>
                        <a:t>) (See 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4_4_crewai_cloud_bill.py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5. Add </a:t>
                      </a:r>
                      <a:r>
                        <a:rPr lang="en-US" b="1" noProof="0" dirty="0"/>
                        <a:t>Observability</a:t>
                      </a:r>
                      <a:r>
                        <a:rPr lang="en-US" noProof="0" dirty="0"/>
                        <a:t> Pattern using </a:t>
                      </a:r>
                      <a:r>
                        <a:rPr lang="en-US" b="1" noProof="0" dirty="0" err="1"/>
                        <a:t>LangSmith</a:t>
                      </a:r>
                      <a:endParaRPr lang="en-US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4_5_crewai_observability.py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1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6. Stock Analysis Agent (Obtain API key from https://www.marketaux.com/)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4_6_crewai_stock_analysis.py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7. Customer Service Agent Bot (Accept customer query, Search in our Vector database, Decide priority: Low – Just respond back, Medium – Send email to our customer service address for attention, High – Send message to the ntfy.sh topic)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4_7_crewai_customer_service.py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81715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371F742-3BA3-E253-06F0-DAA3DE5E40B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4_crewai/4_1_crewai_document_generator.py, 4_2_crewai_log_analyzer.py, 4_4_crewai_cloud_bill.py, 4_6_crewai_stock_analysis_flask.py</a:t>
            </a:r>
          </a:p>
        </p:txBody>
      </p:sp>
    </p:spTree>
    <p:extLst>
      <p:ext uri="{BB962C8B-B14F-4D97-AF65-F5344CB8AC3E}">
        <p14:creationId xmlns:p14="http://schemas.microsoft.com/office/powerpoint/2010/main" val="242545870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38A492-E81B-C79A-45C4-34EB7B134DB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18759821-8F55-8B57-01C6-E2B38597329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4_crewai/4_1_crewai_document_generator.py, 4_2_crewai_log_analyzer.py, 4_4_crewai_cloud_bill.py, 4_6_crewai_stock_analysis_flask.py</a:t>
            </a:r>
          </a:p>
        </p:txBody>
      </p:sp>
    </p:spTree>
    <p:extLst>
      <p:ext uri="{BB962C8B-B14F-4D97-AF65-F5344CB8AC3E}">
        <p14:creationId xmlns:p14="http://schemas.microsoft.com/office/powerpoint/2010/main" val="33005782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7BD1-A623-A0A8-DF2A-2BA79FD1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Crew and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4CEF-3B22-A515-0593-D0D7F032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Crew </a:t>
            </a:r>
            <a:r>
              <a:rPr lang="en-IN" dirty="0"/>
              <a:t>= Who does the work?	</a:t>
            </a:r>
            <a:r>
              <a:rPr lang="en-IN" b="1" dirty="0"/>
              <a:t>Flow </a:t>
            </a:r>
            <a:r>
              <a:rPr lang="en-IN" dirty="0"/>
              <a:t>= How does the application run?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7C3568-2428-4E5F-08AF-D21635D2E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34570"/>
              </p:ext>
            </p:extLst>
          </p:nvPr>
        </p:nvGraphicFramePr>
        <p:xfrm>
          <a:off x="894041" y="2626204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21052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75443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0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Team of agents working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Controls the overall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26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Agents perform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 controls what happens next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6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Good for multi-agent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Good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160971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BF4B967F-71DB-E345-7E98-932A4088277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14_advanced/13_crew_ai/13_2_crew_vs_flow.py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8936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AA8D-2874-6F54-AEBF-CEA65AC0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Crew versus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E9B45-52BE-AE35-433A-1CDD370C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Crew					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58704-831C-9C5B-D7C1-E4CA6CD5A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44" y="2432128"/>
            <a:ext cx="2304689" cy="3595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858C38-5C9B-6E98-79E9-50C4E9F00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808" y="2432128"/>
            <a:ext cx="3270100" cy="3669779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0A71974C-4BBF-5342-47ED-C7DBA4239E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14_advanced/13_crew_ai/13_2_crew_vs_flow.py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34684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B9DC-4A3B-8F96-BF68-AB2BC331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Building Blocks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BDCF-6957-A72C-817A-825BE215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Four decorators: @start -&gt; @listen -&gt; @router -&gt; @listen</a:t>
            </a:r>
          </a:p>
          <a:p>
            <a:pPr lvl="0"/>
            <a:r>
              <a:rPr lang="en-GB" b="1" dirty="0"/>
              <a:t>@start</a:t>
            </a:r>
            <a:r>
              <a:rPr lang="en-GB" dirty="0"/>
              <a:t> → where the Flow begins </a:t>
            </a:r>
          </a:p>
          <a:p>
            <a:pPr lvl="0"/>
            <a:r>
              <a:rPr lang="en-GB" b="1" dirty="0"/>
              <a:t>@listen</a:t>
            </a:r>
            <a:r>
              <a:rPr lang="en-GB" dirty="0"/>
              <a:t> → react to another method's output </a:t>
            </a:r>
          </a:p>
          <a:p>
            <a:pPr lvl="0"/>
            <a:r>
              <a:rPr lang="en-GB" b="1" dirty="0"/>
              <a:t>@router</a:t>
            </a:r>
            <a:r>
              <a:rPr lang="en-GB" dirty="0"/>
              <a:t> → decide which path to take </a:t>
            </a:r>
          </a:p>
          <a:p>
            <a:pPr lvl="0"/>
            <a:r>
              <a:rPr lang="en-GB" b="1" dirty="0"/>
              <a:t>State</a:t>
            </a:r>
            <a:r>
              <a:rPr lang="en-GB" dirty="0"/>
              <a:t> → maintain information across the workflow</a:t>
            </a:r>
          </a:p>
          <a:p>
            <a:pPr lvl="0"/>
            <a:r>
              <a:rPr lang="en-GB" dirty="0"/>
              <a:t>Example: </a:t>
            </a:r>
            <a:r>
              <a:rPr lang="en-US" dirty="0"/>
              <a:t> @start -&gt; research() -&gt; @listen -&gt; analyze() -&gt; report()</a:t>
            </a:r>
          </a:p>
          <a:p>
            <a:pPr lvl="0"/>
            <a:r>
              <a:rPr lang="en-US" dirty="0"/>
              <a:t>A flow can maintain a shared state</a:t>
            </a:r>
          </a:p>
          <a:p>
            <a:pPr lvl="1"/>
            <a:r>
              <a:rPr lang="en-US" dirty="0"/>
              <a:t>FLOW STATE = [topic, </a:t>
            </a:r>
            <a:r>
              <a:rPr lang="en-US" dirty="0" err="1"/>
              <a:t>search_results</a:t>
            </a:r>
            <a:r>
              <a:rPr lang="en-US" dirty="0"/>
              <a:t>, confidence, decision]</a:t>
            </a:r>
          </a:p>
          <a:p>
            <a:r>
              <a:rPr lang="en-US" dirty="0"/>
              <a:t>Different steps can Read -&gt; Update -&gt; Pass forward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C5EC48C-11B5-FB9B-F1E7-84897D05B1B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14_advanced/13_crew_ai/13_2_crew_vs_flow.py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3347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CC1A-E158-B2B5-9935-73749F05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246" y="293108"/>
            <a:ext cx="8441508" cy="1064110"/>
          </a:xfrm>
        </p:spPr>
        <p:txBody>
          <a:bodyPr>
            <a:normAutofit/>
          </a:bodyPr>
          <a:lstStyle/>
          <a:p>
            <a:r>
              <a:rPr lang="en-IN" sz="3600" dirty="0"/>
              <a:t>Conditional Routing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151B6-7526-9FC1-C38A-60032D08D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246" y="1465540"/>
            <a:ext cx="8441508" cy="3493082"/>
          </a:xfrm>
        </p:spPr>
        <p:txBody>
          <a:bodyPr>
            <a:normAutofit lnSpcReduction="10000"/>
          </a:bodyPr>
          <a:lstStyle/>
          <a:p>
            <a:r>
              <a:rPr lang="en-IN" sz="2300" dirty="0"/>
              <a:t>Instead of hard coding, the Flow can decide</a:t>
            </a:r>
          </a:p>
          <a:p>
            <a:r>
              <a:rPr lang="en-IN" sz="2300" dirty="0"/>
              <a:t>Example</a:t>
            </a:r>
          </a:p>
          <a:p>
            <a:pPr marL="457200" lvl="1" indent="0">
              <a:buNone/>
            </a:pPr>
            <a:r>
              <a:rPr lang="en-US" sz="1900" dirty="0"/>
              <a:t>@router(evaluate)</a:t>
            </a:r>
          </a:p>
          <a:p>
            <a:pPr marL="457200" lvl="1" indent="0">
              <a:buNone/>
            </a:pPr>
            <a:r>
              <a:rPr lang="en-US" sz="1900" dirty="0"/>
              <a:t>def route(result):</a:t>
            </a:r>
          </a:p>
          <a:p>
            <a:pPr marL="457200" lvl="1" indent="0">
              <a:buNone/>
            </a:pPr>
            <a:r>
              <a:rPr lang="en-US" sz="1900" dirty="0"/>
              <a:t>    if </a:t>
            </a:r>
            <a:r>
              <a:rPr lang="en-US" sz="1900" dirty="0" err="1"/>
              <a:t>result.confidence</a:t>
            </a:r>
            <a:r>
              <a:rPr lang="en-US" sz="1900" dirty="0"/>
              <a:t> &gt; 0.8:</a:t>
            </a:r>
          </a:p>
          <a:p>
            <a:pPr marL="457200" lvl="1" indent="0">
              <a:buNone/>
            </a:pPr>
            <a:r>
              <a:rPr lang="en-US" sz="1900" dirty="0"/>
              <a:t>        return "good"</a:t>
            </a:r>
          </a:p>
          <a:p>
            <a:pPr marL="457200" lvl="1" indent="0">
              <a:buNone/>
            </a:pPr>
            <a:r>
              <a:rPr lang="en-US" sz="1900" dirty="0"/>
              <a:t>    return "retry“</a:t>
            </a:r>
          </a:p>
          <a:p>
            <a:r>
              <a:rPr lang="en-US" sz="2300" dirty="0"/>
              <a:t>Different listeners can respond to the route</a:t>
            </a:r>
          </a:p>
          <a:p>
            <a:pPr lvl="1"/>
            <a:r>
              <a:rPr lang="en-US" sz="1900" dirty="0"/>
              <a:t>"good"  → analyze()</a:t>
            </a:r>
          </a:p>
          <a:p>
            <a:pPr lvl="1"/>
            <a:r>
              <a:rPr lang="en-US" sz="1900" dirty="0"/>
              <a:t>"retry" → </a:t>
            </a:r>
            <a:r>
              <a:rPr lang="en-US" sz="1900" dirty="0" err="1"/>
              <a:t>research_again</a:t>
            </a:r>
            <a:r>
              <a:rPr lang="en-US" sz="1900" dirty="0"/>
              <a:t>()</a:t>
            </a:r>
            <a:endParaRPr lang="en-IN" sz="1900" dirty="0"/>
          </a:p>
          <a:p>
            <a:endParaRPr lang="en-IN" sz="2300" dirty="0"/>
          </a:p>
          <a:p>
            <a:endParaRPr lang="en-IN" sz="230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E3513-4871-9B63-2654-D875EEE3D8B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441302" y="614238"/>
            <a:ext cx="2351068" cy="2123545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53ACA94C-8638-D153-5C9C-4B3CE203C8D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14_advanced/13_crew_ai/13_2_crew_vs_flow.py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617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F38F-807D-FDFF-4854-EB50300C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23" y="58525"/>
            <a:ext cx="11165334" cy="455197"/>
          </a:xfrm>
        </p:spPr>
        <p:txBody>
          <a:bodyPr>
            <a:normAutofit fontScale="90000"/>
          </a:bodyPr>
          <a:lstStyle/>
          <a:p>
            <a:r>
              <a:rPr lang="en-US" sz="4100" dirty="0"/>
              <a:t>How to Develop a Flow </a:t>
            </a:r>
            <a:r>
              <a:rPr lang="en-US" sz="2100" dirty="0"/>
              <a:t>C:\code\agenticai\14_advanced\13_crew_ai\13_2_crew_vs_flow.py</a:t>
            </a:r>
            <a:endParaRPr lang="en-GB" sz="2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EC292-26A9-23DD-D936-D93A6EAD70EA}"/>
              </a:ext>
            </a:extLst>
          </p:cNvPr>
          <p:cNvSpPr txBox="1">
            <a:spLocks/>
          </p:cNvSpPr>
          <p:nvPr/>
        </p:nvSpPr>
        <p:spPr>
          <a:xfrm>
            <a:off x="475400" y="682796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Define the </a:t>
            </a:r>
            <a:r>
              <a:rPr lang="en-US" sz="1300" b="1" dirty="0"/>
              <a:t>State</a:t>
            </a:r>
            <a:r>
              <a:rPr lang="en-US" sz="1300" dirty="0"/>
              <a:t> (Information sharing across Flow steps)</a:t>
            </a:r>
          </a:p>
          <a:p>
            <a:endParaRPr lang="en-US" sz="1300" dirty="0"/>
          </a:p>
          <a:p>
            <a:r>
              <a:rPr lang="en-US" sz="1300" dirty="0"/>
              <a:t>class </a:t>
            </a:r>
            <a:r>
              <a:rPr lang="en-US" sz="1300" dirty="0" err="1"/>
              <a:t>ResearchState</a:t>
            </a:r>
            <a:r>
              <a:rPr lang="en-US" sz="1300" dirty="0"/>
              <a:t>(</a:t>
            </a:r>
            <a:r>
              <a:rPr lang="en-US" sz="1300" dirty="0" err="1"/>
              <a:t>BaseModel</a:t>
            </a:r>
            <a:r>
              <a:rPr lang="en-US" sz="1300" dirty="0"/>
              <a:t>):</a:t>
            </a:r>
          </a:p>
          <a:p>
            <a:r>
              <a:rPr lang="en-US" sz="1300" dirty="0"/>
              <a:t>    ticker: str</a:t>
            </a:r>
          </a:p>
          <a:p>
            <a:r>
              <a:rPr lang="en-US" sz="1300" dirty="0"/>
              <a:t>    snapshot: </a:t>
            </a:r>
            <a:r>
              <a:rPr lang="en-US" sz="1300" dirty="0" err="1"/>
              <a:t>dict</a:t>
            </a:r>
            <a:r>
              <a:rPr lang="en-US" sz="1300" dirty="0"/>
              <a:t> = {}</a:t>
            </a:r>
          </a:p>
          <a:p>
            <a:r>
              <a:rPr lang="en-US" sz="1300" dirty="0"/>
              <a:t>    confidence: float = 0</a:t>
            </a:r>
          </a:p>
          <a:p>
            <a:r>
              <a:rPr lang="en-US" sz="1300" dirty="0"/>
              <a:t>    report: str = "" </a:t>
            </a:r>
            <a:endParaRPr lang="en-GB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C8B01D-E12C-B981-8989-96550A592D8E}"/>
              </a:ext>
            </a:extLst>
          </p:cNvPr>
          <p:cNvSpPr txBox="1">
            <a:spLocks/>
          </p:cNvSpPr>
          <p:nvPr/>
        </p:nvSpPr>
        <p:spPr>
          <a:xfrm>
            <a:off x="451556" y="2502139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@start defines where the Flow begins</a:t>
            </a:r>
          </a:p>
          <a:p>
            <a:endParaRPr lang="en-US" sz="1300" dirty="0"/>
          </a:p>
          <a:p>
            <a:r>
              <a:rPr lang="en-US" sz="1300" dirty="0"/>
              <a:t>@start()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fetch_data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For more complex workflows, a Flow can have multiple starting points</a:t>
            </a:r>
            <a:endParaRPr lang="en-GB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7FAEF-E229-259B-80CE-85CF5A281FE2}"/>
              </a:ext>
            </a:extLst>
          </p:cNvPr>
          <p:cNvSpPr txBox="1">
            <a:spLocks/>
          </p:cNvSpPr>
          <p:nvPr/>
        </p:nvSpPr>
        <p:spPr>
          <a:xfrm>
            <a:off x="451555" y="4271391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@listen connects one step to another</a:t>
            </a:r>
          </a:p>
          <a:p>
            <a:endParaRPr lang="en-US" sz="1300" dirty="0"/>
          </a:p>
          <a:p>
            <a:r>
              <a:rPr lang="en-US" sz="1300" dirty="0"/>
              <a:t>@listen(fetch_data)</a:t>
            </a:r>
          </a:p>
          <a:p>
            <a:r>
              <a:rPr lang="en-US" sz="1300" dirty="0"/>
              <a:t>def analyze(self):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Meaning: Run analyze() after </a:t>
            </a:r>
            <a:r>
              <a:rPr lang="en-US" sz="1300" dirty="0" err="1"/>
              <a:t>fetch_data</a:t>
            </a:r>
            <a:r>
              <a:rPr lang="en-US" sz="1300" dirty="0"/>
              <a:t>() completes</a:t>
            </a:r>
            <a:endParaRPr lang="en-GB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B3D61-EF43-BDAF-20FF-FAB853F6C8F3}"/>
              </a:ext>
            </a:extLst>
          </p:cNvPr>
          <p:cNvSpPr txBox="1">
            <a:spLocks/>
          </p:cNvSpPr>
          <p:nvPr/>
        </p:nvSpPr>
        <p:spPr>
          <a:xfrm>
            <a:off x="3629264" y="2502139"/>
            <a:ext cx="3082335" cy="1691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@router allows the Flow to make a workflow-level decision</a:t>
            </a:r>
          </a:p>
          <a:p>
            <a:endParaRPr lang="en-US" sz="1300" dirty="0"/>
          </a:p>
          <a:p>
            <a:r>
              <a:rPr lang="en-US" sz="1300" dirty="0"/>
              <a:t>@router(fetch_data)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check_quality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if </a:t>
            </a:r>
            <a:r>
              <a:rPr lang="en-US" sz="1300" dirty="0" err="1"/>
              <a:t>self.state.confidence</a:t>
            </a:r>
            <a:r>
              <a:rPr lang="en-US" sz="1300" dirty="0"/>
              <a:t> &gt;= 0.8:</a:t>
            </a:r>
          </a:p>
          <a:p>
            <a:r>
              <a:rPr lang="en-US" sz="1300" dirty="0"/>
              <a:t>        return "good"</a:t>
            </a:r>
          </a:p>
          <a:p>
            <a:r>
              <a:rPr lang="en-US" sz="1300" dirty="0"/>
              <a:t>    return "retry"</a:t>
            </a:r>
            <a:endParaRPr lang="en-GB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06496-7FD6-1F98-602C-0B50442FADFB}"/>
              </a:ext>
            </a:extLst>
          </p:cNvPr>
          <p:cNvSpPr txBox="1">
            <a:spLocks/>
          </p:cNvSpPr>
          <p:nvPr/>
        </p:nvSpPr>
        <p:spPr>
          <a:xfrm>
            <a:off x="3629263" y="4256876"/>
            <a:ext cx="3082335" cy="20931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Conditional branching can trigger different actions</a:t>
            </a:r>
          </a:p>
          <a:p>
            <a:endParaRPr lang="en-US" sz="1300" dirty="0"/>
          </a:p>
          <a:p>
            <a:r>
              <a:rPr lang="en-US" sz="1300" dirty="0"/>
              <a:t>@listen("good")</a:t>
            </a:r>
          </a:p>
          <a:p>
            <a:r>
              <a:rPr lang="en-US" sz="1300" dirty="0"/>
              <a:t>def analyze(self):</a:t>
            </a:r>
          </a:p>
          <a:p>
            <a:r>
              <a:rPr lang="en-US" sz="1300" dirty="0"/>
              <a:t>    ...</a:t>
            </a:r>
          </a:p>
          <a:p>
            <a:endParaRPr lang="en-US" sz="1300" dirty="0"/>
          </a:p>
          <a:p>
            <a:r>
              <a:rPr lang="en-US" sz="1300" dirty="0"/>
              <a:t>@listen("retry")</a:t>
            </a:r>
          </a:p>
          <a:p>
            <a:r>
              <a:rPr lang="en-US" sz="1300" dirty="0"/>
              <a:t>def </a:t>
            </a:r>
            <a:r>
              <a:rPr lang="en-US" sz="1300" dirty="0" err="1"/>
              <a:t>handle_failure</a:t>
            </a:r>
            <a:r>
              <a:rPr lang="en-US" sz="1300" dirty="0"/>
              <a:t>(self):</a:t>
            </a:r>
          </a:p>
          <a:p>
            <a:r>
              <a:rPr lang="en-US" sz="1300" dirty="0"/>
              <a:t>    ...</a:t>
            </a:r>
            <a:endParaRPr lang="en-GB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4C46E-189E-D4BC-D2B5-1668C3E04A55}"/>
              </a:ext>
            </a:extLst>
          </p:cNvPr>
          <p:cNvSpPr txBox="1">
            <a:spLocks/>
          </p:cNvSpPr>
          <p:nvPr/>
        </p:nvSpPr>
        <p:spPr>
          <a:xfrm>
            <a:off x="6806972" y="2502139"/>
            <a:ext cx="3082335" cy="12902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Convergence: Different branches can eventually come together</a:t>
            </a:r>
          </a:p>
          <a:p>
            <a:endParaRPr lang="en-US" sz="1300" dirty="0"/>
          </a:p>
          <a:p>
            <a:r>
              <a:rPr lang="en-GB" sz="1300" dirty="0"/>
              <a:t>@listen(or_(handle_failure, </a:t>
            </a:r>
            <a:r>
              <a:rPr lang="en-GB" sz="1300" dirty="0" err="1"/>
              <a:t>analyze</a:t>
            </a:r>
            <a:r>
              <a:rPr lang="en-GB" sz="1300" dirty="0"/>
              <a:t>))</a:t>
            </a:r>
          </a:p>
          <a:p>
            <a:r>
              <a:rPr lang="en-GB" sz="1300" dirty="0"/>
              <a:t>def finalize(self):</a:t>
            </a:r>
          </a:p>
          <a:p>
            <a:r>
              <a:rPr lang="en-GB" sz="1300" dirty="0"/>
              <a:t>    ...</a:t>
            </a:r>
          </a:p>
        </p:txBody>
      </p:sp>
      <p:sp>
        <p:nvSpPr>
          <p:cNvPr id="3" name="DemoCallout">
            <a:extLst>
              <a:ext uri="{FF2B5EF4-FFF2-40B4-BE49-F238E27FC236}">
                <a16:creationId xmlns:a16="http://schemas.microsoft.com/office/drawing/2014/main" id="{434B4665-5C2B-8F3B-9EB3-673D4F2A332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14_advanced/13_crew_ai/13_2_crew_vs_flow.py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7766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7A30-58B0-C623-69FD-8A44043A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010" y="334722"/>
            <a:ext cx="9639981" cy="1215185"/>
          </a:xfrm>
        </p:spPr>
        <p:txBody>
          <a:bodyPr>
            <a:normAutofit/>
          </a:bodyPr>
          <a:lstStyle/>
          <a:p>
            <a:r>
              <a:rPr lang="en-IN" sz="4100" dirty="0"/>
              <a:t>Hierarchical Crews and Manager Agents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BAFB-1E5D-9DDD-2BF6-75AE94FD7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010" y="1673608"/>
            <a:ext cx="9639981" cy="3989008"/>
          </a:xfrm>
        </p:spPr>
        <p:txBody>
          <a:bodyPr>
            <a:normAutofit fontScale="92500"/>
          </a:bodyPr>
          <a:lstStyle/>
          <a:p>
            <a:r>
              <a:rPr lang="en-IN" sz="2600" dirty="0"/>
              <a:t>Workflow decides who should do what</a:t>
            </a:r>
          </a:p>
          <a:p>
            <a:r>
              <a:rPr lang="en-IN" sz="2600" dirty="0"/>
              <a:t>Traditional: Researcher → Analyst → Writer</a:t>
            </a:r>
          </a:p>
          <a:p>
            <a:r>
              <a:rPr lang="en-IN" sz="2600" dirty="0"/>
              <a:t>Now, manager decides how to distribute the work</a:t>
            </a:r>
          </a:p>
          <a:p>
            <a:r>
              <a:rPr lang="en-GB" sz="2600" b="1" dirty="0"/>
              <a:t>Manager agent</a:t>
            </a:r>
            <a:r>
              <a:rPr lang="en-GB" sz="2600" dirty="0"/>
              <a:t>: Acts as the orchestrator inside a Crew</a:t>
            </a:r>
          </a:p>
          <a:p>
            <a:pPr lvl="0"/>
            <a:r>
              <a:rPr lang="en-GB" sz="2600" dirty="0"/>
              <a:t>Understand the overall objective , Delegate work to specialists, Review their results, Decide what needs more work, Coordinate the final output</a:t>
            </a:r>
          </a:p>
          <a:p>
            <a:pPr lvl="0"/>
            <a:r>
              <a:rPr lang="en-GB" sz="2600" dirty="0"/>
              <a:t>Important: If the workflow is straightforward and not agentic, we need not use hierarchical crews and manager agents</a:t>
            </a:r>
          </a:p>
          <a:p>
            <a:pPr lvl="0"/>
            <a:r>
              <a:rPr lang="en-GB" sz="2600" dirty="0"/>
              <a:t>C:\code\agenticai\14_advanced\13_crew_ai\13_3_hierarchical_crew.py</a:t>
            </a:r>
          </a:p>
          <a:p>
            <a:pPr lvl="0"/>
            <a:endParaRPr lang="en-GB" sz="2600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054B0-9425-B174-C966-69EDB0D5ACA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525959" y="1479751"/>
            <a:ext cx="2648654" cy="1594097"/>
          </a:xfrm>
          <a:prstGeom prst="rect">
            <a:avLst/>
          </a:prstGeom>
        </p:spPr>
      </p:pic>
      <p:sp>
        <p:nvSpPr>
          <p:cNvPr id="4" name="DemoCallout">
            <a:extLst>
              <a:ext uri="{FF2B5EF4-FFF2-40B4-BE49-F238E27FC236}">
                <a16:creationId xmlns:a16="http://schemas.microsoft.com/office/drawing/2014/main" id="{B3058E6F-E6A1-E672-CC61-F36D5553AAE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14_advanced/13_crew_ai/13_3_hierarchical_crew.py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99366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F224-C52C-E260-B1F7-215FCE0B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and Controlled Autonomy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8E38-74DF-FCDA-B482-95A27DE76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Sometimes we need human approval</a:t>
            </a:r>
          </a:p>
          <a:p>
            <a:r>
              <a:rPr lang="en-IN" dirty="0"/>
              <a:t>Levels of autonomy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r>
              <a:rPr lang="en-US" dirty="0"/>
              <a:t>C:\code\agenticai\14_advanced\13_crew_ai\13_4_human_in_the_loop.py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AFA89-D0A9-C9D1-EC92-E23ED28AE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679" y="1027906"/>
            <a:ext cx="3224414" cy="374793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B593F7-C76E-A68A-0B85-3BFE74CE0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483251"/>
              </p:ext>
            </p:extLst>
          </p:nvPr>
        </p:nvGraphicFramePr>
        <p:xfrm>
          <a:off x="1096466" y="2852915"/>
          <a:ext cx="6449079" cy="2296757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149693">
                  <a:extLst>
                    <a:ext uri="{9D8B030D-6E8A-4147-A177-3AD203B41FA5}">
                      <a16:colId xmlns:a16="http://schemas.microsoft.com/office/drawing/2014/main" val="1674865796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232358815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1121066621"/>
                    </a:ext>
                  </a:extLst>
                </a:gridCol>
              </a:tblGrid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273392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Human-in-the-loop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Human approves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Approve a refund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694358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Human-on-the-loop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Human supervises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Monitor automated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84784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Human-out-of-the-loop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Fully autonomous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Automated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180101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6D700AB0-37EE-4342-BA4E-D74E1097050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14_advanced/13_crew_ai/13_4_human_in_the_loop.py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12145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8D46-3C94-182F-9A9F-B8C9A3F3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798" y="345778"/>
            <a:ext cx="9958402" cy="1255324"/>
          </a:xfrm>
        </p:spPr>
        <p:txBody>
          <a:bodyPr>
            <a:normAutofit/>
          </a:bodyPr>
          <a:lstStyle/>
          <a:p>
            <a:r>
              <a:rPr lang="en-IN" sz="4200" dirty="0"/>
              <a:t>Memory and Knowledge</a:t>
            </a:r>
            <a:endParaRPr lang="en-GB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F2EA-5A00-26C2-4D3F-45B941A3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798" y="1728889"/>
            <a:ext cx="9958402" cy="4120771"/>
          </a:xfrm>
        </p:spPr>
        <p:txBody>
          <a:bodyPr>
            <a:normAutofit lnSpcReduction="10000"/>
          </a:bodyPr>
          <a:lstStyle/>
          <a:p>
            <a:r>
              <a:rPr lang="en-IN" sz="2700" dirty="0"/>
              <a:t>Knowledge: Agent  thinks -&gt; </a:t>
            </a:r>
            <a:r>
              <a:rPr lang="en-GB" sz="2700" dirty="0"/>
              <a:t>What information do I need to know?</a:t>
            </a:r>
          </a:p>
          <a:p>
            <a:r>
              <a:rPr lang="en-GB" sz="2700" dirty="0"/>
              <a:t>Memory: Agent thinks -&gt; What do I remember from previous interactions/work?</a:t>
            </a:r>
          </a:p>
          <a:p>
            <a:r>
              <a:rPr lang="en-GB" sz="2700" dirty="0"/>
              <a:t>Flow State ≠ Memory</a:t>
            </a:r>
          </a:p>
          <a:p>
            <a:r>
              <a:rPr lang="en-GB" sz="2700" dirty="0"/>
              <a:t>Flow State: </a:t>
            </a:r>
            <a:r>
              <a:rPr lang="en-US" sz="2700" dirty="0"/>
              <a:t>Current workflow -&gt; Temporary execution context</a:t>
            </a:r>
          </a:p>
          <a:p>
            <a:r>
              <a:rPr lang="en-US" sz="2700" dirty="0"/>
              <a:t>Memory: External information -&gt; Retrieved when needed</a:t>
            </a:r>
          </a:p>
          <a:p>
            <a:endParaRPr lang="en-US" sz="2700" dirty="0"/>
          </a:p>
          <a:p>
            <a:r>
              <a:rPr lang="en-US" sz="2700" dirty="0"/>
              <a:t>C:\code\agenticai\14_advanced\13_crew_ai\13_5_memory_and_knowledge.py</a:t>
            </a:r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2A48BD7C-88F2-36C4-A71B-365089DAF4E0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14_advanced/13_crew_ai/13_5_memory_and_knowledge.py, 4_crewai/4_3_crewai_With_Memory.py vs 4_3_crewai_Without_Memory.py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837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C637-433E-1B9B-0AF5-6A9A546F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Structured Outputs and </a:t>
            </a:r>
            <a:r>
              <a:rPr lang="en-GB" dirty="0" err="1"/>
              <a:t>Pydantic</a:t>
            </a:r>
            <a:r>
              <a:rPr lang="en-GB" dirty="0"/>
              <a:t> + Reliable Agent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87C9-1E35-6F78-F835-BC665055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Many times it is better to structure agent outputs</a:t>
            </a:r>
          </a:p>
          <a:p>
            <a:r>
              <a:rPr lang="en-US" dirty="0"/>
              <a:t>Agent -&gt; Structured Output -&gt; Validated Schema -&gt; Next Agent</a:t>
            </a:r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C:\code\agenticai\14_advanced\13_crew_ai\13_6_structured_outputs.py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00793-ABDC-E878-3AD9-6C1007887242}"/>
              </a:ext>
            </a:extLst>
          </p:cNvPr>
          <p:cNvSpPr txBox="1"/>
          <p:nvPr/>
        </p:nvSpPr>
        <p:spPr>
          <a:xfrm>
            <a:off x="1150271" y="3408059"/>
            <a:ext cx="3903360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ResearchFinding</a:t>
            </a:r>
            <a:r>
              <a:rPr lang="en-US" dirty="0"/>
              <a:t>(</a:t>
            </a:r>
            <a:r>
              <a:rPr lang="en-US" dirty="0" err="1"/>
              <a:t>BaseModel</a:t>
            </a:r>
            <a:r>
              <a:rPr lang="en-US" dirty="0"/>
              <a:t>):</a:t>
            </a:r>
          </a:p>
          <a:p>
            <a:r>
              <a:rPr lang="en-US" dirty="0"/>
              <a:t>    company: str</a:t>
            </a:r>
          </a:p>
          <a:p>
            <a:r>
              <a:rPr lang="en-US" dirty="0"/>
              <a:t>    </a:t>
            </a:r>
            <a:r>
              <a:rPr lang="en-US" dirty="0" err="1"/>
              <a:t>revenue_growth</a:t>
            </a:r>
            <a:r>
              <a:rPr lang="en-US" dirty="0"/>
              <a:t>: float</a:t>
            </a:r>
          </a:p>
          <a:p>
            <a:r>
              <a:rPr lang="en-US" dirty="0"/>
              <a:t>    </a:t>
            </a:r>
            <a:r>
              <a:rPr lang="en-US" dirty="0" err="1"/>
              <a:t>risk_level</a:t>
            </a:r>
            <a:r>
              <a:rPr lang="en-US" dirty="0"/>
              <a:t>: str</a:t>
            </a:r>
          </a:p>
          <a:p>
            <a:r>
              <a:rPr lang="en-US" dirty="0"/>
              <a:t>    confidence: float</a:t>
            </a:r>
          </a:p>
          <a:p>
            <a:r>
              <a:rPr lang="en-US" dirty="0"/>
              <a:t>    evidence: list[str]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C637D-9930-3F78-746E-168492F6274D}"/>
              </a:ext>
            </a:extLst>
          </p:cNvPr>
          <p:cNvSpPr txBox="1"/>
          <p:nvPr/>
        </p:nvSpPr>
        <p:spPr>
          <a:xfrm>
            <a:off x="5186691" y="3408059"/>
            <a:ext cx="390336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"company": "ABC Ltd",</a:t>
            </a:r>
          </a:p>
          <a:p>
            <a:r>
              <a:rPr lang="en-US" dirty="0"/>
              <a:t>  "</a:t>
            </a:r>
            <a:r>
              <a:rPr lang="en-US" dirty="0" err="1"/>
              <a:t>revenue_growth</a:t>
            </a:r>
            <a:r>
              <a:rPr lang="en-US" dirty="0"/>
              <a:t>": 18.5,</a:t>
            </a:r>
          </a:p>
          <a:p>
            <a:r>
              <a:rPr lang="en-US" dirty="0"/>
              <a:t>  "</a:t>
            </a:r>
            <a:r>
              <a:rPr lang="en-US" dirty="0" err="1"/>
              <a:t>risk_level</a:t>
            </a:r>
            <a:r>
              <a:rPr lang="en-US" dirty="0"/>
              <a:t>": "medium",</a:t>
            </a:r>
          </a:p>
          <a:p>
            <a:r>
              <a:rPr lang="en-US" dirty="0"/>
              <a:t>  "confidence": 0.87,</a:t>
            </a:r>
          </a:p>
          <a:p>
            <a:r>
              <a:rPr lang="en-US" dirty="0"/>
              <a:t>  "evidence": ["...", "..."]</a:t>
            </a:r>
          </a:p>
          <a:p>
            <a:r>
              <a:rPr lang="en-US" dirty="0"/>
              <a:t>}</a:t>
            </a:r>
            <a:endParaRPr lang="en-GB" dirty="0"/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F43C63CD-E1A3-DDDE-1596-68E3E3412A6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14_advanced/13_crew_ai/13_6_structured_outputs.py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8819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FC13-041F-C488-6842-BCE4E15A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139" y="340824"/>
            <a:ext cx="9815724" cy="1237338"/>
          </a:xfrm>
        </p:spPr>
        <p:txBody>
          <a:bodyPr>
            <a:normAutofit/>
          </a:bodyPr>
          <a:lstStyle/>
          <a:p>
            <a:r>
              <a:rPr lang="en-GB" sz="4200" dirty="0"/>
              <a:t>Guardrails, Error Handling and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F9D2-2CB1-19BD-38E3-EA53BD7FA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139" y="1704118"/>
            <a:ext cx="9815724" cy="406173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sz="2700" dirty="0"/>
              <a:t>Agents fail because they might: </a:t>
            </a:r>
            <a:r>
              <a:rPr lang="en-GB" sz="2700" dirty="0"/>
              <a:t>Hallucinate, Return incomplete information, Call the wrong tool, Produce invalid output, Get stuck in a loop, Fail because an external service is unavailable</a:t>
            </a:r>
          </a:p>
          <a:p>
            <a:pPr lvl="0"/>
            <a:r>
              <a:rPr lang="en-GB" sz="2700" dirty="0"/>
              <a:t>Guardrail checks whether an agent’s output satisfies a requirement: Required fields exist, Answer contains evidence, Confidence is above a threshold, Output follows a policy, SQL is read-only, Response is within an allowed range</a:t>
            </a:r>
          </a:p>
          <a:p>
            <a:pPr lvl="0"/>
            <a:r>
              <a:rPr lang="en-GB" sz="2700" dirty="0"/>
              <a:t>Validation types</a:t>
            </a:r>
          </a:p>
          <a:p>
            <a:pPr lvl="1"/>
            <a:r>
              <a:rPr lang="en-GB" sz="2200" dirty="0"/>
              <a:t>Format</a:t>
            </a:r>
          </a:p>
          <a:p>
            <a:pPr lvl="1"/>
            <a:r>
              <a:rPr lang="en-GB" sz="2200" dirty="0"/>
              <a:t>Content</a:t>
            </a:r>
          </a:p>
          <a:p>
            <a:pPr lvl="1"/>
            <a:r>
              <a:rPr lang="en-GB" sz="2200" dirty="0"/>
              <a:t>Quality</a:t>
            </a:r>
          </a:p>
          <a:p>
            <a:pPr lvl="1"/>
            <a:r>
              <a:rPr lang="en-GB" sz="2200" dirty="0"/>
              <a:t>Safety / Policy</a:t>
            </a:r>
          </a:p>
          <a:p>
            <a:r>
              <a:rPr lang="en-US" sz="2700"/>
              <a:t>C:\code\agenticai\14_advanced\13_crew_ai\13_7_guardrails_and_reliability.py</a:t>
            </a:r>
            <a:endParaRPr lang="en-GB" sz="2700" dirty="0"/>
          </a:p>
          <a:p>
            <a:pPr lvl="0"/>
            <a:endParaRPr lang="en-GB" sz="2700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77C71E6-7C23-49B8-036E-508C99A3148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14_advanced/13_crew_ai/13_7_guardrails_and_reliability.py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5333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1AD2-CD8F-E84F-183D-2AF76A82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Adding Observability Using </a:t>
            </a:r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6C9E-50BC-87F9-BB00-2CE1245E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Register on smith.langchain.com</a:t>
            </a:r>
          </a:p>
          <a:p>
            <a:r>
              <a:rPr lang="en-US" noProof="0" dirty="0"/>
              <a:t>Tracing -&gt; New -&gt; market-research-crew</a:t>
            </a:r>
          </a:p>
          <a:p>
            <a:r>
              <a:rPr lang="en-US" noProof="0" dirty="0"/>
              <a:t>Add this to .env file</a:t>
            </a:r>
          </a:p>
          <a:p>
            <a:pPr lvl="1"/>
            <a:r>
              <a:rPr lang="en-US" noProof="0" dirty="0"/>
              <a:t>LANGSMITH_TRACING="true"</a:t>
            </a:r>
          </a:p>
          <a:p>
            <a:pPr lvl="1"/>
            <a:r>
              <a:rPr lang="en-US" noProof="0" dirty="0"/>
              <a:t>LANGSMITH_ENDPOINT="https://api.smith.langchain.com"</a:t>
            </a:r>
          </a:p>
          <a:p>
            <a:pPr lvl="1"/>
            <a:r>
              <a:rPr lang="en-US" noProof="0" dirty="0"/>
              <a:t>LANGSMITH_API_KEY=“your </a:t>
            </a:r>
            <a:r>
              <a:rPr lang="en-US" noProof="0" dirty="0" err="1"/>
              <a:t>api</a:t>
            </a:r>
            <a:r>
              <a:rPr lang="en-US" noProof="0" dirty="0"/>
              <a:t> key"</a:t>
            </a:r>
          </a:p>
          <a:p>
            <a:pPr lvl="1"/>
            <a:r>
              <a:rPr lang="en-US" noProof="0" dirty="0"/>
              <a:t>LANGSMITH_PROJECT="market-research-crew"</a:t>
            </a:r>
          </a:p>
          <a:p>
            <a:pPr lvl="1"/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EC96BB8-8CFD-20A1-E159-27E9C49E8CC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4_crewai/4_5_crewai_observability.py</a:t>
            </a:r>
          </a:p>
        </p:txBody>
      </p:sp>
    </p:spTree>
    <p:extLst>
      <p:ext uri="{BB962C8B-B14F-4D97-AF65-F5344CB8AC3E}">
        <p14:creationId xmlns:p14="http://schemas.microsoft.com/office/powerpoint/2010/main" val="385490418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23AD-A677-6C73-ED0F-CD0AEAAAF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53616-F6FD-2092-180C-F68FA77B5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Multi-Agent Systems with Microsoft AutoGen</a:t>
            </a:r>
          </a:p>
          <a:p>
            <a:r>
              <a:rPr lang="en-US"/>
              <a:t>Sun 14-Nov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36496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35CB-41BC-0938-43AC-AF353224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7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78DB6-3ADC-831F-9891-6FDAC1316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AutoGen overview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AssistantAgent and tools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Synchronous vs asynchronous agents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Structured output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Multimodal messages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Teams / group chats: round-robin, selector, magentic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GraphFlow (including parallel join)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0829643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7E20-EB82-66BF-5FA8-DD297DE6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316" y="351297"/>
            <a:ext cx="10117368" cy="1275363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Autogen</a:t>
            </a:r>
            <a:endParaRPr lang="en-US" sz="4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DB7E-9FFD-869A-3943-BA5D8053B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316" y="1756487"/>
            <a:ext cx="10117368" cy="4186550"/>
          </a:xfrm>
        </p:spPr>
        <p:txBody>
          <a:bodyPr>
            <a:normAutofit/>
          </a:bodyPr>
          <a:lstStyle/>
          <a:p>
            <a:r>
              <a:rPr lang="en-US" sz="2300" b="1" noProof="0" dirty="0" err="1"/>
              <a:t>Autogen</a:t>
            </a:r>
            <a:r>
              <a:rPr lang="en-US" sz="2300" noProof="0" dirty="0"/>
              <a:t>: Open-source programming framework for building AI agents and facilitating cooperation among multiple agents to solve tasks</a:t>
            </a:r>
          </a:p>
          <a:p>
            <a:r>
              <a:rPr lang="en-US" sz="2300" noProof="0" dirty="0"/>
              <a:t>Version 0.4: Completely revamped to use asynchronous operations</a:t>
            </a:r>
          </a:p>
          <a:p>
            <a:r>
              <a:rPr lang="en-US" sz="2300" noProof="0" dirty="0"/>
              <a:t>Approaches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75963-7539-C404-CB68-48A52B4C6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976801"/>
              </p:ext>
            </p:extLst>
          </p:nvPr>
        </p:nvGraphicFramePr>
        <p:xfrm>
          <a:off x="1310796" y="3423315"/>
          <a:ext cx="9570410" cy="288971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50450">
                  <a:extLst>
                    <a:ext uri="{9D8B030D-6E8A-4147-A177-3AD203B41FA5}">
                      <a16:colId xmlns:a16="http://schemas.microsoft.com/office/drawing/2014/main" val="2896709958"/>
                    </a:ext>
                  </a:extLst>
                </a:gridCol>
                <a:gridCol w="2276660">
                  <a:extLst>
                    <a:ext uri="{9D8B030D-6E8A-4147-A177-3AD203B41FA5}">
                      <a16:colId xmlns:a16="http://schemas.microsoft.com/office/drawing/2014/main" val="356341605"/>
                    </a:ext>
                  </a:extLst>
                </a:gridCol>
                <a:gridCol w="2693040">
                  <a:extLst>
                    <a:ext uri="{9D8B030D-6E8A-4147-A177-3AD203B41FA5}">
                      <a16:colId xmlns:a16="http://schemas.microsoft.com/office/drawing/2014/main" val="1063211647"/>
                    </a:ext>
                  </a:extLst>
                </a:gridCol>
                <a:gridCol w="3350260">
                  <a:extLst>
                    <a:ext uri="{9D8B030D-6E8A-4147-A177-3AD203B41FA5}">
                      <a16:colId xmlns:a16="http://schemas.microsoft.com/office/drawing/2014/main" val="3746004613"/>
                    </a:ext>
                  </a:extLst>
                </a:gridCol>
              </a:tblGrid>
              <a:tr h="457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Tool / Component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Purpose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Key Features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When to Use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694164379"/>
                  </a:ext>
                </a:extLst>
              </a:tr>
              <a:tr h="837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Autogen</a:t>
                      </a:r>
                      <a:r>
                        <a:rPr lang="en-US" sz="1300" b="1" noProof="0" dirty="0"/>
                        <a:t> Studio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Web-based UI for agent prototyping without writing code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No-code prototyping, drag-and-drop interface, quick experimentation, visualization of agent interactions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we want to </a:t>
                      </a:r>
                      <a:r>
                        <a:rPr lang="en-US" sz="1300" b="1" noProof="0" dirty="0"/>
                        <a:t>prototype quickly</a:t>
                      </a:r>
                      <a:r>
                        <a:rPr lang="en-US" sz="1300" noProof="0" dirty="0"/>
                        <a:t> without coding, demo ideas, or validate workflows before implementation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585940912"/>
                  </a:ext>
                </a:extLst>
              </a:tr>
              <a:tr h="83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 err="1"/>
                        <a:t>AgentChat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Programming framework for building conversational single and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Focus on dialogue systems, conversational logic, agent orchestration, extensibility via Python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building </a:t>
                      </a:r>
                      <a:r>
                        <a:rPr lang="en-US" sz="1300" b="1" noProof="0" dirty="0"/>
                        <a:t>chatbots or multi-agent conversations</a:t>
                      </a:r>
                      <a:r>
                        <a:rPr lang="en-US" sz="1300" noProof="0" dirty="0"/>
                        <a:t> where dialogue and interaction flow matter most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286237663"/>
                  </a:ext>
                </a:extLst>
              </a:tr>
              <a:tr h="705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noProof="0" dirty="0"/>
                        <a:t>Core</a:t>
                      </a:r>
                      <a:endParaRPr lang="en-US" sz="13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Event-driven programming framework for building scalable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Low-level primitives for agents, event/message handling, supports complex workflows, high scalability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noProof="0" dirty="0"/>
                        <a:t>When we need </a:t>
                      </a:r>
                      <a:r>
                        <a:rPr lang="en-US" sz="1300" b="1" noProof="0" dirty="0"/>
                        <a:t>scalable, event-driven systems</a:t>
                      </a:r>
                      <a:r>
                        <a:rPr lang="en-US" sz="1300" noProof="0" dirty="0"/>
                        <a:t> with many agents coordinating beyond simple conversations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218294076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22BA0E91-1804-590A-EBE1-1D54E0C07F1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de-DE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de-DE" sz="1200">
                <a:solidFill>
                  <a:srgbClr val="333333"/>
                </a:solidFill>
                <a:latin typeface="Calibri" panose="020F0502020204030204" pitchFamily="34" charset="0"/>
              </a:rPr>
              <a:t>  5_autogen/5_1_autogen_basic.py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9623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A5282-8C53-8966-B9D9-F8C7EB9E5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492347"/>
              </p:ext>
            </p:extLst>
          </p:nvPr>
        </p:nvGraphicFramePr>
        <p:xfrm>
          <a:off x="596452" y="149471"/>
          <a:ext cx="10509920" cy="59116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47043">
                  <a:extLst>
                    <a:ext uri="{9D8B030D-6E8A-4147-A177-3AD203B41FA5}">
                      <a16:colId xmlns:a16="http://schemas.microsoft.com/office/drawing/2014/main" val="2255267305"/>
                    </a:ext>
                  </a:extLst>
                </a:gridCol>
                <a:gridCol w="4062877">
                  <a:extLst>
                    <a:ext uri="{9D8B030D-6E8A-4147-A177-3AD203B41FA5}">
                      <a16:colId xmlns:a16="http://schemas.microsoft.com/office/drawing/2014/main" val="4253678833"/>
                    </a:ext>
                  </a:extLst>
                </a:gridCol>
              </a:tblGrid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Code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51089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Basic example to illustrate </a:t>
                      </a:r>
                      <a:r>
                        <a:rPr lang="en-US" sz="1700" noProof="0" dirty="0" err="1"/>
                        <a:t>Autogen</a:t>
                      </a:r>
                      <a:r>
                        <a:rPr lang="en-US" sz="1700" noProof="0" dirty="0"/>
                        <a:t> syntax using </a:t>
                      </a:r>
                      <a:r>
                        <a:rPr lang="en-US" sz="1700" noProof="0" dirty="0" err="1"/>
                        <a:t>AssistantAgent</a:t>
                      </a:r>
                      <a:r>
                        <a:rPr lang="en-US" sz="1700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5_1_autogen_basic.py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4818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Same example, but making a call to the Forex API to get actual live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5_2_autogen_forex_api.py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338624"/>
                  </a:ext>
                </a:extLst>
              </a:tr>
              <a:tr h="593352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Adding </a:t>
                      </a:r>
                      <a:r>
                        <a:rPr lang="en-US" sz="1700" noProof="0" dirty="0" err="1"/>
                        <a:t>TextMessage</a:t>
                      </a:r>
                      <a:r>
                        <a:rPr lang="en-US" sz="1700" noProof="0" dirty="0"/>
                        <a:t>* object to send the user message to the agent, instead of passing it as a simple task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5_3_autogen_forex_api_text_message.py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5400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Adding </a:t>
                      </a:r>
                      <a:r>
                        <a:rPr lang="en-US" sz="1700" noProof="0" dirty="0" err="1"/>
                        <a:t>MultiModalMessage</a:t>
                      </a:r>
                      <a:endParaRPr lang="en-US" sz="17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5_4_autogen_multimodal_message.py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05837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Running two agents synchronously*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noProof="0" dirty="0"/>
                        <a:t>5_5_autogen_synchronous_agents.py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3920"/>
                  </a:ext>
                </a:extLst>
              </a:tr>
              <a:tr h="5933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Running two agents asynchronously*, use Anthropic Claude LLM, Yahoo Finance to get stock 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5_6_autogen_asynchronous_agents.py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312749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Implementing structured output* (Currently only OpenAI supported)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5_7_autogen_structured_output.py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82111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Round Robin Chat*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5_8_autogen_round_robin_group_chat.py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488946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Selector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5_9_autogen_selector_group_chat.py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91823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Magentic</a:t>
                      </a:r>
                      <a:r>
                        <a:rPr lang="en-US" sz="1700" noProof="0" dirty="0"/>
                        <a:t> One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5_10_autogen_magentic_group_chat.py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1618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“India never faced a recession in the last 30 years”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5_11_autogen_recession_claim.py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48240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GraphFlow</a:t>
                      </a:r>
                      <a:r>
                        <a:rPr lang="en-US" sz="1700" noProof="0" dirty="0"/>
                        <a:t> in </a:t>
                      </a:r>
                      <a:r>
                        <a:rPr lang="en-US" sz="1700" noProof="0" dirty="0" err="1"/>
                        <a:t>Autogen</a:t>
                      </a:r>
                      <a:r>
                        <a:rPr lang="en-US" sz="1700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5_12_autogen_graphflow.py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82114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 err="1"/>
                        <a:t>GraphFlow</a:t>
                      </a:r>
                      <a:r>
                        <a:rPr lang="en-US" sz="1700" noProof="0" dirty="0"/>
                        <a:t> Parallel Flow with Join (Two editors -&gt; Final reviewer)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5_13_autogen_graphflow_parallel_join.py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852455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Memory*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noProof="0" dirty="0"/>
                        <a:t>5_14_autogen_memory.py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42255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C9615A98-F6D0-6A23-BD03-F15B0C07B1D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de-DE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de-DE" sz="1200">
                <a:solidFill>
                  <a:srgbClr val="333333"/>
                </a:solidFill>
                <a:latin typeface="Calibri" panose="020F0502020204030204" pitchFamily="34" charset="0"/>
              </a:rPr>
              <a:t>  5_autogen/5_1_autogen_basic.py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30224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220B-1CB2-C329-B113-82685E3E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767" y="363905"/>
            <a:ext cx="10480466" cy="1321134"/>
          </a:xfrm>
        </p:spPr>
        <p:txBody>
          <a:bodyPr>
            <a:normAutofit/>
          </a:bodyPr>
          <a:lstStyle/>
          <a:p>
            <a:r>
              <a:rPr lang="en-US" noProof="0" dirty="0" err="1"/>
              <a:t>AssistantAgent</a:t>
            </a:r>
            <a:endParaRPr lang="en-US" noProof="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9D5B89-8C95-2665-DF4A-33FFF408B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547419"/>
              </p:ext>
            </p:extLst>
          </p:nvPr>
        </p:nvGraphicFramePr>
        <p:xfrm>
          <a:off x="570033" y="1791699"/>
          <a:ext cx="10824754" cy="45008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68744">
                  <a:extLst>
                    <a:ext uri="{9D8B030D-6E8A-4147-A177-3AD203B41FA5}">
                      <a16:colId xmlns:a16="http://schemas.microsoft.com/office/drawing/2014/main" val="4044174048"/>
                    </a:ext>
                  </a:extLst>
                </a:gridCol>
                <a:gridCol w="3840171">
                  <a:extLst>
                    <a:ext uri="{9D8B030D-6E8A-4147-A177-3AD203B41FA5}">
                      <a16:colId xmlns:a16="http://schemas.microsoft.com/office/drawing/2014/main" val="32331458"/>
                    </a:ext>
                  </a:extLst>
                </a:gridCol>
                <a:gridCol w="4215839">
                  <a:extLst>
                    <a:ext uri="{9D8B030D-6E8A-4147-A177-3AD203B41FA5}">
                      <a16:colId xmlns:a16="http://schemas.microsoft.com/office/drawing/2014/main" val="1204664872"/>
                    </a:ext>
                  </a:extLst>
                </a:gridCol>
              </a:tblGrid>
              <a:tr h="333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Parameter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What it Does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Why it is Important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0076210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name="</a:t>
                      </a:r>
                      <a:r>
                        <a:rPr lang="en-US" sz="1500" b="0" noProof="0" dirty="0" err="1"/>
                        <a:t>forex_agent</a:t>
                      </a:r>
                      <a:r>
                        <a:rPr lang="en-US" sz="1500" b="0" noProof="0" dirty="0"/>
                        <a:t>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Assigns a unique name to the agent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Useful for identifying the agent when we have multiple agents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04203394"/>
                  </a:ext>
                </a:extLst>
              </a:tr>
              <a:tr h="8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model_client</a:t>
                      </a:r>
                      <a:r>
                        <a:rPr lang="en-US" sz="1500" b="0" noProof="0" dirty="0"/>
                        <a:t>=</a:t>
                      </a:r>
                      <a:r>
                        <a:rPr lang="en-US" sz="1500" b="0" noProof="0" dirty="0" err="1"/>
                        <a:t>model_client</a:t>
                      </a:r>
                      <a:endParaRPr lang="en-US" sz="1500" b="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Connects the agent to the </a:t>
                      </a:r>
                      <a:r>
                        <a:rPr lang="en-US" sz="1500" noProof="0" dirty="0" err="1"/>
                        <a:t>OpenAIChatCompletionClient</a:t>
                      </a:r>
                      <a:r>
                        <a:rPr lang="en-US" sz="1500" noProof="0" dirty="0"/>
                        <a:t> (gpt-4o)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This is the LLM backend that powers the agent’s reasoning and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9692578"/>
                  </a:ext>
                </a:extLst>
              </a:tr>
              <a:tr h="99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tools=[</a:t>
                      </a:r>
                      <a:r>
                        <a:rPr lang="en-US" sz="1500" b="0" noProof="0" dirty="0" err="1"/>
                        <a:t>get_forex_rate</a:t>
                      </a:r>
                      <a:r>
                        <a:rPr lang="en-US" sz="1500" b="0" noProof="0" dirty="0"/>
                        <a:t>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Gives the agent access to external functions (here: forex lookup)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Lets the agent use functions instead of relying only on text generation (</a:t>
                      </a:r>
                      <a:r>
                        <a:rPr lang="en-US" sz="1500" b="0" i="1" noProof="0" dirty="0" err="1"/>
                        <a:t>AssistantAgent</a:t>
                      </a:r>
                      <a:r>
                        <a:rPr lang="en-US" sz="1500" b="0" i="1" noProof="0" dirty="0"/>
                        <a:t> </a:t>
                      </a:r>
                      <a:r>
                        <a:rPr lang="en-US" sz="1500" b="0" noProof="0" dirty="0"/>
                        <a:t>automatically converts a Python function into a </a:t>
                      </a:r>
                      <a:r>
                        <a:rPr lang="en-US" sz="1500" b="0" i="1" noProof="0" dirty="0" err="1"/>
                        <a:t>FunctionTool</a:t>
                      </a:r>
                      <a:r>
                        <a:rPr lang="en-US" sz="1500" b="0" i="0" noProof="0" dirty="0"/>
                        <a:t>, while also generating the schema</a:t>
                      </a:r>
                      <a:r>
                        <a:rPr lang="en-US" sz="1500" b="0" noProof="0" dirty="0"/>
                        <a:t>) 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38907511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system_message</a:t>
                      </a:r>
                      <a:r>
                        <a:rPr lang="en-US" sz="1500" b="0" noProof="0" dirty="0"/>
                        <a:t>="You are a helpful assistant."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Sets the agent’s role and behavior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Guides tone, style, and purpose of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80452289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reflect_on_tool_use</a:t>
                      </a:r>
                      <a:r>
                        <a:rPr lang="en-US" sz="15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Enables the agent to review and improve how it calls tools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Adds a “self-check” step for better accuracy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9699667"/>
                  </a:ext>
                </a:extLst>
              </a:tr>
              <a:tr h="583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 err="1"/>
                        <a:t>model_client_stream</a:t>
                      </a:r>
                      <a:r>
                        <a:rPr lang="en-US" sz="15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Streams model output token by token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noProof="0" dirty="0"/>
                        <a:t>Allows real-time responses instead of waiting for the full output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45615724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FEDE789-220D-613A-461F-1FEC607A203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5_autogen/5_2_autogen_forex_api.py, 5_3_autogen_forex_api_text_message.py</a:t>
            </a:r>
          </a:p>
        </p:txBody>
      </p:sp>
    </p:spTree>
    <p:extLst>
      <p:ext uri="{BB962C8B-B14F-4D97-AF65-F5344CB8AC3E}">
        <p14:creationId xmlns:p14="http://schemas.microsoft.com/office/powerpoint/2010/main" val="266473931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05C3-B435-496B-AB91-29F06CCA3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993" y="344584"/>
            <a:ext cx="9924014" cy="1250989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TextMessage</a:t>
            </a:r>
            <a:endParaRPr lang="en-US" sz="4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3587-C7B2-C395-2CAC-2A05B35D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993" y="1722919"/>
            <a:ext cx="9924014" cy="4106540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DE796-FBC8-8F58-7432-C9FAE36564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flipH="1">
            <a:off x="1374083" y="1420728"/>
            <a:ext cx="484205" cy="770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2CB437-7957-EDC7-13F5-E013ACF6BDFA}"/>
              </a:ext>
            </a:extLst>
          </p:cNvPr>
          <p:cNvSpPr txBox="1">
            <a:spLocks/>
          </p:cNvSpPr>
          <p:nvPr/>
        </p:nvSpPr>
        <p:spPr>
          <a:xfrm>
            <a:off x="652045" y="1722919"/>
            <a:ext cx="770184" cy="34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User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8B6251AD-F4CD-0185-D864-70378337EE46}"/>
              </a:ext>
            </a:extLst>
          </p:cNvPr>
          <p:cNvSpPr>
            <a:spLocks/>
          </p:cNvSpPr>
          <p:nvPr/>
        </p:nvSpPr>
        <p:spPr>
          <a:xfrm rot="5400000">
            <a:off x="1455640" y="2320443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3F4F4-4E55-0DCB-AAB3-CA9CBC4063E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78878" y="4127178"/>
            <a:ext cx="1091874" cy="9062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910B15-9C5B-5BB4-D712-50840E478E2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211055" y="5539741"/>
            <a:ext cx="810259" cy="8102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A2B824-22A6-8C68-10DD-A63E49B22B1A}"/>
              </a:ext>
            </a:extLst>
          </p:cNvPr>
          <p:cNvSpPr txBox="1">
            <a:spLocks/>
          </p:cNvSpPr>
          <p:nvPr/>
        </p:nvSpPr>
        <p:spPr>
          <a:xfrm>
            <a:off x="1882852" y="5234756"/>
            <a:ext cx="1381568" cy="609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/>
              <a:t>Model Client (LLM)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9E3C41-9A4F-41E0-9D2A-77DAE61C3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765903"/>
              </p:ext>
            </p:extLst>
          </p:nvPr>
        </p:nvGraphicFramePr>
        <p:xfrm>
          <a:off x="4082040" y="151512"/>
          <a:ext cx="7472947" cy="6099837"/>
        </p:xfrm>
        <a:graphic>
          <a:graphicData uri="http://schemas.openxmlformats.org/drawingml/2006/table">
            <a:tbl>
              <a:tblPr/>
              <a:tblGrid>
                <a:gridCol w="582412">
                  <a:extLst>
                    <a:ext uri="{9D8B030D-6E8A-4147-A177-3AD203B41FA5}">
                      <a16:colId xmlns:a16="http://schemas.microsoft.com/office/drawing/2014/main" val="2494638255"/>
                    </a:ext>
                  </a:extLst>
                </a:gridCol>
                <a:gridCol w="1488640">
                  <a:extLst>
                    <a:ext uri="{9D8B030D-6E8A-4147-A177-3AD203B41FA5}">
                      <a16:colId xmlns:a16="http://schemas.microsoft.com/office/drawing/2014/main" val="1381122829"/>
                    </a:ext>
                  </a:extLst>
                </a:gridCol>
                <a:gridCol w="2753559">
                  <a:extLst>
                    <a:ext uri="{9D8B030D-6E8A-4147-A177-3AD203B41FA5}">
                      <a16:colId xmlns:a16="http://schemas.microsoft.com/office/drawing/2014/main" val="2206656436"/>
                    </a:ext>
                  </a:extLst>
                </a:gridCol>
                <a:gridCol w="2648336">
                  <a:extLst>
                    <a:ext uri="{9D8B030D-6E8A-4147-A177-3AD203B41FA5}">
                      <a16:colId xmlns:a16="http://schemas.microsoft.com/office/drawing/2014/main" val="2419221689"/>
                    </a:ext>
                  </a:extLst>
                </a:gridCol>
              </a:tblGrid>
              <a:tr h="18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Step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Component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What Happens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Code Example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03513"/>
                  </a:ext>
                </a:extLst>
              </a:tr>
              <a:tr h="947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1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User creates a 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We (the user) or another agent create a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. It’s an object that holds the message text and metadata (like who sent it).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python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(content="What is USD to INR today?", source="User")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37942"/>
                  </a:ext>
                </a:extLst>
              </a:tr>
              <a:tr h="1593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2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receives 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When we call the agent’s method (e.g., 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run()</a:t>
                      </a:r>
                      <a:r>
                        <a:rPr lang="en-US" sz="1100" noProof="0" dirty="0"/>
                        <a:t>,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run_stream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, or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handle_message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), we pass the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. </a:t>
                      </a:r>
                    </a:p>
                    <a:p>
                      <a:pPr>
                        <a:buNone/>
                      </a:pPr>
                      <a:endParaRPr lang="en-US" sz="1100" noProof="0" dirty="0"/>
                    </a:p>
                    <a:p>
                      <a:pPr>
                        <a:buNone/>
                      </a:pPr>
                      <a:r>
                        <a:rPr lang="en-US" sz="1100" noProof="0" dirty="0"/>
                        <a:t>The agent is designed to accept any </a:t>
                      </a:r>
                      <a:r>
                        <a:rPr lang="en-US" sz="1100" b="1" noProof="0" dirty="0" err="1">
                          <a:latin typeface="Courier New" panose="02070309020205020404" pitchFamily="49" charset="0"/>
                        </a:rPr>
                        <a:t>TextReference</a:t>
                      </a:r>
                      <a:r>
                        <a:rPr lang="en-US" sz="1100" noProof="0" dirty="0"/>
                        <a:t>, which includes both plain strings and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objects.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await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agent.run_stream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(task=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935620"/>
                  </a:ext>
                </a:extLst>
              </a:tr>
              <a:tr h="1723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3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converts it internally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Inside the agent’s logic, </a:t>
                      </a:r>
                      <a:r>
                        <a:rPr lang="en-US" sz="1100" noProof="0" dirty="0" err="1"/>
                        <a:t>AutoGen</a:t>
                      </a:r>
                      <a:r>
                        <a:rPr lang="en-US" sz="1100" noProof="0" dirty="0"/>
                        <a:t> converts the input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into a </a:t>
                      </a:r>
                      <a:r>
                        <a:rPr lang="en-US" sz="1100" b="1" noProof="0" dirty="0"/>
                        <a:t>model-ready format</a:t>
                      </a:r>
                      <a:r>
                        <a:rPr lang="en-US" sz="1100" noProof="0" dirty="0"/>
                        <a:t> using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message.to_model_message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100" noProof="0" dirty="0"/>
                        <a:t> (from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autogen_agentchat.messages</a:t>
                      </a:r>
                      <a:r>
                        <a:rPr lang="en-US" sz="1100" noProof="0" dirty="0"/>
                        <a:t>). This produces the data structure that the LLM (Gemini, GPT-4, etc.) expects.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i="1" noProof="0" dirty="0"/>
                        <a:t>(Happens automatically — we don’t need to code it)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30398"/>
                  </a:ext>
                </a:extLst>
              </a:tr>
              <a:tr h="68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4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Model processes content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The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model_client</a:t>
                      </a:r>
                      <a:r>
                        <a:rPr lang="en-US" sz="1100" noProof="0" dirty="0"/>
                        <a:t> (e.g., Gemini or OpenAI) reads the text from the message and generates a response.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–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691036"/>
                  </a:ext>
                </a:extLst>
              </a:tr>
              <a:tr h="947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5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noProof="0" dirty="0"/>
                        <a:t>Agent wraps model output back into a </a:t>
                      </a:r>
                      <a:r>
                        <a:rPr lang="en-US" sz="1100" b="1" noProof="0" dirty="0" err="1"/>
                        <a:t>TextMessage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The agent takes the LLM’s reply, wraps it in a new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/>
                        <a:t> (with 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source="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US" sz="1100" noProof="0" dirty="0"/>
                        <a:t>), and returns it or streams it to the console/UI.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noProof="0" dirty="0"/>
                        <a:t>Example return object: 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(content="1 USD = 83.12 INR today!", source="</a:t>
                      </a:r>
                      <a:r>
                        <a:rPr lang="en-US" sz="11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100" noProof="0" dirty="0">
                          <a:latin typeface="Courier New" panose="02070309020205020404" pitchFamily="49" charset="0"/>
                        </a:rPr>
                        <a:t>")</a:t>
                      </a:r>
                      <a:endParaRPr lang="en-US" sz="11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504567"/>
                  </a:ext>
                </a:extLst>
              </a:tr>
            </a:tbl>
          </a:graphicData>
        </a:graphic>
      </p:graphicFrame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0D094379-3FEF-BEDC-57DC-512B13131928}"/>
              </a:ext>
            </a:extLst>
          </p:cNvPr>
          <p:cNvSpPr>
            <a:spLocks/>
          </p:cNvSpPr>
          <p:nvPr/>
        </p:nvSpPr>
        <p:spPr>
          <a:xfrm>
            <a:off x="1137696" y="2668487"/>
            <a:ext cx="1091874" cy="968357"/>
          </a:xfrm>
          <a:prstGeom prst="foldedCorne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noProof="0" dirty="0" err="1"/>
              <a:t>TextMessage</a:t>
            </a:r>
            <a:endParaRPr lang="en-US" sz="1300" noProof="0" dirty="0"/>
          </a:p>
        </p:txBody>
      </p:sp>
      <p:sp>
        <p:nvSpPr>
          <p:cNvPr id="20" name="Arrow: Striped Right 19">
            <a:extLst>
              <a:ext uri="{FF2B5EF4-FFF2-40B4-BE49-F238E27FC236}">
                <a16:creationId xmlns:a16="http://schemas.microsoft.com/office/drawing/2014/main" id="{9C7693DB-D4D1-CA4A-254D-46922A1BBEA1}"/>
              </a:ext>
            </a:extLst>
          </p:cNvPr>
          <p:cNvSpPr>
            <a:spLocks/>
          </p:cNvSpPr>
          <p:nvPr/>
        </p:nvSpPr>
        <p:spPr>
          <a:xfrm rot="5400000">
            <a:off x="1455639" y="3733116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6FB903-5C20-B304-1D4E-6CF0E908ECFC}"/>
              </a:ext>
            </a:extLst>
          </p:cNvPr>
          <p:cNvSpPr txBox="1">
            <a:spLocks/>
          </p:cNvSpPr>
          <p:nvPr/>
        </p:nvSpPr>
        <p:spPr>
          <a:xfrm>
            <a:off x="1737028" y="3860579"/>
            <a:ext cx="1673215" cy="34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noProof="0" dirty="0" err="1"/>
              <a:t>AssistantAgent</a:t>
            </a:r>
            <a:endParaRPr lang="en-US" sz="1700" b="1" noProof="0" dirty="0"/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F9A7454A-996B-005B-DF96-7AC88AEBB9F8}"/>
              </a:ext>
            </a:extLst>
          </p:cNvPr>
          <p:cNvSpPr>
            <a:spLocks/>
          </p:cNvSpPr>
          <p:nvPr/>
        </p:nvSpPr>
        <p:spPr>
          <a:xfrm rot="5400000">
            <a:off x="1455639" y="5152796"/>
            <a:ext cx="338351" cy="218948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566A0E8-C77B-A5F7-B201-2E578E836D1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5_autogen/5_2_autogen_forex_api.py, 5_3_autogen_forex_api_text_message.py</a:t>
            </a:r>
          </a:p>
        </p:txBody>
      </p:sp>
    </p:spTree>
    <p:extLst>
      <p:ext uri="{BB962C8B-B14F-4D97-AF65-F5344CB8AC3E}">
        <p14:creationId xmlns:p14="http://schemas.microsoft.com/office/powerpoint/2010/main" val="219539791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A167-ED25-F185-436E-33FCD326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199" y="358042"/>
            <a:ext cx="10311602" cy="1299848"/>
          </a:xfrm>
        </p:spPr>
        <p:txBody>
          <a:bodyPr>
            <a:normAutofit/>
          </a:bodyPr>
          <a:lstStyle/>
          <a:p>
            <a:r>
              <a:rPr lang="en-US" sz="4300" noProof="0" dirty="0"/>
              <a:t>Synchronous Versus Asynchronous Agents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A78D7E-1C33-3542-DC77-214314231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234551"/>
              </p:ext>
            </p:extLst>
          </p:nvPr>
        </p:nvGraphicFramePr>
        <p:xfrm>
          <a:off x="747976" y="1400057"/>
          <a:ext cx="10944740" cy="4630050"/>
        </p:xfrm>
        <a:graphic>
          <a:graphicData uri="http://schemas.openxmlformats.org/drawingml/2006/table">
            <a:tbl>
              <a:tblPr/>
              <a:tblGrid>
                <a:gridCol w="1410017">
                  <a:extLst>
                    <a:ext uri="{9D8B030D-6E8A-4147-A177-3AD203B41FA5}">
                      <a16:colId xmlns:a16="http://schemas.microsoft.com/office/drawing/2014/main" val="4251616956"/>
                    </a:ext>
                  </a:extLst>
                </a:gridCol>
                <a:gridCol w="4627045">
                  <a:extLst>
                    <a:ext uri="{9D8B030D-6E8A-4147-A177-3AD203B41FA5}">
                      <a16:colId xmlns:a16="http://schemas.microsoft.com/office/drawing/2014/main" val="3566208410"/>
                    </a:ext>
                  </a:extLst>
                </a:gridCol>
                <a:gridCol w="4907678">
                  <a:extLst>
                    <a:ext uri="{9D8B030D-6E8A-4147-A177-3AD203B41FA5}">
                      <a16:colId xmlns:a16="http://schemas.microsoft.com/office/drawing/2014/main" val="537388861"/>
                    </a:ext>
                  </a:extLst>
                </a:gridCol>
              </a:tblGrid>
              <a:tr h="31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Aspect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Synchronous Execution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Asynchronous Execution (with 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await</a:t>
                      </a:r>
                      <a:r>
                        <a:rPr lang="en-US" sz="1500" b="1" noProof="0" dirty="0"/>
                        <a:t>)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28090"/>
                  </a:ext>
                </a:extLst>
              </a:tr>
              <a:tr h="71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Definition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Tasks run one after another — the next starts only after the previous one finishes.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Tasks are </a:t>
                      </a:r>
                      <a:r>
                        <a:rPr lang="en-US" sz="1500" i="1" noProof="0" dirty="0"/>
                        <a:t>awaited</a:t>
                      </a:r>
                      <a:r>
                        <a:rPr lang="en-US" sz="1500" noProof="0" dirty="0"/>
                        <a:t> and can be paused while waiting for I/O (e.g., model response, network call), allowing other tasks to run concurrently.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885063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Execution Flow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Linear — each agent completes fully before the next begins.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Non-blocking — multiple agents or coroutines can run "in parallel" (cooperatively).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624741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When Used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later tasks depend on earlier outputs (e.g., description before context).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tasks are independent or can overlap safely.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91620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Performance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Slower if each call waits for external APIs or LLMs to finish.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Faster overall — allows concurrent model calls or background processing.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0635"/>
                  </a:ext>
                </a:extLst>
              </a:tr>
              <a:tr h="1257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Example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# Runs one after another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desc = await </a:t>
                      </a:r>
                      <a:r>
                        <a:rPr lang="en-US" sz="1500" noProof="0" dirty="0" err="1"/>
                        <a:t>desc_agent.on_messages</a:t>
                      </a:r>
                      <a:r>
                        <a:rPr lang="en-US" sz="1500" noProof="0" dirty="0"/>
                        <a:t>([...])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context = await </a:t>
                      </a:r>
                      <a:r>
                        <a:rPr lang="en-US" sz="1500" noProof="0" dirty="0" err="1"/>
                        <a:t>context_agent.on_messages</a:t>
                      </a:r>
                      <a:r>
                        <a:rPr lang="en-US" sz="1500" noProof="0" dirty="0"/>
                        <a:t>([...])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# Runs together (non-blocking)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desc_agent.on_messages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context_agent.on_messages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desc, context = await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asyncio.gather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US" sz="8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8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5068"/>
                  </a:ext>
                </a:extLst>
              </a:tr>
              <a:tr h="493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Typical Use Case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Step-by-step reasoning or pipeline workflows.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systems where agents can think or act independently.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51729"/>
                  </a:ext>
                </a:extLst>
              </a:tr>
              <a:tr h="31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Drawback</a:t>
                      </a:r>
                      <a:endParaRPr lang="en-US" sz="15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Inefficient for I/O-heavy or independent tasks.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Harder to debug and manage shared state or dependencies.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0388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4D165548-9AAE-0BF7-0B82-3602F1B659E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5_autogen/5_5_autogen_synchronous_agents.py, 5_6_autogen_asynchronous_agents.py</a:t>
            </a:r>
          </a:p>
        </p:txBody>
      </p:sp>
    </p:spTree>
    <p:extLst>
      <p:ext uri="{BB962C8B-B14F-4D97-AF65-F5344CB8AC3E}">
        <p14:creationId xmlns:p14="http://schemas.microsoft.com/office/powerpoint/2010/main" val="44922626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3D3-2034-E5E2-BA2E-FE9082F3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Structured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10191A-F1AE-567A-6E7D-959D8E717A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44332"/>
              </p:ext>
            </p:extLst>
          </p:nvPr>
        </p:nvGraphicFramePr>
        <p:xfrm>
          <a:off x="883459" y="1810280"/>
          <a:ext cx="10954879" cy="3998168"/>
        </p:xfrm>
        <a:graphic>
          <a:graphicData uri="http://schemas.openxmlformats.org/drawingml/2006/table">
            <a:tbl>
              <a:tblPr/>
              <a:tblGrid>
                <a:gridCol w="2291656">
                  <a:extLst>
                    <a:ext uri="{9D8B030D-6E8A-4147-A177-3AD203B41FA5}">
                      <a16:colId xmlns:a16="http://schemas.microsoft.com/office/drawing/2014/main" val="3687287678"/>
                    </a:ext>
                  </a:extLst>
                </a:gridCol>
                <a:gridCol w="8663223">
                  <a:extLst>
                    <a:ext uri="{9D8B030D-6E8A-4147-A177-3AD203B41FA5}">
                      <a16:colId xmlns:a16="http://schemas.microsoft.com/office/drawing/2014/main" val="349754383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Concept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Description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3609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 the model returns responses in a pre-defined, machine-readable JSON format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928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Technique Used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 err="1"/>
                        <a:t>Pydantic</a:t>
                      </a:r>
                      <a:r>
                        <a:rPr lang="en-US" sz="1800" noProof="0" dirty="0"/>
                        <a:t> model schema to define expected fields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404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Dataset Source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https://www.kaggle.com/datasets/joykimaiyo18/linkedin-data-jobs-dataset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809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Task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Read 5 job descriptions (description field) and extract company name, role, and location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7454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Agent Role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Extract structured information from unstructured job text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6539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Expected Output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JSON with keys: </a:t>
                      </a:r>
                      <a:r>
                        <a:rPr lang="en-US" sz="1800" noProof="0" dirty="0" err="1">
                          <a:latin typeface="Courier New" panose="02070309020205020404" pitchFamily="49" charset="0"/>
                        </a:rPr>
                        <a:t>company_name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role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location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3838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Advantage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Ensures consistent, easily parsed output for downstream automation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4072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901153C4-6C6C-BC7A-23D4-FBCC73AAD00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5_autogen/5_7_autogen_structured_output.py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769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6D2D-1061-AD3A-0BB2-9BCA2E92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375" y="337891"/>
            <a:ext cx="9731251" cy="1226690"/>
          </a:xfrm>
        </p:spPr>
        <p:txBody>
          <a:bodyPr>
            <a:normAutofit/>
          </a:bodyPr>
          <a:lstStyle/>
          <a:p>
            <a:r>
              <a:rPr lang="en-US" sz="4100" noProof="0" dirty="0"/>
              <a:t>Teams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D3CC94-340D-26FB-D2F5-AE4119D9B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33018"/>
              </p:ext>
            </p:extLst>
          </p:nvPr>
        </p:nvGraphicFramePr>
        <p:xfrm>
          <a:off x="1048971" y="1535931"/>
          <a:ext cx="10102672" cy="4499469"/>
        </p:xfrm>
        <a:graphic>
          <a:graphicData uri="http://schemas.openxmlformats.org/drawingml/2006/table">
            <a:tbl>
              <a:tblPr/>
              <a:tblGrid>
                <a:gridCol w="2157475">
                  <a:extLst>
                    <a:ext uri="{9D8B030D-6E8A-4147-A177-3AD203B41FA5}">
                      <a16:colId xmlns:a16="http://schemas.microsoft.com/office/drawing/2014/main" val="285608543"/>
                    </a:ext>
                  </a:extLst>
                </a:gridCol>
                <a:gridCol w="4295574">
                  <a:extLst>
                    <a:ext uri="{9D8B030D-6E8A-4147-A177-3AD203B41FA5}">
                      <a16:colId xmlns:a16="http://schemas.microsoft.com/office/drawing/2014/main" val="541279669"/>
                    </a:ext>
                  </a:extLst>
                </a:gridCol>
                <a:gridCol w="3649623">
                  <a:extLst>
                    <a:ext uri="{9D8B030D-6E8A-4147-A177-3AD203B41FA5}">
                      <a16:colId xmlns:a16="http://schemas.microsoft.com/office/drawing/2014/main" val="274703207"/>
                    </a:ext>
                  </a:extLst>
                </a:gridCol>
              </a:tblGrid>
              <a:tr h="251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Team Type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Description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Example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979543"/>
                  </a:ext>
                </a:extLst>
              </a:tr>
              <a:tr h="1360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RoundRobinGroupChat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Agents take turns responding in a </a:t>
                      </a:r>
                      <a:r>
                        <a:rPr lang="en-US" sz="1400" b="1" noProof="0" dirty="0"/>
                        <a:t>round-robin</a:t>
                      </a:r>
                      <a:r>
                        <a:rPr lang="en-US" sz="1400" noProof="0" dirty="0"/>
                        <a:t> sequence. All share a </a:t>
                      </a:r>
                      <a:r>
                        <a:rPr lang="en-US" sz="1400" b="1" noProof="0" dirty="0"/>
                        <a:t>common conversation context</a:t>
                      </a:r>
                      <a:r>
                        <a:rPr lang="en-US" sz="1400" noProof="0" dirty="0"/>
                        <a:t>, and each agent’s response is </a:t>
                      </a:r>
                      <a:r>
                        <a:rPr lang="en-US" sz="1400" b="1" noProof="0" dirty="0"/>
                        <a:t>broadcast</a:t>
                      </a:r>
                      <a:r>
                        <a:rPr lang="en-US" sz="1400" noProof="0" dirty="0"/>
                        <a:t> to everyone for consistent understanding.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Two agents (Writer and Critic) alternately refine a blog post until the Critic replies </a:t>
                      </a:r>
                      <a:r>
                        <a:rPr lang="en-US" sz="1400" b="1" noProof="0" dirty="0"/>
                        <a:t>“APPROVE.”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65671"/>
                  </a:ext>
                </a:extLst>
              </a:tr>
              <a:tr h="1033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SelectorGroupChat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Uses an </a:t>
                      </a:r>
                      <a:r>
                        <a:rPr lang="en-US" sz="1400" b="1" noProof="0" dirty="0"/>
                        <a:t>LLM to decide</a:t>
                      </a:r>
                      <a:r>
                        <a:rPr lang="en-US" sz="1400" noProof="0" dirty="0"/>
                        <a:t> which agent speaks next after each message. Each message is </a:t>
                      </a:r>
                      <a:r>
                        <a:rPr lang="en-US" sz="1400" b="1" noProof="0" dirty="0"/>
                        <a:t>shared with all</a:t>
                      </a:r>
                      <a:r>
                        <a:rPr lang="en-US" sz="1400" noProof="0" dirty="0"/>
                        <a:t> agents to maintain synchronized context.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group of agents where a </a:t>
                      </a:r>
                      <a:r>
                        <a:rPr lang="en-US" sz="1400" b="1" noProof="0" dirty="0"/>
                        <a:t>Reviewer</a:t>
                      </a:r>
                      <a:r>
                        <a:rPr lang="en-US" sz="1400" noProof="0" dirty="0"/>
                        <a:t>, </a:t>
                      </a:r>
                      <a:r>
                        <a:rPr lang="en-US" sz="1400" b="1" noProof="0" dirty="0"/>
                        <a:t>Coder</a:t>
                      </a:r>
                      <a:r>
                        <a:rPr lang="en-US" sz="1400" noProof="0" dirty="0"/>
                        <a:t>, and </a:t>
                      </a:r>
                      <a:r>
                        <a:rPr lang="en-US" sz="1400" b="1" noProof="0" dirty="0"/>
                        <a:t>Tester</a:t>
                      </a:r>
                      <a:r>
                        <a:rPr lang="en-US" sz="1400" noProof="0" dirty="0"/>
                        <a:t> interact dynamically — the LLM decides who contributes next.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127842"/>
                  </a:ext>
                </a:extLst>
              </a:tr>
              <a:tr h="707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MagenticOneGroupChat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/>
                        <a:t>general-purpose multi-agent framework</a:t>
                      </a:r>
                      <a:r>
                        <a:rPr lang="en-US" sz="1400" noProof="0" dirty="0"/>
                        <a:t> for handling </a:t>
                      </a:r>
                      <a:r>
                        <a:rPr lang="en-US" sz="1400" b="1" noProof="0" dirty="0"/>
                        <a:t>open-ended tasks</a:t>
                      </a:r>
                      <a:r>
                        <a:rPr lang="en-US" sz="1400" noProof="0" dirty="0"/>
                        <a:t> using web or file data across multiple domains.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Upload a </a:t>
                      </a:r>
                      <a:r>
                        <a:rPr lang="en-US" sz="1400" b="1" noProof="0" dirty="0"/>
                        <a:t>PDF report</a:t>
                      </a:r>
                      <a:r>
                        <a:rPr lang="en-US" sz="1400" noProof="0" dirty="0"/>
                        <a:t> or </a:t>
                      </a:r>
                      <a:r>
                        <a:rPr lang="en-US" sz="1400" b="1" noProof="0" dirty="0"/>
                        <a:t>web link</a:t>
                      </a:r>
                      <a:r>
                        <a:rPr lang="en-US" sz="1400" noProof="0" dirty="0"/>
                        <a:t>, and the team extracts, summarizes, and analyzes it automatically.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26391"/>
                  </a:ext>
                </a:extLst>
              </a:tr>
              <a:tr h="1041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Swarm</a:t>
                      </a:r>
                      <a:endParaRPr lang="en-US" sz="14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/>
                        <a:t>coordinated agent system</a:t>
                      </a:r>
                      <a:r>
                        <a:rPr lang="en-US" sz="1400" noProof="0" dirty="0"/>
                        <a:t> where one agent can </a:t>
                      </a:r>
                      <a:r>
                        <a:rPr lang="en-US" sz="1400" b="1" noProof="0" dirty="0"/>
                        <a:t>handoff control</a:t>
                      </a:r>
                      <a:r>
                        <a:rPr lang="en-US" sz="1400" noProof="0" dirty="0"/>
                        <a:t> to another using 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</a:rPr>
                        <a:t>HandoffMessage</a:t>
                      </a:r>
                      <a:r>
                        <a:rPr lang="en-US" sz="1400" noProof="0" dirty="0"/>
                        <a:t>, allowing smooth </a:t>
                      </a:r>
                      <a:r>
                        <a:rPr lang="en-US" sz="1400" b="1" noProof="0" dirty="0"/>
                        <a:t>task transitions</a:t>
                      </a:r>
                      <a:r>
                        <a:rPr lang="en-US" sz="1400" b="0" noProof="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US" sz="1400" b="0" noProof="0" dirty="0"/>
                        <a:t>Still being developed by </a:t>
                      </a:r>
                      <a:r>
                        <a:rPr lang="en-US" sz="1400" b="0" noProof="0" dirty="0" err="1"/>
                        <a:t>Autogen</a:t>
                      </a:r>
                      <a:r>
                        <a:rPr lang="en-US" sz="1400" b="0" noProof="0" dirty="0"/>
                        <a:t> (See </a:t>
                      </a:r>
                      <a:r>
                        <a:rPr lang="en-US" sz="1400" noProof="0" dirty="0">
                          <a:hlinkClick r:id="rId3"/>
                        </a:rPr>
                        <a:t>Handoffs — </a:t>
                      </a:r>
                      <a:r>
                        <a:rPr lang="en-US" sz="1400" noProof="0" dirty="0" err="1">
                          <a:hlinkClick r:id="rId3"/>
                        </a:rPr>
                        <a:t>AutoGen</a:t>
                      </a:r>
                      <a:r>
                        <a:rPr lang="en-US" sz="1400" noProof="0" dirty="0"/>
                        <a:t>)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</a:t>
                      </a:r>
                      <a:r>
                        <a:rPr lang="en-US" sz="1400" b="1" noProof="0" dirty="0" err="1"/>
                        <a:t>DataCollector</a:t>
                      </a:r>
                      <a:r>
                        <a:rPr lang="en-US" sz="1400" noProof="0" dirty="0"/>
                        <a:t> agent fetches API data, then passes results to a </a:t>
                      </a:r>
                      <a:r>
                        <a:rPr lang="en-US" sz="1400" b="1" noProof="0" dirty="0" err="1"/>
                        <a:t>DataAnalyzer</a:t>
                      </a:r>
                      <a:r>
                        <a:rPr lang="en-US" sz="1400" noProof="0" dirty="0"/>
                        <a:t> agent for visualization.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3707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5232367F-C7F8-2192-D4F5-20FD8AC9047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5_autogen/5_8_autogen_round_robin_group_chat.py, 5_9_autogen_selector_group_chat.py, 5_10_autogen_magentic_group_chat.py, 5_11_autogen_recession_claim.py</a:t>
            </a:r>
          </a:p>
        </p:txBody>
      </p:sp>
    </p:spTree>
    <p:extLst>
      <p:ext uri="{BB962C8B-B14F-4D97-AF65-F5344CB8AC3E}">
        <p14:creationId xmlns:p14="http://schemas.microsoft.com/office/powerpoint/2010/main" val="211440594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8B71-649C-14B9-077C-596CA2A8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097" y="351590"/>
            <a:ext cx="10125806" cy="1276427"/>
          </a:xfrm>
        </p:spPr>
        <p:txBody>
          <a:bodyPr>
            <a:normAutofit/>
          </a:bodyPr>
          <a:lstStyle/>
          <a:p>
            <a:r>
              <a:rPr lang="en-US" sz="4200" noProof="0" dirty="0" err="1"/>
              <a:t>Autogen</a:t>
            </a:r>
            <a:r>
              <a:rPr lang="en-US" sz="4200" noProof="0" dirty="0"/>
              <a:t> </a:t>
            </a:r>
            <a:r>
              <a:rPr lang="en-US" sz="4200" noProof="0" dirty="0" err="1"/>
              <a:t>GraphFlow</a:t>
            </a:r>
            <a:r>
              <a:rPr lang="en-US" sz="4200" noProof="0" dirty="0"/>
              <a:t> (Similar to </a:t>
            </a:r>
            <a:r>
              <a:rPr lang="en-US" sz="4200" noProof="0" dirty="0" err="1"/>
              <a:t>LangGraph</a:t>
            </a:r>
            <a:r>
              <a:rPr lang="en-US" sz="4200" noProof="0" dirty="0"/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65B614-3204-6EB5-80B2-86A006E07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374465"/>
              </p:ext>
            </p:extLst>
          </p:nvPr>
        </p:nvGraphicFramePr>
        <p:xfrm>
          <a:off x="1119914" y="1446289"/>
          <a:ext cx="10125805" cy="4721478"/>
        </p:xfrm>
        <a:graphic>
          <a:graphicData uri="http://schemas.openxmlformats.org/drawingml/2006/table">
            <a:tbl>
              <a:tblPr/>
              <a:tblGrid>
                <a:gridCol w="2177738">
                  <a:extLst>
                    <a:ext uri="{9D8B030D-6E8A-4147-A177-3AD203B41FA5}">
                      <a16:colId xmlns:a16="http://schemas.microsoft.com/office/drawing/2014/main" val="3066366788"/>
                    </a:ext>
                  </a:extLst>
                </a:gridCol>
                <a:gridCol w="7948067">
                  <a:extLst>
                    <a:ext uri="{9D8B030D-6E8A-4147-A177-3AD203B41FA5}">
                      <a16:colId xmlns:a16="http://schemas.microsoft.com/office/drawing/2014/main" val="3891484686"/>
                    </a:ext>
                  </a:extLst>
                </a:gridCol>
              </a:tblGrid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Feature / Aspect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Description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3522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Purpose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Orchestrate multi-agent workflows using a </a:t>
                      </a:r>
                      <a:r>
                        <a:rPr lang="en-US" sz="1700" b="1" noProof="0" dirty="0"/>
                        <a:t>directed graph</a:t>
                      </a:r>
                      <a:r>
                        <a:rPr lang="en-US" sz="1700" noProof="0" dirty="0"/>
                        <a:t> instead of linear chains.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29198"/>
                  </a:ext>
                </a:extLst>
              </a:tr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Nodes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Represent </a:t>
                      </a:r>
                      <a:r>
                        <a:rPr lang="en-US" sz="1700" b="1" noProof="0" dirty="0"/>
                        <a:t>agents</a:t>
                      </a:r>
                      <a:r>
                        <a:rPr lang="en-US" sz="1700" noProof="0" dirty="0"/>
                        <a:t> or </a:t>
                      </a:r>
                      <a:r>
                        <a:rPr lang="en-US" sz="1700" b="1" noProof="0" dirty="0"/>
                        <a:t>tools</a:t>
                      </a:r>
                      <a:r>
                        <a:rPr lang="en-US" sz="17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66015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Edges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Define </a:t>
                      </a:r>
                      <a:r>
                        <a:rPr lang="en-US" sz="1700" b="1" noProof="0" dirty="0"/>
                        <a:t>possible transitions</a:t>
                      </a:r>
                      <a:r>
                        <a:rPr lang="en-US" sz="1700" noProof="0" dirty="0"/>
                        <a:t> between nodes (can include conditional logic).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22780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Flow Control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Supports </a:t>
                      </a:r>
                      <a:r>
                        <a:rPr lang="en-US" sz="1700" b="1" noProof="0" dirty="0"/>
                        <a:t>branching, loops, and conditional transitions</a:t>
                      </a:r>
                      <a:r>
                        <a:rPr lang="en-US" sz="1700" noProof="0" dirty="0"/>
                        <a:t> for complex workflows.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3421"/>
                  </a:ext>
                </a:extLst>
              </a:tr>
              <a:tr h="311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Start Node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Defines the </a:t>
                      </a:r>
                      <a:r>
                        <a:rPr lang="en-US" sz="1700" b="1" noProof="0" dirty="0"/>
                        <a:t>entry point</a:t>
                      </a:r>
                      <a:r>
                        <a:rPr lang="en-US" sz="1700" noProof="0" dirty="0"/>
                        <a:t> of the workflow.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469951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Termination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Can define </a:t>
                      </a:r>
                      <a:r>
                        <a:rPr lang="en-US" sz="1700" b="1" noProof="0" dirty="0"/>
                        <a:t>end conditions</a:t>
                      </a:r>
                      <a:r>
                        <a:rPr lang="en-US" sz="1700" noProof="0" dirty="0"/>
                        <a:t> such as max turns, signals from agents, or workflow completion.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05153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Use Case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Multi-agent collaboration, RAG workflows, NLP/CV pipelines, editing/review tasks, etc.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707517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Integration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Works within Microsoft </a:t>
                      </a:r>
                      <a:r>
                        <a:rPr lang="en-US" sz="1700" noProof="0" dirty="0" err="1"/>
                        <a:t>AutoGen’s</a:t>
                      </a:r>
                      <a:r>
                        <a:rPr lang="en-US" sz="1700" noProof="0" dirty="0"/>
                        <a:t> </a:t>
                      </a:r>
                      <a:r>
                        <a:rPr lang="en-US" sz="1700" b="1" noProof="0" dirty="0"/>
                        <a:t>teams and agents framework</a:t>
                      </a:r>
                      <a:r>
                        <a:rPr lang="en-US" sz="17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009037"/>
                  </a:ext>
                </a:extLst>
              </a:tr>
              <a:tr h="56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Advantages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Structured orchestration, clearer workflow logic, supports parallel and sequential execution.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326270"/>
                  </a:ext>
                </a:extLst>
              </a:tr>
              <a:tr h="431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Limitations / Notes</a:t>
                      </a:r>
                      <a:endParaRPr lang="en-US" sz="17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Experimental, subject to API changes, requires careful debugging and termination design.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05795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F506DF8A-334E-51E8-C741-D2DB47E5F20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5_autogen/5_12_autogen_graphflow.py, 5_13_autogen_graphflow_parallel_join.py</a:t>
            </a:r>
          </a:p>
        </p:txBody>
      </p:sp>
    </p:spTree>
    <p:extLst>
      <p:ext uri="{BB962C8B-B14F-4D97-AF65-F5344CB8AC3E}">
        <p14:creationId xmlns:p14="http://schemas.microsoft.com/office/powerpoint/2010/main" val="31491815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EFE9-ED4B-E081-7AC3-FF75D141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Memory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10590A-CCC0-42FF-212E-A6B9B8FDEF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262839"/>
              </p:ext>
            </p:extLst>
          </p:nvPr>
        </p:nvGraphicFramePr>
        <p:xfrm>
          <a:off x="474651" y="1776914"/>
          <a:ext cx="10879149" cy="4435771"/>
        </p:xfrm>
        <a:graphic>
          <a:graphicData uri="http://schemas.openxmlformats.org/drawingml/2006/table">
            <a:tbl>
              <a:tblPr/>
              <a:tblGrid>
                <a:gridCol w="3626383">
                  <a:extLst>
                    <a:ext uri="{9D8B030D-6E8A-4147-A177-3AD203B41FA5}">
                      <a16:colId xmlns:a16="http://schemas.microsoft.com/office/drawing/2014/main" val="88089299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138036712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3998865787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Concept / Memory Type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Does (Simple)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When to Use / Example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674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Memory (general)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from conversation for later use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Remember facts about user, context, or previous answers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82200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add()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info to memory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“User’s name is Alice”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934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query()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Retrieve relevant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“What did user ask before?”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02114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update_context</a:t>
                      </a:r>
                      <a:r>
                        <a:rPr lang="en-US" sz="1600" b="1" noProof="0" dirty="0"/>
                        <a:t>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memory info to agent’s current context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 retrieved facts in current answer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24172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clear()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Delete all stored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Start fresh conversation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7089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close()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Clean up resources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Close vector DB or file store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5320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ListMemory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Simple chronological memory (like a list)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Demo or small tasks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06860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Vector / External 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in vector DB for semantic search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For RAG workflows, document retrieval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66759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RAG (Retrieval Augmented Generation)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uses retrieved documents to answer better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Answer questions using external knowledge/documents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3022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13A3F826-BA6F-F8D3-8E8E-65305C38D55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5_autogen/5_14_autogen_memory.py</a:t>
            </a:r>
          </a:p>
        </p:txBody>
      </p:sp>
    </p:spTree>
    <p:extLst>
      <p:ext uri="{BB962C8B-B14F-4D97-AF65-F5344CB8AC3E}">
        <p14:creationId xmlns:p14="http://schemas.microsoft.com/office/powerpoint/2010/main" val="74484990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8722-DFFF-9ED5-617B-465FB31D3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A2AF6-60D9-F6A1-7BAD-3D15C8C07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Agentic RAG and GraphRAG for Agents</a:t>
            </a:r>
          </a:p>
          <a:p>
            <a:r>
              <a:rPr lang="en-US"/>
              <a:t>Sat 15-Nov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07492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37807-A93E-483E-899C-62646676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8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00CEB-16BC-9697-1389-3716591E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RAG failure modes and advanced approaches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Traditional RAG vs agentic 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Retrieval + reasoning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Self-RAG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Corrective RAG (CRAG)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Re-ranking retrieved chunks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Hybrid search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GraphRAG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Multi-hop reasoning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GB" sz="2000"/>
              <a:t>Evaluating RAG with RAGAS</a:t>
            </a:r>
          </a:p>
        </p:txBody>
      </p:sp>
    </p:spTree>
    <p:extLst>
      <p:ext uri="{BB962C8B-B14F-4D97-AF65-F5344CB8AC3E}">
        <p14:creationId xmlns:p14="http://schemas.microsoft.com/office/powerpoint/2010/main" val="118094337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C63E0-1B26-D008-37A7-19AFD6013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587B-B7F7-5BE8-54EA-F7969ED3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Failure Modes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26F050-A2BA-E29B-1342-A783E121D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131035"/>
              </p:ext>
            </p:extLst>
          </p:nvPr>
        </p:nvGraphicFramePr>
        <p:xfrm>
          <a:off x="838200" y="1789982"/>
          <a:ext cx="10515600" cy="4206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66276">
                  <a:extLst>
                    <a:ext uri="{9D8B030D-6E8A-4147-A177-3AD203B41FA5}">
                      <a16:colId xmlns:a16="http://schemas.microsoft.com/office/drawing/2014/main" val="600898862"/>
                    </a:ext>
                  </a:extLst>
                </a:gridCol>
                <a:gridCol w="6949324">
                  <a:extLst>
                    <a:ext uri="{9D8B030D-6E8A-4147-A177-3AD203B41FA5}">
                      <a16:colId xmlns:a16="http://schemas.microsoft.com/office/drawing/2014/main" val="980003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Failure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8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Missed Retrieval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Correct information exists in the knowledge base but is not retrieved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11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Irrelevant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Retrieved documents are not sufficiently relevant to the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25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Hallucination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LLM generates information not supported by the retrieved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810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Context Overflow / </a:t>
                      </a:r>
                    </a:p>
                    <a:p>
                      <a:pPr>
                        <a:buNone/>
                      </a:pPr>
                      <a:r>
                        <a:rPr lang="en-GB" sz="2400" dirty="0"/>
                        <a:t>Lost-in-the-Middle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Right info is retrieved but buried among too much other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27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Chunking Fragmentation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Relevant information is split across multiple chunks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24946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5E36EF64-5B76-431F-921F-399054A05DB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3_langgraph/3_1_rag_hallucination_eval.py</a:t>
            </a:r>
          </a:p>
        </p:txBody>
      </p:sp>
    </p:spTree>
    <p:extLst>
      <p:ext uri="{BB962C8B-B14F-4D97-AF65-F5344CB8AC3E}">
        <p14:creationId xmlns:p14="http://schemas.microsoft.com/office/powerpoint/2010/main" val="46745072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09A5-13F9-8EBB-5163-6AE441B5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Various Approaches for Advanced RAG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9C3B9C-84B4-8B4D-BB5B-5938CAD85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344892"/>
              </p:ext>
            </p:extLst>
          </p:nvPr>
        </p:nvGraphicFramePr>
        <p:xfrm>
          <a:off x="698014" y="1825625"/>
          <a:ext cx="10735476" cy="4469596"/>
        </p:xfrm>
        <a:graphic>
          <a:graphicData uri="http://schemas.openxmlformats.org/drawingml/2006/table">
            <a:tbl>
              <a:tblPr firstRow="1" firstCol="1">
                <a:tableStyleId>{8EC20E35-A176-4012-BC5E-935CFFF8708E}</a:tableStyleId>
              </a:tblPr>
              <a:tblGrid>
                <a:gridCol w="1989345">
                  <a:extLst>
                    <a:ext uri="{9D8B030D-6E8A-4147-A177-3AD203B41FA5}">
                      <a16:colId xmlns:a16="http://schemas.microsoft.com/office/drawing/2014/main" val="1747829231"/>
                    </a:ext>
                  </a:extLst>
                </a:gridCol>
                <a:gridCol w="8746131">
                  <a:extLst>
                    <a:ext uri="{9D8B030D-6E8A-4147-A177-3AD203B41FA5}">
                      <a16:colId xmlns:a16="http://schemas.microsoft.com/office/drawing/2014/main" val="1651228532"/>
                    </a:ext>
                  </a:extLst>
                </a:gridCol>
              </a:tblGrid>
              <a:tr h="209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Technique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One-line summary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912908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RAGAS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Evaluates RAG quality — accuracy, relevance, usefulness, and completeness of retrieval and answers.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053341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Agentic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Uses an agent to decide what to retrieve, how to retrieve, and what to do next.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459585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Self-RAG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Retrieves, checks the retrieved evidence, and retrieves/generates again when the evidence is insufficient.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68284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Corrective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Corrects poor retrieval by using additional retrieval sources, such as web search, when necessary.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577931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Reranking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Reorders retrieved chunks using a stronger relevance model so the best ones reach the LLM.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74169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HyDE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Generates a hypothetical answer first, embeds it, and uses it to retrieve matching documents.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205122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Query Expansion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Generates multiple reformulations of the query to improve retrieval coverage.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892744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GraphRAG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Represents information as an entity–relationship graph to retrieve connected facts across documents.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834102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Multi-hop Reasoning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Traverses multiple facts or relationships step-by-step to answer questions requiring several pieces of information.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024769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Hybrid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Combines multiple retrieval methods, such as vector search and graph traversal, to improve retrieval.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468678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C6281CB9-CCB9-4CAA-C54B-C84077BEE5A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3_langgraph/3_1_rag_hallucination_eval.py</a:t>
            </a:r>
          </a:p>
        </p:txBody>
      </p:sp>
    </p:spTree>
    <p:extLst>
      <p:ext uri="{BB962C8B-B14F-4D97-AF65-F5344CB8AC3E}">
        <p14:creationId xmlns:p14="http://schemas.microsoft.com/office/powerpoint/2010/main" val="123954861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EEE6A7-B374-CE83-A142-0427F78F45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0"/>
            <a:ext cx="9525000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EBD3538B-8E59-6AB7-3BF5-3FD3CBB9F01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3_langgraph/3_1_rag_hallucination_eval.py</a:t>
            </a:r>
          </a:p>
        </p:txBody>
      </p:sp>
    </p:spTree>
    <p:extLst>
      <p:ext uri="{BB962C8B-B14F-4D97-AF65-F5344CB8AC3E}">
        <p14:creationId xmlns:p14="http://schemas.microsoft.com/office/powerpoint/2010/main" val="419381453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F067F-C3DA-A75D-0D03-ADE0DE68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RAG versus Agentic RAG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BE9731-A9A2-2B55-4BC5-25E686DC31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40235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181673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5252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Traditional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Agentic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85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Fixed retrieval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Intelligent, dynamic workflow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55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Retrieves documents once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retrieve multiple times as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84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Single LLM 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Multiple reasoning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928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planning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Plans and decides next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865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Limited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Autonomous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24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Uses a predefined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Chooses the best execution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7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Multi-step agent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73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 straightforward Q&amp;A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Best for complex problem solving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470182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7C20A11-3FB8-FA0C-A29A-E95174852CD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15_real/traditional_vs_agentic_rag.py, traditional_vs_agentic_rag_serp.py, 2_openai_agents/2_11_openai_agent_traditional_rag.py vs 2_11_openai_agent_agentic_rag.py</a:t>
            </a:r>
          </a:p>
        </p:txBody>
      </p:sp>
    </p:spTree>
    <p:extLst>
      <p:ext uri="{BB962C8B-B14F-4D97-AF65-F5344CB8AC3E}">
        <p14:creationId xmlns:p14="http://schemas.microsoft.com/office/powerpoint/2010/main" val="234353479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54F180-1406-8858-813B-599F2728D0D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15" y="-105121"/>
            <a:ext cx="9682682" cy="6455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359E9-7739-246A-6B51-EB6C6996BD5A}"/>
              </a:ext>
            </a:extLst>
          </p:cNvPr>
          <p:cNvSpPr txBox="1">
            <a:spLocks/>
          </p:cNvSpPr>
          <p:nvPr/>
        </p:nvSpPr>
        <p:spPr>
          <a:xfrm>
            <a:off x="10259251" y="624160"/>
            <a:ext cx="1445422" cy="1129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dirty="0"/>
              <a:t>C:\code\agenticai\15_real\traditional_vs_agentic_rag.py</a:t>
            </a:r>
            <a:endParaRPr lang="en-GB" sz="1700" dirty="0"/>
          </a:p>
        </p:txBody>
      </p:sp>
      <p:sp>
        <p:nvSpPr>
          <p:cNvPr id="2" name="DemoCallout">
            <a:extLst>
              <a:ext uri="{FF2B5EF4-FFF2-40B4-BE49-F238E27FC236}">
                <a16:creationId xmlns:a16="http://schemas.microsoft.com/office/drawing/2014/main" id="{D9AB9733-69AC-FA4F-C632-33F00CF94BB8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05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050">
                <a:solidFill>
                  <a:srgbClr val="333333"/>
                </a:solidFill>
                <a:latin typeface="Calibri" panose="020F0502020204030204" pitchFamily="34" charset="0"/>
              </a:rPr>
              <a:t>  15_real/traditional_vs_agentic_rag.py, traditional_vs_agentic_rag_serp.py, 2_openai_agents/2_11_openai_agent_traditional_rag.py vs 2_11_openai_agent_agentic_rag.py</a:t>
            </a:r>
          </a:p>
        </p:txBody>
      </p:sp>
    </p:spTree>
    <p:extLst>
      <p:ext uri="{BB962C8B-B14F-4D97-AF65-F5344CB8AC3E}">
        <p14:creationId xmlns:p14="http://schemas.microsoft.com/office/powerpoint/2010/main" val="32105890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CC1C-46E8-9CD0-8B01-8D26473F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Common Adaptive Strategies </a:t>
            </a:r>
            <a:r>
              <a:rPr lang="en-IN" sz="3600" dirty="0"/>
              <a:t>(</a:t>
            </a:r>
            <a:r>
              <a:rPr lang="pt-BR" sz="3600" dirty="0"/>
              <a:t>C:\code\agenticai\15_real\adaptive_retrieval_strategies.py)</a:t>
            </a:r>
            <a:endParaRPr lang="en-GB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11C7C7-BE95-0D30-1CBE-B7EBF9407A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83105"/>
              </p:ext>
            </p:extLst>
          </p:nvPr>
        </p:nvGraphicFramePr>
        <p:xfrm>
          <a:off x="838200" y="2309654"/>
          <a:ext cx="10515600" cy="25603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484353">
                  <a:extLst>
                    <a:ext uri="{9D8B030D-6E8A-4147-A177-3AD203B41FA5}">
                      <a16:colId xmlns:a16="http://schemas.microsoft.com/office/drawing/2014/main" val="1328149517"/>
                    </a:ext>
                  </a:extLst>
                </a:gridCol>
                <a:gridCol w="8031247">
                  <a:extLst>
                    <a:ext uri="{9D8B030D-6E8A-4147-A177-3AD203B41FA5}">
                      <a16:colId xmlns:a16="http://schemas.microsoft.com/office/drawing/2014/main" val="3194990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694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Skip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Answer directly if existing knowledge is sufficient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39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Single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 once for simple factual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92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Iterative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Retrieve additional documents if more information is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65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Query Reformulation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Rewrite the query to improve search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26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Multi-Source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Combine information from vector databases, SQL databases, APIs, and web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501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Tool-Based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Choose the most appropriate tool based on the user's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815257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B67A05B9-2414-AACC-6FCC-18B2DD6F229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15_real/adaptive_retrieval_strategies.py, adaptive_retrieval_strategies_serp.py</a:t>
            </a:r>
          </a:p>
        </p:txBody>
      </p:sp>
    </p:spTree>
    <p:extLst>
      <p:ext uri="{BB962C8B-B14F-4D97-AF65-F5344CB8AC3E}">
        <p14:creationId xmlns:p14="http://schemas.microsoft.com/office/powerpoint/2010/main" val="268701455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6C8F-2561-3EC6-9307-C9530671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771" y="338488"/>
            <a:ext cx="9748457" cy="1228859"/>
          </a:xfrm>
        </p:spPr>
        <p:txBody>
          <a:bodyPr>
            <a:normAutofit/>
          </a:bodyPr>
          <a:lstStyle/>
          <a:p>
            <a:r>
              <a:rPr lang="en-IN" sz="4100" dirty="0"/>
              <a:t>Retrieval + Reasoning</a:t>
            </a:r>
            <a:endParaRPr lang="en-GB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C09D6-A641-37E8-FB38-8887D616C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771" y="1692440"/>
            <a:ext cx="9748457" cy="4033895"/>
          </a:xfrm>
        </p:spPr>
        <p:txBody>
          <a:bodyPr>
            <a:normAutofit fontScale="92500" lnSpcReduction="10000"/>
          </a:bodyPr>
          <a:lstStyle/>
          <a:p>
            <a:r>
              <a:rPr lang="en-GB" sz="2600" dirty="0"/>
              <a:t>Modern AI applications combine </a:t>
            </a:r>
            <a:r>
              <a:rPr lang="en-GB" sz="2600" b="1" dirty="0"/>
              <a:t>Retrieval</a:t>
            </a:r>
            <a:r>
              <a:rPr lang="en-GB" sz="2600" dirty="0"/>
              <a:t> (finding relevant information) with </a:t>
            </a:r>
            <a:r>
              <a:rPr lang="en-GB" sz="2600" b="1" dirty="0"/>
              <a:t>Reasoning</a:t>
            </a:r>
            <a:r>
              <a:rPr lang="en-GB" sz="2600" dirty="0"/>
              <a:t> (</a:t>
            </a:r>
            <a:r>
              <a:rPr lang="en-GB" sz="2600" dirty="0" err="1"/>
              <a:t>analyzing</a:t>
            </a:r>
            <a:r>
              <a:rPr lang="en-GB" sz="2600" dirty="0"/>
              <a:t>, interpreting, and making decisions) to produce accurate and context-aware responses</a:t>
            </a:r>
          </a:p>
          <a:p>
            <a:pPr lvl="1"/>
            <a:r>
              <a:rPr lang="en-GB" sz="2200" b="1" dirty="0"/>
              <a:t>Retrieval</a:t>
            </a:r>
            <a:r>
              <a:rPr lang="en-GB" sz="2200" dirty="0"/>
              <a:t> provides factual knowledge</a:t>
            </a:r>
          </a:p>
          <a:p>
            <a:pPr lvl="1"/>
            <a:r>
              <a:rPr lang="en-GB" sz="2200" b="1" dirty="0"/>
              <a:t>Reasoning</a:t>
            </a:r>
            <a:r>
              <a:rPr lang="en-GB" sz="2200" dirty="0"/>
              <a:t> uses that knowledge to solve the user's problem</a:t>
            </a:r>
          </a:p>
          <a:p>
            <a:r>
              <a:rPr lang="en-GB" sz="2600" dirty="0"/>
              <a:t>Example: Can I get a ₹50 lakh home loan? My salary is ₹18 lakh/year, I already have a car loan, and my credit score is 760.</a:t>
            </a:r>
          </a:p>
          <a:p>
            <a:pPr lvl="1"/>
            <a:r>
              <a:rPr lang="en-GB" sz="2200" dirty="0"/>
              <a:t>Retrieval: Loan eligibility policy, Current interest rates, Customer profile, Credit score, Existing loans, RBI lending rules</a:t>
            </a:r>
          </a:p>
          <a:p>
            <a:pPr lvl="1"/>
            <a:r>
              <a:rPr lang="en-GB" sz="2200" dirty="0"/>
              <a:t>Reasoning: Calculates Debt-to-Income (DTI) ratio, Checks credit score eligibility, Verifies policy rules, Determines maximum eligible amount, Suggests suitable loan options</a:t>
            </a:r>
          </a:p>
          <a:p>
            <a:pPr lvl="1"/>
            <a:endParaRPr lang="en-GB" sz="2200" dirty="0"/>
          </a:p>
          <a:p>
            <a:pPr lvl="1"/>
            <a:endParaRPr lang="en-GB" sz="2200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483FD46-6147-88CE-0C16-F484452B781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15_real/loan_eligibility_rag_reasoning.py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72559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813C7-B27B-47F8-C1F1-8E875DF8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EE3D-79E4-EB83-4A4F-D05969C6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Retrieval + Reasoning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4B7F-0114-B515-A1F6-AB0CC9327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Code: C:\code\agenticai\15_real\cohere_rag_pipeline.py</a:t>
            </a:r>
          </a:p>
          <a:p>
            <a:pPr lvl="0"/>
            <a:r>
              <a:rPr lang="en-GB" dirty="0"/>
              <a:t>embed() — turns text into 1536-dim vectors (embed-v4.0)</a:t>
            </a:r>
          </a:p>
          <a:p>
            <a:pPr lvl="0"/>
            <a:r>
              <a:rPr lang="en-GB" dirty="0" err="1"/>
              <a:t>rerank</a:t>
            </a:r>
            <a:r>
              <a:rPr lang="en-GB" dirty="0"/>
              <a:t>() — narrows all 324 FAQs down to the top-3 most relevant to the query (rerank-v3.5) — correctly surfaced the 3 refund-related entries for "How do I get my money back for an order?"</a:t>
            </a:r>
          </a:p>
          <a:p>
            <a:pPr lvl="0"/>
            <a:r>
              <a:rPr lang="en-GB" dirty="0"/>
              <a:t>chat() — generates the final answer, passing the reranked FAQs straight in via documents= — </a:t>
            </a:r>
            <a:r>
              <a:rPr lang="en-GB" dirty="0" err="1"/>
              <a:t>Cohere's</a:t>
            </a:r>
            <a:r>
              <a:rPr lang="en-GB" dirty="0"/>
              <a:t> chat endpoint handles the grounding/context-stuffing natively, unlike OpenAI where you build that prompt yourself</a:t>
            </a:r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2BE7BAF-F3CE-841B-9474-C50D0AD2FDAB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15_real/loan_eligibility_rag_reasoning.py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98937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44A1-B255-0D30-9AEA-D348215B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092E-90F6-9264-17B4-F33C3ACEF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RAG</a:t>
            </a:r>
          </a:p>
          <a:p>
            <a:pPr lvl="1"/>
            <a:r>
              <a:rPr lang="en-GB" dirty="0"/>
              <a:t>Question → Retrieve → Generate Answer</a:t>
            </a:r>
          </a:p>
          <a:p>
            <a:pPr lvl="1"/>
            <a:r>
              <a:rPr lang="en-GB" dirty="0"/>
              <a:t>It trusts the retrieved documents</a:t>
            </a:r>
          </a:p>
          <a:p>
            <a:r>
              <a:rPr lang="en-GB" b="1" dirty="0"/>
              <a:t>Self-RAG</a:t>
            </a:r>
            <a:r>
              <a:rPr lang="en-GB" dirty="0"/>
              <a:t>: Does not blindly trust the first retrieval </a:t>
            </a:r>
            <a:endParaRPr lang="en-GB" b="1" dirty="0"/>
          </a:p>
          <a:p>
            <a:pPr lvl="1"/>
            <a:r>
              <a:rPr lang="en-GB" dirty="0"/>
              <a:t>Question → Retrieve → Check → Retrieve/Generate Again if needed → Final Answer</a:t>
            </a:r>
          </a:p>
          <a:p>
            <a:r>
              <a:rPr lang="en-GB" dirty="0"/>
              <a:t>Example: Question - What documents are required for a cashless health insurance claim?</a:t>
            </a:r>
          </a:p>
          <a:p>
            <a:pPr lvl="1"/>
            <a:r>
              <a:rPr lang="en-GB" dirty="0"/>
              <a:t>Retrieve: System retrieves 3 chunks from the policy database</a:t>
            </a:r>
          </a:p>
          <a:p>
            <a:pPr lvl="1"/>
            <a:r>
              <a:rPr lang="en-GB" dirty="0"/>
              <a:t>Self-RAG asks: Are these chunks sufficient and relevant to answer the question?</a:t>
            </a:r>
          </a:p>
          <a:p>
            <a:pPr lvl="2"/>
            <a:r>
              <a:rPr lang="en-GB" dirty="0"/>
              <a:t>Suppose one chunk is irrelevant</a:t>
            </a:r>
          </a:p>
          <a:p>
            <a:pPr lvl="1"/>
            <a:r>
              <a:rPr lang="en-GB" dirty="0"/>
              <a:t>Retrieve again: The system searches again for information specifically about cashless claims and required documents</a:t>
            </a:r>
          </a:p>
          <a:p>
            <a:pPr lvl="2"/>
            <a:r>
              <a:rPr lang="en-GB" dirty="0"/>
              <a:t>Finds Claim form + original bills + discharge summary + prescription + diagnostic reports</a:t>
            </a:r>
          </a:p>
          <a:p>
            <a:pPr lvl="1"/>
            <a:r>
              <a:rPr lang="en-GB" dirty="0"/>
              <a:t>Generate/Synthesize: For a cashless claim, submit the claim form, original bills, discharge summary, prescription and diagnostic reports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C:\code\agenticai\14_advanced\14_agentic_rag_graph_rag\14_2_self_rag.py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5CEA4C13-A835-4B68-2226-5196DF008D8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14_advanced/14_agentic_rag_graph_rag/14_2_self_rag.py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67547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9F25-AD6D-10AC-C06E-F6CA849B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Corrective RAG (CRAG)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BDB70-7C29-083A-8704-E1EC2DFEB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Falling back to web search when local knowledge fails</a:t>
            </a:r>
          </a:p>
          <a:p>
            <a:r>
              <a:rPr lang="en-US" dirty="0"/>
              <a:t>C:\code\agenticai\14_advanced\14_agentic_rag_graph_rag\14_3_corrective_rag.py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6C994B4-9BD9-9A9F-29D1-63EB94DAB88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14_advanced/14_agentic_rag_graph_rag/14_3_corrective_rag.py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34518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E9EB-CBCF-DAE9-0415-08D286AF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Re-ranking Retrieved Chunks with Cohere and Cross-encoder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8875-ADEE-6E69-B476-C656F6741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GB" dirty="0"/>
              <a:t>Why </a:t>
            </a:r>
            <a:r>
              <a:rPr lang="en-GB" b="1" dirty="0"/>
              <a:t>re-ranking</a:t>
            </a:r>
            <a:r>
              <a:rPr lang="en-GB" dirty="0"/>
              <a:t>?: Vector search finds similar chunks, but the most similar chunk is not always the most relevant to the question</a:t>
            </a:r>
          </a:p>
          <a:p>
            <a:pPr lvl="0"/>
            <a:r>
              <a:rPr lang="en-GB" dirty="0"/>
              <a:t>User Query → Vector Search → Top 20 Chunks → Cohere </a:t>
            </a:r>
            <a:r>
              <a:rPr lang="en-GB" dirty="0" err="1"/>
              <a:t>Reranker</a:t>
            </a:r>
            <a:r>
              <a:rPr lang="en-GB" dirty="0"/>
              <a:t> → Best 3–5 Chunks → LLM</a:t>
            </a:r>
          </a:p>
          <a:p>
            <a:pPr lvl="0"/>
            <a:r>
              <a:rPr lang="en-GB" dirty="0"/>
              <a:t>Example: What documents are required for a cashless health insurance claim?</a:t>
            </a:r>
          </a:p>
          <a:p>
            <a:pPr lvl="0"/>
            <a:r>
              <a:rPr lang="en-GB" dirty="0"/>
              <a:t>Initial vector search</a:t>
            </a:r>
          </a:p>
          <a:p>
            <a:pPr lvl="1"/>
            <a:r>
              <a:rPr lang="en-GB" dirty="0"/>
              <a:t>Chunk A → “Submit the claim form, original bills and discharge summary.” → 0.82 </a:t>
            </a:r>
          </a:p>
          <a:p>
            <a:pPr lvl="1"/>
            <a:r>
              <a:rPr lang="en-GB" dirty="0"/>
              <a:t>Chunk B → “Health insurance premiums must be paid within the grace period.” → 0.79 </a:t>
            </a:r>
          </a:p>
          <a:p>
            <a:pPr lvl="1"/>
            <a:r>
              <a:rPr lang="en-GB" dirty="0"/>
              <a:t>Chunk C → “Required claim documents include prescription and diagnostic reports.” → 0.76</a:t>
            </a:r>
          </a:p>
          <a:p>
            <a:pPr lvl="1"/>
            <a:r>
              <a:rPr lang="en-GB" dirty="0"/>
              <a:t>Vector search may rank B highly because it is generally related to health insurance</a:t>
            </a:r>
          </a:p>
          <a:p>
            <a:r>
              <a:rPr lang="en-GB" b="1" dirty="0"/>
              <a:t>Cohere </a:t>
            </a:r>
            <a:r>
              <a:rPr lang="en-GB" b="1" dirty="0" err="1"/>
              <a:t>Reranker</a:t>
            </a:r>
            <a:r>
              <a:rPr lang="en-GB" dirty="0"/>
              <a:t>: Examines the query + each chunk together and assigns a new relevance score</a:t>
            </a:r>
          </a:p>
          <a:p>
            <a:pPr lvl="1"/>
            <a:r>
              <a:rPr lang="en-GB" dirty="0"/>
              <a:t>Chunk A → </a:t>
            </a:r>
            <a:r>
              <a:rPr lang="en-GB" b="1" dirty="0"/>
              <a:t>0.97</a:t>
            </a:r>
            <a:r>
              <a:rPr lang="en-GB" dirty="0"/>
              <a:t> ✓ </a:t>
            </a:r>
          </a:p>
          <a:p>
            <a:pPr lvl="1"/>
            <a:r>
              <a:rPr lang="en-GB" dirty="0"/>
              <a:t>Chunk B → </a:t>
            </a:r>
            <a:r>
              <a:rPr lang="en-GB" b="1" dirty="0"/>
              <a:t>0.18</a:t>
            </a:r>
            <a:r>
              <a:rPr lang="en-GB" dirty="0"/>
              <a:t> ✗ </a:t>
            </a:r>
          </a:p>
          <a:p>
            <a:pPr lvl="1"/>
            <a:r>
              <a:rPr lang="en-GB" dirty="0"/>
              <a:t>Chunk C → </a:t>
            </a:r>
            <a:r>
              <a:rPr lang="en-GB" b="1" dirty="0"/>
              <a:t>0.94</a:t>
            </a:r>
            <a:r>
              <a:rPr lang="en-GB" dirty="0"/>
              <a:t> ✓ </a:t>
            </a:r>
          </a:p>
          <a:p>
            <a:r>
              <a:rPr lang="en-GB" dirty="0"/>
              <a:t>Result: A + C → LLM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C:\code\agenticai\14_advanced\14_agentic_rag_graph_rag\14_4_cohere_reranking.py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7F3360E-D369-244F-A8B0-9545C5214DC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14_advanced/14_agentic_rag_graph_rag/14_4_cohere_reranking.py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24432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897E-CE67-AEE6-2AAA-6C5C32E0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45" y="361142"/>
            <a:ext cx="10400911" cy="1311105"/>
          </a:xfrm>
        </p:spPr>
        <p:txBody>
          <a:bodyPr>
            <a:normAutofit/>
          </a:bodyPr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36F2-1BE2-1C67-E188-7B8921C30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545" y="1805714"/>
            <a:ext cx="10400911" cy="4303879"/>
          </a:xfrm>
        </p:spPr>
        <p:txBody>
          <a:bodyPr>
            <a:normAutofit/>
          </a:bodyPr>
          <a:lstStyle/>
          <a:p>
            <a:r>
              <a:rPr lang="en-GB" dirty="0"/>
              <a:t>Combine Two Search Methods</a:t>
            </a:r>
          </a:p>
          <a:p>
            <a:r>
              <a:rPr lang="en-GB" b="1" dirty="0"/>
              <a:t>Keyword Search</a:t>
            </a:r>
            <a:endParaRPr lang="en-GB" dirty="0"/>
          </a:p>
          <a:p>
            <a:pPr lvl="1"/>
            <a:r>
              <a:rPr lang="en-GB" dirty="0"/>
              <a:t>Finds exact words </a:t>
            </a:r>
          </a:p>
          <a:p>
            <a:pPr lvl="1"/>
            <a:r>
              <a:rPr lang="en-GB" dirty="0"/>
              <a:t>Good for error codes, names, acronyms </a:t>
            </a:r>
          </a:p>
          <a:p>
            <a:r>
              <a:rPr lang="en-GB" b="1" dirty="0"/>
              <a:t>Semantic Search</a:t>
            </a:r>
            <a:endParaRPr lang="en-GB" dirty="0"/>
          </a:p>
          <a:p>
            <a:pPr lvl="1"/>
            <a:r>
              <a:rPr lang="en-GB" dirty="0"/>
              <a:t>Finds meaning </a:t>
            </a:r>
          </a:p>
          <a:p>
            <a:pPr lvl="1"/>
            <a:r>
              <a:rPr lang="en-GB" dirty="0"/>
              <a:t>Good for paraphrases and natural language </a:t>
            </a:r>
          </a:p>
          <a:p>
            <a:r>
              <a:rPr lang="en-GB" b="1" dirty="0"/>
              <a:t>Hybrid Search = Keyword + Semantic</a:t>
            </a:r>
            <a:endParaRPr lang="en-GB" dirty="0"/>
          </a:p>
          <a:p>
            <a:r>
              <a:rPr lang="en-GB" dirty="0"/>
              <a:t>Best of both worlds</a:t>
            </a:r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F3872243-68A6-86F0-473E-C077272E06B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14_advanced/04_rag/hybrid_search.py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7123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66F2-45A3-2627-9009-5790586B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669A-8BA3-7531-6E9C-324212D1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b="1" dirty="0"/>
              <a:t>Hybrid RAG:</a:t>
            </a:r>
            <a:r>
              <a:rPr lang="en-GB" dirty="0"/>
              <a:t> Combines two retrieval strategies so each covers the other's blind spot </a:t>
            </a:r>
          </a:p>
          <a:p>
            <a:pPr lvl="1"/>
            <a:r>
              <a:rPr lang="en-GB" b="1" dirty="0"/>
              <a:t>Vector search</a:t>
            </a:r>
            <a:r>
              <a:rPr lang="en-GB" dirty="0"/>
              <a:t> → finds semantically similar text</a:t>
            </a:r>
          </a:p>
          <a:p>
            <a:pPr lvl="1"/>
            <a:r>
              <a:rPr lang="en-GB" b="1" dirty="0"/>
              <a:t>Graph traversal</a:t>
            </a:r>
            <a:r>
              <a:rPr lang="en-GB" dirty="0"/>
              <a:t> → finds connected entities and relationships across documents</a:t>
            </a:r>
          </a:p>
          <a:p>
            <a:pPr lvl="0"/>
            <a:r>
              <a:rPr lang="en-GB" dirty="0"/>
              <a:t>Query: </a:t>
            </a:r>
            <a:r>
              <a:rPr lang="en-GB" i="1" dirty="0"/>
              <a:t>"My Savings Account Plus card was used fraudulently — am I covered, and how long will resolution take?"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Vector search finds:  General fraud protection FAQ, Zero Liability Protection program description, Fraud Resolution team contact page</a:t>
            </a:r>
          </a:p>
          <a:p>
            <a:pPr lvl="1"/>
            <a:r>
              <a:rPr lang="en-GB" dirty="0"/>
              <a:t>Graph traversal finds: Savings Account Plus → enrolled in → Zero Liability Protection → covers → unauthorized transactions (60-day window) → processed by → Fraud Resolution team → turnaround → 5 business days</a:t>
            </a:r>
          </a:p>
          <a:p>
            <a:pPr lvl="0"/>
            <a:r>
              <a:rPr lang="en-GB" dirty="0"/>
              <a:t>Why combine both: </a:t>
            </a:r>
          </a:p>
          <a:p>
            <a:pPr lvl="1"/>
            <a:r>
              <a:rPr lang="en-GB" dirty="0"/>
              <a:t>Vector search is good at surfacing </a:t>
            </a:r>
            <a:r>
              <a:rPr lang="en-GB" i="1" dirty="0"/>
              <a:t>topically relevant</a:t>
            </a:r>
            <a:r>
              <a:rPr lang="en-GB" dirty="0"/>
              <a:t> content, even with loose or informal query wording</a:t>
            </a:r>
          </a:p>
          <a:p>
            <a:pPr lvl="1"/>
            <a:r>
              <a:rPr lang="en-GB" dirty="0"/>
              <a:t>Graph traversal is good at chaining </a:t>
            </a:r>
            <a:r>
              <a:rPr lang="en-GB" i="1" dirty="0"/>
              <a:t>precise, structured facts</a:t>
            </a:r>
            <a:r>
              <a:rPr lang="en-GB" dirty="0"/>
              <a:t> across documents — but only works when the query maps cleanly to known entities</a:t>
            </a:r>
          </a:p>
          <a:p>
            <a:pPr lvl="1"/>
            <a:r>
              <a:rPr lang="en-GB" dirty="0"/>
              <a:t>Combining = The system does not have to guess in advance whether a question needs semantic matching or precise multi-hop reasoning — it gets both</a:t>
            </a:r>
          </a:p>
          <a:p>
            <a:pPr lvl="0"/>
            <a:r>
              <a:rPr lang="en-GB" dirty="0"/>
              <a:t>How?</a:t>
            </a:r>
            <a:r>
              <a:rPr lang="en-GB" b="1" dirty="0"/>
              <a:t> </a:t>
            </a:r>
            <a:r>
              <a:rPr lang="en-GB" dirty="0"/>
              <a:t>Results from both retrieval paths are merged into one candidate pool, often followed by a </a:t>
            </a:r>
            <a:r>
              <a:rPr lang="en-GB" dirty="0" err="1"/>
              <a:t>reranker</a:t>
            </a:r>
            <a:r>
              <a:rPr lang="en-GB" dirty="0"/>
              <a:t> to pick the final best chunks for the LLM</a:t>
            </a:r>
          </a:p>
          <a:p>
            <a:pPr lvl="0"/>
            <a:r>
              <a:rPr lang="en-GB" dirty="0"/>
              <a:t>Code: </a:t>
            </a:r>
            <a:r>
              <a:rPr lang="en-US"/>
              <a:t>C:\code\agenticai\14_advanced\14_agentic_rag_graph_rag\14_9_hybrid_search.py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0D230683-7BE1-3378-23DB-4F7944342BD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14_advanced/14_agentic_rag_graph_rag/14_9_hybrid_search.py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1045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3B5C-B7EA-E2A8-5CA1-A954D1CF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GraphRAG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0AEFC-3F81-7F6D-AAE7-F8F3DE26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GB" dirty="0"/>
              <a:t>Core idea: Instead of treating documents as independent, disconnected chunks, </a:t>
            </a:r>
            <a:r>
              <a:rPr lang="en-GB" b="1" dirty="0" err="1"/>
              <a:t>GraphRAG</a:t>
            </a:r>
            <a:r>
              <a:rPr lang="en-GB" b="1" dirty="0"/>
              <a:t> </a:t>
            </a:r>
            <a:r>
              <a:rPr lang="en-GB" dirty="0"/>
              <a:t>extracts entities and relationships from text and represents them as a </a:t>
            </a:r>
            <a:r>
              <a:rPr lang="en-GB" b="1" dirty="0"/>
              <a:t>knowledge graph </a:t>
            </a:r>
            <a:r>
              <a:rPr lang="en-GB" dirty="0"/>
              <a:t>— connecting facts that live in different chunks or even different documents</a:t>
            </a:r>
          </a:p>
          <a:p>
            <a:pPr lvl="0"/>
            <a:r>
              <a:rPr lang="en-GB" dirty="0"/>
              <a:t>Why: Chunk-based retrieval only works when a single chunk contains the full answer - When an AI agent needs to chain facts across multiple documents to answer a question, vector search alone falls short</a:t>
            </a:r>
          </a:p>
          <a:p>
            <a:r>
              <a:rPr lang="en-GB" dirty="0"/>
              <a:t>Example — Source text (spread across three separate documents in a bank's policy knowledge base)</a:t>
            </a:r>
          </a:p>
          <a:p>
            <a:pPr lvl="1"/>
            <a:r>
              <a:rPr lang="en-GB" i="1" dirty="0"/>
              <a:t>Doc 1 (account terms):</a:t>
            </a:r>
            <a:r>
              <a:rPr lang="en-GB" dirty="0"/>
              <a:t> "Savings Account Plus customers are enrolled in the Zero Liability Protection program."</a:t>
            </a:r>
          </a:p>
          <a:p>
            <a:pPr lvl="1"/>
            <a:r>
              <a:rPr lang="en-GB" i="1" dirty="0"/>
              <a:t>Doc 2 (program rules):</a:t>
            </a:r>
            <a:r>
              <a:rPr lang="en-GB" dirty="0"/>
              <a:t> "Zero Liability Protection covers unauthorized transactions reported within 60 days."</a:t>
            </a:r>
          </a:p>
          <a:p>
            <a:pPr lvl="1"/>
            <a:r>
              <a:rPr lang="en-GB" i="1" dirty="0"/>
              <a:t>Doc 3 (claims policy):</a:t>
            </a:r>
            <a:r>
              <a:rPr lang="en-GB" dirty="0"/>
              <a:t> "Claims under Zero Liability Protection are processed by the Fraud Resolution team, with a standard turnaround of 5 business days."</a:t>
            </a:r>
          </a:p>
          <a:p>
            <a:r>
              <a:rPr lang="en-GB" dirty="0"/>
              <a:t>Represented as a graph</a:t>
            </a:r>
          </a:p>
          <a:p>
            <a:pPr lvl="1"/>
            <a:r>
              <a:rPr lang="en-GB" dirty="0"/>
              <a:t>(Savings Account Plus) --[</a:t>
            </a:r>
            <a:r>
              <a:rPr lang="en-GB" dirty="0" err="1"/>
              <a:t>enrolls</a:t>
            </a:r>
            <a:r>
              <a:rPr lang="en-GB" dirty="0"/>
              <a:t> customers in]--&gt; (Zero Liability Protection)</a:t>
            </a:r>
          </a:p>
          <a:p>
            <a:pPr lvl="1"/>
            <a:r>
              <a:rPr lang="en-GB" dirty="0"/>
              <a:t>(Zero Liability Protection) --[covers]--&gt; (Unauthorized transactions, 60-day window)</a:t>
            </a:r>
          </a:p>
          <a:p>
            <a:pPr lvl="1"/>
            <a:r>
              <a:rPr lang="en-GB" dirty="0"/>
              <a:t>(Zero Liability Protection) --[processed by]--&gt; (Fraud Resolution team)</a:t>
            </a:r>
          </a:p>
          <a:p>
            <a:pPr lvl="1"/>
            <a:r>
              <a:rPr lang="en-GB" dirty="0"/>
              <a:t>(Fraud Resolution team) --[turnaround]--&gt; (5 business days)</a:t>
            </a:r>
          </a:p>
          <a:p>
            <a:pPr lvl="0"/>
            <a:r>
              <a:rPr lang="en-GB" dirty="0"/>
              <a:t>Customer: "My Savings Account Plus card was used fraudulently 3 weeks ago — am I covered, and how long will it take?“</a:t>
            </a:r>
          </a:p>
          <a:p>
            <a:pPr lvl="0"/>
            <a:r>
              <a:rPr lang="en-GB" b="1" dirty="0"/>
              <a:t>Multi-hop reasoning </a:t>
            </a:r>
            <a:r>
              <a:rPr lang="en-GB" dirty="0"/>
              <a:t>solves it (next slide)</a:t>
            </a:r>
          </a:p>
          <a:p>
            <a:pPr lvl="0"/>
            <a:r>
              <a:rPr lang="en-GB" dirty="0"/>
              <a:t>Code: </a:t>
            </a:r>
            <a:r>
              <a:rPr lang="en-US" dirty="0"/>
              <a:t>C:\code\agenticai\14_advanced\14_agentic_rag_graph_rag\14_7_graph_rag.py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EBC1DE26-07C4-815A-9057-800949CF7A2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14_advanced/14_agentic_rag_graph_rag/14_7_graph_rag.py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70731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04E2-4FA9-BE6B-713A-22313A3C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Multi-Hop Reasoning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A0978-2778-18AE-919D-80594C27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Multi-hop reasoning</a:t>
            </a:r>
            <a:r>
              <a:rPr lang="en-GB" dirty="0"/>
              <a:t>: Answering a question by following multiple relationships or pieces of evidence rather than finding the answer in a single document</a:t>
            </a:r>
          </a:p>
          <a:p>
            <a:pPr lvl="0"/>
            <a:r>
              <a:rPr lang="en-GB" i="1" dirty="0"/>
              <a:t>"Is a Savings Account Plus customer covered for fraud reported 3 weeks ago, and how long will resolution take?"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Traversal: Savings Account Plus → (</a:t>
            </a:r>
            <a:r>
              <a:rPr lang="en-GB" dirty="0" err="1"/>
              <a:t>enrolls</a:t>
            </a:r>
            <a:r>
              <a:rPr lang="en-GB" dirty="0"/>
              <a:t> in) → Zero Liability Protection → (covers) → unauthorized transactions within 60 days [3 weeks ✓ within window] → (processed by) → Fraud Resolution team → (turnaround) → 5 business days</a:t>
            </a:r>
          </a:p>
          <a:p>
            <a:pPr lvl="0"/>
            <a:r>
              <a:rPr lang="en-GB" dirty="0"/>
              <a:t>The agent chains four facts across three documents to construct an answer no single chunk contains — and also applies a condition (60-day window) to the customer's specific situation</a:t>
            </a:r>
          </a:p>
          <a:p>
            <a:pPr lvl="0"/>
            <a:r>
              <a:rPr lang="en-GB" dirty="0"/>
              <a:t>Code: </a:t>
            </a:r>
            <a:r>
              <a:rPr lang="en-US" dirty="0"/>
              <a:t>C:\code\agenticai\14_advanced\14_agentic_rag_graph_rag\14_8_multi_hop_reasoning.py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AB256A64-07E0-EB5C-6E9E-E1B4D08E5BD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14_advanced/14_agentic_rag_graph_rag/14_8_multi_hop_reasoning.py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6568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E21D-C1CF-0E54-0B85-DF6252D0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32" y="355602"/>
            <a:ext cx="10241337" cy="1290990"/>
          </a:xfrm>
        </p:spPr>
        <p:txBody>
          <a:bodyPr>
            <a:normAutofit/>
          </a:bodyPr>
          <a:lstStyle/>
          <a:p>
            <a:r>
              <a:rPr lang="en-US" sz="4300" dirty="0"/>
              <a:t>RAGAS</a:t>
            </a:r>
            <a:endParaRPr lang="en-GB" sz="4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3947-0E60-A451-1FF8-4DC301CB6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32" y="1778010"/>
            <a:ext cx="10241337" cy="4237848"/>
          </a:xfrm>
        </p:spPr>
        <p:txBody>
          <a:bodyPr>
            <a:normAutofit/>
          </a:bodyPr>
          <a:lstStyle/>
          <a:p>
            <a:r>
              <a:rPr lang="en-GB" sz="2700" b="1" dirty="0"/>
              <a:t>Retrieval-Augmented Generation Assessment</a:t>
            </a:r>
          </a:p>
          <a:p>
            <a:pPr lvl="0"/>
            <a:r>
              <a:rPr lang="en-GB" sz="2700" dirty="0"/>
              <a:t>Open-source framework to evaluate RAG systems — no manual </a:t>
            </a:r>
            <a:r>
              <a:rPr lang="en-GB" sz="2700" dirty="0" err="1"/>
              <a:t>labeling</a:t>
            </a:r>
            <a:r>
              <a:rPr lang="en-GB" sz="2700" dirty="0"/>
              <a:t> needed</a:t>
            </a:r>
          </a:p>
          <a:p>
            <a:pPr lvl="0"/>
            <a:r>
              <a:rPr lang="en-GB" sz="2700" dirty="0"/>
              <a:t>Scores both retrieval and generation, not just the final answer</a:t>
            </a:r>
          </a:p>
          <a:p>
            <a:pPr lvl="0"/>
            <a:r>
              <a:rPr lang="en-GB" sz="2700" dirty="0"/>
              <a:t>Why needed? Traditional eval only checks the final answer, RAGAS asks:</a:t>
            </a:r>
          </a:p>
          <a:p>
            <a:pPr lvl="1"/>
            <a:r>
              <a:rPr lang="en-GB" sz="2300" dirty="0"/>
              <a:t>Was the right info retrieved?</a:t>
            </a:r>
          </a:p>
          <a:p>
            <a:pPr lvl="1"/>
            <a:r>
              <a:rPr lang="en-GB" sz="2300" dirty="0"/>
              <a:t>Was it relevant?</a:t>
            </a:r>
          </a:p>
          <a:p>
            <a:pPr lvl="1"/>
            <a:r>
              <a:rPr lang="en-GB" sz="2300" dirty="0"/>
              <a:t>Is the answer grounded in it?</a:t>
            </a:r>
          </a:p>
          <a:p>
            <a:pPr lvl="1"/>
            <a:r>
              <a:rPr lang="en-GB" sz="2300" dirty="0"/>
              <a:t>Does the answer actually address the question?</a:t>
            </a:r>
          </a:p>
          <a:p>
            <a:pPr lvl="1"/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7DFD0DCA-0DC1-B045-9C42-B1388C78B471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14_advanced/14_agentic_rag_graph_rag/14_1_ragas_evaluation.py, 15_real/ragas_evaluation.py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8766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ECB6-92A0-94FD-00D2-88C8FBA1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RAGAS Metrics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37C33E-9F60-1A39-85B1-C3912509A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169156"/>
              </p:ext>
            </p:extLst>
          </p:nvPr>
        </p:nvGraphicFramePr>
        <p:xfrm>
          <a:off x="1005142" y="1804685"/>
          <a:ext cx="9458107" cy="440058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287652">
                  <a:extLst>
                    <a:ext uri="{9D8B030D-6E8A-4147-A177-3AD203B41FA5}">
                      <a16:colId xmlns:a16="http://schemas.microsoft.com/office/drawing/2014/main" val="413487649"/>
                    </a:ext>
                  </a:extLst>
                </a:gridCol>
                <a:gridCol w="6170455">
                  <a:extLst>
                    <a:ext uri="{9D8B030D-6E8A-4147-A177-3AD203B41FA5}">
                      <a16:colId xmlns:a16="http://schemas.microsoft.com/office/drawing/2014/main" val="3637301224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Metric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What it measures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80131"/>
                  </a:ext>
                </a:extLst>
              </a:tr>
              <a:tr h="116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Faithfulness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the LLM make things up? = </a:t>
                      </a:r>
                      <a:r>
                        <a:rPr lang="en-GB" b="1" dirty="0"/>
                        <a:t>Accuracy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07782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Answer Relevancy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the LLM answer the question? = </a:t>
                      </a:r>
                      <a:r>
                        <a:rPr lang="en-GB" b="1" dirty="0"/>
                        <a:t>Relevance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53406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Precision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we retrieve mostly useful information? = </a:t>
                      </a:r>
                      <a:r>
                        <a:rPr lang="en-GB" b="1" dirty="0"/>
                        <a:t>Usefulness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35811"/>
                  </a:ext>
                </a:extLst>
              </a:tr>
              <a:tr h="1050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Recall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we retrieve all the information we needed? = </a:t>
                      </a:r>
                      <a:r>
                        <a:rPr lang="en-GB" b="1" dirty="0"/>
                        <a:t>Completeness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0106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6D1AFC05-4530-3129-DB85-D5A83E3139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14_advanced/14_agentic_rag_graph_rag/14_1_ragas_evaluation.py, 15_real/ragas_evaluation.py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98281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48F119-B08C-37D8-2486-BDA89E720F9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54555" y="0"/>
            <a:ext cx="11282891" cy="6350000"/>
          </a:xfrm>
          <a:prstGeom prst="rect">
            <a:avLst/>
          </a:prstGeom>
        </p:spPr>
      </p:pic>
      <p:sp>
        <p:nvSpPr>
          <p:cNvPr id="2" name="DemoCallout">
            <a:extLst>
              <a:ext uri="{FF2B5EF4-FFF2-40B4-BE49-F238E27FC236}">
                <a16:creationId xmlns:a16="http://schemas.microsoft.com/office/drawing/2014/main" id="{288E881B-C58E-FA27-32C7-15B207361CE3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14_advanced/14_agentic_rag_graph_rag/14_1_ragas_evaluation.py, 15_real/ragas_evaluation.py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692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7B9A226-FAF5-2B9F-763D-00F80C3BB8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363425"/>
              </p:ext>
            </p:extLst>
          </p:nvPr>
        </p:nvGraphicFramePr>
        <p:xfrm>
          <a:off x="382746" y="541277"/>
          <a:ext cx="11148466" cy="468206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7089">
                  <a:extLst>
                    <a:ext uri="{9D8B030D-6E8A-4147-A177-3AD203B41FA5}">
                      <a16:colId xmlns:a16="http://schemas.microsoft.com/office/drawing/2014/main" val="413487649"/>
                    </a:ext>
                  </a:extLst>
                </a:gridCol>
                <a:gridCol w="9011377">
                  <a:extLst>
                    <a:ext uri="{9D8B030D-6E8A-4147-A177-3AD203B41FA5}">
                      <a16:colId xmlns:a16="http://schemas.microsoft.com/office/drawing/2014/main" val="2768002745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Metric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Example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80131"/>
                  </a:ext>
                </a:extLst>
              </a:tr>
              <a:tr h="116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Faithfulness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Context says “Hospitalization must be intimated within 24 hours for emergency admissions.”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If the LLM says “within 24 hours and a ₹5,000 fee is charged,” faithfulness drops because the fee is not in the context.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07782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Answer Relevancy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Question: “What documents are required for a cashless claim?”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Answer: “Submit the pre-authorization form, claim form, bills and discharge summary.” → High relevance.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53406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Precision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 chunks are retrieved: claim documents, hospitalization timing, policy renewal.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The first two are useful for the question; the renewal chunk is irrelevant → lower precision.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35811"/>
                  </a:ext>
                </a:extLst>
              </a:tr>
              <a:tr h="1050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Recall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Reference requires pre-authorization form + claim documents + 24-hour notification.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If retrieval finds the documents and pre-authorization information but misses the 24-hour requirement, recall is low.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01069"/>
                  </a:ext>
                </a:extLst>
              </a:tr>
            </a:tbl>
          </a:graphicData>
        </a:graphic>
      </p:graphicFrame>
      <p:sp>
        <p:nvSpPr>
          <p:cNvPr id="2" name="DemoCallout">
            <a:extLst>
              <a:ext uri="{FF2B5EF4-FFF2-40B4-BE49-F238E27FC236}">
                <a16:creationId xmlns:a16="http://schemas.microsoft.com/office/drawing/2014/main" id="{1CDD8497-4302-D437-25D5-94444BD6866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14_advanced/14_agentic_rag_graph_rag/14_1_ragas_evaluation.py, 15_real/ragas_evaluation.py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52107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6D8C-5765-A147-6B66-7A597D28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Faithfulness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2E09-D859-2552-A363-90FC0987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i="1" dirty="0"/>
              <a:t>Are the answer's claims actually backed by the retrieved context?</a:t>
            </a:r>
            <a:r>
              <a:rPr lang="en-GB" dirty="0"/>
              <a:t> </a:t>
            </a:r>
          </a:p>
          <a:p>
            <a:pPr lvl="0"/>
            <a:r>
              <a:rPr lang="en-GB" b="1" dirty="0"/>
              <a:t>Answer generated by RAG/LLM:</a:t>
            </a:r>
            <a:br>
              <a:rPr lang="en-GB" b="1" dirty="0"/>
            </a:br>
            <a:r>
              <a:rPr lang="en-GB" dirty="0"/>
              <a:t>“Submit the pre-authorization form to the TPA; hospitalization must be intimated within </a:t>
            </a:r>
            <a:r>
              <a:rPr lang="en-GB" b="1" dirty="0"/>
              <a:t>12 hours</a:t>
            </a:r>
            <a:r>
              <a:rPr lang="en-GB" dirty="0"/>
              <a:t> for emergency admission; submit the claim form, bills, discharge summary, prescription and diagnostic reports.” </a:t>
            </a:r>
          </a:p>
          <a:p>
            <a:pPr lvl="0"/>
            <a:r>
              <a:rPr lang="en-GB" b="1" dirty="0"/>
              <a:t>Broken into 3 claims: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S1: Submit pre-authorization form to TPA </a:t>
            </a:r>
          </a:p>
          <a:p>
            <a:pPr lvl="1"/>
            <a:r>
              <a:rPr lang="en-GB" dirty="0"/>
              <a:t>S2: Intimate insurer within </a:t>
            </a:r>
            <a:r>
              <a:rPr lang="en-GB" b="1" dirty="0"/>
              <a:t>12 hours</a:t>
            </a:r>
            <a:r>
              <a:rPr lang="en-GB" dirty="0"/>
              <a:t> for emergency admission </a:t>
            </a:r>
          </a:p>
          <a:p>
            <a:pPr lvl="1"/>
            <a:r>
              <a:rPr lang="en-GB" dirty="0"/>
              <a:t>S3: Submit claim form, bills, discharge summary, prescription and diagnostic reports </a:t>
            </a:r>
          </a:p>
          <a:p>
            <a:pPr lvl="0"/>
            <a:r>
              <a:rPr lang="en-GB" b="1" dirty="0"/>
              <a:t>Retrieved context:</a:t>
            </a:r>
            <a:br>
              <a:rPr lang="en-GB" dirty="0"/>
            </a:br>
            <a:r>
              <a:rPr lang="en-GB" i="1" dirty="0"/>
              <a:t>“For a cashless claim at a network hospital, the policyholder submits a pre-authorization form to the TPA. Hospitalization must be intimated within </a:t>
            </a:r>
            <a:r>
              <a:rPr lang="en-GB" b="1" i="1" dirty="0"/>
              <a:t>24 hours</a:t>
            </a:r>
            <a:r>
              <a:rPr lang="en-GB" i="1" dirty="0"/>
              <a:t> for emergency admissions (24 to 48 hours for planned admissions). Claim documents typically include the claim form, original bills, discharge summary, prescription, and diagnostic test reports.”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S1 ✅ — confirmed </a:t>
            </a:r>
          </a:p>
          <a:p>
            <a:pPr lvl="1"/>
            <a:r>
              <a:rPr lang="en-GB" dirty="0"/>
              <a:t>S2 ❌ — context says </a:t>
            </a:r>
            <a:r>
              <a:rPr lang="en-GB" b="1" dirty="0"/>
              <a:t>24 hours</a:t>
            </a:r>
            <a:r>
              <a:rPr lang="en-GB" dirty="0"/>
              <a:t>, not 12 hours - The “12 hours” detail was made up</a:t>
            </a:r>
          </a:p>
          <a:p>
            <a:pPr lvl="1"/>
            <a:r>
              <a:rPr lang="en-GB" dirty="0"/>
              <a:t>S3 ✅ — confirmed </a:t>
            </a:r>
          </a:p>
          <a:p>
            <a:pPr lvl="0"/>
            <a:r>
              <a:rPr lang="en-GB" b="1" dirty="0"/>
              <a:t>Score = 2/3 = 0.67</a:t>
            </a:r>
            <a:r>
              <a:rPr lang="en-GB" dirty="0"/>
              <a:t> — the answer contains one unsupported claim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8F3D008-0505-27D5-9C38-54B943999F7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14_advanced/14_agentic_rag_graph_rag/14_1_ragas_evaluation.py, 15_real/ragas_evaluation.py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65770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B915B-3067-5DEA-F798-59E9E0CE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9BF9-E54D-76E5-B238-EF8FA865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640" y="334817"/>
            <a:ext cx="9642721" cy="1215531"/>
          </a:xfrm>
        </p:spPr>
        <p:txBody>
          <a:bodyPr>
            <a:normAutofit/>
          </a:bodyPr>
          <a:lstStyle/>
          <a:p>
            <a:r>
              <a:rPr lang="en-IN" sz="4000" dirty="0"/>
              <a:t>Answer Relevance</a:t>
            </a:r>
            <a:endParaRPr lang="en-GB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7CCC3-A7A5-A03E-0D6D-E8F9B54D48A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3353" y="1213230"/>
            <a:ext cx="10273539" cy="5136770"/>
          </a:xfrm>
          <a:prstGeom prst="rect">
            <a:avLst/>
          </a:prstGeom>
        </p:spPr>
      </p:pic>
      <p:sp>
        <p:nvSpPr>
          <p:cNvPr id="3" name="DemoCallout">
            <a:extLst>
              <a:ext uri="{FF2B5EF4-FFF2-40B4-BE49-F238E27FC236}">
                <a16:creationId xmlns:a16="http://schemas.microsoft.com/office/drawing/2014/main" id="{161E1E61-07AE-2A0E-BE8E-F341DF0E26A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14_advanced/14_agentic_rag_graph_rag/14_1_ragas_evaluation.py, 15_real/ragas_evaluation.py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6197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14B75-C112-FC48-A921-1072C13B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64A9-0AA2-0127-5A18-CF173618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Precision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D213-0C41-1C11-8385-F7E7F331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i="1" dirty="0"/>
              <a:t>Of what was retrieved, how much was actually useful?</a:t>
            </a:r>
            <a:endParaRPr lang="en-GB" dirty="0"/>
          </a:p>
          <a:p>
            <a:r>
              <a:rPr lang="en-GB" dirty="0"/>
              <a:t>5 chunks retrieved for "What documents are required to file a cashless health insurance claim at a network hospital, and within what time should hospitalization be intimated?”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Score = 3/5 = 0.60</a:t>
            </a:r>
            <a:r>
              <a:rPr lang="en-GB" dirty="0"/>
              <a:t> — 2 irrelevant chunks diluted the useful 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7D949-9CC8-B9ED-79CC-A3B598FD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33380"/>
              </p:ext>
            </p:extLst>
          </p:nvPr>
        </p:nvGraphicFramePr>
        <p:xfrm>
          <a:off x="1124389" y="2680649"/>
          <a:ext cx="9317922" cy="30175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013848">
                  <a:extLst>
                    <a:ext uri="{9D8B030D-6E8A-4147-A177-3AD203B41FA5}">
                      <a16:colId xmlns:a16="http://schemas.microsoft.com/office/drawing/2014/main" val="3886692143"/>
                    </a:ext>
                  </a:extLst>
                </a:gridCol>
                <a:gridCol w="4539897">
                  <a:extLst>
                    <a:ext uri="{9D8B030D-6E8A-4147-A177-3AD203B41FA5}">
                      <a16:colId xmlns:a16="http://schemas.microsoft.com/office/drawing/2014/main" val="3024767526"/>
                    </a:ext>
                  </a:extLst>
                </a:gridCol>
                <a:gridCol w="3764177">
                  <a:extLst>
                    <a:ext uri="{9D8B030D-6E8A-4147-A177-3AD203B41FA5}">
                      <a16:colId xmlns:a16="http://schemas.microsoft.com/office/drawing/2014/main" val="36770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Chunk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Relevant?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70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Pre-authorization form to TPA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79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Hospitalization intimated within 24 hours for emergency admissions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023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Claim form, original bills, discharge summary, prescription and diagnostic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52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Premium grace period of 15–30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808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Pre-existing disease waiting period of 2–4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227108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73B723B9-1EF2-CE66-8B43-9BFD6252EE6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14_advanced/14_agentic_rag_graph_rag/14_1_ragas_evaluation.py, 15_real/ragas_evaluation.py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53340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AFE1F-541D-28C4-D2B0-04CD1EC17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B395-7892-DBE4-11C2-630E3DF6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Recall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0B527-ABB8-408B-EF62-840904E4F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sz="2400" i="1" dirty="0"/>
              <a:t>Was everything needed to fully answer the question actually retrieved?</a:t>
            </a:r>
            <a:endParaRPr lang="en-GB" sz="2400" dirty="0"/>
          </a:p>
          <a:p>
            <a:r>
              <a:rPr lang="en-GB" sz="2400" b="1" dirty="0"/>
              <a:t>Ground truth — 4 facts needed for a complete answer</a:t>
            </a:r>
            <a:endParaRPr lang="en-GB" sz="2400" dirty="0"/>
          </a:p>
          <a:p>
            <a:pPr lvl="1"/>
            <a:r>
              <a:rPr lang="en-GB" dirty="0"/>
              <a:t>Submit pre-authorization form to the TPA </a:t>
            </a:r>
          </a:p>
          <a:p>
            <a:pPr lvl="1"/>
            <a:r>
              <a:rPr lang="en-GB" dirty="0"/>
              <a:t>Intimate hospitalization within 24 hours for emergency admissions </a:t>
            </a:r>
          </a:p>
          <a:p>
            <a:pPr lvl="1"/>
            <a:r>
              <a:rPr lang="en-GB" dirty="0"/>
              <a:t>Submit claim form, original bills, discharge summary, prescription and diagnostic reports </a:t>
            </a:r>
          </a:p>
          <a:p>
            <a:pPr lvl="1"/>
            <a:r>
              <a:rPr lang="en-GB" dirty="0"/>
              <a:t>TPA verifies the bills and coordinates settlement between hospital and insurer</a:t>
            </a:r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endParaRPr lang="en-GB" sz="2400" b="1" dirty="0"/>
          </a:p>
          <a:p>
            <a:r>
              <a:rPr lang="en-GB" sz="2400" b="1" dirty="0"/>
              <a:t>Score = 3/4 = 0.75</a:t>
            </a:r>
            <a:r>
              <a:rPr lang="en-GB" sz="2400" dirty="0"/>
              <a:t> — the retrieved context contains most of the information needed, but misses the TPA's role in verifying bills and coordinating settlement</a:t>
            </a:r>
          </a:p>
          <a:p>
            <a:r>
              <a:rPr lang="en-GB" sz="2400" dirty="0"/>
              <a:t>RAGAS code: </a:t>
            </a:r>
            <a:r>
              <a:rPr lang="en-US" sz="2400" dirty="0"/>
              <a:t>C:\code\agenticai\14_advanced\14_agentic_rag_graph_rag\14_1_ragas_evaluation.py</a:t>
            </a:r>
            <a:endParaRPr lang="en-GB" sz="2400" dirty="0"/>
          </a:p>
          <a:p>
            <a:endParaRPr lang="en-GB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01595D-7DA7-6B9C-19B0-CB0DC2931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423010"/>
              </p:ext>
            </p:extLst>
          </p:nvPr>
        </p:nvGraphicFramePr>
        <p:xfrm>
          <a:off x="1417552" y="3519331"/>
          <a:ext cx="8822332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411166">
                  <a:extLst>
                    <a:ext uri="{9D8B030D-6E8A-4147-A177-3AD203B41FA5}">
                      <a16:colId xmlns:a16="http://schemas.microsoft.com/office/drawing/2014/main" val="436450654"/>
                    </a:ext>
                  </a:extLst>
                </a:gridCol>
                <a:gridCol w="4411166">
                  <a:extLst>
                    <a:ext uri="{9D8B030D-6E8A-4147-A177-3AD203B41FA5}">
                      <a16:colId xmlns:a16="http://schemas.microsoft.com/office/drawing/2014/main" val="3471148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Required 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Retrieved?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20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Pre-authorization form to TPA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28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24-hour emergency intimation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08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Required claim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19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TPA verification and settlement coordination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01904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3DB2EFA2-27E5-1DDA-A3A6-9A8A731B33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14_advanced/14_agentic_rag_graph_rag/14_1_ragas_evaluation.py, 15_real/ragas_evaluation.py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10743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DA90-A7ED-D0E8-A2C0-C8AEC331B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/>
              <a:t>Session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7C0FA-58A5-AC67-F5F6-A83AB4AD5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Deep Agents: Reflection, Planning and Long-Term Memory</a:t>
            </a:r>
          </a:p>
          <a:p>
            <a:r>
              <a:rPr lang="en-US"/>
              <a:t>Sun 21-Nov  |  08:00 – 11:00 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64524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C716-4A6F-CC45-2133-5E3C06B3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9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67378-736E-627E-93FF-7870F4922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What makes an agent "deep"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Self-reflection loops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Multi-turn reflection with a quality threshold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Plan-and-Execute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Replanning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ReAct vs Plan-and-Execute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Long-term memory types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Episodic memory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Memory consolidation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Context propagation and trimming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Self-improvement from failures</a:t>
            </a: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sz="1800"/>
              <a:t>Unified architecture: reflection + planning + memory</a:t>
            </a: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47529699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2FE1-0B8F-EDFB-927F-FF09B7D8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Agent ‘Deep'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C465-8F3E-51D9-438D-46B0BEE62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“deep” agent doesn't just produce an answer — it can evaluate its own process and adapt what it does next</a:t>
            </a:r>
            <a:endParaRPr lang="en-IN" dirty="0"/>
          </a:p>
          <a:p>
            <a:r>
              <a:rPr lang="en-IN" dirty="0"/>
              <a:t>Basic agent</a:t>
            </a:r>
          </a:p>
          <a:p>
            <a:pPr lvl="1"/>
            <a:r>
              <a:rPr lang="en-GB" dirty="0"/>
              <a:t>User -&gt; LLM -&gt; Tool -&gt; Answer</a:t>
            </a:r>
          </a:p>
          <a:p>
            <a:r>
              <a:rPr lang="en-GB" dirty="0"/>
              <a:t>Deeper agent</a:t>
            </a:r>
          </a:p>
          <a:p>
            <a:pPr lvl="1"/>
            <a:r>
              <a:rPr lang="en-GB" dirty="0"/>
              <a:t>User -&gt; LLM -&gt; </a:t>
            </a:r>
            <a:r>
              <a:rPr lang="en-GB" dirty="0">
                <a:solidFill>
                  <a:srgbClr val="FF0000"/>
                </a:solidFill>
              </a:rPr>
              <a:t>Think about the task -&gt; Plan -&gt; Act -&gt; Observe result -&gt; Evaluate -&gt; Revise strategy</a:t>
            </a:r>
            <a:r>
              <a:rPr lang="en-GB" dirty="0"/>
              <a:t> -&gt; May Loop -&gt; Answer</a:t>
            </a:r>
          </a:p>
          <a:p>
            <a:r>
              <a:rPr lang="en-US" dirty="0"/>
              <a:t>Normal reasoning: "How do I solve this?"</a:t>
            </a:r>
          </a:p>
          <a:p>
            <a:r>
              <a:rPr lang="en-US" dirty="0"/>
              <a:t>Meta-cognition: "Is my way of solving this working?"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3A0DFA6-2BE5-E428-6B40-51CC9714619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Concept slide - no code; discuss</a:t>
            </a:r>
          </a:p>
        </p:txBody>
      </p:sp>
    </p:spTree>
    <p:extLst>
      <p:ext uri="{BB962C8B-B14F-4D97-AF65-F5344CB8AC3E}">
        <p14:creationId xmlns:p14="http://schemas.microsoft.com/office/powerpoint/2010/main" val="384616650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715A-0355-905F-64A4-4887CEE1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Self-reflection Loops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DACE-6760-C34D-10CD-0B877117A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947" y="1690688"/>
            <a:ext cx="3580236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Generate → Critique → Revise -&gt; Loop</a:t>
            </a:r>
          </a:p>
          <a:p>
            <a:r>
              <a:rPr lang="en-GB" dirty="0"/>
              <a:t>Generate step</a:t>
            </a:r>
          </a:p>
          <a:p>
            <a:pPr lvl="1"/>
            <a:r>
              <a:rPr lang="en-GB" dirty="0"/>
              <a:t>Create an initial solution</a:t>
            </a:r>
          </a:p>
          <a:p>
            <a:pPr lvl="1"/>
            <a:r>
              <a:rPr lang="en-GB" dirty="0"/>
              <a:t>Input -&gt; LLM -&gt; Draft</a:t>
            </a:r>
          </a:p>
          <a:p>
            <a:r>
              <a:rPr lang="en-GB" dirty="0"/>
              <a:t>Critique</a:t>
            </a:r>
          </a:p>
          <a:p>
            <a:pPr lvl="1"/>
            <a:r>
              <a:rPr lang="en-GB" dirty="0"/>
              <a:t>Evaluate the draft against explicit criteria</a:t>
            </a:r>
          </a:p>
          <a:p>
            <a:pPr lvl="1"/>
            <a:r>
              <a:rPr lang="en-GB" dirty="0"/>
              <a:t>Draft -&gt; Critic -&gt; Issues + scores + recommendations</a:t>
            </a:r>
          </a:p>
          <a:p>
            <a:r>
              <a:rPr lang="en-GB" dirty="0"/>
              <a:t>Revise</a:t>
            </a:r>
          </a:p>
          <a:p>
            <a:pPr lvl="1"/>
            <a:r>
              <a:rPr lang="en-GB" dirty="0"/>
              <a:t>Use the critique to produce an improved version</a:t>
            </a:r>
          </a:p>
          <a:p>
            <a:pPr lvl="1"/>
            <a:r>
              <a:rPr lang="en-US" dirty="0"/>
              <a:t>Draft + Critique -&gt; LLM -&gt; Revised answer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10BD25-23C7-69C6-D519-53DF3EE735DA}"/>
              </a:ext>
            </a:extLst>
          </p:cNvPr>
          <p:cNvSpPr txBox="1">
            <a:spLocks/>
          </p:cNvSpPr>
          <p:nvPr/>
        </p:nvSpPr>
        <p:spPr>
          <a:xfrm>
            <a:off x="3754741" y="1690688"/>
            <a:ext cx="82133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Generate: Explain RAG to a beginner in 200 words</a:t>
            </a:r>
          </a:p>
          <a:p>
            <a:pPr lvl="1"/>
            <a:r>
              <a:rPr lang="en-IN" dirty="0"/>
              <a:t>Output: </a:t>
            </a:r>
            <a:r>
              <a:rPr lang="en-GB" dirty="0"/>
              <a:t>RAG combines an LLM with external information…</a:t>
            </a:r>
          </a:p>
          <a:p>
            <a:r>
              <a:rPr lang="en-GB" dirty="0"/>
              <a:t>Critique: Against a Rubric</a:t>
            </a:r>
          </a:p>
          <a:p>
            <a:pPr lvl="1"/>
            <a:r>
              <a:rPr lang="en-GB" dirty="0"/>
              <a:t>Accuracy: Good </a:t>
            </a:r>
          </a:p>
          <a:p>
            <a:pPr lvl="1"/>
            <a:r>
              <a:rPr lang="en-GB" dirty="0"/>
              <a:t>Completeness: Missing indexing/vector search </a:t>
            </a:r>
          </a:p>
          <a:p>
            <a:pPr lvl="1"/>
            <a:r>
              <a:rPr lang="en-GB" dirty="0"/>
              <a:t>Clarity: Good </a:t>
            </a:r>
          </a:p>
          <a:p>
            <a:pPr lvl="1"/>
            <a:r>
              <a:rPr lang="en-GB" dirty="0"/>
              <a:t>Beginner level: Good </a:t>
            </a:r>
          </a:p>
          <a:p>
            <a:pPr lvl="1"/>
            <a:r>
              <a:rPr lang="en-GB" dirty="0"/>
              <a:t>Word limit: Within limit </a:t>
            </a:r>
          </a:p>
          <a:p>
            <a:pPr lvl="1"/>
            <a:r>
              <a:rPr lang="en-GB" dirty="0"/>
              <a:t>Issues</a:t>
            </a:r>
          </a:p>
          <a:p>
            <a:pPr lvl="2"/>
            <a:r>
              <a:rPr lang="en-GB" dirty="0"/>
              <a:t>1. Explain retrieval more clearly.</a:t>
            </a:r>
          </a:p>
          <a:p>
            <a:pPr lvl="2"/>
            <a:r>
              <a:rPr lang="en-GB" dirty="0"/>
              <a:t>2. Mention why embeddings are used.</a:t>
            </a:r>
          </a:p>
          <a:p>
            <a:pPr lvl="2"/>
            <a:r>
              <a:rPr lang="en-GB" dirty="0"/>
              <a:t>3. Explain how retrieved context reaches the LLM.</a:t>
            </a:r>
          </a:p>
          <a:p>
            <a:r>
              <a:rPr lang="en-GB" dirty="0"/>
              <a:t>Revise: Address the above weaknesses</a:t>
            </a:r>
          </a:p>
        </p:txBody>
      </p:sp>
      <p:sp>
        <p:nvSpPr>
          <p:cNvPr id="5" name="DemoCallout">
            <a:extLst>
              <a:ext uri="{FF2B5EF4-FFF2-40B4-BE49-F238E27FC236}">
                <a16:creationId xmlns:a16="http://schemas.microsoft.com/office/drawing/2014/main" id="{4BB3F0F2-6361-DCDD-2953-8A407561728D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2_openai_agents/2_0_4_openai_agent_pattern_reflection.py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6862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5588-53CD-F334-18AE-AA744A73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Multi-Turn Reflection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64C9-5F17-2EA2-43F3-D2C2E5CC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Iterating Until a Quality Threshold Is Met</a:t>
            </a:r>
          </a:p>
          <a:p>
            <a:r>
              <a:rPr lang="en-GB" dirty="0"/>
              <a:t>Instead of one critique and revision, repeat until a quality threshold is met</a:t>
            </a:r>
          </a:p>
          <a:p>
            <a:r>
              <a:rPr lang="en-GB" dirty="0"/>
              <a:t>Generate -&gt; Critique → Score = 6/10 -&gt; Revise -&gt; Critique → Score = 7.5/10 -&gt; Revise -&gt; Critique → Score = 9/10 -&gt; STOP</a:t>
            </a:r>
          </a:p>
          <a:p>
            <a:r>
              <a:rPr lang="en-GB" dirty="0"/>
              <a:t>Critique may score multiple dimensions and calculate their average</a:t>
            </a:r>
          </a:p>
          <a:p>
            <a:pPr lvl="1"/>
            <a:r>
              <a:rPr lang="en-GB" dirty="0"/>
              <a:t>Accuracy, Completeness, Relevance, Clarity, Evidence</a:t>
            </a:r>
          </a:p>
          <a:p>
            <a:r>
              <a:rPr lang="en-GB" dirty="0"/>
              <a:t>May also need to put an upper limit on the number of loops</a:t>
            </a:r>
          </a:p>
          <a:p>
            <a:r>
              <a:rPr lang="en-US" dirty="0"/>
              <a:t>C:\code\agenticai\14_advanced\12_deep_agents\meal_plan_reflection.py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33DFAD28-6815-3D4D-FAA5-AE644972A8C9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14_advanced/12_deep_agents/meal_plan_reflection.py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19281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B1B7-FFEE-C527-4393-EBDE106D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Plan-and-Execute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C222-B6EC-33B9-4598-8AD38A08D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Separating Planning from Execution</a:t>
            </a:r>
          </a:p>
          <a:p>
            <a:r>
              <a:rPr lang="en-GB" dirty="0"/>
              <a:t>Two clear steps</a:t>
            </a:r>
          </a:p>
          <a:p>
            <a:pPr lvl="1"/>
            <a:r>
              <a:rPr lang="en-GB" b="1" dirty="0"/>
              <a:t>Planning</a:t>
            </a:r>
            <a:r>
              <a:rPr lang="en-GB" dirty="0"/>
              <a:t> — decide </a:t>
            </a:r>
            <a:r>
              <a:rPr lang="en-GB" i="1" dirty="0"/>
              <a:t>what needs to be done</a:t>
            </a:r>
            <a:r>
              <a:rPr lang="en-GB" dirty="0"/>
              <a:t> (Strategy)</a:t>
            </a:r>
          </a:p>
          <a:p>
            <a:pPr lvl="1"/>
            <a:r>
              <a:rPr lang="en-GB" b="1" dirty="0"/>
              <a:t>Execution</a:t>
            </a:r>
            <a:r>
              <a:rPr lang="en-GB" dirty="0"/>
              <a:t> — actually </a:t>
            </a:r>
            <a:r>
              <a:rPr lang="en-GB" i="1" dirty="0"/>
              <a:t>do those steps </a:t>
            </a:r>
            <a:r>
              <a:rPr lang="en-GB" dirty="0"/>
              <a:t>(Action)</a:t>
            </a:r>
          </a:p>
          <a:p>
            <a:r>
              <a:rPr lang="en-GB" dirty="0"/>
              <a:t>Example: User - "Research three competitors, compare their pricing, identify their strengths, and recommend which one we should consider.“</a:t>
            </a:r>
          </a:p>
          <a:p>
            <a:pPr lvl="1"/>
            <a:r>
              <a:rPr lang="en-GB" dirty="0"/>
              <a:t>Planner </a:t>
            </a:r>
          </a:p>
          <a:p>
            <a:pPr marL="914400" lvl="2" indent="0">
              <a:buNone/>
            </a:pPr>
            <a:r>
              <a:rPr lang="en-US" dirty="0"/>
              <a:t>1. Identify three competitors</a:t>
            </a:r>
          </a:p>
          <a:p>
            <a:pPr marL="914400" lvl="2" indent="0">
              <a:buNone/>
            </a:pPr>
            <a:r>
              <a:rPr lang="en-US" dirty="0"/>
              <a:t>2. Research competitor A</a:t>
            </a:r>
          </a:p>
          <a:p>
            <a:pPr marL="914400" lvl="2" indent="0">
              <a:buNone/>
            </a:pPr>
            <a:r>
              <a:rPr lang="en-US" dirty="0"/>
              <a:t>3. Research competitor B</a:t>
            </a:r>
          </a:p>
          <a:p>
            <a:pPr marL="914400" lvl="2" indent="0">
              <a:buNone/>
            </a:pPr>
            <a:r>
              <a:rPr lang="en-US" dirty="0"/>
              <a:t>4. Research competitor C</a:t>
            </a:r>
          </a:p>
          <a:p>
            <a:pPr marL="914400" lvl="2" indent="0">
              <a:buNone/>
            </a:pPr>
            <a:r>
              <a:rPr lang="en-US" dirty="0"/>
              <a:t>5. Collect pricing information</a:t>
            </a:r>
          </a:p>
          <a:p>
            <a:pPr marL="914400" lvl="2" indent="0">
              <a:buNone/>
            </a:pPr>
            <a:r>
              <a:rPr lang="en-US" dirty="0"/>
              <a:t>6. Compare features and pricing</a:t>
            </a:r>
          </a:p>
          <a:p>
            <a:pPr marL="914400" lvl="2" indent="0">
              <a:buNone/>
            </a:pPr>
            <a:r>
              <a:rPr lang="en-US" dirty="0"/>
              <a:t>7. Identify strengths and weaknesses</a:t>
            </a:r>
          </a:p>
          <a:p>
            <a:pPr marL="914400" lvl="2" indent="0">
              <a:buNone/>
            </a:pPr>
            <a:r>
              <a:rPr lang="en-US" dirty="0"/>
              <a:t>8. Make recommendation</a:t>
            </a:r>
            <a:endParaRPr lang="en-GB" dirty="0"/>
          </a:p>
          <a:p>
            <a:pPr lvl="1"/>
            <a:r>
              <a:rPr lang="en-GB" dirty="0"/>
              <a:t>Executor – Perform these steps using appropriate tools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C:\code\agenticai\14_advanced\12_deep_agents\study_plan_plan_execute.py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B5C1289-78A5-1B23-6A3C-58F77DD763B5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14_advanced/12_deep_agents/study_plan_plan_execute.py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61651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02A9-C507-F959-2C19-1479E2A8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Replanning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ACDB1-E608-5146-3172-18F09293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Updating the Plan When New Information Arrives</a:t>
            </a:r>
          </a:p>
          <a:p>
            <a:r>
              <a:rPr lang="en-GB" dirty="0"/>
              <a:t>Reason: During execution, the agent may discover:</a:t>
            </a:r>
          </a:p>
          <a:p>
            <a:pPr lvl="1"/>
            <a:r>
              <a:rPr lang="en-GB" dirty="0"/>
              <a:t>A required resource is unavailable </a:t>
            </a:r>
          </a:p>
          <a:p>
            <a:pPr lvl="1"/>
            <a:r>
              <a:rPr lang="en-GB" dirty="0"/>
              <a:t>A tool fails </a:t>
            </a:r>
          </a:p>
          <a:p>
            <a:pPr lvl="1"/>
            <a:r>
              <a:rPr lang="en-GB" dirty="0"/>
              <a:t>Retrieved information contradicts an assumption </a:t>
            </a:r>
          </a:p>
          <a:p>
            <a:pPr lvl="1"/>
            <a:r>
              <a:rPr lang="en-GB" dirty="0"/>
              <a:t>New information changes the situation </a:t>
            </a:r>
          </a:p>
          <a:p>
            <a:pPr lvl="1"/>
            <a:r>
              <a:rPr lang="en-GB" dirty="0"/>
              <a:t>A task is already completed </a:t>
            </a:r>
          </a:p>
          <a:p>
            <a:pPr lvl="1"/>
            <a:r>
              <a:rPr lang="en-GB" dirty="0"/>
              <a:t>A dependency is missing </a:t>
            </a:r>
          </a:p>
          <a:p>
            <a:pPr lvl="1"/>
            <a:r>
              <a:rPr lang="en-GB" dirty="0"/>
              <a:t>The original approach is too expensive or slow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C:\code\agenticai\14_advanced\12_deep_agents\pathology_report_replanning.py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D30BDFA4-2428-3CEC-96CB-3925436F15F4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14_advanced/12_deep_agents/pathology_report_replanning.py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2078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578A-1AA8-1AE4-B9B0-123B1AC5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r>
              <a:rPr lang="en-IN" dirty="0"/>
              <a:t> Versus Plan-and-Execute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B4EC-2F70-4B7D-CD4E-428ABA26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2411" cy="4351338"/>
          </a:xfrm>
        </p:spPr>
        <p:txBody>
          <a:bodyPr/>
          <a:lstStyle/>
          <a:p>
            <a:r>
              <a:rPr lang="en-GB" dirty="0" err="1"/>
              <a:t>ReAct</a:t>
            </a:r>
            <a:r>
              <a:rPr lang="en-GB" dirty="0"/>
              <a:t>: Combines reasoning and action in an iterative loop, decides the next action based on the latest observation</a:t>
            </a:r>
          </a:p>
          <a:p>
            <a:r>
              <a:rPr lang="en-GB" dirty="0"/>
              <a:t>Plan-and-Execute: First creates a higher-level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91988C-FE06-A841-1610-BCC0F2B1E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09039"/>
              </p:ext>
            </p:extLst>
          </p:nvPr>
        </p:nvGraphicFramePr>
        <p:xfrm>
          <a:off x="5249075" y="1760490"/>
          <a:ext cx="675678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2263">
                  <a:extLst>
                    <a:ext uri="{9D8B030D-6E8A-4147-A177-3AD203B41FA5}">
                      <a16:colId xmlns:a16="http://schemas.microsoft.com/office/drawing/2014/main" val="2248940417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645740149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2673957168"/>
                    </a:ext>
                  </a:extLst>
                </a:gridCol>
              </a:tblGrid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ReAct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Plan-and-Execute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329453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Incremental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Upfront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231130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Decision 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Every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At plan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416410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Adaptability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 with replanning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28725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Less explicit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Highly structured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563591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Often unnecessary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579165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 workflows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become messy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Better suited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83568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Debugging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More 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609971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Parallelization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Less natural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076568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Planning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18099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Action-by-action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Explicit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196090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19970455-2FE9-F609-CE37-26CDAD26CB8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2_openai_agents/2_0_3_openai_agent_pattern_react.py vs 2_0_2_openai_agent_pattern_plan.py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315912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A13C8-F40C-FB54-0EEF-53C83AB0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D201-7A49-2D5D-F6A9-4D3DCB25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061" y="165992"/>
            <a:ext cx="9617878" cy="944869"/>
          </a:xfrm>
        </p:spPr>
        <p:txBody>
          <a:bodyPr>
            <a:noAutofit/>
          </a:bodyPr>
          <a:lstStyle/>
          <a:p>
            <a:r>
              <a:rPr lang="en-IN" sz="3600" dirty="0"/>
              <a:t>Memory Types</a:t>
            </a:r>
            <a:endParaRPr lang="en-GB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86C575-3EA4-83C7-0607-ACDBE0EA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7" y="1669771"/>
            <a:ext cx="3102747" cy="3979862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/>
              <a:t>Why memory?</a:t>
            </a:r>
          </a:p>
          <a:p>
            <a:pPr lvl="1"/>
            <a:r>
              <a:rPr lang="en-GB" sz="2300" dirty="0"/>
              <a:t>Maintain conversation context </a:t>
            </a:r>
          </a:p>
          <a:p>
            <a:pPr lvl="1"/>
            <a:r>
              <a:rPr lang="en-GB" sz="2300" dirty="0"/>
              <a:t>Remember user preferences </a:t>
            </a:r>
          </a:p>
          <a:p>
            <a:pPr lvl="1"/>
            <a:r>
              <a:rPr lang="en-GB" sz="2300" dirty="0"/>
              <a:t>Recall previous tasks </a:t>
            </a:r>
          </a:p>
          <a:p>
            <a:pPr lvl="1"/>
            <a:r>
              <a:rPr lang="en-GB" sz="2300" dirty="0"/>
              <a:t>Personalize responses </a:t>
            </a:r>
          </a:p>
          <a:p>
            <a:pPr lvl="1"/>
            <a:r>
              <a:rPr lang="en-GB" sz="2300" dirty="0"/>
              <a:t>Reduce repeated questions </a:t>
            </a:r>
          </a:p>
          <a:p>
            <a:pPr lvl="1"/>
            <a:r>
              <a:rPr lang="en-GB" sz="2300" dirty="0"/>
              <a:t>Support long-running workflows</a:t>
            </a:r>
          </a:p>
          <a:p>
            <a:endParaRPr lang="en-GB" sz="2600" dirty="0"/>
          </a:p>
          <a:p>
            <a:pPr lvl="1"/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FEF8C4-B8E7-E72C-3316-32E3C946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67347"/>
              </p:ext>
            </p:extLst>
          </p:nvPr>
        </p:nvGraphicFramePr>
        <p:xfrm>
          <a:off x="3942379" y="1408295"/>
          <a:ext cx="7639294" cy="366594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09823">
                  <a:extLst>
                    <a:ext uri="{9D8B030D-6E8A-4147-A177-3AD203B41FA5}">
                      <a16:colId xmlns:a16="http://schemas.microsoft.com/office/drawing/2014/main" val="2707852265"/>
                    </a:ext>
                  </a:extLst>
                </a:gridCol>
                <a:gridCol w="1909823">
                  <a:extLst>
                    <a:ext uri="{9D8B030D-6E8A-4147-A177-3AD203B41FA5}">
                      <a16:colId xmlns:a16="http://schemas.microsoft.com/office/drawing/2014/main" val="1529649044"/>
                    </a:ext>
                  </a:extLst>
                </a:gridCol>
                <a:gridCol w="1721886">
                  <a:extLst>
                    <a:ext uri="{9D8B030D-6E8A-4147-A177-3AD203B41FA5}">
                      <a16:colId xmlns:a16="http://schemas.microsoft.com/office/drawing/2014/main" val="3195041357"/>
                    </a:ext>
                  </a:extLst>
                </a:gridCol>
                <a:gridCol w="2097762">
                  <a:extLst>
                    <a:ext uri="{9D8B030D-6E8A-4147-A177-3AD203B41FA5}">
                      <a16:colId xmlns:a16="http://schemas.microsoft.com/office/drawing/2014/main" val="3282950048"/>
                    </a:ext>
                  </a:extLst>
                </a:gridCol>
              </a:tblGrid>
              <a:tr h="320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Lifetime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124022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 dirty="0"/>
                        <a:t>Short-Term Memory (Working Memory)</a:t>
                      </a:r>
                      <a:endParaRPr lang="en-GB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Current conversation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Minutes / Session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Previous chat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777889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Long-Term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 user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Days to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User preferences, 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298387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External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Information stored outside the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ChromaDB, SQL, Redis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58159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Semantic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Facts and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"Python is your preferred language."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37865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Episodic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Past interactions and experiences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Previous customer support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07768"/>
                  </a:ext>
                </a:extLst>
              </a:tr>
              <a:tr h="557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1"/>
                        <a:t>Procedural Memory</a:t>
                      </a:r>
                      <a:endParaRPr lang="en-GB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Learned procedures and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Steps to deploy an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14789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84D004BE-71DD-4761-17BE-ACB77570310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15_real/agent_memory_short_term_langgraph.py, agent_memory_short_to_long_term_langgraph.py, agent_memory_short_to_external_sqlite_langgraph.py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3378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4141-9C94-D289-978F-BF1B5FFE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5F6FA-4F4D-132F-8839-1817112A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First run </a:t>
            </a:r>
            <a:r>
              <a:rPr lang="en-US" dirty="0"/>
              <a:t>C:\code\agenticai\15_real\agent_memory_short_term_langgraph.py</a:t>
            </a:r>
          </a:p>
          <a:p>
            <a:r>
              <a:rPr lang="en-US" dirty="0"/>
              <a:t>Now run C:\code\agenticai\15_real\agent_memory_dynamic_session_id_langgraph.py  -&gt; Change is, we accept user id from user and that is our session ID</a:t>
            </a:r>
          </a:p>
          <a:p>
            <a:r>
              <a:rPr lang="en-US" dirty="0"/>
              <a:t>Now run C:\code\agenticai\15_real\agent_memory_short_to_long_term_langgraph.py and C:\code\agenticai\15_real\agent_memory_short_to_external_sqlite_langgraph.py -&gt; Saving short term memory into local/external long term memory</a:t>
            </a:r>
          </a:p>
          <a:p>
            <a:r>
              <a:rPr lang="en-US" dirty="0"/>
              <a:t>Now run C:\code\agenticai\15_real\agent_memory_episodic_langgraph.py, C:\code\agenticai\15_real\agent_memory_procedural_langgraph.py, C:\code\agenticai\15_real\agent_memory_semantic_langgraph.py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04080DE-B0F0-B961-BC27-8E22839C00B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15_real/agent_memory_short_term_langgraph.py, agent_memory_short_to_long_term_langgraph.py, agent_memory_short_to_external_sqlite_langgraph.py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55558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98F7-C5F1-4E2D-E344-B3B54EB1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 Term Memory 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1D80-C304-F8C0-E20E-091D0B883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Episodic </a:t>
            </a:r>
            <a:r>
              <a:rPr lang="en-GB" dirty="0"/>
              <a:t>= Experiences</a:t>
            </a:r>
          </a:p>
          <a:p>
            <a:r>
              <a:rPr lang="en-GB" b="1" dirty="0"/>
              <a:t>Semantic </a:t>
            </a:r>
            <a:r>
              <a:rPr lang="en-GB" dirty="0"/>
              <a:t>= Knowledge</a:t>
            </a:r>
          </a:p>
          <a:p>
            <a:r>
              <a:rPr lang="en-GB" b="1" dirty="0"/>
              <a:t>Procedural </a:t>
            </a:r>
            <a:r>
              <a:rPr lang="en-GB" dirty="0"/>
              <a:t>= Skills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FC8CA-B3F0-7D1B-6813-065F18854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75197"/>
              </p:ext>
            </p:extLst>
          </p:nvPr>
        </p:nvGraphicFramePr>
        <p:xfrm>
          <a:off x="949883" y="3525945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9452">
                  <a:extLst>
                    <a:ext uri="{9D8B030D-6E8A-4147-A177-3AD203B41FA5}">
                      <a16:colId xmlns:a16="http://schemas.microsoft.com/office/drawing/2014/main" val="2779191587"/>
                    </a:ext>
                  </a:extLst>
                </a:gridCol>
                <a:gridCol w="3224830">
                  <a:extLst>
                    <a:ext uri="{9D8B030D-6E8A-4147-A177-3AD203B41FA5}">
                      <a16:colId xmlns:a16="http://schemas.microsoft.com/office/drawing/2014/main" val="2643587554"/>
                    </a:ext>
                  </a:extLst>
                </a:gridCol>
                <a:gridCol w="4841318">
                  <a:extLst>
                    <a:ext uri="{9D8B030D-6E8A-4147-A177-3AD203B41FA5}">
                      <a16:colId xmlns:a16="http://schemas.microsoft.com/office/drawing/2014/main" val="647338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Core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58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Episodic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What happened?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"We discussed Project X last Tuesday."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651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Semantic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do I know?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"Project X uses PostgreSQL."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87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Procedural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do I do it?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"Deploy Project X using this procedure."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879988"/>
                  </a:ext>
                </a:extLst>
              </a:tr>
            </a:tbl>
          </a:graphicData>
        </a:graphic>
      </p:graphicFrame>
      <p:sp>
        <p:nvSpPr>
          <p:cNvPr id="5" name="DemoCallout">
            <a:extLst>
              <a:ext uri="{FF2B5EF4-FFF2-40B4-BE49-F238E27FC236}">
                <a16:creationId xmlns:a16="http://schemas.microsoft.com/office/drawing/2014/main" id="{9911EF2D-6FBC-50BD-252C-3C09F586AFFE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15_real/agent_memory_semantic_langgraph.py, agent_memory_procedural_langgraph.py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51186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C98F-F222-3687-CAFA-1E4500E3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Episodic Memory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469C8-1343-9521-14C7-F421B6B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Episodic memory</a:t>
            </a:r>
            <a:r>
              <a:rPr lang="en-GB" dirty="0"/>
              <a:t>: An agent's ability to store and recall specific past interactions or experiences — as opposed to just relying on general/static knowledge</a:t>
            </a:r>
          </a:p>
          <a:p>
            <a:r>
              <a:rPr lang="en-GB" dirty="0"/>
              <a:t>Typical meaning for an agent</a:t>
            </a:r>
          </a:p>
          <a:p>
            <a:pPr lvl="1"/>
            <a:r>
              <a:rPr lang="en-GB" b="1" dirty="0"/>
              <a:t>Records of specific episodes</a:t>
            </a:r>
            <a:r>
              <a:rPr lang="en-GB" dirty="0"/>
              <a:t> — A particular conversation, a task the agent completed, a decision it made, an error it encountered and how it was resolved</a:t>
            </a:r>
          </a:p>
          <a:p>
            <a:pPr lvl="1"/>
            <a:r>
              <a:rPr lang="en-GB" b="1" dirty="0"/>
              <a:t>Retrievable and reusable</a:t>
            </a:r>
            <a:r>
              <a:rPr lang="en-GB" dirty="0"/>
              <a:t> — The agent can look back at these episodes later to inform future </a:t>
            </a:r>
            <a:r>
              <a:rPr lang="en-GB" dirty="0" err="1"/>
              <a:t>behavior</a:t>
            </a:r>
            <a:endParaRPr lang="en-GB" dirty="0"/>
          </a:p>
          <a:p>
            <a:pPr lvl="1"/>
            <a:r>
              <a:rPr lang="en-GB" b="1" dirty="0"/>
              <a:t>Distinct from parametric knowledge</a:t>
            </a:r>
            <a:r>
              <a:rPr lang="en-GB" dirty="0"/>
              <a:t> — Stored externally (a database, vector store, log) and pulled in at inference time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C:\code\agenticai\14_advanced\12_deep_agents\episodic_memory_store.py</a:t>
            </a:r>
          </a:p>
          <a:p>
            <a:pPr lvl="1"/>
            <a:r>
              <a:rPr lang="en-US" dirty="0"/>
              <a:t>Instead of a fixed knowledge base, use a vector DB that starts with a batch of past cases and keeps growing </a:t>
            </a:r>
            <a:r>
              <a:rPr lang="en-GB" dirty="0"/>
              <a:t>as the agent handles new ones</a:t>
            </a:r>
          </a:p>
          <a:p>
            <a:pPr lvl="1"/>
            <a:r>
              <a:rPr lang="en-GB" dirty="0"/>
              <a:t>Loads 324 real past support tickets and stores each one as a single text blob in this shape:</a:t>
            </a:r>
          </a:p>
          <a:p>
            <a:pPr lvl="2"/>
            <a:r>
              <a:rPr lang="en-GB" dirty="0"/>
              <a:t>"Customer asked: Why was my payment declined? | Resolution: ..."</a:t>
            </a:r>
          </a:p>
          <a:p>
            <a:pPr lvl="1"/>
            <a:r>
              <a:rPr lang="en-GB" dirty="0"/>
              <a:t>This is the agent's starting memory — like giving it a transcript of everything support agents have handled before</a:t>
            </a:r>
          </a:p>
          <a:p>
            <a:pPr lvl="1"/>
            <a:r>
              <a:rPr lang="en-GB" dirty="0"/>
              <a:t>When a query comes, recall() finds 2 best matches, adds in the prompt telling the LLM how the previous questions were answered so as to answer </a:t>
            </a:r>
            <a:r>
              <a:rPr lang="en-GB" i="1" dirty="0"/>
              <a:t>this new</a:t>
            </a:r>
            <a:r>
              <a:rPr lang="en-GB" dirty="0"/>
              <a:t> question</a:t>
            </a:r>
          </a:p>
          <a:p>
            <a:pPr lvl="1"/>
            <a:r>
              <a:rPr lang="en-GB" dirty="0"/>
              <a:t>The remember() function writes this as a new query and response in the text blob format, as above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B9D6B1B1-92A6-9587-D7E6-7BBCD32393F7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14_advanced/12_deep_agents/episodic_memory_store.py, 15_real/agent_memory_episodic_langgraph.py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7924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1FA0-88AA-8D3B-48F9-DD8716CE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Consolidation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9B703-0935-85B1-02D0-E1798C3C4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Summarising and Compressing Old Episodic Memories</a:t>
            </a:r>
          </a:p>
          <a:p>
            <a:r>
              <a:rPr lang="en-GB" dirty="0"/>
              <a:t>Normal: </a:t>
            </a:r>
            <a:r>
              <a:rPr lang="en-US" dirty="0"/>
              <a:t>Day 1 → Episode 1, Day 2 → Episode 2, Day 3 → Episode 3, ... Day 100 → Episode 100</a:t>
            </a:r>
          </a:p>
          <a:p>
            <a:pPr lvl="0"/>
            <a:r>
              <a:rPr lang="en-US" dirty="0"/>
              <a:t>Problems: </a:t>
            </a:r>
            <a:r>
              <a:rPr lang="en-GB" dirty="0"/>
              <a:t>Large, Redundant, Expensive to retrieve, Difficult to reason over</a:t>
            </a:r>
          </a:p>
          <a:p>
            <a:pPr lvl="0"/>
            <a:r>
              <a:rPr lang="en-GB" dirty="0"/>
              <a:t>Solution: </a:t>
            </a:r>
            <a:r>
              <a:rPr lang="en-US" dirty="0"/>
              <a:t>Many episodes -&gt; Identify common patterns -&gt; Summarize -&gt; Store compact memory</a:t>
            </a:r>
          </a:p>
          <a:p>
            <a:pPr lvl="0"/>
            <a:r>
              <a:rPr lang="en-US" dirty="0"/>
              <a:t>Code: C:\code\agenticai\14_advanced\12_deep_agents\memory_consolidation.py</a:t>
            </a:r>
          </a:p>
          <a:p>
            <a:pPr lvl="1"/>
            <a:r>
              <a:rPr lang="en-US" dirty="0"/>
              <a:t>Previous example creates many duplicates for similar issues</a:t>
            </a:r>
          </a:p>
          <a:p>
            <a:pPr lvl="1"/>
            <a:r>
              <a:rPr lang="en-US" dirty="0"/>
              <a:t>As a sample, take 8 episodes identifying 3 clear patterns (2FA issue, card declined, subscription cancellation), feed to LLM, and replace each group with one dense summary</a:t>
            </a:r>
          </a:p>
          <a:p>
            <a:pPr lvl="1"/>
            <a:r>
              <a:rPr lang="en-US" dirty="0"/>
              <a:t>Swap it in the vector store in place of the original entries, so 8 episodes -&gt; 3 summaries</a:t>
            </a:r>
            <a:endParaRPr lang="en-GB" dirty="0"/>
          </a:p>
          <a:p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C8C7E105-BC05-BCC1-3759-72A981C8A1BA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14_advanced/12_deep_agents/memory_consolidation.py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64438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3464-E01A-62BB-3497-85261771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Propagation and Trim Strategies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514C-E8FC-D034-7940-9784901C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Context propagation</a:t>
            </a:r>
            <a:r>
              <a:rPr lang="en-GB" dirty="0"/>
              <a:t>: Passing relevant information from one step (or agent) to the next so that the workflow maintains continuity and makes informed decisions</a:t>
            </a:r>
          </a:p>
          <a:p>
            <a:r>
              <a:rPr lang="en-GB" dirty="0"/>
              <a:t>Example: User asks - Can I get a ₹50 lakh home loan?</a:t>
            </a:r>
          </a:p>
          <a:p>
            <a:pPr lvl="1"/>
            <a:r>
              <a:rPr lang="en-GB" dirty="0"/>
              <a:t>Step 1: Query</a:t>
            </a:r>
          </a:p>
          <a:p>
            <a:pPr lvl="1"/>
            <a:r>
              <a:rPr lang="en-GB" dirty="0"/>
              <a:t>Step 2: Query + Retrieved policies</a:t>
            </a:r>
          </a:p>
          <a:p>
            <a:pPr lvl="1"/>
            <a:r>
              <a:rPr lang="en-GB" dirty="0"/>
              <a:t>Step 3: Query + Retrieved policies + Credit score</a:t>
            </a:r>
          </a:p>
          <a:p>
            <a:pPr lvl="1"/>
            <a:r>
              <a:rPr lang="en-GB" dirty="0"/>
              <a:t>Step 4: Query + Retrieved policies + Credit score + Reasoning -&gt; Final answer</a:t>
            </a:r>
          </a:p>
          <a:p>
            <a:r>
              <a:rPr lang="en-GB" dirty="0"/>
              <a:t>Why trim context?</a:t>
            </a:r>
          </a:p>
          <a:p>
            <a:pPr lvl="1"/>
            <a:r>
              <a:rPr lang="en-GB" dirty="0"/>
              <a:t>LLM has a limited context window</a:t>
            </a:r>
          </a:p>
          <a:p>
            <a:pPr lvl="1"/>
            <a:r>
              <a:rPr lang="en-GB" dirty="0"/>
              <a:t>Techniques: Next slide</a:t>
            </a:r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4C100EB8-0ED6-54A5-F19A-1BB714DB059C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15_real/context_management_strategies.py</a:t>
            </a:r>
          </a:p>
        </p:txBody>
      </p:sp>
    </p:spTree>
    <p:extLst>
      <p:ext uri="{BB962C8B-B14F-4D97-AF65-F5344CB8AC3E}">
        <p14:creationId xmlns:p14="http://schemas.microsoft.com/office/powerpoint/2010/main" val="192589186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B4E-B0F8-6402-51A8-CAB73F61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Context Trimming Strategies</a:t>
            </a:r>
            <a:br>
              <a:rPr lang="en-IN" dirty="0"/>
            </a:br>
            <a:r>
              <a:rPr lang="en-IN" sz="3100" dirty="0"/>
              <a:t>Code: C:\code\agenticai\15_real\context_management_strategies.py</a:t>
            </a:r>
            <a:endParaRPr lang="en-GB" sz="31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4278EF-BE91-D3D7-F2AE-7AA943529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483810"/>
              </p:ext>
            </p:extLst>
          </p:nvPr>
        </p:nvGraphicFramePr>
        <p:xfrm>
          <a:off x="838200" y="2355374"/>
          <a:ext cx="10515600" cy="24688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728658">
                  <a:extLst>
                    <a:ext uri="{9D8B030D-6E8A-4147-A177-3AD203B41FA5}">
                      <a16:colId xmlns:a16="http://schemas.microsoft.com/office/drawing/2014/main" val="4106340199"/>
                    </a:ext>
                  </a:extLst>
                </a:gridCol>
                <a:gridCol w="5200214">
                  <a:extLst>
                    <a:ext uri="{9D8B030D-6E8A-4147-A177-3AD203B41FA5}">
                      <a16:colId xmlns:a16="http://schemas.microsoft.com/office/drawing/2014/main" val="3692593451"/>
                    </a:ext>
                  </a:extLst>
                </a:gridCol>
                <a:gridCol w="2586728">
                  <a:extLst>
                    <a:ext uri="{9D8B030D-6E8A-4147-A177-3AD203B41FA5}">
                      <a16:colId xmlns:a16="http://schemas.microsoft.com/office/drawing/2014/main" val="1349624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91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Sliding Window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Keep only the latest N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893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Summarization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Replace older conversations with a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 conversations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93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Semantic Retrieval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 only relevant past memories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Long-term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076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Token-Based Trimming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Remove oldest content when token limit is reached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Production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61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Priority-Based Context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Always keep critical information, discard less important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Enterprise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16193"/>
                  </a:ext>
                </a:extLst>
              </a:tr>
            </a:tbl>
          </a:graphicData>
        </a:graphic>
      </p:graphicFrame>
      <p:sp>
        <p:nvSpPr>
          <p:cNvPr id="3" name="DemoCallout">
            <a:extLst>
              <a:ext uri="{FF2B5EF4-FFF2-40B4-BE49-F238E27FC236}">
                <a16:creationId xmlns:a16="http://schemas.microsoft.com/office/drawing/2014/main" id="{D668D072-9CEC-3EE7-C9B3-0F27E0DD6122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15_real/context_management_strategies.py</a:t>
            </a:r>
          </a:p>
        </p:txBody>
      </p:sp>
    </p:spTree>
    <p:extLst>
      <p:ext uri="{BB962C8B-B14F-4D97-AF65-F5344CB8AC3E}">
        <p14:creationId xmlns:p14="http://schemas.microsoft.com/office/powerpoint/2010/main" val="109542657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A691-C393-5B49-5EC9-C01866DF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Self-Improvement Using Semantic Self-Generation from Failures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8EF2-4709-5EFE-75FE-96F19B9C9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Use facts (semantics) and learn from mistakes (self-improving)</a:t>
            </a:r>
          </a:p>
          <a:p>
            <a:r>
              <a:rPr lang="en-IN" dirty="0"/>
              <a:t>Not episodic (Stripping of </a:t>
            </a:r>
            <a:r>
              <a:rPr lang="en-IN" i="1" dirty="0"/>
              <a:t>who asked</a:t>
            </a:r>
            <a:r>
              <a:rPr lang="en-IN" dirty="0"/>
              <a:t>, </a:t>
            </a:r>
            <a:r>
              <a:rPr lang="en-IN" i="1" dirty="0"/>
              <a:t>when</a:t>
            </a:r>
            <a:r>
              <a:rPr lang="en-IN" dirty="0"/>
              <a:t> etc)</a:t>
            </a:r>
            <a:endParaRPr lang="en-US" dirty="0"/>
          </a:p>
          <a:p>
            <a:r>
              <a:rPr lang="en-US" dirty="0"/>
              <a:t>Code: C:\code\agenticai\14_advanced\12_deep_agents\self_improving_agent.py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recall_lessons</a:t>
            </a:r>
            <a:r>
              <a:rPr lang="en-GB" dirty="0"/>
              <a:t> — Before answering, check if any past lessons are relevant to this query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respond — Answer the customer, using any recalled lessons as guidance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evaluate — An LLM judge grades the answer against a real ground-truth policy reference: </a:t>
            </a:r>
            <a:r>
              <a:rPr lang="en-GB" i="1" dirty="0"/>
              <a:t>Score 7+ only if the answer states the specific correct fact, not just plausible-sounding generic advice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maybe_store_lesson</a:t>
            </a:r>
            <a:r>
              <a:rPr lang="en-GB" dirty="0"/>
              <a:t> - Only when the agent failed (score &lt; 7) does it write anything to memory — and what it writes is not the failed answer, it is the </a:t>
            </a:r>
            <a:r>
              <a:rPr lang="en-GB" i="1" dirty="0"/>
              <a:t>corrected</a:t>
            </a:r>
            <a:r>
              <a:rPr lang="en-GB" dirty="0"/>
              <a:t> fact the judge supplies (Good answers leave </a:t>
            </a:r>
            <a:r>
              <a:rPr lang="en-GB"/>
              <a:t>no trace - Mistakes </a:t>
            </a:r>
            <a:r>
              <a:rPr lang="en-GB" dirty="0"/>
              <a:t>leave a </a:t>
            </a:r>
            <a:r>
              <a:rPr lang="en-GB"/>
              <a:t>permanent lesson)</a:t>
            </a:r>
            <a:endParaRPr lang="en-GB" dirty="0"/>
          </a:p>
        </p:txBody>
      </p:sp>
      <p:sp>
        <p:nvSpPr>
          <p:cNvPr id="4" name="DemoCallout">
            <a:extLst>
              <a:ext uri="{FF2B5EF4-FFF2-40B4-BE49-F238E27FC236}">
                <a16:creationId xmlns:a16="http://schemas.microsoft.com/office/drawing/2014/main" id="{8C2497C9-CAEE-2854-78B3-62ECDF1A71D6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US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US" sz="1200">
                <a:solidFill>
                  <a:srgbClr val="333333"/>
                </a:solidFill>
                <a:latin typeface="Calibri" panose="020F0502020204030204" pitchFamily="34" charset="0"/>
              </a:rPr>
              <a:t>  14_advanced/12_deep_agents/self_improving_agent.py</a:t>
            </a:r>
            <a:endParaRPr lang="en-GB" sz="12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71870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5EDD-B157-8334-9D8E-DCA277D5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476" y="335175"/>
            <a:ext cx="9653049" cy="1216833"/>
          </a:xfrm>
        </p:spPr>
        <p:txBody>
          <a:bodyPr>
            <a:normAutofit/>
          </a:bodyPr>
          <a:lstStyle/>
          <a:p>
            <a:r>
              <a:rPr lang="en-US" sz="4000" dirty="0"/>
              <a:t>Combining Reflection, Planning, and Memory into One Unified Agent Architecture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3DEF-6690-1074-E7EA-6C9D1C12D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476" y="1675877"/>
            <a:ext cx="7932074" cy="3994416"/>
          </a:xfrm>
        </p:spPr>
        <p:txBody>
          <a:bodyPr/>
          <a:lstStyle/>
          <a:p>
            <a:r>
              <a:rPr lang="en-US" sz="2600" dirty="0"/>
              <a:t>Combine various concepts</a:t>
            </a:r>
          </a:p>
          <a:p>
            <a:r>
              <a:rPr lang="en-GB" sz="2600" dirty="0"/>
              <a:t>Memory informs planning → planning guides execution → reflection evaluates execution → replanning adapts future 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95B37-E699-4790-DB48-0DD1C10C19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457610" y="893649"/>
            <a:ext cx="1696366" cy="545635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93F6D2-B6F6-7A2C-7E47-24776374A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366536"/>
              </p:ext>
            </p:extLst>
          </p:nvPr>
        </p:nvGraphicFramePr>
        <p:xfrm>
          <a:off x="1269476" y="3396276"/>
          <a:ext cx="7438689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9563">
                  <a:extLst>
                    <a:ext uri="{9D8B030D-6E8A-4147-A177-3AD203B41FA5}">
                      <a16:colId xmlns:a16="http://schemas.microsoft.com/office/drawing/2014/main" val="2665841363"/>
                    </a:ext>
                  </a:extLst>
                </a:gridCol>
                <a:gridCol w="2479563">
                  <a:extLst>
                    <a:ext uri="{9D8B030D-6E8A-4147-A177-3AD203B41FA5}">
                      <a16:colId xmlns:a16="http://schemas.microsoft.com/office/drawing/2014/main" val="410728672"/>
                    </a:ext>
                  </a:extLst>
                </a:gridCol>
                <a:gridCol w="2479563">
                  <a:extLst>
                    <a:ext uri="{9D8B030D-6E8A-4147-A177-3AD203B41FA5}">
                      <a16:colId xmlns:a16="http://schemas.microsoft.com/office/drawing/2014/main" val="543794829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Main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297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do I know?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Retrieve past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4155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should I do?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Create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39344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How do I act?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Use tools / perform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78645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Reflection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Is it working?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Evaluate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97225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Replanning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should change?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Adapt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855725"/>
                  </a:ext>
                </a:extLst>
              </a:tr>
            </a:tbl>
          </a:graphicData>
        </a:graphic>
      </p:graphicFrame>
      <p:sp>
        <p:nvSpPr>
          <p:cNvPr id="4" name="DemoCallout">
            <a:extLst>
              <a:ext uri="{FF2B5EF4-FFF2-40B4-BE49-F238E27FC236}">
                <a16:creationId xmlns:a16="http://schemas.microsoft.com/office/drawing/2014/main" id="{D88DD6F4-6C02-D6E1-09A7-4FBE8D4922CF}"/>
              </a:ext>
            </a:extLst>
          </p:cNvPr>
          <p:cNvSpPr/>
          <p:nvPr/>
        </p:nvSpPr>
        <p:spPr>
          <a:xfrm>
            <a:off x="254000" y="6426200"/>
            <a:ext cx="11684000" cy="330200"/>
          </a:xfrm>
          <a:prstGeom prst="roundRect">
            <a:avLst>
              <a:gd name="adj" fmla="val 25000"/>
            </a:avLst>
          </a:prstGeom>
          <a:solidFill>
            <a:srgbClr val="EBF1F7"/>
          </a:solidFill>
          <a:ln w="9525">
            <a:solidFill>
              <a:srgbClr val="5B9E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r>
              <a:rPr lang="en-GB" sz="1200" b="1">
                <a:solidFill>
                  <a:srgbClr val="1F4A7A"/>
                </a:solidFill>
                <a:latin typeface="Calibri" panose="020F0502020204030204" pitchFamily="34" charset="0"/>
              </a:rPr>
              <a:t>DEMO:</a:t>
            </a:r>
            <a:r>
              <a:rPr lang="en-GB" sz="1200">
                <a:solidFill>
                  <a:srgbClr val="333333"/>
                </a:solidFill>
                <a:latin typeface="Calibri" panose="020F0502020204030204" pitchFamily="34" charset="0"/>
              </a:rPr>
              <a:t>  15_real/personal_memory_assistant.py</a:t>
            </a:r>
          </a:p>
        </p:txBody>
      </p:sp>
    </p:spTree>
    <p:extLst>
      <p:ext uri="{BB962C8B-B14F-4D97-AF65-F5344CB8AC3E}">
        <p14:creationId xmlns:p14="http://schemas.microsoft.com/office/powerpoint/2010/main" val="372709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8905</TotalTime>
  <Words>33404</Words>
  <Application>Microsoft Office PowerPoint</Application>
  <PresentationFormat>Widescreen</PresentationFormat>
  <Paragraphs>3708</Paragraphs>
  <Slides>206</Slides>
  <Notes>204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206</vt:i4>
      </vt:variant>
    </vt:vector>
  </HeadingPairs>
  <TitlesOfParts>
    <vt:vector size="213" baseType="lpstr">
      <vt:lpstr>Arial</vt:lpstr>
      <vt:lpstr>Calibri</vt:lpstr>
      <vt:lpstr>Calibri Light</vt:lpstr>
      <vt:lpstr>Cascadia Code</vt:lpstr>
      <vt:lpstr>Cascadia Mono</vt:lpstr>
      <vt:lpstr>Courier New</vt:lpstr>
      <vt:lpstr>Office Theme</vt:lpstr>
      <vt:lpstr>PGP – Agentic AI</vt:lpstr>
      <vt:lpstr>Sessions</vt:lpstr>
      <vt:lpstr>Session 1</vt:lpstr>
      <vt:lpstr>Session 1 Topics</vt:lpstr>
      <vt:lpstr>AI Agent</vt:lpstr>
      <vt:lpstr>PowerPoint Presentation</vt:lpstr>
      <vt:lpstr>PowerPoint Presentation</vt:lpstr>
      <vt:lpstr>PowerPoint Presentation</vt:lpstr>
      <vt:lpstr>PowerPoint Presentation</vt:lpstr>
      <vt:lpstr>Agentic AI</vt:lpstr>
      <vt:lpstr>Hands-on: Directly Accessing LLMs </vt:lpstr>
      <vt:lpstr>Using LLMs: OpenAI</vt:lpstr>
      <vt:lpstr>Basic Terms</vt:lpstr>
      <vt:lpstr>Agents API</vt:lpstr>
      <vt:lpstr>Agents API Basics</vt:lpstr>
      <vt:lpstr>OpenAI Agents SDK</vt:lpstr>
      <vt:lpstr>First Agent SDK Example (Sync Approach)</vt:lpstr>
      <vt:lpstr>PowerPoint Presentation</vt:lpstr>
      <vt:lpstr>Function (Tool) Calling Workflow</vt:lpstr>
      <vt:lpstr>Tool Workflow</vt:lpstr>
      <vt:lpstr>Function (Tool) Calling</vt:lpstr>
      <vt:lpstr>PowerPoint Presentation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Mult-Assistant Agent Step-by-Step</vt:lpstr>
      <vt:lpstr>Agents API: Sync or Async?</vt:lpstr>
      <vt:lpstr>Sync versus Async: Sample Code</vt:lpstr>
      <vt:lpstr>Sync Versus Async Processing in Agents</vt:lpstr>
      <vt:lpstr>Tool Use Pattern</vt:lpstr>
      <vt:lpstr>PowerPoint Presentation</vt:lpstr>
      <vt:lpstr>ReAct Pattern</vt:lpstr>
      <vt:lpstr>Plan-and-Execute Pattern</vt:lpstr>
      <vt:lpstr>Multi-agent Pattern</vt:lpstr>
      <vt:lpstr>PowerPoint Presentation</vt:lpstr>
      <vt:lpstr>Agentic AI Frameworks/Technologies</vt:lpstr>
      <vt:lpstr>Session 2</vt:lpstr>
      <vt:lpstr>Session 2 Topics</vt:lpstr>
      <vt:lpstr>LangChain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LangChain</vt:lpstr>
      <vt:lpstr>LCEL, Runnable</vt:lpstr>
      <vt:lpstr>Example: Prompt | LLM</vt:lpstr>
      <vt:lpstr>Output Parsers</vt:lpstr>
      <vt:lpstr>Prompt Templates</vt:lpstr>
      <vt:lpstr>Session Memory Types</vt:lpstr>
      <vt:lpstr>Persistent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CRUD operations and metadata filtering in ChromaDB</vt:lpstr>
      <vt:lpstr>CRUD operations and metadata filtering in ChromaDB</vt:lpstr>
      <vt:lpstr>ChromaDB - Filtering</vt:lpstr>
      <vt:lpstr>FAISS</vt:lpstr>
      <vt:lpstr>Nearest-neighbour retrieval: understanding similarity metrics (cosine, L2, dot product)</vt:lpstr>
      <vt:lpstr>Document Loaders</vt:lpstr>
      <vt:lpstr>Text Splitters</vt:lpstr>
      <vt:lpstr>RAG - Chunking</vt:lpstr>
      <vt:lpstr>Chunking Strategies</vt:lpstr>
      <vt:lpstr>Building a RAG pipeline</vt:lpstr>
      <vt:lpstr>Retrievers</vt:lpstr>
      <vt:lpstr>Retriever Types (C:\code\agenticai\14_advanced\05_langchain\retrievers.py)</vt:lpstr>
      <vt:lpstr>Build a Q&amp;A Bot from PDFs</vt:lpstr>
      <vt:lpstr>Session 3</vt:lpstr>
      <vt:lpstr>Session 3 Topics</vt:lpstr>
      <vt:lpstr>Agent Fundamentals</vt:lpstr>
      <vt:lpstr>Structuring System Prompts for Domain-Expert Personas</vt:lpstr>
      <vt:lpstr>System Prompt Template and Example</vt:lpstr>
      <vt:lpstr>Zero-shot, one-shot, and few-shot prompting patterns</vt:lpstr>
      <vt:lpstr>Chain-of-Thought (CoT) Prompting</vt:lpstr>
      <vt:lpstr>Chain-of-Thought (CoT) - Example</vt:lpstr>
      <vt:lpstr>ReAct Prompting</vt:lpstr>
      <vt:lpstr>ReAct Example</vt:lpstr>
      <vt:lpstr>Creating Custom Tools</vt:lpstr>
      <vt:lpstr>Tool in LangChain</vt:lpstr>
      <vt:lpstr>Tools and Pydantic</vt:lpstr>
      <vt:lpstr>AgentExecutor</vt:lpstr>
      <vt:lpstr>ReAct Pattern</vt:lpstr>
      <vt:lpstr>Plan-and-Execute Pattern</vt:lpstr>
      <vt:lpstr>SQLDatabaseToolkit</vt:lpstr>
      <vt:lpstr>Multi-Step Reasoning</vt:lpstr>
      <vt:lpstr>Tool-Augmented Research Agent</vt:lpstr>
      <vt:lpstr>Session 4</vt:lpstr>
      <vt:lpstr>Session 4 Topics</vt:lpstr>
      <vt:lpstr>Evolution of Approaches to Work with LLMs</vt:lpstr>
      <vt:lpstr>Comparison of the Approaches</vt:lpstr>
      <vt:lpstr>LangChain versus LangGraph</vt:lpstr>
      <vt:lpstr>LangGraph:  Key Components</vt:lpstr>
      <vt:lpstr>State using TypeDict</vt:lpstr>
      <vt:lpstr>TypeDict Versus Pydantic BaseModel</vt:lpstr>
      <vt:lpstr>First LangGraph Application (3_1_langgraph_basic.py)</vt:lpstr>
      <vt:lpstr>First LangGraph Application (3_1_langgraph_basic.py)</vt:lpstr>
      <vt:lpstr>First LangGraph Application (3_1_langgraph_basic.py)</vt:lpstr>
      <vt:lpstr>First LangGraph Application (3_1_langgraph_basic.py)</vt:lpstr>
      <vt:lpstr>Building a Graph</vt:lpstr>
      <vt:lpstr>LangGraph Reducer  (3_2_langgraph_without_reducer.py, 3_3_langgraph_without_reducer.py)</vt:lpstr>
      <vt:lpstr>Using Reducer with LLM</vt:lpstr>
      <vt:lpstr>Conditional Nodes</vt:lpstr>
      <vt:lpstr>Message Graph</vt:lpstr>
      <vt:lpstr>Streaming</vt:lpstr>
      <vt:lpstr>Visualizing and Debugging Graphs in LangGraph Studio</vt:lpstr>
      <vt:lpstr>LangGraph Examples</vt:lpstr>
      <vt:lpstr>LangGraph Examples</vt:lpstr>
      <vt:lpstr>PowerPoint Presentation</vt:lpstr>
      <vt:lpstr>Emails</vt:lpstr>
      <vt:lpstr>PowerPoint Presentation</vt:lpstr>
      <vt:lpstr>Session 5</vt:lpstr>
      <vt:lpstr>Session 5 Topics</vt:lpstr>
      <vt:lpstr>Looping in LangGraph</vt:lpstr>
      <vt:lpstr>Creating Loops in LangGraph</vt:lpstr>
      <vt:lpstr>Human In the Loop (HIL)</vt:lpstr>
      <vt:lpstr>Checkpointers</vt:lpstr>
      <vt:lpstr>Human In The Loop (HITL) UX</vt:lpstr>
      <vt:lpstr>Code Example</vt:lpstr>
      <vt:lpstr>Checkpointers</vt:lpstr>
      <vt:lpstr>State Schema Design</vt:lpstr>
      <vt:lpstr>Example of State Schema</vt:lpstr>
      <vt:lpstr>Subgraphs</vt:lpstr>
      <vt:lpstr>Guardrails</vt:lpstr>
      <vt:lpstr>Session 6</vt:lpstr>
      <vt:lpstr>Session 6 Topics</vt:lpstr>
      <vt:lpstr>What is CrewAI?</vt:lpstr>
      <vt:lpstr>Sample CrewAI Usage</vt:lpstr>
      <vt:lpstr>CrewAI</vt:lpstr>
      <vt:lpstr>CrewAI Examples</vt:lpstr>
      <vt:lpstr>PowerPoint Presentation</vt:lpstr>
      <vt:lpstr>Crew and Flow</vt:lpstr>
      <vt:lpstr>Crew versus Flow</vt:lpstr>
      <vt:lpstr>Flow Building Blocks</vt:lpstr>
      <vt:lpstr>Conditional Routing</vt:lpstr>
      <vt:lpstr>How to Develop a Flow C:\code\agenticai\14_advanced\13_crew_ai\13_2_crew_vs_flow.py</vt:lpstr>
      <vt:lpstr>Hierarchical Crews and Manager Agents</vt:lpstr>
      <vt:lpstr>Human In The Loop (HITL) and Controlled Autonomy</vt:lpstr>
      <vt:lpstr>Memory and Knowledge</vt:lpstr>
      <vt:lpstr>Structured Outputs and Pydantic + Reliable Agent Communication</vt:lpstr>
      <vt:lpstr>Guardrails, Error Handling and Reliability</vt:lpstr>
      <vt:lpstr>Adding Observability Using LangSmith</vt:lpstr>
      <vt:lpstr>Session 7</vt:lpstr>
      <vt:lpstr>Session 7 Topics</vt:lpstr>
      <vt:lpstr>Autogen</vt:lpstr>
      <vt:lpstr>PowerPoint Presentation</vt:lpstr>
      <vt:lpstr>AssistantAgent</vt:lpstr>
      <vt:lpstr>TextMessage</vt:lpstr>
      <vt:lpstr>Synchronous Versus Asynchronous Agents</vt:lpstr>
      <vt:lpstr>Structured Output</vt:lpstr>
      <vt:lpstr>Teams</vt:lpstr>
      <vt:lpstr>Autogen GraphFlow (Similar to LangGraph)</vt:lpstr>
      <vt:lpstr>Memory</vt:lpstr>
      <vt:lpstr>Session 8</vt:lpstr>
      <vt:lpstr>Session 8 Topics</vt:lpstr>
      <vt:lpstr>RAG Failure Modes</vt:lpstr>
      <vt:lpstr>Various Approaches for Advanced RAG</vt:lpstr>
      <vt:lpstr>PowerPoint Presentation</vt:lpstr>
      <vt:lpstr>Traditional RAG versus Agentic RAG</vt:lpstr>
      <vt:lpstr>PowerPoint Presentation</vt:lpstr>
      <vt:lpstr>Common Adaptive Strategies (C:\code\agenticai\15_real\adaptive_retrieval_strategies.py)</vt:lpstr>
      <vt:lpstr>Retrieval + Reasoning</vt:lpstr>
      <vt:lpstr>Retrieval + Reasoning Example</vt:lpstr>
      <vt:lpstr>Self-RAG</vt:lpstr>
      <vt:lpstr>Corrective RAG (CRAG)</vt:lpstr>
      <vt:lpstr>Re-ranking Retrieved Chunks with Cohere and Cross-encoder Models</vt:lpstr>
      <vt:lpstr>Hybrid Search</vt:lpstr>
      <vt:lpstr>Hybrid Search</vt:lpstr>
      <vt:lpstr>GraphRAG</vt:lpstr>
      <vt:lpstr>Multi-Hop Reasoning</vt:lpstr>
      <vt:lpstr>RAGAS</vt:lpstr>
      <vt:lpstr>RAGAS Metrics</vt:lpstr>
      <vt:lpstr>PowerPoint Presentation</vt:lpstr>
      <vt:lpstr>PowerPoint Presentation</vt:lpstr>
      <vt:lpstr>Faithfulness</vt:lpstr>
      <vt:lpstr>Answer Relevance</vt:lpstr>
      <vt:lpstr>Context Precision</vt:lpstr>
      <vt:lpstr>Context Recall</vt:lpstr>
      <vt:lpstr>Session 9</vt:lpstr>
      <vt:lpstr>Session 9 Topics</vt:lpstr>
      <vt:lpstr>What Makes an Agent ‘Deep'</vt:lpstr>
      <vt:lpstr>Self-reflection Loops</vt:lpstr>
      <vt:lpstr>Multi-Turn Reflection</vt:lpstr>
      <vt:lpstr>Plan-and-Execute</vt:lpstr>
      <vt:lpstr>Replanning</vt:lpstr>
      <vt:lpstr>ReAct Versus Plan-and-Execute</vt:lpstr>
      <vt:lpstr>Memory Types</vt:lpstr>
      <vt:lpstr>Memory Examples</vt:lpstr>
      <vt:lpstr>Long Term Memory Types</vt:lpstr>
      <vt:lpstr>Episodic Memory</vt:lpstr>
      <vt:lpstr>Memory Consolidation</vt:lpstr>
      <vt:lpstr>Context Propagation and Trim Strategies</vt:lpstr>
      <vt:lpstr>Context Trimming Strategies Code: C:\code\agenticai\15_real\context_management_strategies.py</vt:lpstr>
      <vt:lpstr>Agent Self-Improvement Using Semantic Self-Generation from Failures</vt:lpstr>
      <vt:lpstr>Combining Reflection, Planning, and Memory into One Unified Agent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67</cp:revision>
  <dcterms:created xsi:type="dcterms:W3CDTF">2026-01-14T06:51:35Z</dcterms:created>
  <dcterms:modified xsi:type="dcterms:W3CDTF">2026-10-07T10:58:39Z</dcterms:modified>
</cp:coreProperties>
</file>