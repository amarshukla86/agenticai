
<file path=[Content_Types].xml><?xml version="1.0" encoding="utf-8"?>
<Types xmlns="http://schemas.openxmlformats.org/package/2006/content-types">
  <Default Extension="img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3"/>
  </p:notesMasterIdLst>
  <p:sldIdLst>
    <p:sldId id="256" r:id="rId2"/>
    <p:sldId id="257" r:id="rId3"/>
    <p:sldId id="417" r:id="rId4"/>
    <p:sldId id="2711" r:id="rId5"/>
    <p:sldId id="2677" r:id="rId6"/>
    <p:sldId id="2709" r:id="rId7"/>
    <p:sldId id="2708" r:id="rId8"/>
    <p:sldId id="2713" r:id="rId9"/>
    <p:sldId id="2714" r:id="rId10"/>
    <p:sldId id="2715" r:id="rId11"/>
    <p:sldId id="2716" r:id="rId12"/>
    <p:sldId id="2804" r:id="rId13"/>
    <p:sldId id="2805" r:id="rId14"/>
    <p:sldId id="2717" r:id="rId15"/>
    <p:sldId id="2782" r:id="rId16"/>
    <p:sldId id="2774" r:id="rId17"/>
    <p:sldId id="2775" r:id="rId18"/>
    <p:sldId id="2776" r:id="rId19"/>
    <p:sldId id="2777" r:id="rId20"/>
    <p:sldId id="2778" r:id="rId21"/>
    <p:sldId id="2779" r:id="rId22"/>
    <p:sldId id="2780" r:id="rId23"/>
    <p:sldId id="2781" r:id="rId24"/>
    <p:sldId id="2884" r:id="rId25"/>
    <p:sldId id="2885" r:id="rId26"/>
    <p:sldId id="2886" r:id="rId27"/>
    <p:sldId id="2887" r:id="rId28"/>
    <p:sldId id="2888" r:id="rId29"/>
    <p:sldId id="2783" r:id="rId30"/>
    <p:sldId id="2973" r:id="rId31"/>
    <p:sldId id="2975" r:id="rId32"/>
    <p:sldId id="2976" r:id="rId33"/>
    <p:sldId id="2977" r:id="rId34"/>
    <p:sldId id="2978" r:id="rId35"/>
    <p:sldId id="2979" r:id="rId36"/>
    <p:sldId id="2980" r:id="rId37"/>
    <p:sldId id="2827" r:id="rId38"/>
    <p:sldId id="2828" r:id="rId39"/>
    <p:sldId id="2829" r:id="rId40"/>
    <p:sldId id="2830" r:id="rId41"/>
    <p:sldId id="2831" r:id="rId42"/>
    <p:sldId id="2832" r:id="rId43"/>
    <p:sldId id="2833" r:id="rId44"/>
    <p:sldId id="2834" r:id="rId45"/>
    <p:sldId id="2835" r:id="rId46"/>
    <p:sldId id="2838" r:id="rId47"/>
    <p:sldId id="2960" r:id="rId48"/>
    <p:sldId id="2961" r:id="rId49"/>
    <p:sldId id="2962" r:id="rId50"/>
    <p:sldId id="2963" r:id="rId51"/>
    <p:sldId id="2966" r:id="rId52"/>
    <p:sldId id="2964" r:id="rId53"/>
    <p:sldId id="2965" r:id="rId54"/>
    <p:sldId id="3036" r:id="rId55"/>
    <p:sldId id="2967" r:id="rId56"/>
    <p:sldId id="2968" r:id="rId57"/>
    <p:sldId id="2971" r:id="rId58"/>
    <p:sldId id="2981" r:id="rId59"/>
    <p:sldId id="2982" r:id="rId60"/>
    <p:sldId id="2983" r:id="rId61"/>
    <p:sldId id="2984" r:id="rId62"/>
    <p:sldId id="2985" r:id="rId63"/>
    <p:sldId id="2986" r:id="rId64"/>
    <p:sldId id="2987" r:id="rId65"/>
    <p:sldId id="2791" r:id="rId66"/>
    <p:sldId id="2792" r:id="rId67"/>
    <p:sldId id="2793" r:id="rId68"/>
    <p:sldId id="2795" r:id="rId69"/>
    <p:sldId id="594" r:id="rId70"/>
    <p:sldId id="595" r:id="rId71"/>
    <p:sldId id="596" r:id="rId72"/>
    <p:sldId id="597" r:id="rId73"/>
    <p:sldId id="598" r:id="rId74"/>
    <p:sldId id="599" r:id="rId75"/>
    <p:sldId id="2796" r:id="rId76"/>
    <p:sldId id="2797" r:id="rId77"/>
    <p:sldId id="3008" r:id="rId78"/>
    <p:sldId id="3009" r:id="rId79"/>
    <p:sldId id="3010" r:id="rId80"/>
    <p:sldId id="780" r:id="rId81"/>
    <p:sldId id="2807" r:id="rId82"/>
    <p:sldId id="3038" r:id="rId83"/>
    <p:sldId id="3037" r:id="rId84"/>
    <p:sldId id="3039" r:id="rId85"/>
    <p:sldId id="3040" r:id="rId86"/>
    <p:sldId id="3041" r:id="rId87"/>
    <p:sldId id="3042" r:id="rId88"/>
    <p:sldId id="3043" r:id="rId89"/>
    <p:sldId id="3044" r:id="rId90"/>
    <p:sldId id="3045" r:id="rId91"/>
    <p:sldId id="3046" r:id="rId92"/>
    <p:sldId id="3047" r:id="rId93"/>
    <p:sldId id="3048" r:id="rId94"/>
    <p:sldId id="3049" r:id="rId95"/>
    <p:sldId id="3050" r:id="rId96"/>
    <p:sldId id="3051" r:id="rId97"/>
    <p:sldId id="3072" r:id="rId98"/>
    <p:sldId id="3052" r:id="rId99"/>
    <p:sldId id="3053" r:id="rId100"/>
    <p:sldId id="3054" r:id="rId101"/>
    <p:sldId id="3055" r:id="rId102"/>
    <p:sldId id="3056" r:id="rId103"/>
    <p:sldId id="3057" r:id="rId104"/>
    <p:sldId id="2816" r:id="rId105"/>
    <p:sldId id="3073" r:id="rId106"/>
    <p:sldId id="3060" r:id="rId107"/>
    <p:sldId id="3059" r:id="rId108"/>
    <p:sldId id="3079" r:id="rId109"/>
    <p:sldId id="3076" r:id="rId110"/>
    <p:sldId id="3077" r:id="rId111"/>
    <p:sldId id="3078" r:id="rId112"/>
    <p:sldId id="3080" r:id="rId113"/>
    <p:sldId id="3081" r:id="rId114"/>
    <p:sldId id="3082" r:id="rId115"/>
    <p:sldId id="3083" r:id="rId116"/>
    <p:sldId id="3084" r:id="rId117"/>
    <p:sldId id="3085" r:id="rId118"/>
    <p:sldId id="3086" r:id="rId119"/>
    <p:sldId id="2815" r:id="rId120"/>
    <p:sldId id="3061" r:id="rId121"/>
    <p:sldId id="3062" r:id="rId122"/>
    <p:sldId id="262" r:id="rId123"/>
    <p:sldId id="3063" r:id="rId124"/>
    <p:sldId id="3064" r:id="rId125"/>
    <p:sldId id="3065" r:id="rId126"/>
    <p:sldId id="3066" r:id="rId127"/>
    <p:sldId id="3067" r:id="rId128"/>
    <p:sldId id="3068" r:id="rId129"/>
    <p:sldId id="3069" r:id="rId130"/>
    <p:sldId id="3070" r:id="rId131"/>
    <p:sldId id="3071" r:id="rId1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04" autoAdjust="0"/>
    <p:restoredTop sz="94660"/>
  </p:normalViewPr>
  <p:slideViewPr>
    <p:cSldViewPr snapToGrid="0">
      <p:cViewPr varScale="1">
        <p:scale>
          <a:sx n="91" d="100"/>
          <a:sy n="91" d="100"/>
        </p:scale>
        <p:origin x="8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7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75978-95ED-42CB-885D-FE3D3F54F51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8A140-A7AC-4CD6-9D56-8FFA9C61B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749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A5120-1FF5-3485-EB2C-7103A1867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3FA97-FD3E-EE67-BFF4-0EEBB2AF3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F2140-428B-4D4E-93AB-2EF353DD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C3414-F8EB-B5E8-7189-5B76300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F9C38-7A37-3FCF-ECBF-95D8E45CC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72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6C993-EE6D-4A3E-E7A5-2BB7B7CDD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7185B-6097-E3BC-E76C-DF6E4DB40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25931-50CF-32C9-1ACC-3C630FF08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6F32D-CC0E-00E1-6E2D-E19A53B8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64506-18DA-0E24-B7B5-F53DEE97C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54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8B6B3-6B70-221D-AF36-1E9A33195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EE239-AABE-4051-43C1-F9D9CB10C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0276C-37ED-0767-BCE9-D43BB64A9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349ED-5E79-10F4-CE4C-AE6DC3D6E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6496E-3C05-9099-1746-51C9F89CC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417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5C4CC-E0A4-5D12-749B-DA19680DC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1BB02-3205-B623-47F3-D481268178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7DFB1-D6F4-9F56-E978-4255289F4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DA6C4-3FFD-CD46-EB74-F3FC7812D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A56E6-0ABF-FDD6-C273-4D5016957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94914-AF9C-FEF2-D985-23D47B2A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511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654F-5965-D715-D248-C012948D2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C81FF-E507-6507-24AB-9AC5A0F13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B8E01-B705-2D9C-27FC-AF329B346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DD61D6-9FC6-87E8-6475-7038441D0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3A6000-1E85-4791-CF57-05ABE65BD1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9F5401-01B5-CB77-9542-2BC7CD46C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2671B0-6D76-A6EC-7327-877EB3CC4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7E5E6-59C9-F3F0-1B26-DA4A7A21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861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2302F-935B-37CC-EC9A-762E97AD0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524BF-F351-5B40-70CD-3143C5B43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7F7CF0-6FD6-C632-0C4B-86FF0982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9A5CF8-7960-52DD-9534-33604905A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482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ABDAC7-8F17-7ABB-C1D2-DE0043F5B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8B05A0-AEDE-BC2A-D3E3-CBA70D52E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71F46-77AF-6AB2-8A06-2034390CE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958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7833D-CDED-D5E8-4AE0-C9683959D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F65A7-633A-D71D-5506-391F6CDD0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4E466B-6DB6-9F77-5962-D67392D66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659AD-FE7C-0CF4-89B5-B867E2D58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4523A-CCCB-E5DA-AE15-1CB815116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FBCAD-FE2E-7C9A-4C3F-EE622E06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22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B2EA-E907-2989-BB37-BDF7E874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EFCA6E-0813-A541-83A7-79CE9FBC0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9E567-ED17-8C9C-A72F-597DDF6DE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9801A-1991-9FED-C632-21940ECF4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D5310-8CE5-4084-0907-DE7712FF2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0F741-2DAC-C2BA-9E9A-FBD72A21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310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BF81D-348C-ECFE-B97A-53B08523E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73606-3CFA-01AD-8A6D-6159F90E5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6FDC4-F9C1-D0E5-7207-A4DB8ADA6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CE370-03C0-5868-51BC-960DEF655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0F401-ED22-C23F-5CD5-8BAF2B64C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827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E8101-0075-88E2-F387-242D744AED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4C030-5FC5-7D9A-F1A7-B273C5654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0291-8D3E-08A9-E9BD-90861DB6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E8A7C-E5DA-0E94-D0FA-8F5C47789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56943-61C5-D2FD-CC28-A1EED8385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743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C13AD4-C8F1-E4FF-A867-83AB23FF0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69E6E-5B0E-04A3-656A-13CE7C53E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ABC26-8654-DB25-0F80-36DFAC08D4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B9C6C-0EAB-4CD0-9115-8023772ED0F3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DF2B4-29A2-5D62-37D0-879E7BDB5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C446F-731F-85D9-BFA5-FAE1EC3A5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292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13" Type="http://schemas.openxmlformats.org/officeDocument/2006/relationships/hyperlink" Target="https://creativecommons.org/licenses/by-nd/3.0/" TargetMode="External"/><Relationship Id="rId18" Type="http://schemas.openxmlformats.org/officeDocument/2006/relationships/image" Target="../media/image10.img"/><Relationship Id="rId3" Type="http://schemas.openxmlformats.org/officeDocument/2006/relationships/hyperlink" Target="https://navatel.ir/blog/what-is-api/" TargetMode="External"/><Relationship Id="rId21" Type="http://schemas.openxmlformats.org/officeDocument/2006/relationships/hyperlink" Target="https://www.telegraphindia.com/west-bengal/kolkata/go-slow-reflective-tape-on-guardrails-used-by-police-for-road-safety-at-night-prnt/cid/2140363" TargetMode="External"/><Relationship Id="rId7" Type="http://schemas.openxmlformats.org/officeDocument/2006/relationships/hyperlink" Target="https://cloudnetindia.com/full-stack-web-developer-course-kolkata/" TargetMode="External"/><Relationship Id="rId12" Type="http://schemas.openxmlformats.org/officeDocument/2006/relationships/hyperlink" Target="https://www.programandoamedianoche.com/2009/07/enlace-a-data-objects-en-wpf/" TargetMode="External"/><Relationship Id="rId17" Type="http://schemas.openxmlformats.org/officeDocument/2006/relationships/hyperlink" Target="https://openclipart.org/detail/15042/stick-figure-female" TargetMode="Externa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11" Type="http://schemas.openxmlformats.org/officeDocument/2006/relationships/image" Target="../media/image7.jpg"/><Relationship Id="rId5" Type="http://schemas.openxmlformats.org/officeDocument/2006/relationships/hyperlink" Target="https://freesvg.org/sandisk-cruzer-micro-4gb-flash-drive-vector-image" TargetMode="External"/><Relationship Id="rId15" Type="http://schemas.openxmlformats.org/officeDocument/2006/relationships/hyperlink" Target="https://medium.com/@facubozzi/building-a-vector-database-from-scratch-in-typescript-a009cee67dc0" TargetMode="External"/><Relationship Id="rId10" Type="http://schemas.openxmlformats.org/officeDocument/2006/relationships/image" Target="../media/image6.jpeg"/><Relationship Id="rId19" Type="http://schemas.openxmlformats.org/officeDocument/2006/relationships/hyperlink" Target="https://www.msn.com/en-us/health/mindandbody/the-1-habit-to-start-to-improve-your-memory-recommended-by-brain-experts/ar-AA1Tk0gZ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techtootalk.com/learn-ai-agents-step-by-step" TargetMode="External"/><Relationship Id="rId1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00/note/playground/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00/ask/playground/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E35C7-B37F-556E-8E4E-F239C3747C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Agentic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BB7E8-9F5D-941D-DDFF-B35E9214A4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Atul Kahate</a:t>
            </a:r>
          </a:p>
          <a:p>
            <a:r>
              <a:rPr lang="en-US" dirty="0"/>
              <a:t>https://www.linkedin.com/in/atulkahate/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2477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237687-FE1F-0D6C-1202-AE2AEAFF0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Module 1: Agentic AI Fundamentals and LLM Access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A2805-3081-62E8-13AF-71EC48703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4995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FE38-5A8F-14F7-412E-3F2D51D6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AI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E71C1-A590-FA90-7F94-95CABEAD7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noProof="0" dirty="0"/>
              <a:t>AI Agent</a:t>
            </a:r>
            <a:r>
              <a:rPr lang="en-US" noProof="0" dirty="0"/>
              <a:t>: It is a system that uses AI models to perform tasks</a:t>
            </a:r>
          </a:p>
          <a:p>
            <a:r>
              <a:rPr lang="en-US" noProof="0" dirty="0"/>
              <a:t>Can perceive its environment, make decisions, and take actions in order to achieve specific goals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8DA12A-F307-3446-D90F-4B07BF6E2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373"/>
              </p:ext>
            </p:extLst>
          </p:nvPr>
        </p:nvGraphicFramePr>
        <p:xfrm>
          <a:off x="900729" y="3380003"/>
          <a:ext cx="10139253" cy="32004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498604">
                  <a:extLst>
                    <a:ext uri="{9D8B030D-6E8A-4147-A177-3AD203B41FA5}">
                      <a16:colId xmlns:a16="http://schemas.microsoft.com/office/drawing/2014/main" val="1808843905"/>
                    </a:ext>
                  </a:extLst>
                </a:gridCol>
                <a:gridCol w="2806021">
                  <a:extLst>
                    <a:ext uri="{9D8B030D-6E8A-4147-A177-3AD203B41FA5}">
                      <a16:colId xmlns:a16="http://schemas.microsoft.com/office/drawing/2014/main" val="2298010791"/>
                    </a:ext>
                  </a:extLst>
                </a:gridCol>
                <a:gridCol w="4834628">
                  <a:extLst>
                    <a:ext uri="{9D8B030D-6E8A-4147-A177-3AD203B41FA5}">
                      <a16:colId xmlns:a16="http://schemas.microsoft.com/office/drawing/2014/main" val="2089804425"/>
                    </a:ext>
                  </a:extLst>
                </a:gridCol>
              </a:tblGrid>
              <a:tr h="169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Capability</a:t>
                      </a:r>
                      <a:endParaRPr lang="en-US" sz="18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Definition</a:t>
                      </a:r>
                      <a:endParaRPr lang="en-US" sz="18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Examples</a:t>
                      </a:r>
                      <a:endParaRPr lang="en-US" sz="18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8492454"/>
                  </a:ext>
                </a:extLst>
              </a:tr>
              <a:tr h="297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Perception</a:t>
                      </a:r>
                      <a:endParaRPr lang="en-US" sz="18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Takes input from the 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Camera images, text, audio, sensor data, user queries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860088"/>
                  </a:ext>
                </a:extLst>
              </a:tr>
              <a:tr h="424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Reasoning / Decision-making</a:t>
                      </a:r>
                      <a:endParaRPr lang="en-US" sz="18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Decides what to do using rules, logic, or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Choosing the best move in chess, planning a route, selecting a 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1334458"/>
                  </a:ext>
                </a:extLst>
              </a:tr>
              <a:tr h="424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Action</a:t>
                      </a:r>
                      <a:endParaRPr lang="en-US" sz="18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Performs tasks based on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Moving a robot arm, answering a question, executing a command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044297"/>
                  </a:ext>
                </a:extLst>
              </a:tr>
              <a:tr h="424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Learning (optional)</a:t>
                      </a:r>
                      <a:endParaRPr lang="en-US" sz="18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Improves performance over time using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Updating chatbot responses, refining recommendations, improving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61273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DD4E9FE-5393-F975-F2C2-E967B5B63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975" y="78390"/>
            <a:ext cx="1881689" cy="209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467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8142-0951-03E4-3ADD-CB65907DE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Real World Need of AI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CD708-4A67-B9ED-ACA6-31388599E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noProof="0" dirty="0"/>
              <a:t>Scale: Too much data, too many decisions – Humans cannot do it</a:t>
            </a:r>
          </a:p>
          <a:p>
            <a:pPr lvl="1"/>
            <a:r>
              <a:rPr lang="en-US" noProof="0" dirty="0"/>
              <a:t>Bank frauds, Cloud server management</a:t>
            </a:r>
          </a:p>
          <a:p>
            <a:r>
              <a:rPr lang="en-US" noProof="0" dirty="0"/>
              <a:t>Speed: Decisions must be instant</a:t>
            </a:r>
          </a:p>
          <a:p>
            <a:pPr lvl="1"/>
            <a:r>
              <a:rPr lang="en-US" noProof="0" dirty="0"/>
              <a:t>Stock trading, Network intrusion detection</a:t>
            </a:r>
          </a:p>
          <a:p>
            <a:r>
              <a:rPr lang="en-US" noProof="0" dirty="0"/>
              <a:t>24x7 operation: Humans need breaks – systems do not</a:t>
            </a:r>
          </a:p>
          <a:p>
            <a:pPr lvl="1"/>
            <a:r>
              <a:rPr lang="en-US" noProof="0" dirty="0"/>
              <a:t>Customer support, System monitoring</a:t>
            </a:r>
          </a:p>
          <a:p>
            <a:r>
              <a:rPr lang="en-US" noProof="0" dirty="0"/>
              <a:t>Complexity: Too many variables</a:t>
            </a:r>
          </a:p>
          <a:p>
            <a:pPr lvl="1"/>
            <a:r>
              <a:rPr lang="en-US" noProof="0" dirty="0"/>
              <a:t>Supply chain, Smart grids</a:t>
            </a:r>
          </a:p>
          <a:p>
            <a:r>
              <a:rPr lang="en-US" noProof="0" dirty="0"/>
              <a:t>Adaptability: Changing environment</a:t>
            </a:r>
          </a:p>
          <a:p>
            <a:pPr lvl="1"/>
            <a:r>
              <a:rPr lang="en-US" noProof="0" dirty="0"/>
              <a:t>Recommendation systems, Cyber attacks</a:t>
            </a:r>
          </a:p>
          <a:p>
            <a:r>
              <a:rPr lang="en-US" noProof="0" dirty="0"/>
              <a:t>Autonomy: Reduce human dependence</a:t>
            </a:r>
          </a:p>
          <a:p>
            <a:pPr lvl="1"/>
            <a:r>
              <a:rPr lang="en-US" noProof="0" dirty="0"/>
              <a:t>Auto-healing of cloud infrastructure, Robotic Process Automation (RPA)</a:t>
            </a:r>
          </a:p>
          <a:p>
            <a:r>
              <a:rPr lang="en-US" noProof="0" dirty="0"/>
              <a:t>Decision support: Not just automation</a:t>
            </a:r>
          </a:p>
          <a:p>
            <a:pPr lvl="1"/>
            <a:r>
              <a:rPr lang="en-US" noProof="0" dirty="0"/>
              <a:t>Diagnostic agents for doctors, Investment agents for investment managers</a:t>
            </a:r>
          </a:p>
        </p:txBody>
      </p:sp>
    </p:spTree>
    <p:extLst>
      <p:ext uri="{BB962C8B-B14F-4D97-AF65-F5344CB8AC3E}">
        <p14:creationId xmlns:p14="http://schemas.microsoft.com/office/powerpoint/2010/main" val="2217710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95D1D-2B28-9282-4662-24D3F692B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41"/>
            <a:ext cx="10515600" cy="865539"/>
          </a:xfrm>
        </p:spPr>
        <p:txBody>
          <a:bodyPr/>
          <a:lstStyle/>
          <a:p>
            <a:r>
              <a:rPr lang="en-US" noProof="0" dirty="0"/>
              <a:t>Traditional, Generative, Agentic AI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90019AA-D2CA-C86F-A08F-74ACEE6DD8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964202"/>
              </p:ext>
            </p:extLst>
          </p:nvPr>
        </p:nvGraphicFramePr>
        <p:xfrm>
          <a:off x="947305" y="1316072"/>
          <a:ext cx="10730492" cy="5316462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682623">
                  <a:extLst>
                    <a:ext uri="{9D8B030D-6E8A-4147-A177-3AD203B41FA5}">
                      <a16:colId xmlns:a16="http://schemas.microsoft.com/office/drawing/2014/main" val="4193657813"/>
                    </a:ext>
                  </a:extLst>
                </a:gridCol>
                <a:gridCol w="2682623">
                  <a:extLst>
                    <a:ext uri="{9D8B030D-6E8A-4147-A177-3AD203B41FA5}">
                      <a16:colId xmlns:a16="http://schemas.microsoft.com/office/drawing/2014/main" val="3553674402"/>
                    </a:ext>
                  </a:extLst>
                </a:gridCol>
                <a:gridCol w="2682623">
                  <a:extLst>
                    <a:ext uri="{9D8B030D-6E8A-4147-A177-3AD203B41FA5}">
                      <a16:colId xmlns:a16="http://schemas.microsoft.com/office/drawing/2014/main" val="2187027560"/>
                    </a:ext>
                  </a:extLst>
                </a:gridCol>
                <a:gridCol w="2682623">
                  <a:extLst>
                    <a:ext uri="{9D8B030D-6E8A-4147-A177-3AD203B41FA5}">
                      <a16:colId xmlns:a16="http://schemas.microsoft.com/office/drawing/2014/main" val="3123300298"/>
                    </a:ext>
                  </a:extLst>
                </a:gridCol>
              </a:tblGrid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Aspect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Traditional AI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Generative AI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Agentic AI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3854453"/>
                  </a:ext>
                </a:extLst>
              </a:tr>
              <a:tr h="49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Core idea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Rules and prediction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Content generation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Autonomous goal execution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6022760"/>
                  </a:ext>
                </a:extLst>
              </a:tr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Main output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Labels / scores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New content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Actions and outcomes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012179"/>
                  </a:ext>
                </a:extLst>
              </a:tr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Creativity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None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High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Moderate–High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542558"/>
                  </a:ext>
                </a:extLst>
              </a:tr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Autonomy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Low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Low–Medium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High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6651195"/>
                  </a:ext>
                </a:extLst>
              </a:tr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Goal handling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Fixed objectives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Prompt-driven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Plans and sub-goals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0440719"/>
                  </a:ext>
                </a:extLst>
              </a:tr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Interaction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Predefined inputs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Prompts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Continuous loop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3384873"/>
                  </a:ext>
                </a:extLst>
              </a:tr>
              <a:tr h="49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Tool usage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Minimal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When prompted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Self-selected and orchestrated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7070433"/>
                  </a:ext>
                </a:extLst>
              </a:tr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Memory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Minimal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Context-based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Short + long-term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5801300"/>
                  </a:ext>
                </a:extLst>
              </a:tr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Adaptability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Low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Medium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High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6642686"/>
                  </a:ext>
                </a:extLst>
              </a:tr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Human involvement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High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Medium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Low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4314760"/>
                  </a:ext>
                </a:extLst>
              </a:tr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Examples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Spam filter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ChatGPT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Auto-GPT / </a:t>
                      </a:r>
                      <a:r>
                        <a:rPr lang="en-US" sz="1800" noProof="0" dirty="0" err="1"/>
                        <a:t>LangGraph</a:t>
                      </a:r>
                      <a:endParaRPr lang="en-US" sz="1800" noProof="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295719"/>
                  </a:ext>
                </a:extLst>
              </a:tr>
              <a:tr h="49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Use cases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Prediction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Content creation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Automation and decision-making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3577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6544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D26FA-9AC7-0D88-E8C1-3812B6DA6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Agent Types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860B95-0BE3-AA8F-7FB2-C6F9F88F02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2554098"/>
              </p:ext>
            </p:extLst>
          </p:nvPr>
        </p:nvGraphicFramePr>
        <p:xfrm>
          <a:off x="838200" y="1450396"/>
          <a:ext cx="10515600" cy="1463040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2114405">
                  <a:extLst>
                    <a:ext uri="{9D8B030D-6E8A-4147-A177-3AD203B41FA5}">
                      <a16:colId xmlns:a16="http://schemas.microsoft.com/office/drawing/2014/main" val="2773456800"/>
                    </a:ext>
                  </a:extLst>
                </a:gridCol>
                <a:gridCol w="3538937">
                  <a:extLst>
                    <a:ext uri="{9D8B030D-6E8A-4147-A177-3AD203B41FA5}">
                      <a16:colId xmlns:a16="http://schemas.microsoft.com/office/drawing/2014/main" val="3675978315"/>
                    </a:ext>
                  </a:extLst>
                </a:gridCol>
                <a:gridCol w="4862258">
                  <a:extLst>
                    <a:ext uri="{9D8B030D-6E8A-4147-A177-3AD203B41FA5}">
                      <a16:colId xmlns:a16="http://schemas.microsoft.com/office/drawing/2014/main" val="4523456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Core idea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0587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Reactive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Respond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Process an incoming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6959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Proactive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Plan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Take action toward a 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0443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Autonomous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Adapt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Independently complete a research 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002098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D659CE7-4369-A987-EC30-490F879E03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2975158"/>
              </p:ext>
            </p:extLst>
          </p:nvPr>
        </p:nvGraphicFramePr>
        <p:xfrm>
          <a:off x="838200" y="3213044"/>
          <a:ext cx="10515600" cy="2194560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2149305">
                  <a:extLst>
                    <a:ext uri="{9D8B030D-6E8A-4147-A177-3AD203B41FA5}">
                      <a16:colId xmlns:a16="http://schemas.microsoft.com/office/drawing/2014/main" val="511096248"/>
                    </a:ext>
                  </a:extLst>
                </a:gridCol>
                <a:gridCol w="2561716">
                  <a:extLst>
                    <a:ext uri="{9D8B030D-6E8A-4147-A177-3AD203B41FA5}">
                      <a16:colId xmlns:a16="http://schemas.microsoft.com/office/drawing/2014/main" val="2937345171"/>
                    </a:ext>
                  </a:extLst>
                </a:gridCol>
                <a:gridCol w="2401173">
                  <a:extLst>
                    <a:ext uri="{9D8B030D-6E8A-4147-A177-3AD203B41FA5}">
                      <a16:colId xmlns:a16="http://schemas.microsoft.com/office/drawing/2014/main" val="1887806541"/>
                    </a:ext>
                  </a:extLst>
                </a:gridCol>
                <a:gridCol w="3403406">
                  <a:extLst>
                    <a:ext uri="{9D8B030D-6E8A-4147-A177-3AD203B41FA5}">
                      <a16:colId xmlns:a16="http://schemas.microsoft.com/office/drawing/2014/main" val="12015435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Reactive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Proactive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Autonomous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23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Decision style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Immediate 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Goal-oriented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Self-directed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099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Planning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1833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Sometimes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348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Human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847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Adaptability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181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642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0DBE7-8717-CEDC-0812-5F49ECAD1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0168D6-22D9-B7DE-85B7-F87D63D1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Foundational Components of an AI Agent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A593B0-CA6B-57B7-06E6-6859285AEAA1}"/>
              </a:ext>
            </a:extLst>
          </p:cNvPr>
          <p:cNvSpPr txBox="1"/>
          <p:nvPr/>
        </p:nvSpPr>
        <p:spPr>
          <a:xfrm>
            <a:off x="1485610" y="2182604"/>
            <a:ext cx="2498894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Instructions in a Natural Human Language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CB840B-A7BC-339E-861E-DA450F1B9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157157" y="1435964"/>
            <a:ext cx="1343970" cy="8959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082F6B-F936-8F34-2C7D-E9523CBB8B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255382" y="1413207"/>
            <a:ext cx="901775" cy="901775"/>
          </a:xfrm>
          <a:prstGeom prst="rect">
            <a:avLst/>
          </a:prstGeom>
        </p:spPr>
      </p:pic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EED379AA-5109-A7E8-8305-5C15709691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75540" y="3406648"/>
            <a:ext cx="1575753" cy="9992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548F3-3AC6-30F7-D0D6-CAE2374A8B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3036659" y="3319834"/>
            <a:ext cx="1211056" cy="1211056"/>
          </a:xfrm>
          <a:prstGeom prst="rect">
            <a:avLst/>
          </a:prstGeom>
        </p:spPr>
      </p:pic>
      <p:pic>
        <p:nvPicPr>
          <p:cNvPr id="14" name="Picture 2" descr="New Mindset Needed for Large Language Models">
            <a:extLst>
              <a:ext uri="{FF2B5EF4-FFF2-40B4-BE49-F238E27FC236}">
                <a16:creationId xmlns:a16="http://schemas.microsoft.com/office/drawing/2014/main" id="{058C2001-EEC4-836B-517C-05565B2BD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739" y="3401250"/>
            <a:ext cx="2019916" cy="1141255"/>
          </a:xfrm>
          <a:prstGeom prst="rect">
            <a:avLst/>
          </a:prstGeom>
          <a:solidFill>
            <a:srgbClr val="FF0000"/>
          </a:solidFill>
        </p:spPr>
      </p:pic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8548B157-B4D5-C8E9-4EA0-C73C52581142}"/>
              </a:ext>
            </a:extLst>
          </p:cNvPr>
          <p:cNvSpPr/>
          <p:nvPr/>
        </p:nvSpPr>
        <p:spPr>
          <a:xfrm>
            <a:off x="4360311" y="3823945"/>
            <a:ext cx="463889" cy="25128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AA7337-C316-3C91-37DE-23B321D73548}"/>
              </a:ext>
            </a:extLst>
          </p:cNvPr>
          <p:cNvCxnSpPr>
            <a:cxnSpLocks/>
          </p:cNvCxnSpPr>
          <p:nvPr/>
        </p:nvCxnSpPr>
        <p:spPr>
          <a:xfrm flipV="1">
            <a:off x="1799716" y="2898134"/>
            <a:ext cx="0" cy="355988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C9FD21-4B12-1A7B-09C4-D1145CA73AF1}"/>
              </a:ext>
            </a:extLst>
          </p:cNvPr>
          <p:cNvCxnSpPr>
            <a:cxnSpLocks/>
          </p:cNvCxnSpPr>
          <p:nvPr/>
        </p:nvCxnSpPr>
        <p:spPr>
          <a:xfrm>
            <a:off x="3614555" y="2898134"/>
            <a:ext cx="0" cy="307787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81275433-1F6F-EAE9-6B79-1B1FA718A0C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9455624" y="2407134"/>
            <a:ext cx="1250044" cy="92371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1E563D5-AA20-D2A3-7ADC-49A805906C81}"/>
              </a:ext>
            </a:extLst>
          </p:cNvPr>
          <p:cNvSpPr txBox="1"/>
          <p:nvPr/>
        </p:nvSpPr>
        <p:spPr>
          <a:xfrm>
            <a:off x="9136912" y="7832610"/>
            <a:ext cx="160652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noProof="0" dirty="0">
                <a:hlinkClick r:id="rId12" tooltip="https://www.programandoamedianoche.com/2009/07/enlace-a-data-objects-en-wpf/"/>
              </a:rPr>
              <a:t>This Photo</a:t>
            </a:r>
            <a:r>
              <a:rPr lang="en-US" sz="900" noProof="0" dirty="0"/>
              <a:t> by Unknown Author is licensed under </a:t>
            </a:r>
            <a:r>
              <a:rPr lang="en-US" sz="900" noProof="0" dirty="0">
                <a:hlinkClick r:id="rId13" tooltip="https://creativecommons.org/licenses/by-nd/3.0/"/>
              </a:rPr>
              <a:t>CC BY-ND</a:t>
            </a:r>
            <a:endParaRPr lang="en-US" sz="900" noProof="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F63431C-C112-B93B-BBA9-135B05F63FE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9455624" y="3429000"/>
            <a:ext cx="2160963" cy="1411829"/>
          </a:xfrm>
          <a:prstGeom prst="rect">
            <a:avLst/>
          </a:prstGeom>
        </p:spPr>
      </p:pic>
      <p:sp>
        <p:nvSpPr>
          <p:cNvPr id="33" name="Arrow: Striped Right 32">
            <a:extLst>
              <a:ext uri="{FF2B5EF4-FFF2-40B4-BE49-F238E27FC236}">
                <a16:creationId xmlns:a16="http://schemas.microsoft.com/office/drawing/2014/main" id="{AB5B1EF0-73E9-0398-5129-970BEF0564C5}"/>
              </a:ext>
            </a:extLst>
          </p:cNvPr>
          <p:cNvSpPr/>
          <p:nvPr/>
        </p:nvSpPr>
        <p:spPr>
          <a:xfrm>
            <a:off x="7316500" y="3890365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RAG</a:t>
            </a:r>
          </a:p>
        </p:txBody>
      </p:sp>
      <p:sp>
        <p:nvSpPr>
          <p:cNvPr id="35" name="Thought Bubble: Cloud 34">
            <a:extLst>
              <a:ext uri="{FF2B5EF4-FFF2-40B4-BE49-F238E27FC236}">
                <a16:creationId xmlns:a16="http://schemas.microsoft.com/office/drawing/2014/main" id="{EDC6A13B-A72F-5A25-F60C-4D50CB602102}"/>
              </a:ext>
            </a:extLst>
          </p:cNvPr>
          <p:cNvSpPr/>
          <p:nvPr/>
        </p:nvSpPr>
        <p:spPr>
          <a:xfrm>
            <a:off x="4118290" y="2093182"/>
            <a:ext cx="1423951" cy="1000896"/>
          </a:xfrm>
          <a:prstGeom prst="cloudCallout">
            <a:avLst>
              <a:gd name="adj1" fmla="val -59068"/>
              <a:gd name="adj2" fmla="val 59013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Think, Act, Review</a:t>
            </a:r>
          </a:p>
        </p:txBody>
      </p:sp>
      <p:sp>
        <p:nvSpPr>
          <p:cNvPr id="8" name="Arrow: Striped Right 7">
            <a:extLst>
              <a:ext uri="{FF2B5EF4-FFF2-40B4-BE49-F238E27FC236}">
                <a16:creationId xmlns:a16="http://schemas.microsoft.com/office/drawing/2014/main" id="{8F99A91D-42E7-32D6-1D66-5E5574ED713D}"/>
              </a:ext>
            </a:extLst>
          </p:cNvPr>
          <p:cNvSpPr/>
          <p:nvPr/>
        </p:nvSpPr>
        <p:spPr>
          <a:xfrm>
            <a:off x="7316500" y="1631487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MCP</a:t>
            </a:r>
          </a:p>
        </p:txBody>
      </p:sp>
      <p:sp>
        <p:nvSpPr>
          <p:cNvPr id="9" name="Arrow: Striped Right 8">
            <a:extLst>
              <a:ext uri="{FF2B5EF4-FFF2-40B4-BE49-F238E27FC236}">
                <a16:creationId xmlns:a16="http://schemas.microsoft.com/office/drawing/2014/main" id="{F8022CD5-B5B5-0372-D4D7-B8299450A020}"/>
              </a:ext>
            </a:extLst>
          </p:cNvPr>
          <p:cNvSpPr/>
          <p:nvPr/>
        </p:nvSpPr>
        <p:spPr>
          <a:xfrm>
            <a:off x="7316500" y="2629476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Tool Calling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4167932-488F-C8D0-35A1-FA0F6C42762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9733340" y="4841335"/>
            <a:ext cx="347306" cy="692304"/>
          </a:xfrm>
          <a:prstGeom prst="rect">
            <a:avLst/>
          </a:prstGeom>
        </p:spPr>
      </p:pic>
      <p:sp>
        <p:nvSpPr>
          <p:cNvPr id="21" name="Arrow: Striped Right 20">
            <a:extLst>
              <a:ext uri="{FF2B5EF4-FFF2-40B4-BE49-F238E27FC236}">
                <a16:creationId xmlns:a16="http://schemas.microsoft.com/office/drawing/2014/main" id="{9F56DE1B-0D83-3960-6A21-3AEC68AE5068}"/>
              </a:ext>
            </a:extLst>
          </p:cNvPr>
          <p:cNvSpPr/>
          <p:nvPr/>
        </p:nvSpPr>
        <p:spPr>
          <a:xfrm>
            <a:off x="7316500" y="4960853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HITL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F55FA86-709A-7D65-59AE-1DA96825713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9"/>
              </a:ext>
            </a:extLst>
          </a:blip>
          <a:stretch>
            <a:fillRect/>
          </a:stretch>
        </p:blipFill>
        <p:spPr>
          <a:xfrm>
            <a:off x="9519429" y="5642784"/>
            <a:ext cx="1275455" cy="850091"/>
          </a:xfrm>
          <a:prstGeom prst="rect">
            <a:avLst/>
          </a:prstGeom>
        </p:spPr>
      </p:pic>
      <p:sp>
        <p:nvSpPr>
          <p:cNvPr id="26" name="Arrow: Striped Right 25">
            <a:extLst>
              <a:ext uri="{FF2B5EF4-FFF2-40B4-BE49-F238E27FC236}">
                <a16:creationId xmlns:a16="http://schemas.microsoft.com/office/drawing/2014/main" id="{7E4A2460-4CC9-ABA6-0669-3EB267DAEBC0}"/>
              </a:ext>
            </a:extLst>
          </p:cNvPr>
          <p:cNvSpPr/>
          <p:nvPr/>
        </p:nvSpPr>
        <p:spPr>
          <a:xfrm>
            <a:off x="7316500" y="5749341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Memory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F6BF5F7-5E9E-4308-ED16-B7819F885D6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1"/>
              </a:ext>
            </a:extLst>
          </a:blip>
          <a:stretch>
            <a:fillRect/>
          </a:stretch>
        </p:blipFill>
        <p:spPr>
          <a:xfrm>
            <a:off x="5434485" y="5931522"/>
            <a:ext cx="1434712" cy="956475"/>
          </a:xfrm>
          <a:prstGeom prst="rect">
            <a:avLst/>
          </a:prstGeom>
        </p:spPr>
      </p:pic>
      <p:sp>
        <p:nvSpPr>
          <p:cNvPr id="37" name="Arrow: Striped Right 36">
            <a:extLst>
              <a:ext uri="{FF2B5EF4-FFF2-40B4-BE49-F238E27FC236}">
                <a16:creationId xmlns:a16="http://schemas.microsoft.com/office/drawing/2014/main" id="{31D42ABF-C266-CD9C-AE58-AC03126CD0BF}"/>
              </a:ext>
            </a:extLst>
          </p:cNvPr>
          <p:cNvSpPr/>
          <p:nvPr/>
        </p:nvSpPr>
        <p:spPr>
          <a:xfrm rot="5400000">
            <a:off x="5414749" y="5054173"/>
            <a:ext cx="1346531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Guardrails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3DF3F03-9286-8D21-DEF0-D3C2DFF030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2046251" y="4808594"/>
            <a:ext cx="1211056" cy="121105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87EF9E2-F49F-FD41-6F29-FA29175D75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3551680" y="4775441"/>
            <a:ext cx="1211056" cy="1211056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E3E1077-9AD9-917B-E48F-B54DAA3D7D75}"/>
              </a:ext>
            </a:extLst>
          </p:cNvPr>
          <p:cNvCxnSpPr>
            <a:cxnSpLocks/>
          </p:cNvCxnSpPr>
          <p:nvPr/>
        </p:nvCxnSpPr>
        <p:spPr>
          <a:xfrm flipH="1">
            <a:off x="2649872" y="4405906"/>
            <a:ext cx="346680" cy="281214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F789D65-6ADE-86F2-EED1-1EDF2AE70833}"/>
              </a:ext>
            </a:extLst>
          </p:cNvPr>
          <p:cNvCxnSpPr>
            <a:cxnSpLocks/>
          </p:cNvCxnSpPr>
          <p:nvPr/>
        </p:nvCxnSpPr>
        <p:spPr>
          <a:xfrm flipH="1" flipV="1">
            <a:off x="4295694" y="4405906"/>
            <a:ext cx="256993" cy="315052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9D570E-C40D-7106-1E6C-675F50C628A2}"/>
              </a:ext>
            </a:extLst>
          </p:cNvPr>
          <p:cNvCxnSpPr>
            <a:cxnSpLocks/>
          </p:cNvCxnSpPr>
          <p:nvPr/>
        </p:nvCxnSpPr>
        <p:spPr>
          <a:xfrm flipH="1">
            <a:off x="3257307" y="5533639"/>
            <a:ext cx="294373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290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4E5A0-C9F5-1368-CC42-9D455FF1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Hands-on: Directly Accessing LLMs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741F7-E1CD-3E39-DDDE-D6C8953A8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Download and install Python </a:t>
            </a:r>
            <a:r>
              <a:rPr lang="en-US" b="1" noProof="0" dirty="0"/>
              <a:t>Version 3.12 </a:t>
            </a:r>
            <a:r>
              <a:rPr lang="en-US" noProof="0" dirty="0"/>
              <a:t>(</a:t>
            </a:r>
            <a:r>
              <a:rPr lang="en-US" noProof="0" dirty="0">
                <a:hlinkClick r:id="rId2"/>
              </a:rPr>
              <a:t>https://www.python.org/downloads/</a:t>
            </a:r>
            <a:r>
              <a:rPr lang="en-US" noProof="0" dirty="0"/>
              <a:t>)</a:t>
            </a:r>
            <a:endParaRPr lang="en-US" b="1" noProof="0" dirty="0"/>
          </a:p>
          <a:p>
            <a:r>
              <a:rPr lang="en-US" noProof="0" dirty="0"/>
              <a:t>Download and install VS Code (</a:t>
            </a:r>
            <a:r>
              <a:rPr lang="en-US" noProof="0" dirty="0">
                <a:hlinkClick r:id="rId3"/>
              </a:rPr>
              <a:t>https://code.visualstudio.com/download</a:t>
            </a:r>
            <a:r>
              <a:rPr lang="en-US" noProof="0" dirty="0"/>
              <a:t>)</a:t>
            </a:r>
          </a:p>
          <a:p>
            <a:r>
              <a:rPr lang="en-US" noProof="0" dirty="0"/>
              <a:t>Create a directory (e.g. c:\code\agenticai_realpage) on your machine</a:t>
            </a:r>
          </a:p>
          <a:p>
            <a:r>
              <a:rPr lang="en-US" noProof="0" dirty="0"/>
              <a:t>Set up Python in VS Code: Open VS Code and press </a:t>
            </a:r>
            <a:r>
              <a:rPr lang="en-US" noProof="0" dirty="0" err="1"/>
              <a:t>Ctrl+Shift+P</a:t>
            </a:r>
            <a:r>
              <a:rPr lang="en-US" noProof="0" dirty="0"/>
              <a:t> -&gt; Python: Select interpreter -&gt; Select Python that you have installed on your machine</a:t>
            </a:r>
          </a:p>
          <a:p>
            <a:r>
              <a:rPr lang="en-US" noProof="0" dirty="0"/>
              <a:t>Create a virtual environment in VS Code</a:t>
            </a:r>
          </a:p>
          <a:p>
            <a:pPr lvl="1"/>
            <a:r>
              <a:rPr lang="en-US" noProof="0" dirty="0"/>
              <a:t>Terminal -&gt; New Terminal -&gt; </a:t>
            </a:r>
            <a:r>
              <a:rPr lang="en-US" b="1" noProof="0" dirty="0"/>
              <a:t>cd c:\code\agenticai_realpage</a:t>
            </a:r>
          </a:p>
          <a:p>
            <a:pPr lvl="1"/>
            <a:r>
              <a:rPr lang="en-US" b="1" noProof="0" dirty="0"/>
              <a:t>python -m </a:t>
            </a:r>
            <a:r>
              <a:rPr lang="en-US" b="1" noProof="0" dirty="0" err="1"/>
              <a:t>venv</a:t>
            </a:r>
            <a:r>
              <a:rPr lang="en-US" b="1" noProof="0" dirty="0"/>
              <a:t> </a:t>
            </a:r>
            <a:r>
              <a:rPr lang="en-US" b="1" noProof="0" dirty="0" err="1"/>
              <a:t>myenv</a:t>
            </a:r>
            <a:endParaRPr lang="en-US" b="1" noProof="0" dirty="0"/>
          </a:p>
          <a:p>
            <a:pPr lvl="1"/>
            <a:r>
              <a:rPr lang="en-US" b="1" noProof="0" dirty="0" err="1"/>
              <a:t>myenv</a:t>
            </a:r>
            <a:r>
              <a:rPr lang="en-US" b="1" noProof="0" dirty="0"/>
              <a:t>\Scripts\activate</a:t>
            </a:r>
            <a:r>
              <a:rPr lang="en-US" noProof="0" dirty="0"/>
              <a:t> (On Windows) and </a:t>
            </a:r>
            <a:r>
              <a:rPr lang="en-US" b="1" noProof="0" dirty="0"/>
              <a:t>source </a:t>
            </a:r>
            <a:r>
              <a:rPr lang="en-US" b="1" noProof="0" dirty="0" err="1"/>
              <a:t>myenv</a:t>
            </a:r>
            <a:r>
              <a:rPr lang="en-US" b="1" noProof="0" dirty="0"/>
              <a:t>/bin/activate</a:t>
            </a:r>
            <a:r>
              <a:rPr lang="en-US" noProof="0" dirty="0"/>
              <a:t>  (on Linux)</a:t>
            </a:r>
          </a:p>
          <a:p>
            <a:pPr lvl="1"/>
            <a:r>
              <a:rPr lang="en-US" b="1" noProof="0" dirty="0"/>
              <a:t>pip install </a:t>
            </a:r>
            <a:r>
              <a:rPr lang="en-US" b="1" noProof="0" dirty="0" err="1"/>
              <a:t>openai</a:t>
            </a:r>
            <a:r>
              <a:rPr lang="en-US" b="1" noProof="0" dirty="0"/>
              <a:t> </a:t>
            </a:r>
            <a:r>
              <a:rPr lang="en-US" b="1" noProof="0" dirty="0" err="1"/>
              <a:t>openai</a:t>
            </a:r>
            <a:r>
              <a:rPr lang="en-US" b="1" noProof="0" dirty="0"/>
              <a:t>-agents</a:t>
            </a:r>
          </a:p>
          <a:p>
            <a:pPr lvl="1"/>
            <a:r>
              <a:rPr lang="en-US" noProof="0" dirty="0"/>
              <a:t>Later to deactivate: deactivate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90649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B00B3-34C9-CBAE-17A1-60DD0D96A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LLMs: OpenAI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176EC-436E-9D32-EDB9-59AE96E49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Get an API key: https://platform.openai.com/settings/organization/api-keys</a:t>
            </a:r>
          </a:p>
          <a:p>
            <a:r>
              <a:rPr lang="en-US" noProof="0" dirty="0"/>
              <a:t>Copy it in .env file</a:t>
            </a:r>
          </a:p>
          <a:p>
            <a:r>
              <a:rPr lang="en-US" noProof="0" dirty="0"/>
              <a:t>pip install </a:t>
            </a:r>
            <a:r>
              <a:rPr lang="en-US" noProof="0" dirty="0" err="1"/>
              <a:t>openai</a:t>
            </a:r>
            <a:r>
              <a:rPr lang="en-US" noProof="0" dirty="0"/>
              <a:t>  </a:t>
            </a:r>
            <a:r>
              <a:rPr lang="en-US" noProof="0" dirty="0" err="1"/>
              <a:t>dotenv</a:t>
            </a:r>
            <a:endParaRPr lang="en-US" noProof="0" dirty="0"/>
          </a:p>
          <a:p>
            <a:r>
              <a:rPr lang="en-US" noProof="0" dirty="0"/>
              <a:t>Run C:\code\agenticai_realpage\module_1\1_openai_basic.py</a:t>
            </a:r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8332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92AC0-3620-FC39-DA33-C8B3A2565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First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816F8-2BD8-7F0C-6C21-67DEED30C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Step 1: Setup and Imports</a:t>
            </a:r>
          </a:p>
          <a:p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C7ED40-EF4F-9D40-EC8D-327B2F5CA575}"/>
              </a:ext>
            </a:extLst>
          </p:cNvPr>
          <p:cNvSpPr txBox="1"/>
          <p:nvPr/>
        </p:nvSpPr>
        <p:spPr>
          <a:xfrm>
            <a:off x="1023174" y="2288559"/>
            <a:ext cx="42922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</a:t>
            </a:r>
            <a:r>
              <a:rPr lang="en-US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openai</a:t>
            </a:r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import OpenAI</a:t>
            </a:r>
          </a:p>
          <a:p>
            <a:b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</a:t>
            </a:r>
            <a:r>
              <a:rPr lang="en-US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dotenv</a:t>
            </a:r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import </a:t>
            </a:r>
            <a:r>
              <a:rPr lang="en-US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load_dotenv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load_dotenv</a:t>
            </a:r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(override=True)</a:t>
            </a:r>
          </a:p>
          <a:p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client = OpenAI()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831F0D-C308-09F3-627E-CE145BC63E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803670"/>
              </p:ext>
            </p:extLst>
          </p:nvPr>
        </p:nvGraphicFramePr>
        <p:xfrm>
          <a:off x="5402638" y="1945640"/>
          <a:ext cx="6659066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4732544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load_dotenv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Loads API keys from .env 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76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OpenAI()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Instantiate an object of OpenAI class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569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3805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1CAEC-B4AF-F582-CE08-993B3A139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06CF0-3CD9-CA4A-8513-97AE8C219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First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0D761-7F53-120A-C071-3DFC049C6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Step 2: Call the LLM</a:t>
            </a:r>
          </a:p>
          <a:p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92C4B5-B741-B8C3-843E-83ABD12FFAC1}"/>
              </a:ext>
            </a:extLst>
          </p:cNvPr>
          <p:cNvSpPr txBox="1"/>
          <p:nvPr/>
        </p:nvSpPr>
        <p:spPr>
          <a:xfrm>
            <a:off x="1023174" y="2288559"/>
            <a:ext cx="42922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response = </a:t>
            </a:r>
            <a:r>
              <a:rPr lang="en-US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client.chat.completions.create</a:t>
            </a:r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</a:p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    model="gpt-4o-mini",</a:t>
            </a:r>
          </a:p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    messages=[</a:t>
            </a:r>
          </a:p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        {"role": "system", "content": "You are a helpful assistant"},</a:t>
            </a:r>
          </a:p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        {"role": "user", "content": "Explain agentic AI in one paragraph"}</a:t>
            </a:r>
          </a:p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    ]</a:t>
            </a:r>
          </a:p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print(</a:t>
            </a:r>
            <a:r>
              <a:rPr lang="en-US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response.choices</a:t>
            </a:r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[0].</a:t>
            </a:r>
            <a:r>
              <a:rPr lang="en-US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message.content</a:t>
            </a:r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20DD79-C8D0-9F6F-0851-F0E4B93EA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793748"/>
              </p:ext>
            </p:extLst>
          </p:nvPr>
        </p:nvGraphicFramePr>
        <p:xfrm>
          <a:off x="5402638" y="1945640"/>
          <a:ext cx="6659066" cy="23926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4732544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create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Create a call to the LLM using the OpenAI Chat Completions API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76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Which LLM to 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569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messages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system: Set the persona</a:t>
                      </a:r>
                      <a:br>
                        <a:rPr lang="en-US" noProof="0" dirty="0"/>
                      </a:br>
                      <a:r>
                        <a:rPr lang="en-US" noProof="0" dirty="0"/>
                        <a:t>user: A specific question/problem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992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response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What the LLM returns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045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1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83056-37FD-13C2-4A5B-2EF7A5801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Hugging Face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37054-66D1-B97C-B1E0-69E865E8A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Open platform for AI model building, training, deployment</a:t>
            </a:r>
          </a:p>
          <a:p>
            <a:r>
              <a:rPr lang="en-IN" dirty="0"/>
              <a:t>“GitHub of modern AI models”</a:t>
            </a:r>
          </a:p>
          <a:p>
            <a:r>
              <a:rPr lang="en-IN" dirty="0"/>
              <a:t>Why Hugging Face?</a:t>
            </a:r>
          </a:p>
          <a:p>
            <a:pPr lvl="1"/>
            <a:r>
              <a:rPr lang="en-IN" dirty="0"/>
              <a:t>Pretrained models – No need to train from scratch</a:t>
            </a:r>
          </a:p>
          <a:p>
            <a:pPr lvl="1"/>
            <a:r>
              <a:rPr lang="en-IN" dirty="0"/>
              <a:t>Standardized APIs – Faster experimentation</a:t>
            </a:r>
          </a:p>
          <a:p>
            <a:pPr lvl="1"/>
            <a:r>
              <a:rPr lang="en-IN" dirty="0"/>
              <a:t>Open ecosystem – Models, Datasets, Demos, Tools</a:t>
            </a:r>
          </a:p>
          <a:p>
            <a:r>
              <a:rPr lang="en-IN" dirty="0"/>
              <a:t>Core components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8281E1-DC56-78DD-D363-AB0785057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275529"/>
              </p:ext>
            </p:extLst>
          </p:nvPr>
        </p:nvGraphicFramePr>
        <p:xfrm>
          <a:off x="4150282" y="4664075"/>
          <a:ext cx="7203518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10725">
                  <a:extLst>
                    <a:ext uri="{9D8B030D-6E8A-4147-A177-3AD203B41FA5}">
                      <a16:colId xmlns:a16="http://schemas.microsoft.com/office/drawing/2014/main" val="1246703174"/>
                    </a:ext>
                  </a:extLst>
                </a:gridCol>
                <a:gridCol w="5592793">
                  <a:extLst>
                    <a:ext uri="{9D8B030D-6E8A-4147-A177-3AD203B41FA5}">
                      <a16:colId xmlns:a16="http://schemas.microsoft.com/office/drawing/2014/main" val="1686628329"/>
                    </a:ext>
                  </a:extLst>
                </a:gridCol>
              </a:tblGrid>
              <a:tr h="242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3637809"/>
                  </a:ext>
                </a:extLst>
              </a:tr>
              <a:tr h="242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Transformers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State-of-the-art models (BERT, GPT, T5, LLaMA, etc.)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581293"/>
                  </a:ext>
                </a:extLst>
              </a:tr>
              <a:tr h="242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Datasets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Ready-to-use datasets with versioning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05693"/>
                  </a:ext>
                </a:extLst>
              </a:tr>
              <a:tr h="242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Inference API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Run models without 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262975"/>
                  </a:ext>
                </a:extLst>
              </a:tr>
              <a:tr h="242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Spaces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Share ML demos (Gradio / Streamlit)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958443"/>
                  </a:ext>
                </a:extLst>
              </a:tr>
              <a:tr h="242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Hub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400" dirty="0"/>
                        <a:t>GitHub-like repo for models &amp;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7629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434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3DAE1-E492-5BA5-56CD-9953E84A1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9B0B6-F0A4-280A-032A-3338898EA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Hugging Face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7CB95-387C-221E-5A91-16BE15B92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Typical workflow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Choose a pretrained model from the Hub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Load it using Transformers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(Optional) Fine-tune on your data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Deploy via API / local / cloud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2596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1940F-66D7-69A1-6ACF-A79BE8ABA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LLMs: Hugging 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B3A30-FF3B-C50D-EDCD-82AD4174B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Open-source models</a:t>
            </a:r>
          </a:p>
          <a:p>
            <a:r>
              <a:rPr lang="en-US" noProof="0" dirty="0"/>
              <a:t>We have full control</a:t>
            </a:r>
          </a:p>
          <a:p>
            <a:r>
              <a:rPr lang="en-US" noProof="0" dirty="0"/>
              <a:t>Offline / On-prem</a:t>
            </a:r>
          </a:p>
          <a:p>
            <a:r>
              <a:rPr lang="en-US" noProof="0" dirty="0"/>
              <a:t>No vendor lock-in</a:t>
            </a:r>
          </a:p>
          <a:p>
            <a:r>
              <a:rPr lang="en-US" noProof="0" dirty="0"/>
              <a:t>Very slow, sometimes</a:t>
            </a:r>
          </a:p>
          <a:p>
            <a:r>
              <a:rPr lang="en-US" noProof="0" dirty="0"/>
              <a:t>Two options</a:t>
            </a:r>
          </a:p>
          <a:p>
            <a:pPr lvl="1"/>
            <a:r>
              <a:rPr lang="en-US" noProof="0" dirty="0"/>
              <a:t>Transformers API (Local/GPU/CPU): </a:t>
            </a:r>
            <a:r>
              <a:rPr lang="en-US" b="1" noProof="0" dirty="0"/>
              <a:t>pip install transformers torch accelerate</a:t>
            </a:r>
          </a:p>
          <a:p>
            <a:pPr lvl="2"/>
            <a:r>
              <a:rPr lang="en-US" noProof="0" dirty="0"/>
              <a:t>We download and run the model inside our environment</a:t>
            </a:r>
          </a:p>
          <a:p>
            <a:pPr lvl="1"/>
            <a:r>
              <a:rPr lang="en-US" noProof="0" dirty="0"/>
              <a:t>Hugging Face Interface API (Hosted): </a:t>
            </a:r>
            <a:r>
              <a:rPr lang="en-US" b="1" noProof="0" dirty="0"/>
              <a:t>pip install  </a:t>
            </a:r>
            <a:r>
              <a:rPr lang="en-US" b="1" noProof="0" dirty="0" err="1"/>
              <a:t>huggingface_hub</a:t>
            </a:r>
            <a:endParaRPr lang="en-US" b="1" noProof="0" dirty="0"/>
          </a:p>
          <a:p>
            <a:pPr lvl="2"/>
            <a:r>
              <a:rPr lang="en-US" noProof="0" dirty="0"/>
              <a:t>Model runs on Hugging Face cloud infrastructure </a:t>
            </a:r>
          </a:p>
          <a:p>
            <a:pPr lvl="2"/>
            <a:r>
              <a:rPr lang="en-US" noProof="0" dirty="0"/>
              <a:t>Code: module_1\2_hugging_face_local.py</a:t>
            </a:r>
          </a:p>
          <a:p>
            <a:pPr lvl="2"/>
            <a:r>
              <a:rPr lang="en-US" noProof="0" dirty="0"/>
              <a:t>Will not run, unless we make a payment on Hugging Face site to enable inference endpoints (endpoints.huggingface.co)</a:t>
            </a:r>
          </a:p>
          <a:p>
            <a:pPr marL="457200" lvl="1" indent="0">
              <a:buNone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59629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E138-4951-5861-A49D-D971B35AA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A0D855-CC35-3452-CDE1-46E24111E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 Simple Utility Agent Using OpenAI API (No Frameworks)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6CABAA-CC9F-16AE-E57F-12FE94250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7204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A1C4-5CC8-F5F3-62BF-CC0F452F9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427CD-28D4-DDA0-846F-3BBC2E865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4041" cy="4351338"/>
          </a:xfrm>
        </p:spPr>
        <p:txBody>
          <a:bodyPr/>
          <a:lstStyle/>
          <a:p>
            <a:r>
              <a:rPr lang="en-US" b="1" noProof="0" dirty="0"/>
              <a:t>Step 1: Setup and Imports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import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asyncio</a:t>
            </a: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agents import Agent, Runner,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function_tool</a:t>
            </a: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datetime import datetime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dotenv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import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load_dotenv</a:t>
            </a: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load_dotenv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(override=True)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AB87BA-0DF5-F6F0-FC8C-09A31C156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768801"/>
              </p:ext>
            </p:extLst>
          </p:nvPr>
        </p:nvGraphicFramePr>
        <p:xfrm>
          <a:off x="5402638" y="1945640"/>
          <a:ext cx="6659066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4732544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agents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OpenAI Agents SDK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asyncio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For running multiple queries concurrently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function_tool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Decorator to convert functions into agent 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13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load_dotenv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Loads API keys from .env 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767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A2F4C94-6CED-2742-B341-F8E3C78F0D67}"/>
              </a:ext>
            </a:extLst>
          </p:cNvPr>
          <p:cNvSpPr txBox="1"/>
          <p:nvPr/>
        </p:nvSpPr>
        <p:spPr>
          <a:xfrm>
            <a:off x="6479908" y="4425417"/>
            <a:ext cx="369715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Installations</a:t>
            </a:r>
          </a:p>
          <a:p>
            <a:endParaRPr lang="en-US" noProof="0" dirty="0"/>
          </a:p>
          <a:p>
            <a:r>
              <a:rPr lang="en-US" b="1" noProof="0" dirty="0"/>
              <a:t>pip install </a:t>
            </a:r>
            <a:r>
              <a:rPr lang="en-US" b="1" noProof="0" dirty="0" err="1"/>
              <a:t>openai</a:t>
            </a:r>
            <a:r>
              <a:rPr lang="en-US" b="1" noProof="0" dirty="0"/>
              <a:t>-agents  </a:t>
            </a:r>
            <a:r>
              <a:rPr lang="en-US" b="1" noProof="0" dirty="0" err="1"/>
              <a:t>dotenv</a:t>
            </a:r>
            <a:endParaRPr lang="en-US" b="1" noProof="0" dirty="0"/>
          </a:p>
        </p:txBody>
      </p:sp>
    </p:spTree>
    <p:extLst>
      <p:ext uri="{BB962C8B-B14F-4D97-AF65-F5344CB8AC3E}">
        <p14:creationId xmlns:p14="http://schemas.microsoft.com/office/powerpoint/2010/main" val="442858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E80EF-FA53-5833-723A-DBE59DDD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01799-5DC0-97DE-3EA4-16B31CE1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6041B-0DD0-914D-065A-0F282F1EF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1873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noProof="0" dirty="0"/>
              <a:t>Step 2: Create Tools</a:t>
            </a:r>
            <a:endParaRPr lang="en-US" noProof="0" dirty="0"/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@function_tool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def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get_temperature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(city: str) -&gt; str: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"""Returns mock temperature for a city."""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temps = {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"new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york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"72°F",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london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"65°F",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tokyo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"78°F",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sydney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"68°F",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mumbai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"85°F"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return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temps.get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city.lower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(), "70°F")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2F8337-AAB2-FC77-B157-CC0484C9E7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76055"/>
              </p:ext>
            </p:extLst>
          </p:nvPr>
        </p:nvGraphicFramePr>
        <p:xfrm>
          <a:off x="6505503" y="3429000"/>
          <a:ext cx="5423578" cy="1651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0243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342114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@function_tool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Decorator tells the agent that it is a callable 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“””  …  ‘’’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Docstring helps the agent decide if and when to use this 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116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F5AFB-3F10-F669-C276-9BAB4AC99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D80C-16C2-4295-B9DB-D8B610F74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80E36-51D6-B2E6-C665-A8F0BCDF2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794411" cy="4351338"/>
          </a:xfrm>
        </p:spPr>
        <p:txBody>
          <a:bodyPr>
            <a:normAutofit fontScale="77500" lnSpcReduction="20000"/>
          </a:bodyPr>
          <a:lstStyle/>
          <a:p>
            <a:r>
              <a:rPr lang="en-US" b="1" noProof="0" dirty="0"/>
              <a:t>Step 2: Create Tools</a:t>
            </a:r>
            <a:endParaRPr lang="en-US" noProof="0" dirty="0"/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@function_tool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def 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get_time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timezone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: str) -&gt; str: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"""Returns current time for a 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timezone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."""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return 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datetime.now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().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strftime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("%I:%M %p")</a:t>
            </a:r>
          </a:p>
          <a:p>
            <a:pPr marL="0" indent="0">
              <a:buNone/>
            </a:pPr>
            <a:endParaRPr lang="en-US" sz="22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@function_tool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def calculate(expression: str) -&gt; str: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"""Evaluates a simple math expression."""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try: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result = eval(expression)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return f"{expression} = {result}"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except: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return "Invalid expression"</a:t>
            </a:r>
          </a:p>
        </p:txBody>
      </p:sp>
    </p:spTree>
    <p:extLst>
      <p:ext uri="{BB962C8B-B14F-4D97-AF65-F5344CB8AC3E}">
        <p14:creationId xmlns:p14="http://schemas.microsoft.com/office/powerpoint/2010/main" val="200440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79AF7-25C8-987A-ED4C-6F2379563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80B76-4095-E894-38D1-2B4D0D7D6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E78AE-BB34-E490-56EE-0E26E1BB0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4041" cy="4351338"/>
          </a:xfrm>
        </p:spPr>
        <p:txBody>
          <a:bodyPr/>
          <a:lstStyle/>
          <a:p>
            <a:r>
              <a:rPr lang="en-US" b="1" noProof="0" dirty="0"/>
              <a:t>Step 3: Create Agent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agent = Agent(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name="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QuickAssistant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model="gpt-4o-mini",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tools=[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get_temperature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get_time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, calculate],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instructions="You are a helpful assistant. Use tools when needed. Be concise."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C9983C-14A4-63BC-2AF5-BDA273AC9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399949"/>
              </p:ext>
            </p:extLst>
          </p:nvPr>
        </p:nvGraphicFramePr>
        <p:xfrm>
          <a:off x="5402638" y="1945640"/>
          <a:ext cx="6659066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4732544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Identifies the 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Which LLM to use?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List of available 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13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instructions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System prompt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76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681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D9723-4FF1-2AE9-9748-91BA0F918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D96C-D922-5B28-191E-33A33C9E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8D982-B819-A6FF-1FA8-959859752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4: Prepare Test Queries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async def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run_agent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():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queries = [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"What's the temperature in Tokyo?",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"Calculate 25 * 4 + 10",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"What time is it in New York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timezone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?",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]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print("Processing queries in parallel...\n")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8C8BA5-CA61-9263-D37A-0D73BE311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316092"/>
              </p:ext>
            </p:extLst>
          </p:nvPr>
        </p:nvGraphicFramePr>
        <p:xfrm>
          <a:off x="7817770" y="2047240"/>
          <a:ext cx="4271853" cy="13817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3588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3035971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queries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List of queries to be sent to the 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async def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 this concurrently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E3989DA-B438-059E-D27D-58587E5B967D}"/>
              </a:ext>
            </a:extLst>
          </p:cNvPr>
          <p:cNvSpPr txBox="1"/>
          <p:nvPr/>
        </p:nvSpPr>
        <p:spPr>
          <a:xfrm>
            <a:off x="8334301" y="4069429"/>
            <a:ext cx="3134089" cy="147732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Queries are in natural (human) language</a:t>
            </a:r>
          </a:p>
          <a:p>
            <a:endParaRPr lang="en-US" b="1" noProof="0" dirty="0"/>
          </a:p>
          <a:p>
            <a:r>
              <a:rPr lang="en-US" b="1" noProof="0" dirty="0"/>
              <a:t>Agent will figure out if and which tool to call </a:t>
            </a:r>
          </a:p>
        </p:txBody>
      </p:sp>
    </p:spTree>
    <p:extLst>
      <p:ext uri="{BB962C8B-B14F-4D97-AF65-F5344CB8AC3E}">
        <p14:creationId xmlns:p14="http://schemas.microsoft.com/office/powerpoint/2010/main" val="3069656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48ED3-504C-760C-8974-CB5A75FC8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A7789-DADC-77A2-798D-07B94B0D5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3E6C7-F4FC-F004-4294-32C844CAD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5: Run Queries Concurrently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# Process all queries concurrently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tasks = [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Runner.run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(agent, query) for query in queries]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results = await 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asyncio.gather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(*tasks)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1F79C5-8CE6-5DE5-ACC6-066A67816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842605"/>
              </p:ext>
            </p:extLst>
          </p:nvPr>
        </p:nvGraphicFramePr>
        <p:xfrm>
          <a:off x="723609" y="3750397"/>
          <a:ext cx="11030968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134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783962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Runner.run</a:t>
                      </a:r>
                      <a:r>
                        <a:rPr lang="en-US" noProof="0" dirty="0"/>
                        <a:t>(agent, query)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Executes agent with a query, [ ] creates a list comprehension, i.e. multiple 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asyncio.gather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Runs all tasks simultaneously and waits for all to complete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await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Waits for all results before continuing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188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80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AC3F4-FBE6-125D-7293-24856C9B8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58DEB-B75E-D300-2A22-88407593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A0692-73F6-AB4D-98E2-66ECF52F2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6: Display Results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# Display results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for query, result in zip(queries, results):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print(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f"Q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: {query}")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print(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f"A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: {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result.final_output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}\n")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79A348-EA05-09EC-D5D6-CFCBBE4F7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650160"/>
              </p:ext>
            </p:extLst>
          </p:nvPr>
        </p:nvGraphicFramePr>
        <p:xfrm>
          <a:off x="723609" y="3750397"/>
          <a:ext cx="11030968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134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783962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zip()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Pairs each query with its 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result.final_output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Agent’s final answer, after all tool calls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38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93686-CCFF-5BB6-0A05-A6C58CCAB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9727-BFDB-4B90-89CD-727B8EBBB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66786-D363-B0F1-D5AC-3C206C095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7: Run the Program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if __name__ == "__main__":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asyncio.run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run_agent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FD8BCD-AE52-3C77-D74C-69A3E8E77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881467"/>
              </p:ext>
            </p:extLst>
          </p:nvPr>
        </p:nvGraphicFramePr>
        <p:xfrm>
          <a:off x="723609" y="3750397"/>
          <a:ext cx="11030968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134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783962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if __name__ == “__main__”: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Standard Python syntax – Only runs if the file is executing directly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asyncio.run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Starts the async event loop and runs main()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5939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0BD9-A54A-5B4C-C235-082F7B394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Writing asynchronous Python with </a:t>
            </a:r>
            <a:r>
              <a:rPr lang="en-IN" noProof="0" dirty="0" err="1"/>
              <a:t>asyncio</a:t>
            </a:r>
            <a:r>
              <a:rPr lang="en-IN" noProof="0" dirty="0"/>
              <a:t> for concurrent LLM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27E23-B54D-2A17-9464-E97211760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GB" dirty="0"/>
              <a:t>AI applications often wait for external services: </a:t>
            </a:r>
          </a:p>
          <a:p>
            <a:pPr lvl="1"/>
            <a:r>
              <a:rPr lang="en-GB" dirty="0"/>
              <a:t>LLM API calls </a:t>
            </a:r>
          </a:p>
          <a:p>
            <a:pPr lvl="1"/>
            <a:r>
              <a:rPr lang="en-GB" dirty="0"/>
              <a:t>Web searches </a:t>
            </a:r>
          </a:p>
          <a:p>
            <a:pPr lvl="1"/>
            <a:r>
              <a:rPr lang="en-GB" dirty="0"/>
              <a:t>Database queries </a:t>
            </a:r>
          </a:p>
          <a:p>
            <a:pPr lvl="1"/>
            <a:r>
              <a:rPr lang="en-GB" dirty="0"/>
              <a:t>MCP tool calls </a:t>
            </a:r>
          </a:p>
          <a:p>
            <a:pPr lvl="1"/>
            <a:r>
              <a:rPr lang="en-GB" dirty="0"/>
              <a:t>File uploads/downloads </a:t>
            </a:r>
          </a:p>
          <a:p>
            <a:pPr lvl="0"/>
            <a:r>
              <a:rPr lang="en-GB" b="1" dirty="0"/>
              <a:t>Synchronous:</a:t>
            </a:r>
            <a:r>
              <a:rPr lang="en-GB" dirty="0"/>
              <a:t> Wait for one operation to finish before starting the next</a:t>
            </a:r>
          </a:p>
          <a:p>
            <a:pPr lvl="0"/>
            <a:r>
              <a:rPr lang="en-GB" b="1" dirty="0"/>
              <a:t>Asynchronous:</a:t>
            </a:r>
            <a:r>
              <a:rPr lang="en-GB" dirty="0"/>
              <a:t> Start multiple </a:t>
            </a:r>
            <a:r>
              <a:rPr lang="en-GB" b="1" dirty="0"/>
              <a:t>I/O-bound operations concurrently</a:t>
            </a:r>
            <a:r>
              <a:rPr lang="en-GB" dirty="0"/>
              <a:t> while waiting for responses</a:t>
            </a:r>
          </a:p>
          <a:p>
            <a:pPr lvl="0"/>
            <a:r>
              <a:rPr lang="en-GB" b="1" dirty="0"/>
              <a:t>Benefits:</a:t>
            </a:r>
            <a:r>
              <a:rPr lang="en-GB" dirty="0"/>
              <a:t> Better responsiveness and higher throughput</a:t>
            </a:r>
          </a:p>
          <a:p>
            <a:r>
              <a:rPr lang="en-GB" b="1" dirty="0"/>
              <a:t>Simple example: </a:t>
            </a:r>
            <a:r>
              <a:rPr lang="en-GB" dirty="0"/>
              <a:t>Instead of </a:t>
            </a:r>
            <a:r>
              <a:rPr lang="en-GB" b="1" dirty="0"/>
              <a:t>LLM call → wait → Web search → wait → Database query</a:t>
            </a:r>
            <a:r>
              <a:rPr lang="en-GB" dirty="0"/>
              <a:t>, initiate independent operations concurrently and continue when their results are available</a:t>
            </a:r>
          </a:p>
        </p:txBody>
      </p:sp>
    </p:spTree>
    <p:extLst>
      <p:ext uri="{BB962C8B-B14F-4D97-AF65-F5344CB8AC3E}">
        <p14:creationId xmlns:p14="http://schemas.microsoft.com/office/powerpoint/2010/main" val="854256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4537E-6D80-A7DC-3364-9B50BA421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Core </a:t>
            </a:r>
            <a:r>
              <a:rPr lang="en-IN" noProof="0" dirty="0" err="1"/>
              <a:t>asyncio</a:t>
            </a:r>
            <a:r>
              <a:rPr lang="en-IN" noProof="0" dirty="0"/>
              <a:t> Concepts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AEED90-33B9-C37A-FA71-5F64948C165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56991"/>
          <a:ext cx="10515600" cy="347472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3650038">
                  <a:extLst>
                    <a:ext uri="{9D8B030D-6E8A-4147-A177-3AD203B41FA5}">
                      <a16:colId xmlns:a16="http://schemas.microsoft.com/office/drawing/2014/main" val="1960489501"/>
                    </a:ext>
                  </a:extLst>
                </a:gridCol>
                <a:gridCol w="6865562">
                  <a:extLst>
                    <a:ext uri="{9D8B030D-6E8A-4147-A177-3AD203B41FA5}">
                      <a16:colId xmlns:a16="http://schemas.microsoft.com/office/drawing/2014/main" val="34956862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832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async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Define an asynchronous 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215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await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Wait for an asynchronous operation without blocking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992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 err="1"/>
                        <a:t>asyncio.run</a:t>
                      </a:r>
                      <a:r>
                        <a:rPr lang="en-IN" sz="2400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Start the event loop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379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 err="1"/>
                        <a:t>asyncio.gather</a:t>
                      </a:r>
                      <a:r>
                        <a:rPr lang="en-IN" sz="2400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Run multiple tasks concurrently</a:t>
                      </a:r>
                    </a:p>
                    <a:p>
                      <a:pPr>
                        <a:buNone/>
                      </a:pPr>
                      <a:r>
                        <a:rPr lang="en-IN" sz="2400" noProof="0" dirty="0"/>
                        <a:t>Wait until all responses are received, then return them as a list in the same order as the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5488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 err="1"/>
                        <a:t>create_task</a:t>
                      </a:r>
                      <a:r>
                        <a:rPr lang="en-IN" sz="2400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Schedule a task to run in the background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7234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493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F0CD4-CC83-3735-B2DF-8351DF1B1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Basic </a:t>
            </a:r>
            <a:r>
              <a:rPr lang="en-IN" dirty="0"/>
              <a:t>a</a:t>
            </a:r>
            <a:r>
              <a:rPr lang="en-IN" noProof="0" dirty="0" err="1"/>
              <a:t>syncio</a:t>
            </a:r>
            <a:r>
              <a:rPr lang="en-IN" noProof="0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8D81F-5F1C-4AB8-CD93-37EC129FE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noProof="0" dirty="0"/>
              <a:t>import </a:t>
            </a:r>
            <a:r>
              <a:rPr lang="en-IN" noProof="0" dirty="0" err="1"/>
              <a:t>asyncio</a:t>
            </a:r>
            <a:endParaRPr lang="en-IN" noProof="0" dirty="0"/>
          </a:p>
          <a:p>
            <a:r>
              <a:rPr lang="en-IN" noProof="0" dirty="0"/>
              <a:t>import time</a:t>
            </a:r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# Synchronous Version</a:t>
            </a:r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def </a:t>
            </a:r>
            <a:r>
              <a:rPr lang="en-IN" noProof="0" dirty="0" err="1"/>
              <a:t>greet_sync</a:t>
            </a:r>
            <a:r>
              <a:rPr lang="en-IN" noProof="0" dirty="0"/>
              <a:t>(name):</a:t>
            </a:r>
          </a:p>
          <a:p>
            <a:r>
              <a:rPr lang="en-IN" noProof="0" dirty="0"/>
              <a:t>    print(f"{name}: Hello World")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time.sleep</a:t>
            </a:r>
            <a:r>
              <a:rPr lang="en-IN" noProof="0" dirty="0"/>
              <a:t>(5)</a:t>
            </a:r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# Asynchronous Version</a:t>
            </a:r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async def </a:t>
            </a:r>
            <a:r>
              <a:rPr lang="en-IN" noProof="0" dirty="0" err="1"/>
              <a:t>greet_async</a:t>
            </a:r>
            <a:r>
              <a:rPr lang="en-IN" noProof="0" dirty="0"/>
              <a:t>(name):</a:t>
            </a:r>
          </a:p>
          <a:p>
            <a:r>
              <a:rPr lang="en-IN" noProof="0" dirty="0"/>
              <a:t>    print(f"{name}: Hello World")</a:t>
            </a:r>
          </a:p>
          <a:p>
            <a:r>
              <a:rPr lang="en-IN" noProof="0" dirty="0"/>
              <a:t>    await </a:t>
            </a:r>
            <a:r>
              <a:rPr lang="en-IN" noProof="0" dirty="0" err="1"/>
              <a:t>asyncio.sleep</a:t>
            </a:r>
            <a:r>
              <a:rPr lang="en-IN" noProof="0" dirty="0"/>
              <a:t>(5)</a:t>
            </a:r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# Run Synchronous</a:t>
            </a:r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def </a:t>
            </a:r>
            <a:r>
              <a:rPr lang="en-IN" noProof="0" dirty="0" err="1"/>
              <a:t>run_sync</a:t>
            </a:r>
            <a:r>
              <a:rPr lang="en-IN" noProof="0" dirty="0"/>
              <a:t>():</a:t>
            </a:r>
          </a:p>
          <a:p>
            <a:r>
              <a:rPr lang="en-IN" noProof="0" dirty="0"/>
              <a:t>    print("=== Synchronous ===")</a:t>
            </a:r>
          </a:p>
          <a:p>
            <a:r>
              <a:rPr lang="en-IN" noProof="0" dirty="0"/>
              <a:t>    start = </a:t>
            </a:r>
            <a:r>
              <a:rPr lang="en-IN" noProof="0" dirty="0" err="1"/>
              <a:t>time.perf_counter</a:t>
            </a:r>
            <a:r>
              <a:rPr lang="en-IN" noProof="0" dirty="0"/>
              <a:t>()</a:t>
            </a:r>
          </a:p>
          <a:p>
            <a:endParaRPr lang="en-IN" noProof="0" dirty="0"/>
          </a:p>
          <a:p>
            <a:r>
              <a:rPr lang="en-IN" noProof="0" dirty="0"/>
              <a:t>    </a:t>
            </a:r>
            <a:r>
              <a:rPr lang="en-IN" noProof="0" dirty="0" err="1"/>
              <a:t>greet_sync</a:t>
            </a:r>
            <a:r>
              <a:rPr lang="en-IN" noProof="0" dirty="0"/>
              <a:t>("Task 1")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greet_sync</a:t>
            </a:r>
            <a:r>
              <a:rPr lang="en-IN" noProof="0" dirty="0"/>
              <a:t>("Task 2")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greet_sync</a:t>
            </a:r>
            <a:r>
              <a:rPr lang="en-IN" noProof="0" dirty="0"/>
              <a:t>("Task 3")</a:t>
            </a:r>
          </a:p>
          <a:p>
            <a:endParaRPr lang="en-IN" noProof="0" dirty="0"/>
          </a:p>
          <a:p>
            <a:r>
              <a:rPr lang="en-IN" noProof="0" dirty="0"/>
              <a:t>    end = </a:t>
            </a:r>
            <a:r>
              <a:rPr lang="en-IN" noProof="0" dirty="0" err="1"/>
              <a:t>time.perf_counter</a:t>
            </a:r>
            <a:r>
              <a:rPr lang="en-IN" noProof="0" dirty="0"/>
              <a:t>()</a:t>
            </a:r>
          </a:p>
          <a:p>
            <a:r>
              <a:rPr lang="en-IN" noProof="0" dirty="0"/>
              <a:t>    print(</a:t>
            </a:r>
            <a:r>
              <a:rPr lang="en-IN" noProof="0" dirty="0" err="1"/>
              <a:t>f"Time</a:t>
            </a:r>
            <a:r>
              <a:rPr lang="en-IN" noProof="0" dirty="0"/>
              <a:t> taken: {end - start:.2f} seconds\n")</a:t>
            </a:r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# Run Asynchronous</a:t>
            </a:r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async def </a:t>
            </a:r>
            <a:r>
              <a:rPr lang="en-IN" noProof="0" dirty="0" err="1"/>
              <a:t>run_async</a:t>
            </a:r>
            <a:r>
              <a:rPr lang="en-IN" noProof="0" dirty="0"/>
              <a:t>():</a:t>
            </a:r>
          </a:p>
          <a:p>
            <a:r>
              <a:rPr lang="en-IN" noProof="0" dirty="0"/>
              <a:t>    print("=== Asynchronous ===")</a:t>
            </a:r>
          </a:p>
          <a:p>
            <a:r>
              <a:rPr lang="en-IN" noProof="0" dirty="0"/>
              <a:t>    start = </a:t>
            </a:r>
            <a:r>
              <a:rPr lang="en-IN" noProof="0" dirty="0" err="1"/>
              <a:t>time.perf_counter</a:t>
            </a:r>
            <a:r>
              <a:rPr lang="en-IN" noProof="0" dirty="0"/>
              <a:t>()</a:t>
            </a:r>
          </a:p>
          <a:p>
            <a:endParaRPr lang="en-IN" noProof="0" dirty="0"/>
          </a:p>
          <a:p>
            <a:r>
              <a:rPr lang="en-IN" noProof="0" dirty="0"/>
              <a:t>    await </a:t>
            </a:r>
            <a:r>
              <a:rPr lang="en-IN" noProof="0" dirty="0" err="1"/>
              <a:t>asyncio.gather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    </a:t>
            </a:r>
            <a:r>
              <a:rPr lang="en-IN" noProof="0" dirty="0" err="1"/>
              <a:t>greet_async</a:t>
            </a:r>
            <a:r>
              <a:rPr lang="en-IN" noProof="0" dirty="0"/>
              <a:t>("Task 1"),</a:t>
            </a:r>
          </a:p>
          <a:p>
            <a:r>
              <a:rPr lang="en-IN" noProof="0" dirty="0"/>
              <a:t>        </a:t>
            </a:r>
            <a:r>
              <a:rPr lang="en-IN" noProof="0" dirty="0" err="1"/>
              <a:t>greet_async</a:t>
            </a:r>
            <a:r>
              <a:rPr lang="en-IN" noProof="0" dirty="0"/>
              <a:t>("Task 2"),</a:t>
            </a:r>
          </a:p>
          <a:p>
            <a:r>
              <a:rPr lang="en-IN" noProof="0" dirty="0"/>
              <a:t>        </a:t>
            </a:r>
            <a:r>
              <a:rPr lang="en-IN" noProof="0" dirty="0" err="1"/>
              <a:t>greet_async</a:t>
            </a:r>
            <a:r>
              <a:rPr lang="en-IN" noProof="0" dirty="0"/>
              <a:t>("Task 3")</a:t>
            </a:r>
          </a:p>
          <a:p>
            <a:r>
              <a:rPr lang="en-IN" noProof="0" dirty="0"/>
              <a:t>    )</a:t>
            </a:r>
          </a:p>
          <a:p>
            <a:endParaRPr lang="en-IN" noProof="0" dirty="0"/>
          </a:p>
          <a:p>
            <a:r>
              <a:rPr lang="en-IN" noProof="0" dirty="0"/>
              <a:t>    end = </a:t>
            </a:r>
            <a:r>
              <a:rPr lang="en-IN" noProof="0" dirty="0" err="1"/>
              <a:t>time.perf_counter</a:t>
            </a:r>
            <a:r>
              <a:rPr lang="en-IN" noProof="0" dirty="0"/>
              <a:t>()</a:t>
            </a:r>
          </a:p>
          <a:p>
            <a:r>
              <a:rPr lang="en-IN" noProof="0" dirty="0"/>
              <a:t>    print(</a:t>
            </a:r>
            <a:r>
              <a:rPr lang="en-IN" noProof="0" dirty="0" err="1"/>
              <a:t>f"Time</a:t>
            </a:r>
            <a:r>
              <a:rPr lang="en-IN" noProof="0" dirty="0"/>
              <a:t> taken: {end - start:.2f} seconds")</a:t>
            </a:r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# Main</a:t>
            </a:r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 err="1"/>
              <a:t>run_sync</a:t>
            </a:r>
            <a:r>
              <a:rPr lang="en-IN" noProof="0" dirty="0"/>
              <a:t>()</a:t>
            </a:r>
          </a:p>
          <a:p>
            <a:r>
              <a:rPr lang="en-IN" noProof="0" dirty="0" err="1"/>
              <a:t>asyncio.run</a:t>
            </a:r>
            <a:r>
              <a:rPr lang="en-IN" noProof="0" dirty="0"/>
              <a:t>(</a:t>
            </a:r>
            <a:r>
              <a:rPr lang="en-IN" noProof="0" dirty="0" err="1"/>
              <a:t>run_async</a:t>
            </a:r>
            <a:r>
              <a:rPr lang="en-IN" noProof="0" dirty="0"/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8973664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2F85-A233-E7A4-1EB5-8AA68CCC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Sequential LLM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8D5E1-BA0A-BE03-9978-BC1B8F8EE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noProof="0" dirty="0"/>
              <a:t>async def </a:t>
            </a:r>
            <a:r>
              <a:rPr lang="en-IN" noProof="0" dirty="0" err="1"/>
              <a:t>call_llm</a:t>
            </a:r>
            <a:r>
              <a:rPr lang="en-IN" noProof="0" dirty="0"/>
              <a:t>(prompt):</a:t>
            </a:r>
          </a:p>
          <a:p>
            <a:r>
              <a:rPr lang="en-IN" noProof="0" dirty="0"/>
              <a:t>    response = await </a:t>
            </a:r>
            <a:r>
              <a:rPr lang="en-IN" noProof="0" dirty="0" err="1"/>
              <a:t>client.responses.create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    model="gpt-5",</a:t>
            </a:r>
          </a:p>
          <a:p>
            <a:r>
              <a:rPr lang="en-IN" noProof="0" dirty="0"/>
              <a:t>        input=prompt</a:t>
            </a:r>
          </a:p>
          <a:p>
            <a:r>
              <a:rPr lang="en-IN" noProof="0" dirty="0"/>
              <a:t>    )</a:t>
            </a:r>
          </a:p>
          <a:p>
            <a:r>
              <a:rPr lang="en-IN" noProof="0" dirty="0"/>
              <a:t>    return </a:t>
            </a:r>
            <a:r>
              <a:rPr lang="en-IN" noProof="0" dirty="0" err="1"/>
              <a:t>response.output_text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result1 = await </a:t>
            </a:r>
            <a:r>
              <a:rPr lang="en-IN" noProof="0" dirty="0" err="1"/>
              <a:t>call_llm</a:t>
            </a:r>
            <a:r>
              <a:rPr lang="en-IN" noProof="0" dirty="0"/>
              <a:t>("Summarize...")</a:t>
            </a:r>
          </a:p>
          <a:p>
            <a:r>
              <a:rPr lang="en-IN" noProof="0" dirty="0"/>
              <a:t>result2 = await </a:t>
            </a:r>
            <a:r>
              <a:rPr lang="en-IN" noProof="0" dirty="0" err="1"/>
              <a:t>call_llm</a:t>
            </a:r>
            <a:r>
              <a:rPr lang="en-IN" noProof="0" dirty="0"/>
              <a:t>("Translate...")</a:t>
            </a:r>
          </a:p>
          <a:p>
            <a:r>
              <a:rPr lang="en-IN" noProof="0" dirty="0"/>
              <a:t>result3 = await </a:t>
            </a:r>
            <a:r>
              <a:rPr lang="en-IN" noProof="0" dirty="0" err="1"/>
              <a:t>call_llm</a:t>
            </a:r>
            <a:r>
              <a:rPr lang="en-IN" noProof="0" dirty="0"/>
              <a:t>("Classify...")</a:t>
            </a:r>
          </a:p>
        </p:txBody>
      </p:sp>
    </p:spTree>
    <p:extLst>
      <p:ext uri="{BB962C8B-B14F-4D97-AF65-F5344CB8AC3E}">
        <p14:creationId xmlns:p14="http://schemas.microsoft.com/office/powerpoint/2010/main" val="27640358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18034-94D6-9340-F4D2-D39B53AB8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DD988-B655-74DB-CBF0-5A8819622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Concurrent LLM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6BBA0-BC71-9900-8588-853FC4C4D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noProof="0" dirty="0"/>
              <a:t>results = await </a:t>
            </a:r>
            <a:r>
              <a:rPr lang="en-IN" noProof="0" dirty="0" err="1"/>
              <a:t>asyncio.gather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call_llm</a:t>
            </a:r>
            <a:r>
              <a:rPr lang="en-IN" noProof="0" dirty="0"/>
              <a:t>("Summarize this article"),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call_llm</a:t>
            </a:r>
            <a:r>
              <a:rPr lang="en-IN" noProof="0" dirty="0"/>
              <a:t>("Translate to French"),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call_llm</a:t>
            </a:r>
            <a:r>
              <a:rPr lang="en-IN" noProof="0" dirty="0"/>
              <a:t>("Extract keywords")</a:t>
            </a:r>
          </a:p>
          <a:p>
            <a:r>
              <a:rPr lang="en-IN" noProof="0" dirty="0"/>
              <a:t>)</a:t>
            </a:r>
          </a:p>
          <a:p>
            <a:endParaRPr lang="en-IN" noProof="0" dirty="0"/>
          </a:p>
          <a:p>
            <a:r>
              <a:rPr lang="en-IN" noProof="0" dirty="0"/>
              <a:t>print(results)</a:t>
            </a:r>
          </a:p>
          <a:p>
            <a:endParaRPr lang="en-IN" dirty="0"/>
          </a:p>
          <a:p>
            <a:r>
              <a:rPr lang="en-IN" noProof="0" dirty="0"/>
              <a:t>Code: </a:t>
            </a:r>
            <a:r>
              <a:rPr lang="en-US" dirty="0"/>
              <a:t>15_real\sync_vs_async_llm_calls_openai.py and 15_real\sync_vs_async_llm_calls_ollama.py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4482347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27FE3F-4839-07B1-9F90-18025AC03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Module 2: </a:t>
            </a:r>
            <a:r>
              <a:rPr lang="en-US" noProof="0" dirty="0" err="1"/>
              <a:t>LangChain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D68437-8195-2453-9679-9D2E32792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86258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3E331-2BEA-2CB1-57E8-FFC67F386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LangChain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E4FEF-BD01-E243-65F6-B4D81D4CB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An open-source framework designed to help developers build applications using large language models (LLMs)</a:t>
            </a:r>
          </a:p>
          <a:p>
            <a:r>
              <a:rPr lang="en-IN" noProof="0" dirty="0" err="1"/>
              <a:t>LangChain</a:t>
            </a:r>
            <a:r>
              <a:rPr lang="en-IN" noProof="0" dirty="0"/>
              <a:t> evolution </a:t>
            </a:r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35A9AF-F6BB-A14C-E823-16E219C81D4F}"/>
              </a:ext>
            </a:extLst>
          </p:cNvPr>
          <p:cNvGraphicFramePr>
            <a:graphicFrameLocks noGrp="1"/>
          </p:cNvGraphicFramePr>
          <p:nvPr/>
        </p:nvGraphicFramePr>
        <p:xfrm>
          <a:off x="935922" y="3289319"/>
          <a:ext cx="10515600" cy="182880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9136844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939818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21881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48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Early </a:t>
                      </a:r>
                      <a:r>
                        <a:rPr lang="en-IN" noProof="0" dirty="0" err="1"/>
                        <a:t>LangChain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LLMChain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Legacy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912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Intermediate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SequentialChain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Legacy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5639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Modern </a:t>
                      </a:r>
                      <a:r>
                        <a:rPr lang="en-IN" noProof="0" dirty="0" err="1"/>
                        <a:t>LangChain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LCEL (Runnable Architecture)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Recommended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27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Agentic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LangGraph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Current for complex workflows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2577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2544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DCBCB-2010-7566-570F-D7110B38E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LCEL, Runnable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F5C07-00CF-E474-2C20-595C5EFF1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/>
              <a:t>LCEL (</a:t>
            </a:r>
            <a:r>
              <a:rPr lang="en-IN" b="1" noProof="0" dirty="0" err="1"/>
              <a:t>LangChain</a:t>
            </a:r>
            <a:r>
              <a:rPr lang="en-IN" b="1" noProof="0" dirty="0"/>
              <a:t> Expression Language)</a:t>
            </a:r>
            <a:r>
              <a:rPr lang="en-IN" noProof="0" dirty="0"/>
              <a:t>: A declarative way to build AI workflows by connecting components</a:t>
            </a:r>
          </a:p>
          <a:p>
            <a:r>
              <a:rPr lang="en-GB" b="1" dirty="0"/>
              <a:t>Runnable </a:t>
            </a:r>
            <a:r>
              <a:rPr lang="en-GB" dirty="0"/>
              <a:t>= Any component that can take an input and produce an output</a:t>
            </a:r>
            <a:endParaRPr lang="en-IN" dirty="0"/>
          </a:p>
          <a:p>
            <a:r>
              <a:rPr lang="en-IN" noProof="0" dirty="0"/>
              <a:t>Runnable examples</a:t>
            </a:r>
          </a:p>
          <a:p>
            <a:pPr lvl="1"/>
            <a:r>
              <a:rPr lang="en-GB" dirty="0"/>
              <a:t>Prompt: input → formatted prompt </a:t>
            </a:r>
          </a:p>
          <a:p>
            <a:pPr lvl="1"/>
            <a:r>
              <a:rPr lang="en-GB" dirty="0"/>
              <a:t>LLM: prompt → response </a:t>
            </a:r>
          </a:p>
          <a:p>
            <a:pPr lvl="1"/>
            <a:r>
              <a:rPr lang="en-GB" dirty="0"/>
              <a:t>Parser: LLM response → structured output </a:t>
            </a:r>
          </a:p>
          <a:p>
            <a:pPr lvl="1"/>
            <a:r>
              <a:rPr lang="en-GB" dirty="0"/>
              <a:t>Retriever: query → relevant documents </a:t>
            </a:r>
          </a:p>
          <a:p>
            <a:pPr lvl="1"/>
            <a:r>
              <a:rPr lang="en-GB" dirty="0"/>
              <a:t>Function: input → result</a:t>
            </a:r>
          </a:p>
          <a:p>
            <a:r>
              <a:rPr lang="en-IN" noProof="0" dirty="0" err="1"/>
              <a:t>Runnables</a:t>
            </a:r>
            <a:r>
              <a:rPr lang="en-IN" noProof="0" dirty="0"/>
              <a:t> can be connected, combined, and executed as a chain</a:t>
            </a:r>
          </a:p>
          <a:p>
            <a:r>
              <a:rPr lang="en-IN" noProof="0" dirty="0"/>
              <a:t>Pipe operator (|) connects </a:t>
            </a:r>
            <a:r>
              <a:rPr lang="en-IN" noProof="0" dirty="0" err="1"/>
              <a:t>Runnables</a:t>
            </a:r>
            <a:endParaRPr lang="en-IN" noProof="0" dirty="0"/>
          </a:p>
          <a:p>
            <a:pPr lvl="1"/>
            <a:r>
              <a:rPr lang="en-IN" noProof="0" dirty="0"/>
              <a:t>chain = prompt | </a:t>
            </a:r>
            <a:r>
              <a:rPr lang="en-IN" noProof="0" dirty="0" err="1"/>
              <a:t>llm</a:t>
            </a:r>
            <a:r>
              <a:rPr lang="en-IN" noProof="0" dirty="0"/>
              <a:t> | parser</a:t>
            </a:r>
          </a:p>
        </p:txBody>
      </p:sp>
    </p:spTree>
    <p:extLst>
      <p:ext uri="{BB962C8B-B14F-4D97-AF65-F5344CB8AC3E}">
        <p14:creationId xmlns:p14="http://schemas.microsoft.com/office/powerpoint/2010/main" val="27571649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3144-D333-48DB-AD80-259E05C07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Example: Prompt |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85E51-A467-2B0E-88B6-4F2C470B6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noProof="0" dirty="0"/>
              <a:t>from </a:t>
            </a:r>
            <a:r>
              <a:rPr lang="en-IN" noProof="0" dirty="0" err="1"/>
              <a:t>langchain_core.prompts</a:t>
            </a:r>
            <a:r>
              <a:rPr lang="en-IN" noProof="0" dirty="0"/>
              <a:t> import </a:t>
            </a:r>
            <a:r>
              <a:rPr lang="en-IN" noProof="0" dirty="0" err="1"/>
              <a:t>ChatPromptTemplate</a:t>
            </a:r>
            <a:endParaRPr lang="en-IN" noProof="0" dirty="0"/>
          </a:p>
          <a:p>
            <a:r>
              <a:rPr lang="en-IN" noProof="0" dirty="0"/>
              <a:t>from </a:t>
            </a:r>
            <a:r>
              <a:rPr lang="en-IN" noProof="0" dirty="0" err="1"/>
              <a:t>langchain_ollama</a:t>
            </a:r>
            <a:r>
              <a:rPr lang="en-IN" noProof="0" dirty="0"/>
              <a:t> import </a:t>
            </a:r>
            <a:r>
              <a:rPr lang="en-IN" noProof="0" dirty="0" err="1"/>
              <a:t>ChatOllama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prompt = </a:t>
            </a:r>
            <a:r>
              <a:rPr lang="en-IN" noProof="0" dirty="0" err="1"/>
              <a:t>ChatPromptTemplate.from_template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"Explain {topic} in simple terms."</a:t>
            </a:r>
          </a:p>
          <a:p>
            <a:r>
              <a:rPr lang="en-IN" noProof="0" dirty="0"/>
              <a:t>)</a:t>
            </a:r>
          </a:p>
          <a:p>
            <a:endParaRPr lang="en-IN" noProof="0" dirty="0"/>
          </a:p>
          <a:p>
            <a:r>
              <a:rPr lang="en-IN" noProof="0" dirty="0" err="1"/>
              <a:t>llm</a:t>
            </a:r>
            <a:r>
              <a:rPr lang="en-IN" noProof="0" dirty="0"/>
              <a:t> = </a:t>
            </a:r>
            <a:r>
              <a:rPr lang="en-IN" noProof="0" dirty="0" err="1"/>
              <a:t>ChatOllama</a:t>
            </a:r>
            <a:r>
              <a:rPr lang="en-IN" noProof="0" dirty="0"/>
              <a:t>(model="llama3.2")</a:t>
            </a:r>
          </a:p>
          <a:p>
            <a:endParaRPr lang="en-IN" noProof="0" dirty="0"/>
          </a:p>
          <a:p>
            <a:r>
              <a:rPr lang="en-IN" noProof="0" dirty="0"/>
              <a:t>chain = prompt | </a:t>
            </a:r>
            <a:r>
              <a:rPr lang="en-IN" noProof="0" dirty="0" err="1"/>
              <a:t>llm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response = </a:t>
            </a:r>
            <a:r>
              <a:rPr lang="en-IN" noProof="0" dirty="0" err="1"/>
              <a:t>chain.invoke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{"</a:t>
            </a:r>
            <a:r>
              <a:rPr lang="en-IN" noProof="0" dirty="0" err="1"/>
              <a:t>topic":"embeddings</a:t>
            </a:r>
            <a:r>
              <a:rPr lang="en-IN" noProof="0" dirty="0"/>
              <a:t>"}</a:t>
            </a:r>
          </a:p>
          <a:p>
            <a:r>
              <a:rPr lang="en-IN" noProof="0" dirty="0"/>
              <a:t>)</a:t>
            </a:r>
          </a:p>
          <a:p>
            <a:endParaRPr lang="en-IN" noProof="0" dirty="0"/>
          </a:p>
          <a:p>
            <a:r>
              <a:rPr lang="en-IN" noProof="0" dirty="0"/>
              <a:t>print(</a:t>
            </a:r>
            <a:r>
              <a:rPr lang="en-IN" noProof="0" dirty="0" err="1"/>
              <a:t>response.content</a:t>
            </a:r>
            <a:r>
              <a:rPr lang="en-IN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850330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36AC5-83D2-8F3C-F545-BD10AE386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F0BC-500C-7F17-4DBC-A4A6B1538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Output Parsers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7C0B5-EF42-4425-BB9F-77E789584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Without a parser: Prompt -&gt; LLM -&gt; </a:t>
            </a:r>
            <a:r>
              <a:rPr lang="en-IN" noProof="0" dirty="0" err="1"/>
              <a:t>AIMessage</a:t>
            </a:r>
            <a:endParaRPr lang="en-IN" noProof="0" dirty="0"/>
          </a:p>
          <a:p>
            <a:r>
              <a:rPr lang="en-IN" noProof="0" dirty="0"/>
              <a:t>Many applications want plain text, JSON, or structured output</a:t>
            </a:r>
          </a:p>
          <a:p>
            <a:pPr lvl="1"/>
            <a:r>
              <a:rPr lang="en-IN" noProof="0" dirty="0"/>
              <a:t>Prompt -&gt; LLM -&gt; </a:t>
            </a:r>
            <a:r>
              <a:rPr lang="en-IN" noProof="0" dirty="0" err="1"/>
              <a:t>AIMessage</a:t>
            </a:r>
            <a:r>
              <a:rPr lang="en-IN" noProof="0" dirty="0"/>
              <a:t> -&gt; Parser</a:t>
            </a:r>
          </a:p>
          <a:p>
            <a:r>
              <a:rPr lang="en-IN" noProof="0" dirty="0"/>
              <a:t>Code: C:\code\agenticai\14_advanced\05_langchain\output_parsers.py</a:t>
            </a:r>
          </a:p>
        </p:txBody>
      </p:sp>
    </p:spTree>
    <p:extLst>
      <p:ext uri="{BB962C8B-B14F-4D97-AF65-F5344CB8AC3E}">
        <p14:creationId xmlns:p14="http://schemas.microsoft.com/office/powerpoint/2010/main" val="19708284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A8F0F-4ECE-5A5B-5E57-587B2B06C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D7DE5-4045-CFBC-54B7-EDF091CA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Prompt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0656-8718-04F7-2E1D-3765A6789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Prompt template: Reusable prompt with placeholders (variables) that are filled at runtime</a:t>
            </a:r>
          </a:p>
          <a:p>
            <a:r>
              <a:rPr lang="en-IN" noProof="0" dirty="0"/>
              <a:t>Example: Instead of </a:t>
            </a:r>
          </a:p>
          <a:p>
            <a:pPr lvl="1"/>
            <a:r>
              <a:rPr lang="en-IN" noProof="0" dirty="0"/>
              <a:t>Explain Artificial Intelligence</a:t>
            </a:r>
          </a:p>
          <a:p>
            <a:pPr lvl="1"/>
            <a:r>
              <a:rPr lang="en-IN" noProof="0" dirty="0"/>
              <a:t>Explain {topic}</a:t>
            </a:r>
          </a:p>
          <a:p>
            <a:r>
              <a:rPr lang="en-IN" noProof="0" dirty="0"/>
              <a:t>C:\code\agenticai\14_advanced\05_langchain\prompt_templates.py</a:t>
            </a:r>
          </a:p>
          <a:p>
            <a:pPr lvl="1"/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8919541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0E463-EFBE-E87F-E689-AEAD68980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Session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3DE94-C396-7079-BBF6-955A9CD67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Without memory, every user request is independent</a:t>
            </a:r>
          </a:p>
          <a:p>
            <a:r>
              <a:rPr lang="en-IN" noProof="0" dirty="0"/>
              <a:t>Memory types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6D633B-9D71-3BEA-FC1B-947BF8928E5F}"/>
              </a:ext>
            </a:extLst>
          </p:cNvPr>
          <p:cNvGraphicFramePr>
            <a:graphicFrameLocks noGrp="1"/>
          </p:cNvGraphicFramePr>
          <p:nvPr/>
        </p:nvGraphicFramePr>
        <p:xfrm>
          <a:off x="908001" y="2958459"/>
          <a:ext cx="10515600" cy="2560320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0607073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596559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497171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Memory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Stores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586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BufferMemory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Entire conversation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Short conversations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6131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Buffer Window Memory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Last N 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Chatbots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944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SummaryMemory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Conversation summary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Long conversations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3069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VectorStoreMemory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Semantic memory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Knowledge retrieval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613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Entity Memory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Facts about entities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Personal assistants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989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Combined Memory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Multiple memory types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Enterprise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423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1716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80512-69D2-C8E9-3FCC-C82C0939D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Persistent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F8A11-6E0C-FA6E-1C02-27ADC693E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noProof="0" dirty="0"/>
              <a:t>Multi-turn conversation</a:t>
            </a:r>
            <a:r>
              <a:rPr lang="en-IN" noProof="0" dirty="0"/>
              <a:t>: Consists of multiple exchanges between a user and an AI assistant</a:t>
            </a:r>
          </a:p>
          <a:p>
            <a:r>
              <a:rPr lang="en-IN" noProof="0" dirty="0"/>
              <a:t>Session-based memory exists only till the time the application is running</a:t>
            </a:r>
          </a:p>
          <a:p>
            <a:r>
              <a:rPr lang="en-IN" noProof="0" dirty="0"/>
              <a:t>Persistent memory survives application restarts</a:t>
            </a:r>
          </a:p>
          <a:p>
            <a:r>
              <a:rPr lang="en-IN" noProof="0" dirty="0"/>
              <a:t>C:\code\agenticai\14_advanced\05_langchain\persistent_chatbot.py</a:t>
            </a:r>
          </a:p>
          <a:p>
            <a:pPr lvl="1"/>
            <a:r>
              <a:rPr lang="en-IN" noProof="0" dirty="0"/>
              <a:t>config's </a:t>
            </a:r>
            <a:r>
              <a:rPr lang="en-IN" noProof="0" dirty="0" err="1"/>
              <a:t>session_id</a:t>
            </a:r>
            <a:r>
              <a:rPr lang="en-IN" noProof="0" dirty="0"/>
              <a:t> is a lookup key used </a:t>
            </a:r>
            <a:r>
              <a:rPr lang="en-IN" i="1" noProof="0" dirty="0"/>
              <a:t>before</a:t>
            </a:r>
            <a:r>
              <a:rPr lang="en-IN" noProof="0" dirty="0"/>
              <a:t> our chain runs, to fetch a </a:t>
            </a:r>
            <a:r>
              <a:rPr lang="en-IN" noProof="0" dirty="0" err="1"/>
              <a:t>SQLChatMessageHistory</a:t>
            </a:r>
            <a:r>
              <a:rPr lang="en-IN" noProof="0" dirty="0"/>
              <a:t> and turn it into an ordinary "history" list; by the time the LLM is actually called, it receives a normal message list like any other chain invocation — the config/session machinery has already done its job and dropped out</a:t>
            </a:r>
          </a:p>
        </p:txBody>
      </p:sp>
    </p:spTree>
    <p:extLst>
      <p:ext uri="{BB962C8B-B14F-4D97-AF65-F5344CB8AC3E}">
        <p14:creationId xmlns:p14="http://schemas.microsoft.com/office/powerpoint/2010/main" val="16876720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AA212A-11C4-FFF9-66BB-EE2F75ADE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6924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8B101-FD34-816A-C583-A75C4F50B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FA7F8D-3905-B259-0C35-26A51C6A4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6" y="0"/>
            <a:ext cx="121032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041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3CB09-B91C-5451-C798-78CB8DDB5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4E9B6A-9D11-0C0F-22D4-FD5070DE0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178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5144E-D103-B822-0E2B-3C5EF1109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C62F8B-BF29-FB00-0468-355F54A48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0219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70B84-177A-6DD9-162A-D0D2B1FCE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495C16-BBB9-4250-1779-820FDCDC8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479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FF346-F079-A88A-56EA-44457E9D7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CAC1B1-2992-A5B7-C895-3BEEDB0A4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423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2F1C6-AE6D-7AD9-7CB8-DCADA8B16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1CAC3A-BE67-8D4B-4A51-349D9AC5A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2669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3C76F-89B2-2CFA-D82B-4DD158E35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59FE05-6E93-FE9D-0880-A33E19991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288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E833D-4454-2706-1D32-4B30D8540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233621-B124-8D44-4EF3-68B5ECF87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039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D20EA-6F36-B2F4-2E82-A3981EBD0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F84A7E-8258-EC7F-ACB3-7FA4B29C3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693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EBB6B-7D86-1187-A9BD-2DF3F59D2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CRUD operations and metadata filtering in </a:t>
            </a:r>
            <a:r>
              <a:rPr lang="en-IN" noProof="0" dirty="0" err="1"/>
              <a:t>ChromaDB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D4FEA-289D-5F46-4E67-1AFE93F7C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noProof="0" dirty="0"/>
              <a:t>Creating documents</a:t>
            </a:r>
          </a:p>
          <a:p>
            <a:pPr marL="457200" lvl="1" indent="0">
              <a:buNone/>
            </a:pPr>
            <a:r>
              <a:rPr lang="en-IN" noProof="0" dirty="0"/>
              <a:t>import </a:t>
            </a:r>
            <a:r>
              <a:rPr lang="en-IN" noProof="0" dirty="0" err="1"/>
              <a:t>chromadb</a:t>
            </a:r>
            <a:endParaRPr lang="en-IN" noProof="0" dirty="0"/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/>
              <a:t>client = </a:t>
            </a:r>
            <a:r>
              <a:rPr lang="en-IN" noProof="0" dirty="0" err="1"/>
              <a:t>chromadb.PersistentClient</a:t>
            </a:r>
            <a:r>
              <a:rPr lang="en-IN" noProof="0" dirty="0"/>
              <a:t>(path="./</a:t>
            </a:r>
            <a:r>
              <a:rPr lang="en-IN" noProof="0" dirty="0" err="1"/>
              <a:t>chroma_db</a:t>
            </a:r>
            <a:r>
              <a:rPr lang="en-IN" noProof="0" dirty="0"/>
              <a:t>")</a:t>
            </a:r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/>
              <a:t>collection = </a:t>
            </a:r>
            <a:r>
              <a:rPr lang="en-IN" noProof="0" dirty="0" err="1"/>
              <a:t>client.get_or_create_collection</a:t>
            </a:r>
            <a:r>
              <a:rPr lang="en-IN" noProof="0" dirty="0"/>
              <a:t>("employees")</a:t>
            </a:r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 err="1"/>
              <a:t>collection.add</a:t>
            </a:r>
            <a:r>
              <a:rPr lang="en-IN" noProof="0" dirty="0"/>
              <a:t>(</a:t>
            </a:r>
          </a:p>
          <a:p>
            <a:pPr marL="457200" lvl="1" indent="0">
              <a:buNone/>
            </a:pPr>
            <a:r>
              <a:rPr lang="en-IN" noProof="0" dirty="0"/>
              <a:t>    ids=["1", "2"],</a:t>
            </a:r>
          </a:p>
          <a:p>
            <a:pPr marL="457200" lvl="1" indent="0">
              <a:buNone/>
            </a:pPr>
            <a:r>
              <a:rPr lang="en-IN" noProof="0" dirty="0"/>
              <a:t>    documents=[</a:t>
            </a:r>
          </a:p>
          <a:p>
            <a:pPr marL="457200" lvl="1" indent="0">
              <a:buNone/>
            </a:pPr>
            <a:r>
              <a:rPr lang="en-IN" noProof="0" dirty="0"/>
              <a:t>        "Alice works in Finance.",</a:t>
            </a:r>
          </a:p>
          <a:p>
            <a:pPr marL="457200" lvl="1" indent="0">
              <a:buNone/>
            </a:pPr>
            <a:r>
              <a:rPr lang="en-IN" noProof="0" dirty="0"/>
              <a:t>        "Bob works in HR."</a:t>
            </a:r>
          </a:p>
          <a:p>
            <a:pPr marL="457200" lvl="1" indent="0">
              <a:buNone/>
            </a:pPr>
            <a:r>
              <a:rPr lang="en-IN" noProof="0" dirty="0"/>
              <a:t>    ],</a:t>
            </a:r>
          </a:p>
          <a:p>
            <a:pPr marL="457200" lvl="1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metadatas</a:t>
            </a:r>
            <a:r>
              <a:rPr lang="en-IN" noProof="0" dirty="0"/>
              <a:t>=[</a:t>
            </a:r>
          </a:p>
          <a:p>
            <a:pPr marL="457200" lvl="1" indent="0">
              <a:buNone/>
            </a:pPr>
            <a:r>
              <a:rPr lang="en-IN" noProof="0" dirty="0"/>
              <a:t>        {"department": "Finance"},</a:t>
            </a:r>
          </a:p>
          <a:p>
            <a:pPr marL="457200" lvl="1" indent="0">
              <a:buNone/>
            </a:pPr>
            <a:r>
              <a:rPr lang="en-IN" noProof="0" dirty="0"/>
              <a:t>        {"department": "HR"}</a:t>
            </a:r>
          </a:p>
          <a:p>
            <a:pPr marL="457200" lvl="1" indent="0">
              <a:buNone/>
            </a:pPr>
            <a:r>
              <a:rPr lang="en-IN" noProof="0" dirty="0"/>
              <a:t>    ]</a:t>
            </a:r>
          </a:p>
          <a:p>
            <a:pPr marL="457200" lvl="1" indent="0">
              <a:buNone/>
            </a:pPr>
            <a:r>
              <a:rPr lang="en-IN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547709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EE774-363C-D3C3-096F-DFC435D8F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8B90A-7AC9-6D14-4369-B1B39531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CRUD operations and metadata filtering in </a:t>
            </a:r>
            <a:r>
              <a:rPr lang="en-IN" noProof="0" dirty="0" err="1"/>
              <a:t>ChromaDB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7922F-DECB-F1EC-0029-2227FE4AC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noProof="0" dirty="0"/>
              <a:t>Reading documents</a:t>
            </a:r>
          </a:p>
          <a:p>
            <a:pPr marL="457200" lvl="1" indent="0">
              <a:buNone/>
            </a:pPr>
            <a:r>
              <a:rPr lang="en-IN" noProof="0" dirty="0"/>
              <a:t>result = </a:t>
            </a:r>
            <a:r>
              <a:rPr lang="en-IN" noProof="0" dirty="0" err="1"/>
              <a:t>collection.get</a:t>
            </a:r>
            <a:r>
              <a:rPr lang="en-IN" noProof="0" dirty="0"/>
              <a:t>(ids=["1"])</a:t>
            </a:r>
          </a:p>
          <a:p>
            <a:pPr marL="457200" lvl="1" indent="0">
              <a:buNone/>
            </a:pPr>
            <a:r>
              <a:rPr lang="en-IN" noProof="0" dirty="0"/>
              <a:t>print(result["documents"])</a:t>
            </a:r>
          </a:p>
          <a:p>
            <a:r>
              <a:rPr lang="en-IN" noProof="0" dirty="0"/>
              <a:t>Updating documents</a:t>
            </a:r>
          </a:p>
          <a:p>
            <a:pPr marL="457200" lvl="1" indent="0">
              <a:buNone/>
            </a:pPr>
            <a:r>
              <a:rPr lang="en-IN" noProof="0" dirty="0" err="1"/>
              <a:t>collection.update</a:t>
            </a:r>
            <a:r>
              <a:rPr lang="en-IN" noProof="0" dirty="0"/>
              <a:t>(</a:t>
            </a:r>
          </a:p>
          <a:p>
            <a:pPr marL="457200" lvl="1" indent="0">
              <a:buNone/>
            </a:pPr>
            <a:r>
              <a:rPr lang="en-IN" noProof="0" dirty="0"/>
              <a:t>    ids=["1"],</a:t>
            </a:r>
          </a:p>
          <a:p>
            <a:pPr marL="457200" lvl="1" indent="0">
              <a:buNone/>
            </a:pPr>
            <a:r>
              <a:rPr lang="en-IN" noProof="0" dirty="0"/>
              <a:t>    documents=["Alice is now the Finance Manager."],</a:t>
            </a:r>
          </a:p>
          <a:p>
            <a:pPr marL="457200" lvl="1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metadatas</a:t>
            </a:r>
            <a:r>
              <a:rPr lang="en-IN" noProof="0" dirty="0"/>
              <a:t>=[{"department": "Finance"}]</a:t>
            </a:r>
          </a:p>
          <a:p>
            <a:pPr marL="457200" lvl="1" indent="0">
              <a:buNone/>
            </a:pPr>
            <a:r>
              <a:rPr lang="en-IN" noProof="0" dirty="0"/>
              <a:t>)</a:t>
            </a:r>
          </a:p>
          <a:p>
            <a:r>
              <a:rPr lang="en-IN" noProof="0" dirty="0"/>
              <a:t>Deleting documents</a:t>
            </a:r>
          </a:p>
          <a:p>
            <a:pPr marL="457200" lvl="1" indent="0">
              <a:buNone/>
            </a:pPr>
            <a:r>
              <a:rPr lang="en-IN" noProof="0" dirty="0" err="1"/>
              <a:t>collection.delete</a:t>
            </a:r>
            <a:r>
              <a:rPr lang="en-IN" noProof="0" dirty="0"/>
              <a:t>(ids=["2"])</a:t>
            </a:r>
          </a:p>
        </p:txBody>
      </p:sp>
    </p:spTree>
    <p:extLst>
      <p:ext uri="{BB962C8B-B14F-4D97-AF65-F5344CB8AC3E}">
        <p14:creationId xmlns:p14="http://schemas.microsoft.com/office/powerpoint/2010/main" val="26298784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966F-0FE0-01C6-66F2-31148993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ChromaDB</a:t>
            </a:r>
            <a:r>
              <a:rPr lang="en-IN" noProof="0" dirty="0"/>
              <a:t> -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503AA-B45B-00B3-502A-FEDF70177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noProof="0" dirty="0"/>
              <a:t>results = </a:t>
            </a:r>
            <a:r>
              <a:rPr lang="en-IN" noProof="0" dirty="0" err="1"/>
              <a:t>collection.query</a:t>
            </a:r>
            <a:r>
              <a:rPr lang="en-IN" noProof="0" dirty="0"/>
              <a:t>(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query_texts</a:t>
            </a:r>
            <a:r>
              <a:rPr lang="en-IN" noProof="0" dirty="0"/>
              <a:t>=["budget"],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n_results</a:t>
            </a:r>
            <a:r>
              <a:rPr lang="en-IN" noProof="0" dirty="0"/>
              <a:t>=5,</a:t>
            </a:r>
          </a:p>
          <a:p>
            <a:pPr marL="0" indent="0">
              <a:buNone/>
            </a:pPr>
            <a:r>
              <a:rPr lang="en-IN" noProof="0" dirty="0"/>
              <a:t>    where={"department": "Finance"}</a:t>
            </a:r>
          </a:p>
          <a:p>
            <a:pPr marL="0" indent="0">
              <a:buNone/>
            </a:pPr>
            <a:r>
              <a:rPr lang="en-IN" noProof="0" dirty="0"/>
              <a:t>)</a:t>
            </a:r>
          </a:p>
          <a:p>
            <a:pPr marL="0" indent="0">
              <a:buNone/>
            </a:pPr>
            <a:endParaRPr lang="en-IN" noProof="0" dirty="0"/>
          </a:p>
          <a:p>
            <a:r>
              <a:rPr lang="en-IN" noProof="0" dirty="0"/>
              <a:t>Code: C:\code\agenticai\14_advanced\04_rag\chromadb_search.py and chromadb_crud.py</a:t>
            </a:r>
          </a:p>
          <a:p>
            <a:pPr marL="0" indent="0">
              <a:buNone/>
            </a:pP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5162933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3A3CF-8697-37A6-D92D-40430B68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FAISS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80687-13EE-CEB0-0403-E78720C6C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FAISS (Facebook AI Similarity Search)</a:t>
            </a:r>
            <a:r>
              <a:rPr lang="en-IN" noProof="0" dirty="0"/>
              <a:t>: An open-source library developed by Meta for efficient similarity search and clustering of dense vectors (embeddings)</a:t>
            </a:r>
          </a:p>
          <a:p>
            <a:r>
              <a:rPr lang="en-IN" noProof="0" dirty="0"/>
              <a:t>Uses index for very fast search</a:t>
            </a:r>
          </a:p>
          <a:p>
            <a:r>
              <a:rPr lang="en-IN" noProof="0" dirty="0"/>
              <a:t>Why needed?</a:t>
            </a:r>
          </a:p>
          <a:p>
            <a:pPr lvl="1"/>
            <a:r>
              <a:rPr lang="en-IN" noProof="0" dirty="0"/>
              <a:t>Suppose we have 1 million documents and user asks </a:t>
            </a:r>
            <a:r>
              <a:rPr lang="en-IN" i="1" noProof="0" dirty="0"/>
              <a:t>What is machine learning?</a:t>
            </a:r>
            <a:endParaRPr lang="en-IN" noProof="0" dirty="0"/>
          </a:p>
          <a:p>
            <a:pPr lvl="1"/>
            <a:r>
              <a:rPr lang="en-IN" noProof="0" dirty="0"/>
              <a:t>Without FAISS: Query embedding -&gt; Compare with document 1 -&gt; Compare with document 2 -&gt; … -&gt; Compare with document 1000000 (Linear search)</a:t>
            </a:r>
          </a:p>
          <a:p>
            <a:pPr lvl="1"/>
            <a:r>
              <a:rPr lang="en-IN" noProof="0" dirty="0"/>
              <a:t>With FAISS: Query embedding -&gt; FAISS index -&gt; Top 5 results</a:t>
            </a:r>
          </a:p>
        </p:txBody>
      </p:sp>
    </p:spTree>
    <p:extLst>
      <p:ext uri="{BB962C8B-B14F-4D97-AF65-F5344CB8AC3E}">
        <p14:creationId xmlns:p14="http://schemas.microsoft.com/office/powerpoint/2010/main" val="42652726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DDD85B-12B1-96CE-C010-7823E5B7B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3395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86B79-DFBB-6496-E5DC-34CDB86FA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9C0F-0636-DF97-5A4D-C7972190C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285"/>
            <a:ext cx="10515600" cy="732489"/>
          </a:xfrm>
        </p:spPr>
        <p:txBody>
          <a:bodyPr/>
          <a:lstStyle/>
          <a:p>
            <a:r>
              <a:rPr lang="en-IN" noProof="0" dirty="0"/>
              <a:t>FAISS Index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B52E4-7639-1146-672A-86EE44190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4003"/>
            <a:ext cx="10515600" cy="5122960"/>
          </a:xfrm>
        </p:spPr>
        <p:txBody>
          <a:bodyPr>
            <a:normAutofit/>
          </a:bodyPr>
          <a:lstStyle/>
          <a:p>
            <a:r>
              <a:rPr lang="en-IN" noProof="0" dirty="0"/>
              <a:t>FAISS provides multiple indexing algorithms because different applications have different requirements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68C29E-14D8-EEA6-D473-AD27892C5DC8}"/>
              </a:ext>
            </a:extLst>
          </p:cNvPr>
          <p:cNvGraphicFramePr>
            <a:graphicFrameLocks noGrp="1"/>
          </p:cNvGraphicFramePr>
          <p:nvPr/>
        </p:nvGraphicFramePr>
        <p:xfrm>
          <a:off x="761418" y="1949512"/>
          <a:ext cx="10515600" cy="4572000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9050898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630694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800608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890902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Flat L2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IVF (Inverted File)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HNSW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121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Search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Exact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Approximate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Approximate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224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⭐⭐⭐⭐⭐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⭐⭐⭐⭐⭐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030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Search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Very 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874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Memory 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0219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Training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8800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Small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Large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Real-time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258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How 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Stores all vectors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Computes distance between query vector and every vector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Returns nearest neighbours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Clusters vectors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Finds the closest cluster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Searches only inside the 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Builds a graph where every vector connects to nearby vectors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Instead of scanning vectors, the search navigates through the graph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917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5871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DA7CF3-D240-C115-2CA0-B40EA49C3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5142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C35E7-62C4-1D46-3086-64A91449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683"/>
            <a:ext cx="10515600" cy="376928"/>
          </a:xfrm>
        </p:spPr>
        <p:txBody>
          <a:bodyPr>
            <a:noAutofit/>
          </a:bodyPr>
          <a:lstStyle/>
          <a:p>
            <a:r>
              <a:rPr lang="en-IN" sz="2000" dirty="0"/>
              <a:t>14_advanced\04_rag\faiss_search.py</a:t>
            </a:r>
            <a:endParaRPr lang="en-GB" sz="2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4E7D11-B2BF-2041-DDD7-BD384BBB28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5019" y="788988"/>
            <a:ext cx="8081962" cy="538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437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2B8FA-124E-AEF6-EB4C-5C79F37D4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Nearest-neighbour retrieval: understanding similarity metrics (cosine, L2, dot product)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4CF9F-7696-4EBE-F3FC-51B871099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Common similarity metrics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375B3D-D8B8-C579-BDD5-C95A5E6698A8}"/>
              </a:ext>
            </a:extLst>
          </p:cNvPr>
          <p:cNvGraphicFramePr>
            <a:graphicFrameLocks noGrp="1"/>
          </p:cNvGraphicFramePr>
          <p:nvPr/>
        </p:nvGraphicFramePr>
        <p:xfrm>
          <a:off x="949882" y="2446116"/>
          <a:ext cx="10515600" cy="14630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2220997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26307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241040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Best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841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Cosine Similarity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Angle between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Larger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4758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L2 Distance (Euclidean)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Straight-line 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Smaller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5331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Dot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Alignment and magnitude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Larger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4097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7454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1C3F1-82DD-6BCA-B5E1-B064A8F9E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C12AB4-DC12-E2E2-8E57-C9855EE99C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IN" b="1" noProof="0" dirty="0"/>
                  <a:t>Cosine similarity</a:t>
                </a:r>
                <a:r>
                  <a:rPr lang="en-IN" noProof="0" dirty="0"/>
                  <a:t>: Compares the angle between two vectors, ignoring their lengths</a:t>
                </a:r>
              </a:p>
              <a:p>
                <a:r>
                  <a:rPr lang="en-IN" noProof="0" dirty="0"/>
                  <a:t>Cosine Similarity=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0" noProof="0" smtClean="0"/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i="0" noProof="0" smtClean="0"/>
                          <m:t>A⋅B​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i="0" noProof="0" smtClean="0"/>
                          <m:t>∥A∥∥B∥</m:t>
                        </m:r>
                      </m:den>
                    </m:f>
                  </m:oMath>
                </a14:m>
                <a:endParaRPr lang="en-IN" noProof="0" dirty="0"/>
              </a:p>
              <a:p>
                <a:endParaRPr lang="en-IN" noProof="0" dirty="0"/>
              </a:p>
              <a:p>
                <a:r>
                  <a:rPr lang="en-IN" b="1" noProof="0" dirty="0"/>
                  <a:t>L2 distance (Euclidean distance)</a:t>
                </a:r>
                <a:r>
                  <a:rPr lang="en-IN" noProof="0" dirty="0"/>
                  <a:t>: Straight-line distance between two vectors</a:t>
                </a:r>
              </a:p>
              <a:p>
                <a:r>
                  <a:rPr lang="en-IN" noProof="0" dirty="0"/>
                  <a:t>L2 distance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limLoc m:val="undOvr"/>
                            <m:grow m:val="on"/>
                            <m:subHide m:val="on"/>
                            <m:supHide m:val="on"/>
                            <m:ctrlPr>
                              <a:rPr lang="en-IN" i="1" noProof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IN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 noProof="0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IN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i="0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IN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noProof="0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IN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IN" i="0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r>
                  <a:rPr lang="en-IN" noProof="0" dirty="0"/>
                  <a:t> for all </a:t>
                </a:r>
                <a:r>
                  <a:rPr lang="en-IN" noProof="0" dirty="0" err="1"/>
                  <a:t>i</a:t>
                </a:r>
                <a:endParaRPr lang="en-IN" noProof="0" dirty="0"/>
              </a:p>
              <a:p>
                <a:endParaRPr lang="en-IN" noProof="0" dirty="0"/>
              </a:p>
              <a:p>
                <a:r>
                  <a:rPr lang="en-IN" b="1" noProof="0" dirty="0"/>
                  <a:t>Dot product</a:t>
                </a:r>
                <a:r>
                  <a:rPr lang="en-IN" noProof="0" dirty="0"/>
                  <a:t>:​ How two vectors align, while also considering their magnitude</a:t>
                </a:r>
              </a:p>
              <a:p>
                <a:r>
                  <a:rPr lang="en-IN" noProof="0" dirty="0"/>
                  <a:t>Dot product = A.B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subHide m:val="on"/>
                        <m:supHide m:val="on"/>
                        <m:ctrlPr>
                          <a:rPr lang="en-IN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"/>
                            <m:endChr m:val=""/>
                            <m:ctrlPr>
                              <a:rPr lang="en-IN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IN" i="1" noProof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 noProof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IN" i="1" noProof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IN" noProof="0" dirty="0"/>
                  <a:t> for all </a:t>
                </a:r>
                <a:r>
                  <a:rPr lang="en-IN" noProof="0" dirty="0" err="1"/>
                  <a:t>i</a:t>
                </a:r>
                <a:endParaRPr lang="en-IN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C12AB4-DC12-E2E2-8E57-C9855EE99C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r="-406" b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3803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D9FE7-8EFE-9D41-6865-2B536D4D3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ChromaDB</a:t>
            </a:r>
            <a:r>
              <a:rPr lang="en-IN" noProof="0" dirty="0"/>
              <a:t> versus FAISS – Benchmarking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06CC5C-05A6-3E51-5326-C6153E74B5A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004970"/>
          <a:ext cx="105156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2412765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7320889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81698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Number of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ChromaDB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FAISS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4740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10K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5–10 </a:t>
                      </a:r>
                      <a:r>
                        <a:rPr lang="en-IN" noProof="0" dirty="0" err="1"/>
                        <a:t>ms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2–5 </a:t>
                      </a:r>
                      <a:r>
                        <a:rPr lang="en-IN" noProof="0" dirty="0" err="1"/>
                        <a:t>ms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8710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100K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20–50 </a:t>
                      </a:r>
                      <a:r>
                        <a:rPr lang="en-IN" noProof="0" dirty="0" err="1"/>
                        <a:t>ms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5–15 </a:t>
                      </a:r>
                      <a:r>
                        <a:rPr lang="en-IN" noProof="0" dirty="0" err="1"/>
                        <a:t>ms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664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1 Million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100–500 </a:t>
                      </a:r>
                      <a:r>
                        <a:rPr lang="en-IN" noProof="0" dirty="0" err="1"/>
                        <a:t>ms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20–80 </a:t>
                      </a:r>
                      <a:r>
                        <a:rPr lang="en-IN" noProof="0" dirty="0" err="1"/>
                        <a:t>ms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2508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10 Million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Seconds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&lt;200 </a:t>
                      </a:r>
                      <a:r>
                        <a:rPr lang="en-IN" noProof="0" dirty="0" err="1"/>
                        <a:t>ms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280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1887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2DF8A-3CE2-ACC3-C528-76A15C9E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Document Loaders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7A2E5-28A2-97A1-6F16-231F523FD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/>
              <a:t>Document Loader</a:t>
            </a:r>
            <a:r>
              <a:rPr lang="en-IN" noProof="0" dirty="0"/>
              <a:t>: Responsible for reading data from a source and converting it into </a:t>
            </a:r>
            <a:r>
              <a:rPr lang="en-IN" noProof="0" dirty="0" err="1"/>
              <a:t>LangChain</a:t>
            </a:r>
            <a:r>
              <a:rPr lang="en-IN" noProof="0" dirty="0"/>
              <a:t> </a:t>
            </a:r>
            <a:r>
              <a:rPr lang="en-IN" i="1" noProof="0" dirty="0"/>
              <a:t>Document </a:t>
            </a:r>
            <a:r>
              <a:rPr lang="en-IN" noProof="0" dirty="0"/>
              <a:t>objects</a:t>
            </a:r>
          </a:p>
          <a:p>
            <a:r>
              <a:rPr lang="en-IN" noProof="0" dirty="0"/>
              <a:t>Every RAG application has this</a:t>
            </a:r>
          </a:p>
          <a:p>
            <a:pPr lvl="1"/>
            <a:r>
              <a:rPr lang="en-IN" noProof="0" dirty="0"/>
              <a:t>Data Source -&gt; Document Loader -&gt; Document Objects -&gt; Text Splitter -&gt; Embeddings -&gt; Vector Database -&gt; Retriever -&gt; LLM</a:t>
            </a:r>
          </a:p>
          <a:p>
            <a:r>
              <a:rPr lang="en-IN" noProof="0" dirty="0"/>
              <a:t>Real world applications use PDF, MS-Word, HTML, CSV, Excel, etc</a:t>
            </a:r>
          </a:p>
          <a:p>
            <a:r>
              <a:rPr lang="en-IN" noProof="0" dirty="0"/>
              <a:t>One format = One loader</a:t>
            </a:r>
          </a:p>
          <a:p>
            <a:r>
              <a:rPr lang="en-IN" noProof="0" dirty="0"/>
              <a:t>Example</a:t>
            </a:r>
          </a:p>
          <a:p>
            <a:pPr lvl="1"/>
            <a:r>
              <a:rPr lang="en-IN" noProof="0" dirty="0"/>
              <a:t>from </a:t>
            </a:r>
            <a:r>
              <a:rPr lang="en-IN" noProof="0" dirty="0" err="1"/>
              <a:t>langchain_community.document_loaders</a:t>
            </a:r>
            <a:r>
              <a:rPr lang="en-IN" noProof="0" dirty="0"/>
              <a:t> import </a:t>
            </a:r>
            <a:r>
              <a:rPr lang="en-IN" noProof="0" dirty="0" err="1"/>
              <a:t>PyPDFLoader</a:t>
            </a:r>
            <a:endParaRPr lang="en-IN" noProof="0" dirty="0"/>
          </a:p>
          <a:p>
            <a:pPr lvl="1"/>
            <a:r>
              <a:rPr lang="en-IN" noProof="0" dirty="0"/>
              <a:t>loader = </a:t>
            </a:r>
            <a:r>
              <a:rPr lang="en-IN" noProof="0" dirty="0" err="1"/>
              <a:t>PyPDFLoader</a:t>
            </a:r>
            <a:r>
              <a:rPr lang="en-IN" noProof="0" dirty="0"/>
              <a:t>("banking.pdf")</a:t>
            </a:r>
          </a:p>
          <a:p>
            <a:pPr lvl="1"/>
            <a:r>
              <a:rPr lang="en-IN" noProof="0" dirty="0"/>
              <a:t>documents = </a:t>
            </a:r>
            <a:r>
              <a:rPr lang="en-IN" noProof="0" dirty="0" err="1"/>
              <a:t>loader.load</a:t>
            </a:r>
            <a:r>
              <a:rPr lang="en-IN" noProof="0" dirty="0"/>
              <a:t>()</a:t>
            </a:r>
          </a:p>
          <a:p>
            <a:r>
              <a:rPr lang="en-IN" noProof="0" dirty="0"/>
              <a:t>Each page = One document</a:t>
            </a:r>
          </a:p>
        </p:txBody>
      </p:sp>
    </p:spTree>
    <p:extLst>
      <p:ext uri="{BB962C8B-B14F-4D97-AF65-F5344CB8AC3E}">
        <p14:creationId xmlns:p14="http://schemas.microsoft.com/office/powerpoint/2010/main" val="35556938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7425-5C78-90DB-BD74-12944695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Text Splitters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BF13D-11FA-CEA1-2CE6-8075233AB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noProof="0" dirty="0"/>
              <a:t>Splitting documents before embedding them into a vector database for RAG</a:t>
            </a:r>
          </a:p>
          <a:p>
            <a:r>
              <a:rPr lang="en-IN" noProof="0" dirty="0" err="1"/>
              <a:t>RecursiveCharacterTextSplitter</a:t>
            </a:r>
            <a:r>
              <a:rPr lang="en-IN" noProof="0" dirty="0"/>
              <a:t>: Instead of cutting every N characters, it tries to split intelligently in this order</a:t>
            </a:r>
          </a:p>
          <a:p>
            <a:pPr lvl="1"/>
            <a:r>
              <a:rPr lang="en-IN" noProof="0" dirty="0"/>
              <a:t>Paragraph -&gt; New line -&gt; Sentence -&gt; Space -&gt; Character</a:t>
            </a:r>
          </a:p>
          <a:p>
            <a:pPr lvl="1"/>
            <a:r>
              <a:rPr lang="en-IN" noProof="0" dirty="0"/>
              <a:t>Example text</a:t>
            </a:r>
          </a:p>
          <a:p>
            <a:pPr lvl="2"/>
            <a:r>
              <a:rPr lang="en-IN" noProof="0" dirty="0"/>
              <a:t>Artificial Intelligence is changing the world.</a:t>
            </a:r>
          </a:p>
          <a:p>
            <a:pPr lvl="2"/>
            <a:r>
              <a:rPr lang="en-IN" noProof="0" dirty="0"/>
              <a:t>Machine Learning is one branch of AI.</a:t>
            </a:r>
          </a:p>
          <a:p>
            <a:pPr lvl="2"/>
            <a:r>
              <a:rPr lang="en-IN" noProof="0" dirty="0"/>
              <a:t>Deep Learning is a subset of Machine Learning.</a:t>
            </a:r>
          </a:p>
          <a:p>
            <a:pPr lvl="2"/>
            <a:r>
              <a:rPr lang="en-IN" noProof="0" dirty="0"/>
              <a:t>Neural Networks are inspired by the human brain.</a:t>
            </a:r>
          </a:p>
          <a:p>
            <a:pPr lvl="1"/>
            <a:r>
              <a:rPr lang="en-IN" noProof="0" dirty="0"/>
              <a:t>Suppose chunk size = 80</a:t>
            </a:r>
          </a:p>
          <a:p>
            <a:pPr lvl="1"/>
            <a:r>
              <a:rPr lang="en-IN" noProof="0" dirty="0"/>
              <a:t>First attempt: Paragraph separator – Too large</a:t>
            </a:r>
          </a:p>
          <a:p>
            <a:pPr lvl="1"/>
            <a:r>
              <a:rPr lang="en-IN" noProof="0" dirty="0"/>
              <a:t>Second attempt: New line separator – Result: 4 chunks – Preserves complete sentences</a:t>
            </a:r>
          </a:p>
          <a:p>
            <a:r>
              <a:rPr lang="en-IN" noProof="0" dirty="0" err="1"/>
              <a:t>SemanticChunker</a:t>
            </a:r>
            <a:r>
              <a:rPr lang="en-IN" noProof="0" dirty="0"/>
              <a:t>: Uses meaning</a:t>
            </a:r>
          </a:p>
          <a:p>
            <a:pPr lvl="1"/>
            <a:r>
              <a:rPr lang="en-IN" noProof="0" dirty="0"/>
              <a:t>Instead of </a:t>
            </a:r>
            <a:r>
              <a:rPr lang="en-IN" i="1" noProof="0" dirty="0"/>
              <a:t>How many characters</a:t>
            </a:r>
            <a:r>
              <a:rPr lang="en-IN" noProof="0" dirty="0"/>
              <a:t>, asks </a:t>
            </a:r>
            <a:r>
              <a:rPr lang="en-IN" i="1" noProof="0" dirty="0"/>
              <a:t>Does the topic change here?</a:t>
            </a:r>
            <a:endParaRPr lang="en-IN" noProof="0" dirty="0"/>
          </a:p>
          <a:p>
            <a:pPr lvl="1"/>
            <a:r>
              <a:rPr lang="en-IN" noProof="0" dirty="0"/>
              <a:t>Computes embeddings and decides</a:t>
            </a:r>
          </a:p>
          <a:p>
            <a:r>
              <a:rPr lang="en-IN" noProof="0" dirty="0"/>
              <a:t>C:\code\agenticai\14_advanced\05_langchain\text_splitters.py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3310121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FB8D-6DE1-DCF3-DCE3-89EB30A93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Building a RAG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7EDE1-7973-64EB-8CB5-432683A90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Documents (PDF, Word, Web, CSV, Database) → Document Loader → Raw Document Objects → Text Splitter → Small Text Chunks → Embedding Model → Embeddings (Vector Representations) → Vector Database (Chroma / FAISS / Pinecone) ← User Question → Question Embedding → Retriever (Similarity Search) → Top-K Relevant Chunks → Prompt (Context + User Question) → LLM / Generator → Final Answer</a:t>
            </a:r>
          </a:p>
          <a:p>
            <a:r>
              <a:rPr lang="en-IN" noProof="0" dirty="0"/>
              <a:t>C:\code\agenticai\14_advanced\05_langchain\rag_pipeline.py</a:t>
            </a:r>
          </a:p>
        </p:txBody>
      </p:sp>
    </p:spTree>
    <p:extLst>
      <p:ext uri="{BB962C8B-B14F-4D97-AF65-F5344CB8AC3E}">
        <p14:creationId xmlns:p14="http://schemas.microsoft.com/office/powerpoint/2010/main" val="31598603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8D506-5293-71EB-A58D-4016E2C7A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Retrievers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AE061-4676-F28D-7767-31359B243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noProof="0" dirty="0"/>
              <a:t>Retriever</a:t>
            </a:r>
            <a:r>
              <a:rPr lang="en-IN" noProof="0" dirty="0"/>
              <a:t>: Responsible for finding the most relevant documents for a user's query</a:t>
            </a:r>
          </a:p>
          <a:p>
            <a:r>
              <a:rPr lang="en-IN" noProof="0" dirty="0"/>
              <a:t>Instead of sending every document to the LLM, the retriever selects only the most relevant ones</a:t>
            </a:r>
          </a:p>
          <a:p>
            <a:r>
              <a:rPr lang="en-IN" noProof="0" dirty="0"/>
              <a:t>Knowledge Base → Document Loader → Text Splitter → Embedding Model → Vector Database ← User Question → Question Embedding → </a:t>
            </a:r>
            <a:r>
              <a:rPr lang="en-IN" noProof="0" dirty="0">
                <a:solidFill>
                  <a:srgbClr val="FF0000"/>
                </a:solidFill>
              </a:rPr>
              <a:t>Retriever</a:t>
            </a:r>
            <a:r>
              <a:rPr lang="en-IN" noProof="0" dirty="0"/>
              <a:t> → Relevant Chunks → Prompt (Context + Question) → LLM → Final Answer</a:t>
            </a:r>
          </a:p>
          <a:p>
            <a:r>
              <a:rPr lang="en-IN" noProof="0" dirty="0"/>
              <a:t>Bridge between the vector database and the LLM</a:t>
            </a:r>
          </a:p>
          <a:p>
            <a:r>
              <a:rPr lang="en-IN" noProof="0" dirty="0"/>
              <a:t>Instead of sending all documents, the retriever selects only the relevant chunks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888195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05689-A6A2-D4D5-8DA9-626A8D97A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1D7C7-8598-B920-BAF9-27C775379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noProof="0" dirty="0"/>
              <a:t>Retriever Types (C:\code\</a:t>
            </a:r>
            <a:r>
              <a:rPr lang="en-IN" sz="3200" noProof="0" dirty="0" err="1"/>
              <a:t>agenticai</a:t>
            </a:r>
            <a:r>
              <a:rPr lang="en-IN" sz="3200" noProof="0" dirty="0"/>
              <a:t>\14_advanced\05_langchain\retrievers.py)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EDACFFA-2340-19CE-6675-B391A1EB6B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538254"/>
          <a:ext cx="10515600" cy="3169920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63188079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47133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Retriever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5589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 err="1"/>
                        <a:t>VectorStoreRetriever</a:t>
                      </a:r>
                      <a:endParaRPr lang="en-IN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Basic similarity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447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 err="1"/>
                        <a:t>MultiQueryRetriever</a:t>
                      </a:r>
                      <a:endParaRPr lang="en-IN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Multiple query reformulations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1920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 err="1"/>
                        <a:t>ContextualCompressionRetriever</a:t>
                      </a:r>
                      <a:endParaRPr lang="en-IN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Reduce irrelevant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4152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 err="1"/>
                        <a:t>SelfQueryRetriever</a:t>
                      </a:r>
                      <a:endParaRPr lang="en-IN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Uses metadata filters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9687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 err="1"/>
                        <a:t>ParentDocumentRetriever</a:t>
                      </a:r>
                      <a:endParaRPr lang="en-IN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Retrieve larger parent documents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182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 err="1"/>
                        <a:t>MultiVectorRetriever</a:t>
                      </a:r>
                      <a:endParaRPr lang="en-IN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Multiple embeddings per document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597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 err="1"/>
                        <a:t>EnsembleRetriever</a:t>
                      </a:r>
                      <a:endParaRPr lang="en-IN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Combine multiple retrieval methods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982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4988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9B963-F6CC-D7CD-B353-797825D47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Callbacks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B059D-16E8-E06D-CE7D-69CF7119D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noProof="0" dirty="0"/>
              <a:t>When building an LLM application, we often need to know:</a:t>
            </a:r>
          </a:p>
          <a:p>
            <a:pPr lvl="1"/>
            <a:r>
              <a:rPr lang="en-IN" noProof="0" dirty="0"/>
              <a:t>What prompt was sent? </a:t>
            </a:r>
          </a:p>
          <a:p>
            <a:pPr lvl="1"/>
            <a:r>
              <a:rPr lang="en-IN" noProof="0" dirty="0"/>
              <a:t>Which documents were retrieved? </a:t>
            </a:r>
          </a:p>
          <a:p>
            <a:pPr lvl="1"/>
            <a:r>
              <a:rPr lang="en-IN" noProof="0" dirty="0"/>
              <a:t>How many tokens were used? </a:t>
            </a:r>
          </a:p>
          <a:p>
            <a:pPr lvl="1"/>
            <a:r>
              <a:rPr lang="en-IN" noProof="0" dirty="0"/>
              <a:t>How long did the LLM take? </a:t>
            </a:r>
          </a:p>
          <a:p>
            <a:pPr lvl="1"/>
            <a:r>
              <a:rPr lang="en-IN" noProof="0" dirty="0"/>
              <a:t>Which tool was called? </a:t>
            </a:r>
          </a:p>
          <a:p>
            <a:pPr lvl="1"/>
            <a:r>
              <a:rPr lang="en-IN" noProof="0" dirty="0"/>
              <a:t>Did an error occur? </a:t>
            </a:r>
          </a:p>
          <a:p>
            <a:r>
              <a:rPr lang="en-IN" noProof="0" dirty="0"/>
              <a:t>Callbacks provide visibility into every stage of execution</a:t>
            </a:r>
          </a:p>
          <a:p>
            <a:r>
              <a:rPr lang="en-IN" b="1" noProof="0" dirty="0"/>
              <a:t>Callback</a:t>
            </a:r>
            <a:r>
              <a:rPr lang="en-IN" noProof="0" dirty="0"/>
              <a:t>: A function that automatically executes when a particular event occurs</a:t>
            </a:r>
          </a:p>
          <a:p>
            <a:r>
              <a:rPr lang="en-IN" noProof="0" dirty="0"/>
              <a:t>Example events:</a:t>
            </a:r>
          </a:p>
          <a:p>
            <a:pPr lvl="1"/>
            <a:r>
              <a:rPr lang="en-IN" noProof="0" dirty="0"/>
              <a:t>LLM starts </a:t>
            </a:r>
          </a:p>
          <a:p>
            <a:pPr lvl="1"/>
            <a:r>
              <a:rPr lang="en-IN" noProof="0" dirty="0"/>
              <a:t>LLM finishes </a:t>
            </a:r>
          </a:p>
          <a:p>
            <a:pPr lvl="1"/>
            <a:r>
              <a:rPr lang="en-IN" noProof="0" dirty="0"/>
              <a:t>Retriever starts </a:t>
            </a:r>
          </a:p>
          <a:p>
            <a:pPr lvl="1"/>
            <a:r>
              <a:rPr lang="en-IN" noProof="0" dirty="0"/>
              <a:t>Retriever finishes </a:t>
            </a:r>
          </a:p>
          <a:p>
            <a:pPr lvl="1"/>
            <a:r>
              <a:rPr lang="en-IN" noProof="0" dirty="0"/>
              <a:t>Tool executes </a:t>
            </a:r>
          </a:p>
          <a:p>
            <a:pPr lvl="1"/>
            <a:r>
              <a:rPr lang="en-IN" noProof="0" dirty="0"/>
              <a:t>Chain starts </a:t>
            </a:r>
          </a:p>
          <a:p>
            <a:pPr lvl="1"/>
            <a:r>
              <a:rPr lang="en-IN" noProof="0" dirty="0"/>
              <a:t>Chain ends </a:t>
            </a:r>
          </a:p>
          <a:p>
            <a:pPr lvl="1"/>
            <a:r>
              <a:rPr lang="en-IN" noProof="0" dirty="0"/>
              <a:t>Error occurs</a:t>
            </a:r>
          </a:p>
          <a:p>
            <a:r>
              <a:rPr lang="en-IN" noProof="0" dirty="0"/>
              <a:t>14_advanced\05_langchain\retrievers.py and 14_advanced\05_langchain\langsmith_tracing.py</a:t>
            </a:r>
          </a:p>
        </p:txBody>
      </p:sp>
    </p:spTree>
    <p:extLst>
      <p:ext uri="{BB962C8B-B14F-4D97-AF65-F5344CB8AC3E}">
        <p14:creationId xmlns:p14="http://schemas.microsoft.com/office/powerpoint/2010/main" val="4985081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D7A59-358F-FBDF-F265-3217A07C3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Chaining Multiple Retrievers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55F12-0816-ADD2-984C-21B82A81F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noProof="0" dirty="0"/>
              <a:t>Suppose your organization stores knowledge in multiple locations</a:t>
            </a:r>
          </a:p>
          <a:p>
            <a:pPr lvl="1"/>
            <a:r>
              <a:rPr lang="en-IN" noProof="0" dirty="0"/>
              <a:t>PDF manuals </a:t>
            </a:r>
          </a:p>
          <a:p>
            <a:pPr lvl="1"/>
            <a:r>
              <a:rPr lang="en-IN" noProof="0" dirty="0"/>
              <a:t>Company website </a:t>
            </a:r>
          </a:p>
          <a:p>
            <a:pPr lvl="1"/>
            <a:r>
              <a:rPr lang="en-IN" noProof="0" dirty="0"/>
              <a:t>Notion </a:t>
            </a:r>
          </a:p>
          <a:p>
            <a:pPr lvl="1"/>
            <a:r>
              <a:rPr lang="en-IN" noProof="0" dirty="0"/>
              <a:t>SQL database </a:t>
            </a:r>
          </a:p>
          <a:p>
            <a:pPr lvl="1"/>
            <a:r>
              <a:rPr lang="en-IN" noProof="0" dirty="0"/>
              <a:t>FAQ documents</a:t>
            </a:r>
          </a:p>
          <a:p>
            <a:r>
              <a:rPr lang="en-IN" noProof="0" dirty="0"/>
              <a:t>A single retriever searches only one knowledge source</a:t>
            </a:r>
          </a:p>
          <a:p>
            <a:r>
              <a:rPr lang="en-IN" noProof="0" dirty="0"/>
              <a:t>Multiple retrievers allow searching all sources simultaneously</a:t>
            </a:r>
          </a:p>
          <a:p>
            <a:endParaRPr lang="en-IN" noProof="0" dirty="0"/>
          </a:p>
          <a:p>
            <a:r>
              <a:rPr lang="en-IN" noProof="0" dirty="0"/>
              <a:t>C:\code\agenticai\14_advanced\05_langchain\combining_retrievers.py</a:t>
            </a:r>
          </a:p>
        </p:txBody>
      </p:sp>
    </p:spTree>
    <p:extLst>
      <p:ext uri="{BB962C8B-B14F-4D97-AF65-F5344CB8AC3E}">
        <p14:creationId xmlns:p14="http://schemas.microsoft.com/office/powerpoint/2010/main" val="18184828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EAF35-C34E-DFBA-3F36-1CB3B7DE9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LangServe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CAA29-4C17-AE45-D1FE-14E70AB2A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noProof="0" dirty="0" err="1"/>
              <a:t>LangServe</a:t>
            </a:r>
            <a:r>
              <a:rPr lang="en-US" noProof="0" dirty="0"/>
              <a:t>: Official way to turn our </a:t>
            </a:r>
            <a:r>
              <a:rPr lang="en-US" noProof="0" dirty="0" err="1"/>
              <a:t>LangChain</a:t>
            </a:r>
            <a:r>
              <a:rPr lang="en-US" noProof="0" dirty="0"/>
              <a:t> </a:t>
            </a:r>
            <a:r>
              <a:rPr lang="en-US" noProof="0" dirty="0" err="1"/>
              <a:t>runnables</a:t>
            </a:r>
            <a:r>
              <a:rPr lang="en-US" noProof="0" dirty="0"/>
              <a:t> and chains into a REST API</a:t>
            </a:r>
          </a:p>
          <a:p>
            <a:r>
              <a:rPr lang="en-US" noProof="0" dirty="0"/>
              <a:t>Built on top of </a:t>
            </a:r>
            <a:r>
              <a:rPr lang="en-US" noProof="0" dirty="0" err="1"/>
              <a:t>FastAPI</a:t>
            </a:r>
            <a:r>
              <a:rPr lang="en-US" noProof="0" dirty="0"/>
              <a:t> </a:t>
            </a:r>
          </a:p>
          <a:p>
            <a:r>
              <a:rPr lang="en-US" noProof="0" dirty="0"/>
              <a:t>Automatically handles the complex parts of deployment, like schema validation, multiple endpoints (/invoke, /batch, /stream), and even a built-in interactive playground</a:t>
            </a:r>
          </a:p>
          <a:p>
            <a:r>
              <a:rPr lang="en-US" noProof="0" dirty="0"/>
              <a:t>We register our </a:t>
            </a:r>
            <a:r>
              <a:rPr lang="en-US" noProof="0" dirty="0" err="1"/>
              <a:t>LangChain</a:t>
            </a:r>
            <a:r>
              <a:rPr lang="en-US" noProof="0" dirty="0"/>
              <a:t> code and register with a path – </a:t>
            </a:r>
            <a:r>
              <a:rPr lang="en-US" noProof="0" dirty="0" err="1"/>
              <a:t>LangServe</a:t>
            </a:r>
            <a:r>
              <a:rPr lang="en-US" noProof="0" dirty="0"/>
              <a:t> creates</a:t>
            </a:r>
          </a:p>
          <a:p>
            <a:pPr lvl="1"/>
            <a:r>
              <a:rPr lang="en-US" noProof="0" dirty="0"/>
              <a:t>API endpoints</a:t>
            </a:r>
          </a:p>
          <a:p>
            <a:pPr lvl="1"/>
            <a:r>
              <a:rPr lang="en-US" noProof="0" dirty="0"/>
              <a:t>Schema (Automatic JSON validation using </a:t>
            </a:r>
            <a:r>
              <a:rPr lang="en-US" noProof="0" dirty="0" err="1"/>
              <a:t>Pydantic</a:t>
            </a:r>
            <a:r>
              <a:rPr lang="en-US" noProof="0" dirty="0"/>
              <a:t>)</a:t>
            </a:r>
          </a:p>
          <a:p>
            <a:pPr lvl="1"/>
            <a:r>
              <a:rPr lang="en-US" noProof="0" dirty="0"/>
              <a:t>Playground to test the chain</a:t>
            </a:r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740876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5A707-793A-6072-DD44-0BEEA0695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962DD-4C99-5694-6A43-77412E988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LangServe</a:t>
            </a:r>
            <a:r>
              <a:rPr lang="en-US" noProof="0" dirty="0"/>
              <a:t>: How to 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E8B8-6FE4-276E-90D2-568DC95F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Create deployment code and run it: C:\code\agenticai_realpage\module_2\2_langchain_server.py</a:t>
            </a:r>
          </a:p>
          <a:p>
            <a:endParaRPr lang="en-US" noProof="0" dirty="0"/>
          </a:p>
          <a:p>
            <a:r>
              <a:rPr lang="en-US" noProof="0" dirty="0"/>
              <a:t>To test, browser: </a:t>
            </a:r>
            <a:r>
              <a:rPr lang="en-US" noProof="0" dirty="0">
                <a:hlinkClick r:id="rId2"/>
              </a:rPr>
              <a:t>http://localhost:8000/</a:t>
            </a:r>
            <a:r>
              <a:rPr lang="en-US">
                <a:hlinkClick r:id="rId2"/>
              </a:rPr>
              <a:t>ask</a:t>
            </a:r>
            <a:r>
              <a:rPr lang="en-US" noProof="0">
                <a:hlinkClick r:id="rId2"/>
              </a:rPr>
              <a:t>/</a:t>
            </a:r>
            <a:r>
              <a:rPr lang="en-US" noProof="0" dirty="0">
                <a:hlinkClick r:id="rId2"/>
              </a:rPr>
              <a:t>playground/</a:t>
            </a:r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Through code: C:\code\agenticai_realpage\module_2\2_langchain_test_server.py</a:t>
            </a:r>
          </a:p>
          <a:p>
            <a:pPr lvl="1"/>
            <a:r>
              <a:rPr lang="en-US" dirty="0"/>
              <a:t>To run, Terminal -&gt; New Terminal Window and then run it</a:t>
            </a:r>
            <a:endParaRPr lang="en-US" noProof="0" dirty="0"/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464564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32938-B1F2-F5E3-DA83-1F8D78AF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Build a Q&amp;A Bot from PDFs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B4CAF-D7BC-CBC6-ACB6-4C41425BE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Chroma DB, Insurance example: </a:t>
            </a:r>
            <a:r>
              <a:rPr lang="fr-FR" dirty="0"/>
              <a:t>C:\code\agenticai_realpage\module_2\2_langchain_qand_a_bot_chroma.py</a:t>
            </a:r>
          </a:p>
          <a:p>
            <a:r>
              <a:rPr lang="fr-FR" dirty="0"/>
              <a:t>Test: Browser - </a:t>
            </a:r>
            <a:r>
              <a:rPr lang="fr-FR" dirty="0">
                <a:hlinkClick r:id="rId2"/>
              </a:rPr>
              <a:t>http://localhost:8000/ask/playground/</a:t>
            </a:r>
            <a:endParaRPr lang="fr-FR" dirty="0"/>
          </a:p>
          <a:p>
            <a:endParaRPr lang="fr-FR" dirty="0"/>
          </a:p>
          <a:p>
            <a:r>
              <a:rPr lang="fr-FR" dirty="0"/>
              <a:t>FAISS: C:\code\agenticai_realpage\module_2\2_langchain_qanda_bot_faiss.py</a:t>
            </a:r>
          </a:p>
          <a:p>
            <a:r>
              <a:rPr lang="fr-FR" dirty="0"/>
              <a:t>Test: Browser - </a:t>
            </a:r>
            <a:r>
              <a:rPr lang="fr-FR" dirty="0">
                <a:hlinkClick r:id="rId2"/>
              </a:rPr>
              <a:t>http://localhost:8000/ask/playground/</a:t>
            </a:r>
            <a:endParaRPr lang="fr-FR" dirty="0"/>
          </a:p>
          <a:p>
            <a:endParaRPr lang="fr-FR" dirty="0"/>
          </a:p>
          <a:p>
            <a:r>
              <a:rPr lang="en-US" dirty="0"/>
              <a:t>While Chroma manages a directory of files automatically, FAISS typically saves to a single .index file along with a .</a:t>
            </a:r>
            <a:r>
              <a:rPr lang="en-US" dirty="0" err="1"/>
              <a:t>pkl</a:t>
            </a:r>
            <a:r>
              <a:rPr lang="en-US" dirty="0"/>
              <a:t> for the documents</a:t>
            </a:r>
          </a:p>
          <a:p>
            <a:r>
              <a:rPr lang="en-US" dirty="0"/>
              <a:t>In </a:t>
            </a:r>
            <a:r>
              <a:rPr lang="en-US" dirty="0" err="1"/>
              <a:t>LangChain</a:t>
            </a:r>
            <a:r>
              <a:rPr lang="en-US" dirty="0"/>
              <a:t>, we use </a:t>
            </a:r>
            <a:r>
              <a:rPr lang="en-US" dirty="0" err="1"/>
              <a:t>save_local</a:t>
            </a:r>
            <a:r>
              <a:rPr lang="en-US" dirty="0"/>
              <a:t> and </a:t>
            </a:r>
            <a:r>
              <a:rPr lang="en-US" dirty="0" err="1"/>
              <a:t>load_local</a:t>
            </a:r>
            <a:r>
              <a:rPr lang="en-US" dirty="0"/>
              <a:t> for this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147980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428B18-A60C-0260-5F11-5D133AE98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3: </a:t>
            </a:r>
            <a:r>
              <a:rPr lang="en-IN" dirty="0" err="1"/>
              <a:t>LangGraph</a:t>
            </a:r>
            <a:r>
              <a:rPr lang="en-IN" dirty="0"/>
              <a:t> for Stateful Agents and HITL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37C957-A7A4-EC96-E14A-A3ECB40F7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746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62C42-D7A6-3955-158D-394FB16F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98D0F-0697-A494-7718-238D86761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4254"/>
          </a:xfrm>
        </p:spPr>
        <p:txBody>
          <a:bodyPr>
            <a:normAutofit fontScale="90000"/>
          </a:bodyPr>
          <a:lstStyle/>
          <a:p>
            <a:r>
              <a:rPr lang="en-IN" noProof="0" dirty="0" err="1"/>
              <a:t>LangChain</a:t>
            </a:r>
            <a:r>
              <a:rPr lang="en-IN" noProof="0" dirty="0"/>
              <a:t> versus </a:t>
            </a:r>
            <a:r>
              <a:rPr lang="en-IN" noProof="0" dirty="0" err="1"/>
              <a:t>LangGraph</a:t>
            </a:r>
            <a:endParaRPr lang="en-IN" noProof="0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303E528-C456-D6E5-6A45-8AD2408F14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21380" y="823658"/>
          <a:ext cx="10323645" cy="56015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066125">
                  <a:extLst>
                    <a:ext uri="{9D8B030D-6E8A-4147-A177-3AD203B41FA5}">
                      <a16:colId xmlns:a16="http://schemas.microsoft.com/office/drawing/2014/main" val="2346622512"/>
                    </a:ext>
                  </a:extLst>
                </a:gridCol>
                <a:gridCol w="3999628">
                  <a:extLst>
                    <a:ext uri="{9D8B030D-6E8A-4147-A177-3AD203B41FA5}">
                      <a16:colId xmlns:a16="http://schemas.microsoft.com/office/drawing/2014/main" val="982790813"/>
                    </a:ext>
                  </a:extLst>
                </a:gridCol>
                <a:gridCol w="4257892">
                  <a:extLst>
                    <a:ext uri="{9D8B030D-6E8A-4147-A177-3AD203B41FA5}">
                      <a16:colId xmlns:a16="http://schemas.microsoft.com/office/drawing/2014/main" val="1860951309"/>
                    </a:ext>
                  </a:extLst>
                </a:gridCol>
              </a:tblGrid>
              <a:tr h="324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Aspect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 err="1"/>
                        <a:t>LangChain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 err="1"/>
                        <a:t>LangGraph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707437247"/>
                  </a:ext>
                </a:extLst>
              </a:tr>
              <a:tr h="810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Purpose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Use LLMs as agents with access to external tools (APIs, databases, etc.)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Build complex, stateful, multi-agent applications with LLMs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511167962"/>
                  </a:ext>
                </a:extLst>
              </a:tr>
              <a:tr h="56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Workflow type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Simple, single-step or short workflows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Complex, multi-step, long-running workflows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673393596"/>
                  </a:ext>
                </a:extLst>
              </a:tr>
              <a:tr h="56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Agents involved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Usually one agent handling requests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Multiple agents collaborating and interacting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219371625"/>
                  </a:ext>
                </a:extLst>
              </a:tr>
              <a:tr h="56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State management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Minimal or stateless; memory handled externally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Built-in memory/state tracking across interactions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081419289"/>
                  </a:ext>
                </a:extLst>
              </a:tr>
              <a:tr h="810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Dynamic execution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Limited; follows predefined steps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Supports dynamic branching, agent coordination, and runtime decisions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4125623054"/>
                  </a:ext>
                </a:extLst>
              </a:tr>
              <a:tr h="56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Best for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Chatbots, calculators, document queries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Automation systems, multi-agent orchestration, AI workflows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539083421"/>
                  </a:ext>
                </a:extLst>
              </a:tr>
              <a:tr h="56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Learning curve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Easier; basic LLM + tools interface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Steeper; requires understanding of agents, state, and coordination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449461024"/>
                  </a:ext>
                </a:extLst>
              </a:tr>
              <a:tr h="56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Relationship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Foundational concepts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Builds on and extends </a:t>
                      </a:r>
                      <a:r>
                        <a:rPr lang="en-IN" sz="1800" noProof="0" dirty="0" err="1"/>
                        <a:t>LangChain</a:t>
                      </a:r>
                      <a:r>
                        <a:rPr lang="en-IN" sz="1800" noProof="0" dirty="0"/>
                        <a:t> principles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070771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4693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3D703-6E19-8FBC-9BD2-EF7DFFADD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3D721-80DB-A4D9-A42C-8A20B514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LangGraph</a:t>
            </a:r>
            <a:r>
              <a:rPr lang="en-IN" noProof="0" dirty="0"/>
              <a:t>: </a:t>
            </a:r>
            <a:br>
              <a:rPr lang="en-IN" noProof="0" dirty="0"/>
            </a:br>
            <a:r>
              <a:rPr lang="en-IN" noProof="0" dirty="0"/>
              <a:t>Key Components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E164C3-67EF-F87D-8F4B-E47071DBC200}"/>
              </a:ext>
            </a:extLst>
          </p:cNvPr>
          <p:cNvSpPr txBox="1"/>
          <p:nvPr/>
        </p:nvSpPr>
        <p:spPr>
          <a:xfrm>
            <a:off x="2242473" y="5375391"/>
            <a:ext cx="3629098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>
                <a:solidFill>
                  <a:schemeClr val="bg1"/>
                </a:solidFill>
              </a:rPr>
              <a:t>Data structure that describes the information flowing through the graph at each stage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17A50-29C9-8511-C8E3-B87C7C526914}"/>
              </a:ext>
            </a:extLst>
          </p:cNvPr>
          <p:cNvSpPr txBox="1"/>
          <p:nvPr/>
        </p:nvSpPr>
        <p:spPr>
          <a:xfrm>
            <a:off x="2269132" y="2258311"/>
            <a:ext cx="3629098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>
                <a:solidFill>
                  <a:schemeClr val="bg1"/>
                </a:solidFill>
              </a:rPr>
              <a:t>Step or operation in the graph – Takes an input state and produces an output state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6E926-85D9-FC16-9E86-D78290A7A364}"/>
              </a:ext>
            </a:extLst>
          </p:cNvPr>
          <p:cNvSpPr txBox="1"/>
          <p:nvPr/>
        </p:nvSpPr>
        <p:spPr>
          <a:xfrm>
            <a:off x="2269132" y="4121410"/>
            <a:ext cx="3629098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>
                <a:solidFill>
                  <a:schemeClr val="bg1"/>
                </a:solidFill>
              </a:rPr>
              <a:t>Connects two nodes and decides how information flows through them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DD474-090A-F881-C9C9-3A3C09399BBE}"/>
              </a:ext>
            </a:extLst>
          </p:cNvPr>
          <p:cNvSpPr txBox="1"/>
          <p:nvPr/>
        </p:nvSpPr>
        <p:spPr>
          <a:xfrm>
            <a:off x="5871571" y="423490"/>
            <a:ext cx="3629098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>
                <a:solidFill>
                  <a:schemeClr val="bg1"/>
                </a:solidFill>
              </a:rPr>
              <a:t>The overall structure that organizes nodes and edges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6C80D0-CE97-8D71-EFE3-C2B43EC2C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873" y="1195935"/>
            <a:ext cx="3312495" cy="539332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D9B548EF-589E-DC04-C7E0-608E3985A153}"/>
              </a:ext>
            </a:extLst>
          </p:cNvPr>
          <p:cNvSpPr/>
          <p:nvPr/>
        </p:nvSpPr>
        <p:spPr>
          <a:xfrm>
            <a:off x="1024295" y="2443048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Node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38CF3B4-29BD-B289-F395-AF709CB2C470}"/>
              </a:ext>
            </a:extLst>
          </p:cNvPr>
          <p:cNvSpPr/>
          <p:nvPr/>
        </p:nvSpPr>
        <p:spPr>
          <a:xfrm>
            <a:off x="1024295" y="4174428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Edge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58EDEA-1E5C-6465-3D4D-81D933BF5887}"/>
              </a:ext>
            </a:extLst>
          </p:cNvPr>
          <p:cNvSpPr/>
          <p:nvPr/>
        </p:nvSpPr>
        <p:spPr>
          <a:xfrm>
            <a:off x="9619807" y="434593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Graph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8151AD-D564-9BF3-31AD-56AC5D3A5760}"/>
              </a:ext>
            </a:extLst>
          </p:cNvPr>
          <p:cNvSpPr/>
          <p:nvPr/>
        </p:nvSpPr>
        <p:spPr>
          <a:xfrm>
            <a:off x="1035396" y="5540399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State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A2205B-1530-2A89-ADFC-BC7726C64C8A}"/>
              </a:ext>
            </a:extLst>
          </p:cNvPr>
          <p:cNvCxnSpPr/>
          <p:nvPr/>
        </p:nvCxnSpPr>
        <p:spPr>
          <a:xfrm>
            <a:off x="5947091" y="5772581"/>
            <a:ext cx="1347169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0CCB02A-8881-0160-9F83-48A7B89F1939}"/>
              </a:ext>
            </a:extLst>
          </p:cNvPr>
          <p:cNvSpPr txBox="1"/>
          <p:nvPr/>
        </p:nvSpPr>
        <p:spPr>
          <a:xfrm>
            <a:off x="8187720" y="5464598"/>
            <a:ext cx="928361" cy="646331"/>
          </a:xfrm>
          <a:prstGeom prst="rect">
            <a:avLst/>
          </a:prstGeom>
          <a:gradFill>
            <a:gsLst>
              <a:gs pos="0">
                <a:srgbClr val="FFFF0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noProof="0" dirty="0"/>
              <a:t>Final balance</a:t>
            </a:r>
          </a:p>
        </p:txBody>
      </p:sp>
    </p:spTree>
    <p:extLst>
      <p:ext uri="{BB962C8B-B14F-4D97-AF65-F5344CB8AC3E}">
        <p14:creationId xmlns:p14="http://schemas.microsoft.com/office/powerpoint/2010/main" val="33972349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E631A-5B43-426A-4481-A91BA2DE3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837D-9543-B95F-D9A8-C2ABD6B7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Application </a:t>
            </a:r>
            <a:r>
              <a:rPr lang="en-IN" sz="3200" noProof="0" dirty="0"/>
              <a:t>(3_1_langgraph_basic.py)</a:t>
            </a:r>
            <a:endParaRPr lang="en-IN" sz="3600" noProof="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BA39C2E-21FA-04A5-51F0-156EE364917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72586" y="1837794"/>
          <a:ext cx="5884269" cy="2164080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430932">
                  <a:extLst>
                    <a:ext uri="{9D8B030D-6E8A-4147-A177-3AD203B41FA5}">
                      <a16:colId xmlns:a16="http://schemas.microsoft.com/office/drawing/2014/main" val="2390569819"/>
                    </a:ext>
                  </a:extLst>
                </a:gridCol>
                <a:gridCol w="4453337">
                  <a:extLst>
                    <a:ext uri="{9D8B030D-6E8A-4147-A177-3AD203B41FA5}">
                      <a16:colId xmlns:a16="http://schemas.microsoft.com/office/drawing/2014/main" val="3223538110"/>
                    </a:ext>
                  </a:extLst>
                </a:gridCol>
              </a:tblGrid>
              <a:tr h="172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Class / 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3162"/>
                  </a:ext>
                </a:extLst>
              </a:tr>
              <a:tr h="301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 err="1"/>
                        <a:t>StateGraph</a:t>
                      </a:r>
                      <a:endParaRPr lang="en-IN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The main class for building graphs in </a:t>
                      </a:r>
                      <a:r>
                        <a:rPr lang="en-IN" sz="1400" noProof="0" dirty="0" err="1"/>
                        <a:t>LangGraph</a:t>
                      </a:r>
                      <a:endParaRPr lang="en-IN" sz="14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452833"/>
                  </a:ext>
                </a:extLst>
              </a:tr>
              <a:tr h="430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START / END</a:t>
                      </a:r>
                      <a:endParaRPr lang="en-IN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Special constants representing entry and exit points of the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4298840"/>
                  </a:ext>
                </a:extLst>
              </a:tr>
              <a:tr h="430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 err="1"/>
                        <a:t>ChatOpenAI</a:t>
                      </a:r>
                      <a:endParaRPr lang="en-IN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The OpenAI integration from </a:t>
                      </a:r>
                      <a:r>
                        <a:rPr lang="en-IN" sz="1400" noProof="0" dirty="0" err="1"/>
                        <a:t>LangChain</a:t>
                      </a:r>
                      <a:r>
                        <a:rPr lang="en-IN" sz="1400" noProof="0" dirty="0"/>
                        <a:t>, used for connecting language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70750"/>
                  </a:ext>
                </a:extLst>
              </a:tr>
              <a:tr h="430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 err="1"/>
                        <a:t>TypedDict</a:t>
                      </a:r>
                      <a:endParaRPr lang="en-IN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Used to define the structure and types of data that flows through the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623594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A50B62-FCEB-47AB-2A9F-A11A867AC038}"/>
              </a:ext>
            </a:extLst>
          </p:cNvPr>
          <p:cNvSpPr txBox="1"/>
          <p:nvPr/>
        </p:nvSpPr>
        <p:spPr>
          <a:xfrm>
            <a:off x="169854" y="2394193"/>
            <a:ext cx="5517809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langgraph.graph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, START, END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langchain_openai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ChatOpenAI</a:t>
            </a:r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typing import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DED3AF-2217-4A8D-6B65-92820AFA4A0B}"/>
              </a:ext>
            </a:extLst>
          </p:cNvPr>
          <p:cNvSpPr txBox="1"/>
          <p:nvPr/>
        </p:nvSpPr>
        <p:spPr>
          <a:xfrm>
            <a:off x="169853" y="4612718"/>
            <a:ext cx="5517809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 str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greeting: str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messages: list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2C7F87-A376-7B1B-4A15-1C2AF6E56FF9}"/>
              </a:ext>
            </a:extLst>
          </p:cNvPr>
          <p:cNvSpPr txBox="1"/>
          <p:nvPr/>
        </p:nvSpPr>
        <p:spPr>
          <a:xfrm>
            <a:off x="5772585" y="4292794"/>
            <a:ext cx="5884269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 err="1"/>
              <a:t>LangGraph</a:t>
            </a:r>
            <a:r>
              <a:rPr lang="en-IN" noProof="0" dirty="0"/>
              <a:t> uses a </a:t>
            </a:r>
            <a:r>
              <a:rPr lang="en-IN" noProof="0" dirty="0">
                <a:solidFill>
                  <a:srgbClr val="FF0000"/>
                </a:solidFill>
              </a:rPr>
              <a:t>state-based architecture</a:t>
            </a:r>
            <a:r>
              <a:rPr lang="en-IN" noProof="0" dirty="0"/>
              <a:t>. Instead of passing data between individual nodes, all data flows through a shared "state" object. Think of it like a shared clipboard that each step can read from and write to.</a:t>
            </a:r>
          </a:p>
          <a:p>
            <a:endParaRPr lang="en-IN" noProof="0" dirty="0"/>
          </a:p>
          <a:p>
            <a:r>
              <a:rPr lang="en-IN" noProof="0" dirty="0" err="1"/>
              <a:t>user_name</a:t>
            </a:r>
            <a:r>
              <a:rPr lang="en-IN" noProof="0" dirty="0"/>
              <a:t>: Stores the user's name</a:t>
            </a:r>
          </a:p>
          <a:p>
            <a:r>
              <a:rPr lang="en-IN" noProof="0" dirty="0"/>
              <a:t>greeting: Stores the generated greeting message</a:t>
            </a:r>
          </a:p>
          <a:p>
            <a:r>
              <a:rPr lang="en-IN" noProof="0" dirty="0"/>
              <a:t>messages: Keeps a log of the conversation</a:t>
            </a:r>
          </a:p>
        </p:txBody>
      </p:sp>
    </p:spTree>
    <p:extLst>
      <p:ext uri="{BB962C8B-B14F-4D97-AF65-F5344CB8AC3E}">
        <p14:creationId xmlns:p14="http://schemas.microsoft.com/office/powerpoint/2010/main" val="29769760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F97C8-03AB-FB3C-C9AB-1E316F66E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CD07-A8D9-FE15-5093-C76EF6E6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Application </a:t>
            </a:r>
            <a:r>
              <a:rPr lang="en-IN" sz="3200" noProof="0" dirty="0"/>
              <a:t>(3_1_langgraph_basic.py)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6FCB7-9E58-A72C-79A1-C5FF565A77B0}"/>
              </a:ext>
            </a:extLst>
          </p:cNvPr>
          <p:cNvSpPr txBox="1"/>
          <p:nvPr/>
        </p:nvSpPr>
        <p:spPr>
          <a:xfrm>
            <a:off x="190795" y="1620062"/>
            <a:ext cx="5517809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(state: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 -&gt;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input("Bot: What is your name? 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{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**state,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":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"messages":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("messages", []) + [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provided name: {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}"]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613B6-D2B8-B63F-B45C-4575566157D8}"/>
              </a:ext>
            </a:extLst>
          </p:cNvPr>
          <p:cNvSpPr txBox="1"/>
          <p:nvPr/>
        </p:nvSpPr>
        <p:spPr>
          <a:xfrm>
            <a:off x="5765607" y="1777706"/>
            <a:ext cx="5465460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Node function 1</a:t>
            </a:r>
          </a:p>
          <a:p>
            <a:r>
              <a:rPr lang="en-IN" noProof="0" dirty="0"/>
              <a:t>Takes the current state as input</a:t>
            </a:r>
          </a:p>
          <a:p>
            <a:r>
              <a:rPr lang="en-IN" noProof="0" dirty="0"/>
              <a:t>Asks user for their name</a:t>
            </a:r>
          </a:p>
          <a:p>
            <a:r>
              <a:rPr lang="en-IN" noProof="0" dirty="0"/>
              <a:t>Returns a </a:t>
            </a:r>
            <a:r>
              <a:rPr lang="en-IN" b="1" noProof="0" dirty="0"/>
              <a:t>new state </a:t>
            </a:r>
            <a:r>
              <a:rPr lang="en-IN" noProof="0" dirty="0"/>
              <a:t>with updated information</a:t>
            </a:r>
          </a:p>
          <a:p>
            <a:pPr lvl="1"/>
            <a:r>
              <a:rPr lang="en-IN" noProof="0" dirty="0"/>
              <a:t>**state copies all existing state data</a:t>
            </a:r>
          </a:p>
          <a:p>
            <a:pPr lvl="1"/>
            <a:r>
              <a:rPr lang="en-IN" noProof="0" dirty="0"/>
              <a:t>Updates specific fields (</a:t>
            </a:r>
            <a:r>
              <a:rPr lang="en-IN" noProof="0" dirty="0" err="1"/>
              <a:t>user_name</a:t>
            </a:r>
            <a:r>
              <a:rPr lang="en-IN" noProof="0" dirty="0"/>
              <a:t>, messages)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4F228-FA84-C6B3-20A3-4E31686A436A}"/>
              </a:ext>
            </a:extLst>
          </p:cNvPr>
          <p:cNvSpPr txBox="1"/>
          <p:nvPr/>
        </p:nvSpPr>
        <p:spPr>
          <a:xfrm>
            <a:off x="190795" y="3963130"/>
            <a:ext cx="5517809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(state: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 -&gt;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"there")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f"Hello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{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}! Nice to meet you."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{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**state,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"greeting": greeting,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"messages":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("messages", []) + [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f"Bot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 {greeting}"]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0D6CD-F29D-1F36-0754-A4694BF42FCB}"/>
              </a:ext>
            </a:extLst>
          </p:cNvPr>
          <p:cNvSpPr txBox="1"/>
          <p:nvPr/>
        </p:nvSpPr>
        <p:spPr>
          <a:xfrm>
            <a:off x="5765607" y="4120774"/>
            <a:ext cx="546546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Node function 2</a:t>
            </a:r>
          </a:p>
          <a:p>
            <a:r>
              <a:rPr lang="en-IN" noProof="0" dirty="0"/>
              <a:t>Reads </a:t>
            </a:r>
            <a:r>
              <a:rPr lang="en-IN" noProof="0" dirty="0" err="1"/>
              <a:t>user_name</a:t>
            </a:r>
            <a:r>
              <a:rPr lang="en-IN" noProof="0" dirty="0"/>
              <a:t> from the current state</a:t>
            </a:r>
          </a:p>
          <a:p>
            <a:r>
              <a:rPr lang="en-IN" noProof="0" dirty="0"/>
              <a:t>Creates a personalized greeting</a:t>
            </a:r>
          </a:p>
          <a:p>
            <a:r>
              <a:rPr lang="en-IN" noProof="0" dirty="0"/>
              <a:t>Updates state with the greeting and conversation log</a:t>
            </a:r>
          </a:p>
        </p:txBody>
      </p:sp>
    </p:spTree>
    <p:extLst>
      <p:ext uri="{BB962C8B-B14F-4D97-AF65-F5344CB8AC3E}">
        <p14:creationId xmlns:p14="http://schemas.microsoft.com/office/powerpoint/2010/main" val="34547141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2E51B-37AA-5180-D724-E4F292179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7C13C-8BC4-63BD-D6C8-39CF66168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Application </a:t>
            </a:r>
            <a:r>
              <a:rPr lang="en-IN" sz="3200" noProof="0" dirty="0"/>
              <a:t>(3_1_langgraph_basic.py)</a:t>
            </a:r>
            <a:endParaRPr lang="en-IN" sz="36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513CF-2D97-CDF7-6855-4605877419D8}"/>
              </a:ext>
            </a:extLst>
          </p:cNvPr>
          <p:cNvSpPr txBox="1"/>
          <p:nvPr/>
        </p:nvSpPr>
        <p:spPr>
          <a:xfrm>
            <a:off x="190795" y="2117194"/>
            <a:ext cx="5517809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create_greeting_graph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():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workflow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Add nodes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Add edges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(START, 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END)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workflow.compile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F69CA-261C-0AF3-E4F7-232A6DFB0EFC}"/>
              </a:ext>
            </a:extLst>
          </p:cNvPr>
          <p:cNvSpPr txBox="1"/>
          <p:nvPr/>
        </p:nvSpPr>
        <p:spPr>
          <a:xfrm>
            <a:off x="5765607" y="2274838"/>
            <a:ext cx="5465460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Graph Construction</a:t>
            </a:r>
          </a:p>
          <a:p>
            <a:r>
              <a:rPr lang="en-IN" noProof="0" dirty="0"/>
              <a:t>Structure: START → </a:t>
            </a:r>
            <a:r>
              <a:rPr lang="en-IN" noProof="0" dirty="0" err="1"/>
              <a:t>ask_name</a:t>
            </a:r>
            <a:r>
              <a:rPr lang="en-IN" noProof="0" dirty="0"/>
              <a:t> → </a:t>
            </a:r>
            <a:r>
              <a:rPr lang="en-IN" noProof="0" dirty="0" err="1"/>
              <a:t>greet_user</a:t>
            </a:r>
            <a:r>
              <a:rPr lang="en-IN" noProof="0" dirty="0"/>
              <a:t> → END</a:t>
            </a:r>
          </a:p>
          <a:p>
            <a:endParaRPr lang="en-IN" noProof="0" dirty="0"/>
          </a:p>
          <a:p>
            <a:r>
              <a:rPr lang="en-IN" noProof="0" dirty="0"/>
              <a:t>Nodes represent processing steps (functions)</a:t>
            </a:r>
          </a:p>
          <a:p>
            <a:r>
              <a:rPr lang="en-IN" noProof="0" dirty="0"/>
              <a:t>Edges define the flow between steps</a:t>
            </a:r>
          </a:p>
          <a:p>
            <a:r>
              <a:rPr lang="en-IN" noProof="0" dirty="0"/>
              <a:t>START is where execution begins</a:t>
            </a:r>
          </a:p>
          <a:p>
            <a:r>
              <a:rPr lang="en-IN" noProof="0" dirty="0"/>
              <a:t>END is where execution terminates</a:t>
            </a:r>
          </a:p>
          <a:p>
            <a:r>
              <a:rPr lang="en-IN" noProof="0" dirty="0"/>
              <a:t>.compile() creates the executable graph</a:t>
            </a:r>
          </a:p>
        </p:txBody>
      </p:sp>
    </p:spTree>
    <p:extLst>
      <p:ext uri="{BB962C8B-B14F-4D97-AF65-F5344CB8AC3E}">
        <p14:creationId xmlns:p14="http://schemas.microsoft.com/office/powerpoint/2010/main" val="339917120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451D4-2F6A-77AD-905D-BEFEF3B0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79CF-B612-A7E2-B853-DBEACF05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Application </a:t>
            </a:r>
            <a:r>
              <a:rPr lang="en-IN" sz="3200" noProof="0" dirty="0"/>
              <a:t>(3_1_langgraph_basic.py)</a:t>
            </a:r>
            <a:endParaRPr lang="en-IN" sz="36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E9372-AA0E-3103-FFDF-5F8F162FFB9C}"/>
              </a:ext>
            </a:extLst>
          </p:cNvPr>
          <p:cNvSpPr txBox="1"/>
          <p:nvPr/>
        </p:nvSpPr>
        <p:spPr>
          <a:xfrm>
            <a:off x="190795" y="2117194"/>
            <a:ext cx="5517809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Create the graph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app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create_greeting_graph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Initialize state</a:t>
            </a:r>
          </a:p>
          <a:p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initial_state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="",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greeting="",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messages=[]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Run the graph</a:t>
            </a:r>
          </a:p>
          <a:p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final_state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app.invoke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initial_state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BAD3E-0C4D-7571-BFDC-8E177148902C}"/>
              </a:ext>
            </a:extLst>
          </p:cNvPr>
          <p:cNvSpPr txBox="1"/>
          <p:nvPr/>
        </p:nvSpPr>
        <p:spPr>
          <a:xfrm>
            <a:off x="5765607" y="2274838"/>
            <a:ext cx="5465460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Execution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Initialize: Create empty state</a:t>
            </a:r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Invoke: Start execution at START node</a:t>
            </a:r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Flow: State passes through: </a:t>
            </a:r>
            <a:r>
              <a:rPr lang="en-IN" noProof="0" dirty="0" err="1"/>
              <a:t>ask_name</a:t>
            </a:r>
            <a:r>
              <a:rPr lang="en-IN" noProof="0" dirty="0"/>
              <a:t> → </a:t>
            </a:r>
            <a:r>
              <a:rPr lang="en-IN" noProof="0" dirty="0" err="1"/>
              <a:t>greet_user</a:t>
            </a:r>
            <a:endParaRPr lang="en-IN" noProof="0" dirty="0"/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Result: Get final state with all accumulated data</a:t>
            </a:r>
          </a:p>
        </p:txBody>
      </p:sp>
    </p:spTree>
    <p:extLst>
      <p:ext uri="{BB962C8B-B14F-4D97-AF65-F5344CB8AC3E}">
        <p14:creationId xmlns:p14="http://schemas.microsoft.com/office/powerpoint/2010/main" val="405256520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0DD70-3D97-70DC-67F8-2CA73976E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 err="1"/>
              <a:t>LangGraph</a:t>
            </a:r>
            <a:r>
              <a:rPr lang="en-IN" sz="3200" dirty="0"/>
              <a:t> Reducer </a:t>
            </a:r>
            <a:br>
              <a:rPr lang="en-IN" sz="3200" dirty="0"/>
            </a:br>
            <a:r>
              <a:rPr lang="en-IN" sz="2400" dirty="0"/>
              <a:t>(</a:t>
            </a:r>
            <a:r>
              <a:rPr lang="en-US" sz="2400" dirty="0"/>
              <a:t>3_2_langgraph_without_reducer.py, 3_3_langgraph_without_reducer.py)</a:t>
            </a:r>
            <a:endParaRPr lang="en-GB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7D955-A403-45D0-E353-0C027A325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951"/>
            <a:ext cx="10515600" cy="4753012"/>
          </a:xfrm>
        </p:spPr>
        <p:txBody>
          <a:bodyPr/>
          <a:lstStyle/>
          <a:p>
            <a:r>
              <a:rPr lang="en-US" b="1" dirty="0"/>
              <a:t>Reducer</a:t>
            </a:r>
            <a:r>
              <a:rPr lang="en-US" dirty="0"/>
              <a:t>: Defines how state values are merged when multiple nodes write to the same key</a:t>
            </a:r>
          </a:p>
          <a:p>
            <a:r>
              <a:rPr lang="en-US" dirty="0"/>
              <a:t>Answers the question: “When many agents update the same state, how do we combine it?”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1B39E5-6800-419E-5656-9D37E4A02DA6}"/>
              </a:ext>
            </a:extLst>
          </p:cNvPr>
          <p:cNvSpPr txBox="1"/>
          <p:nvPr/>
        </p:nvSpPr>
        <p:spPr>
          <a:xfrm>
            <a:off x="551432" y="3622698"/>
            <a:ext cx="4837246" cy="28623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Without reducer</a:t>
            </a:r>
          </a:p>
          <a:p>
            <a:endParaRPr lang="en-GB" dirty="0"/>
          </a:p>
          <a:p>
            <a:r>
              <a:rPr lang="en-US" dirty="0"/>
              <a:t>class State(</a:t>
            </a:r>
            <a:r>
              <a:rPr lang="en-US" dirty="0" err="1"/>
              <a:t>TypedDict</a:t>
            </a:r>
            <a:r>
              <a:rPr lang="en-US" dirty="0"/>
              <a:t>):</a:t>
            </a:r>
          </a:p>
          <a:p>
            <a:r>
              <a:rPr lang="en-US" dirty="0"/>
              <a:t>    messages: List[str]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agent_a</a:t>
            </a:r>
            <a:r>
              <a:rPr lang="en-US" dirty="0"/>
              <a:t>(state: State):</a:t>
            </a:r>
          </a:p>
          <a:p>
            <a:r>
              <a:rPr lang="en-US" strike="sngStrike" dirty="0"/>
              <a:t>    return {"messages": ["Hello from Agent A"]}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agent_b</a:t>
            </a:r>
            <a:r>
              <a:rPr lang="en-US" dirty="0"/>
              <a:t>(state: State):</a:t>
            </a:r>
          </a:p>
          <a:p>
            <a:r>
              <a:rPr lang="en-US" dirty="0"/>
              <a:t>    return {"messages": ["Hello from Agent B"]}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D65E82-1BB1-5B47-ACCD-64CDD63607D4}"/>
              </a:ext>
            </a:extLst>
          </p:cNvPr>
          <p:cNvSpPr txBox="1"/>
          <p:nvPr/>
        </p:nvSpPr>
        <p:spPr>
          <a:xfrm>
            <a:off x="5833953" y="2880701"/>
            <a:ext cx="5913644" cy="36933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With reducer</a:t>
            </a:r>
          </a:p>
          <a:p>
            <a:endParaRPr lang="en-IN" dirty="0"/>
          </a:p>
          <a:p>
            <a:r>
              <a:rPr lang="en-US" dirty="0"/>
              <a:t>def </a:t>
            </a:r>
            <a:r>
              <a:rPr lang="en-US" dirty="0" err="1">
                <a:solidFill>
                  <a:srgbClr val="FF0000"/>
                </a:solidFill>
              </a:rPr>
              <a:t>add_messages</a:t>
            </a:r>
            <a:r>
              <a:rPr lang="en-US" dirty="0"/>
              <a:t>(old: List[str], new: List[str]) -&gt; List[str]:</a:t>
            </a:r>
          </a:p>
          <a:p>
            <a:r>
              <a:rPr lang="en-US" dirty="0"/>
              <a:t>    return old + new # This is the reducer function</a:t>
            </a:r>
          </a:p>
          <a:p>
            <a:endParaRPr lang="en-US" dirty="0"/>
          </a:p>
          <a:p>
            <a:r>
              <a:rPr lang="en-US" dirty="0"/>
              <a:t>class State(</a:t>
            </a:r>
            <a:r>
              <a:rPr lang="en-US" dirty="0" err="1"/>
              <a:t>TypedDict</a:t>
            </a:r>
            <a:r>
              <a:rPr lang="en-US" dirty="0"/>
              <a:t>):</a:t>
            </a:r>
          </a:p>
          <a:p>
            <a:r>
              <a:rPr lang="en-US" dirty="0"/>
              <a:t>    messages: </a:t>
            </a:r>
            <a:r>
              <a:rPr lang="en-US" dirty="0">
                <a:solidFill>
                  <a:srgbClr val="FF0000"/>
                </a:solidFill>
              </a:rPr>
              <a:t>Annotated[List[str], </a:t>
            </a:r>
            <a:r>
              <a:rPr lang="en-US" dirty="0" err="1">
                <a:solidFill>
                  <a:srgbClr val="FF0000"/>
                </a:solidFill>
              </a:rPr>
              <a:t>add_messages</a:t>
            </a:r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agent_a</a:t>
            </a:r>
            <a:r>
              <a:rPr lang="en-US" dirty="0"/>
              <a:t>(state: State):</a:t>
            </a:r>
          </a:p>
          <a:p>
            <a:r>
              <a:rPr lang="en-US" dirty="0"/>
              <a:t>    return {"messages": ["Hello from Agent A"]} # Not lost</a:t>
            </a:r>
            <a:br>
              <a:rPr lang="en-US" dirty="0"/>
            </a:br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agent_b</a:t>
            </a:r>
            <a:r>
              <a:rPr lang="en-US" dirty="0"/>
              <a:t>(state: State):</a:t>
            </a:r>
          </a:p>
          <a:p>
            <a:r>
              <a:rPr lang="en-US" dirty="0"/>
              <a:t>    return {"messages": ["Hello from Agent B"]}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480220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BED00-06AC-B941-A8D9-CF0B1F177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Reducer with LLM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9FB02-19FF-5E49-235D-AD7E8A5F4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Check the product return policy of two e-commerce websites</a:t>
            </a:r>
          </a:p>
          <a:p>
            <a:r>
              <a:rPr lang="en-IN" dirty="0"/>
              <a:t>Use a reducer to combine the outputs of the two</a:t>
            </a:r>
          </a:p>
          <a:p>
            <a:r>
              <a:rPr lang="en-IN" dirty="0"/>
              <a:t>Create two agents and run them in parallel</a:t>
            </a:r>
          </a:p>
          <a:p>
            <a:r>
              <a:rPr lang="en-IN" dirty="0"/>
              <a:t>Code: 3_4_langgraph_reducer_return_policy.py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046503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3E97B-B2DD-8FCF-6E10-A51D12C7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94696-C1A0-7BF5-5EC7-E9C7EF48F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Cycles/Loops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3FAE9-F3A7-973A-E033-50186BD9E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Cycle/Loop</a:t>
            </a:r>
            <a:r>
              <a:rPr lang="en-IN" noProof="0" dirty="0"/>
              <a:t>: Occurs when a graph returns to a previously executed node instead of always moving forward</a:t>
            </a:r>
          </a:p>
          <a:p>
            <a:r>
              <a:rPr lang="en-IN" noProof="0" dirty="0"/>
              <a:t>Examples: </a:t>
            </a:r>
          </a:p>
          <a:p>
            <a:pPr lvl="1"/>
            <a:r>
              <a:rPr lang="en-IN" noProof="0" dirty="0"/>
              <a:t>Search until enough documents are found </a:t>
            </a:r>
          </a:p>
          <a:p>
            <a:pPr lvl="1"/>
            <a:r>
              <a:rPr lang="en-IN" noProof="0" dirty="0"/>
              <a:t>Retry failed API calls </a:t>
            </a:r>
          </a:p>
          <a:p>
            <a:pPr lvl="1"/>
            <a:r>
              <a:rPr lang="en-IN" noProof="0" dirty="0"/>
              <a:t>Improve generated code </a:t>
            </a:r>
          </a:p>
          <a:p>
            <a:pPr lvl="1"/>
            <a:r>
              <a:rPr lang="en-IN" noProof="0" dirty="0"/>
              <a:t>Refine an answer</a:t>
            </a:r>
          </a:p>
          <a:p>
            <a:r>
              <a:rPr lang="en-IN" noProof="0" dirty="0"/>
              <a:t>Created using conditional edges</a:t>
            </a:r>
          </a:p>
          <a:p>
            <a:r>
              <a:rPr lang="en-IN" noProof="0" dirty="0"/>
              <a:t>C:\code\agenticai\14_advanced\08_langgraph_cycles_HIL_persistence\order_processing_state_machine.py</a:t>
            </a:r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410232545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AAF2-537C-D04D-4618-AA3503C7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Human In the Loop (HIL)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17769-600B-A948-938D-B30D92B4D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/>
              <a:t>Human-in-the-Loop (HIL)</a:t>
            </a:r>
            <a:r>
              <a:rPr lang="en-IN" noProof="0" dirty="0"/>
              <a:t>: The graph pauses execution at specific points, allowing a human to inspect, approve, modify, or reject the workflow before it continues</a:t>
            </a:r>
          </a:p>
          <a:p>
            <a:pPr lvl="0"/>
            <a:r>
              <a:rPr lang="en-IN" noProof="0" dirty="0"/>
              <a:t>Examples: Loan approvals, Large bank transfers, Medical recommendations, Legal document generation, Contract signing</a:t>
            </a:r>
          </a:p>
          <a:p>
            <a:pPr lvl="0"/>
            <a:r>
              <a:rPr lang="en-IN" noProof="0" dirty="0"/>
              <a:t>Implemented using the </a:t>
            </a:r>
            <a:r>
              <a:rPr lang="en-IN" noProof="0" dirty="0" err="1"/>
              <a:t>LangGraph</a:t>
            </a:r>
            <a:r>
              <a:rPr lang="en-IN" noProof="0" dirty="0"/>
              <a:t> </a:t>
            </a:r>
            <a:r>
              <a:rPr lang="en-IN" i="1" noProof="0" dirty="0"/>
              <a:t>interrupt()</a:t>
            </a:r>
            <a:r>
              <a:rPr lang="en-IN" noProof="0" dirty="0"/>
              <a:t> command</a:t>
            </a:r>
          </a:p>
          <a:p>
            <a:pPr lvl="1"/>
            <a:r>
              <a:rPr lang="en-IN" dirty="0"/>
              <a:t>If a ticket is auto resolved -&gt; Skip to finalize, no HITL</a:t>
            </a:r>
          </a:p>
          <a:p>
            <a:pPr lvl="1"/>
            <a:r>
              <a:rPr lang="en-IN" noProof="0" dirty="0"/>
              <a:t>If a ticket resolution says </a:t>
            </a:r>
            <a:r>
              <a:rPr lang="en-IN" i="1" noProof="0" dirty="0" err="1"/>
              <a:t>needs_review</a:t>
            </a:r>
            <a:r>
              <a:rPr lang="en-IN" noProof="0" dirty="0"/>
              <a:t> -&gt; Go to </a:t>
            </a:r>
            <a:r>
              <a:rPr lang="en-IN" noProof="0" dirty="0" err="1"/>
              <a:t>human_approval</a:t>
            </a:r>
            <a:r>
              <a:rPr lang="en-IN" noProof="0" dirty="0"/>
              <a:t> () function</a:t>
            </a:r>
          </a:p>
          <a:p>
            <a:pPr lvl="2"/>
            <a:r>
              <a:rPr lang="en-IN" dirty="0"/>
              <a:t>This function calls </a:t>
            </a:r>
            <a:r>
              <a:rPr lang="en-IN" i="1" dirty="0"/>
              <a:t>interrupt()</a:t>
            </a:r>
            <a:r>
              <a:rPr lang="en-IN" dirty="0"/>
              <a:t> command -&gt; Freezes everything  -&gt; Hands control back to the user and asks in the console: Approve/Edit/Escalate -&gt; Whatever the user types becomes the node’s return value and it unfreezes</a:t>
            </a:r>
          </a:p>
          <a:p>
            <a:pPr lvl="1"/>
            <a:r>
              <a:rPr lang="en-IN" noProof="0" dirty="0"/>
              <a:t>To ensure the interrupt does not cause </a:t>
            </a:r>
            <a:r>
              <a:rPr lang="en-IN" noProof="0" dirty="0" err="1"/>
              <a:t>LangGraph</a:t>
            </a:r>
            <a:r>
              <a:rPr lang="en-IN" noProof="0" dirty="0"/>
              <a:t> to forget what had happened, we need memory saver </a:t>
            </a:r>
            <a:r>
              <a:rPr lang="en-IN" noProof="0" dirty="0" err="1"/>
              <a:t>checkpointer</a:t>
            </a:r>
            <a:endParaRPr lang="en-IN" noProof="0" dirty="0"/>
          </a:p>
          <a:p>
            <a:pPr lvl="0"/>
            <a:r>
              <a:rPr lang="en-US" dirty="0"/>
              <a:t>C:\code\agenticai\15_real\support_ticketing_agent_hitl.py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8003525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927E-1701-8866-A0A0-05FE0222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Checkpointers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B8E97-C51E-FBE5-1D04-A58FDE0DB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 err="1"/>
              <a:t>Checkpointer</a:t>
            </a:r>
            <a:r>
              <a:rPr lang="en-IN" noProof="0" dirty="0"/>
              <a:t>: A component that saves the current state of a </a:t>
            </a:r>
            <a:r>
              <a:rPr lang="en-IN" noProof="0" dirty="0" err="1"/>
              <a:t>LangGraph</a:t>
            </a:r>
            <a:r>
              <a:rPr lang="en-IN" noProof="0" dirty="0"/>
              <a:t> workflow so execution can continue later instead of starting over</a:t>
            </a:r>
          </a:p>
          <a:p>
            <a:r>
              <a:rPr lang="en-IN" noProof="0" dirty="0"/>
              <a:t>Contains</a:t>
            </a:r>
          </a:p>
          <a:p>
            <a:pPr lvl="1"/>
            <a:r>
              <a:rPr lang="en-IN" noProof="0" dirty="0"/>
              <a:t>Current graph state </a:t>
            </a:r>
          </a:p>
          <a:p>
            <a:pPr lvl="1"/>
            <a:r>
              <a:rPr lang="en-IN" noProof="0" dirty="0"/>
              <a:t>Current node </a:t>
            </a:r>
          </a:p>
          <a:p>
            <a:pPr lvl="1"/>
            <a:r>
              <a:rPr lang="en-IN" noProof="0" dirty="0"/>
              <a:t>Conversation history </a:t>
            </a:r>
          </a:p>
          <a:p>
            <a:pPr lvl="1"/>
            <a:r>
              <a:rPr lang="en-IN" noProof="0" dirty="0"/>
              <a:t>Variables </a:t>
            </a:r>
          </a:p>
          <a:p>
            <a:pPr lvl="1"/>
            <a:r>
              <a:rPr lang="en-IN" noProof="0" dirty="0"/>
              <a:t>Thread identifier </a:t>
            </a:r>
          </a:p>
          <a:p>
            <a:pPr lvl="1"/>
            <a:r>
              <a:rPr lang="en-IN" noProof="0" dirty="0"/>
              <a:t>Pending interrupts</a:t>
            </a:r>
          </a:p>
          <a:p>
            <a:r>
              <a:rPr lang="en-IN" noProof="0" dirty="0" err="1"/>
              <a:t>Checkpointer</a:t>
            </a:r>
            <a:r>
              <a:rPr lang="en-IN" noProof="0" dirty="0"/>
              <a:t> (</a:t>
            </a:r>
            <a:r>
              <a:rPr lang="en-IN" i="1" noProof="0" dirty="0"/>
              <a:t>Where was the agent?</a:t>
            </a:r>
            <a:r>
              <a:rPr lang="en-IN" noProof="0" dirty="0"/>
              <a:t>) ≠ Memory (</a:t>
            </a:r>
            <a:r>
              <a:rPr lang="en-IN" i="1" noProof="0" dirty="0"/>
              <a:t>What does the agent know?</a:t>
            </a:r>
            <a:r>
              <a:rPr lang="en-IN" noProof="0" dirty="0"/>
              <a:t>)</a:t>
            </a:r>
          </a:p>
          <a:p>
            <a:r>
              <a:rPr lang="en-IN" noProof="0" dirty="0"/>
              <a:t>C:\code\agenticai\14_advanced\08_langgraph_cycles_HIL_persistence\sqlite_checkpointing_crash_recovery.py</a:t>
            </a:r>
          </a:p>
        </p:txBody>
      </p:sp>
    </p:spTree>
    <p:extLst>
      <p:ext uri="{BB962C8B-B14F-4D97-AF65-F5344CB8AC3E}">
        <p14:creationId xmlns:p14="http://schemas.microsoft.com/office/powerpoint/2010/main" val="47067649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CCEFD-FCAC-AD81-A1CB-D2E2A0754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Guardrails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9421C-BAC5-DCCC-5015-11BD26357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safety control mechanism that ensures the model operates within defined limits by preventing unsafe, harmful, incorrect, off-topic, or policy-violating behavior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FEC590-CE2D-1581-D49C-307E41D88BE5}"/>
              </a:ext>
            </a:extLst>
          </p:cNvPr>
          <p:cNvGraphicFramePr>
            <a:graphicFrameLocks noGrp="1"/>
          </p:cNvGraphicFramePr>
          <p:nvPr/>
        </p:nvGraphicFramePr>
        <p:xfrm>
          <a:off x="1030155" y="3213764"/>
          <a:ext cx="10623792" cy="346989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655366">
                  <a:extLst>
                    <a:ext uri="{9D8B030D-6E8A-4147-A177-3AD203B41FA5}">
                      <a16:colId xmlns:a16="http://schemas.microsoft.com/office/drawing/2014/main" val="1500301468"/>
                    </a:ext>
                  </a:extLst>
                </a:gridCol>
                <a:gridCol w="3776263">
                  <a:extLst>
                    <a:ext uri="{9D8B030D-6E8A-4147-A177-3AD203B41FA5}">
                      <a16:colId xmlns:a16="http://schemas.microsoft.com/office/drawing/2014/main" val="3207693654"/>
                    </a:ext>
                  </a:extLst>
                </a:gridCol>
                <a:gridCol w="4192163">
                  <a:extLst>
                    <a:ext uri="{9D8B030D-6E8A-4147-A177-3AD203B41FA5}">
                      <a16:colId xmlns:a16="http://schemas.microsoft.com/office/drawing/2014/main" val="761881727"/>
                    </a:ext>
                  </a:extLst>
                </a:gridCol>
              </a:tblGrid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Type of Guardrail</a:t>
                      </a:r>
                      <a:endParaRPr lang="en-GB" sz="1400" dirty="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Purpose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Examples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1339299965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Keyword / Phrase Blocking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Stop harmful or restricted words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400"/>
                        <a:t>Block: “bomb”, “hack”, “virus”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288825984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Input Validation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Reject malformed, long, or suspicious inputs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Max length, no URLs, no code blocks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1627828663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Allow-List Topics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Only permit certain categories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Only allow: product queries, reviews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929346936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Semantic Safety (Embedding-Based)</a:t>
                      </a:r>
                      <a:endParaRPr lang="en-GB" sz="1400" dirty="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Detect harmful intent beyond keywords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Check if query is similar to “harm”, “illegal activity”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854544573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Prompt Guardrails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Restrict what the LLM is allowed to answer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“Use context only”, “Don’t produce code”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594829134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Output Filtering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Post-process model output before showing it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Remove sensitive data, profanity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284521177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Tool-Use Guardrails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Restrict which tools the agent is allowed to call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Don't allow web search for medical queries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151056724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Rate and Abuse Control</a:t>
                      </a:r>
                      <a:endParaRPr lang="en-GB" sz="1400" dirty="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Prevent spam or automated misuse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Throttling, user authentication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92245731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Content Policy Enforcement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Ensure model answers follow rules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Safety, factuality, privacy constraints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4235607586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Hallucination Reduction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Prevent LLM from making up facts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 retrieval-only answers; citations required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4238350047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Business-Logic Guardrails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Enforce domain rules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“Don’t show pricing for unlaunched products”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814944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191912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EB672-0EDF-BD5F-0327-D1A8DBCCE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535D71-3382-37FF-1A97-808E3C755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4: OpenAI Agents SDK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F6E854-507D-72CB-2C22-07940D9BC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Refer to the main PPT for discussion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07474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A1F318-66FE-2AF6-1D8D-40785B653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Tool-Augmented Research Agent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0A784A-31FE-A317-E91B-5315F4274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SERP API for researching on the specified topic</a:t>
            </a:r>
          </a:p>
          <a:p>
            <a:r>
              <a:rPr lang="en-US" dirty="0"/>
              <a:t>If the topic is recent, try date-based search</a:t>
            </a:r>
          </a:p>
          <a:p>
            <a:r>
              <a:rPr lang="en-US" dirty="0"/>
              <a:t>For specific topics, retrieve more details using Python </a:t>
            </a:r>
            <a:r>
              <a:rPr lang="en-US" dirty="0" err="1"/>
              <a:t>BeautifulSoup</a:t>
            </a:r>
            <a:r>
              <a:rPr lang="en-US" dirty="0"/>
              <a:t> library</a:t>
            </a:r>
          </a:p>
          <a:p>
            <a:r>
              <a:rPr lang="en-US" dirty="0"/>
              <a:t>C:\code\agenticai\15_real\research_agent_tools.py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974522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D1A7E0-BB9C-49B6-649B-2089888D0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 Lifecycle Hooks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42A2F3-DFCF-5D0C-22CC-C66BC81BD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990227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Lifecycle hooks allow you to execute custom code automatically at different stages of an agent's execution</a:t>
            </a:r>
          </a:p>
          <a:p>
            <a:pPr lvl="1"/>
            <a:r>
              <a:rPr lang="en-GB" dirty="0"/>
              <a:t>Logging and Monitoring</a:t>
            </a:r>
          </a:p>
          <a:p>
            <a:pPr lvl="1"/>
            <a:r>
              <a:rPr lang="en-GB" dirty="0"/>
              <a:t>Debugging</a:t>
            </a:r>
          </a:p>
          <a:p>
            <a:pPr lvl="1"/>
            <a:r>
              <a:rPr lang="en-GB" dirty="0"/>
              <a:t>Performance measurement</a:t>
            </a:r>
          </a:p>
          <a:p>
            <a:pPr lvl="1"/>
            <a:r>
              <a:rPr lang="en-GB" dirty="0"/>
              <a:t>Analytics</a:t>
            </a:r>
          </a:p>
          <a:p>
            <a:pPr lvl="1"/>
            <a:r>
              <a:rPr lang="en-GB" dirty="0"/>
              <a:t>Cost tracking</a:t>
            </a:r>
          </a:p>
          <a:p>
            <a:r>
              <a:rPr lang="en-GB" dirty="0" err="1"/>
              <a:t>RunHooks</a:t>
            </a:r>
            <a:r>
              <a:rPr lang="en-GB" dirty="0"/>
              <a:t>: Global, </a:t>
            </a:r>
            <a:r>
              <a:rPr lang="en-GB" dirty="0" err="1"/>
              <a:t>AgentHooks</a:t>
            </a:r>
            <a:r>
              <a:rPr lang="en-GB" dirty="0"/>
              <a:t>: Agent-specific</a:t>
            </a:r>
          </a:p>
          <a:p>
            <a:r>
              <a:rPr lang="en-GB" dirty="0"/>
              <a:t>Code: </a:t>
            </a:r>
            <a:r>
              <a:rPr lang="en-US" dirty="0"/>
              <a:t>C:\code\agenticai\15_real\observability_logging_tracking.py</a:t>
            </a:r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5CF178-8A5A-6DE2-65A3-382DA55AC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256040"/>
              </p:ext>
            </p:extLst>
          </p:nvPr>
        </p:nvGraphicFramePr>
        <p:xfrm>
          <a:off x="6226296" y="2293947"/>
          <a:ext cx="5772586" cy="292608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873824">
                  <a:extLst>
                    <a:ext uri="{9D8B030D-6E8A-4147-A177-3AD203B41FA5}">
                      <a16:colId xmlns:a16="http://schemas.microsoft.com/office/drawing/2014/main" val="2722225314"/>
                    </a:ext>
                  </a:extLst>
                </a:gridCol>
                <a:gridCol w="3898762">
                  <a:extLst>
                    <a:ext uri="{9D8B030D-6E8A-4147-A177-3AD203B41FA5}">
                      <a16:colId xmlns:a16="http://schemas.microsoft.com/office/drawing/2014/main" val="4116699098"/>
                    </a:ext>
                  </a:extLst>
                </a:gridCol>
              </a:tblGrid>
              <a:tr h="286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Callback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When It Executes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1396031"/>
                  </a:ext>
                </a:extLst>
              </a:tr>
              <a:tr h="286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on_agent_start()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Agent begins execution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0358211"/>
                  </a:ext>
                </a:extLst>
              </a:tr>
              <a:tr h="286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on_llm_start()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Before sending request to LLM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985013"/>
                  </a:ext>
                </a:extLst>
              </a:tr>
              <a:tr h="286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on_llm_end()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After receiving LLM 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0729041"/>
                  </a:ext>
                </a:extLst>
              </a:tr>
              <a:tr h="286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on_tool_start()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Before calling a 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087848"/>
                  </a:ext>
                </a:extLst>
              </a:tr>
              <a:tr h="286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on_tool_end()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After tool execution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49527"/>
                  </a:ext>
                </a:extLst>
              </a:tr>
              <a:tr h="286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on_handoff()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Before switching to another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422251"/>
                  </a:ext>
                </a:extLst>
              </a:tr>
              <a:tr h="286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on_agent_end()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Final output generated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9266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270287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0A9C6A-5B72-317B-7254-4F41C8D14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5: Agentic RAG Systems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19136-91AB-2F91-5466-344FBB725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469398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F067F-C3DA-A75D-0D03-ADE0DE687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Traditional RAG versus Agentic RAG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BE9731-A9A2-2B55-4BC5-25E686DC31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040235"/>
              </p:ext>
            </p:extLst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21816735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452527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Traditional RAG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Agentic RAG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85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Fixed retrieval pipeline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Intelligent, dynamic workflow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552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Retrieves documents once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Can retrieve multiple times as needed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845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Single LLM 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Multiple reasoning 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928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 planning 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Plans and decides next 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1865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Limited decision-making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Autonomous decision-making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249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Uses a predefined sequence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Chooses the best execution path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72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Simple 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Multi-step agent 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735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Best for straightforward Q&amp;A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Best for complex problem solving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470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492337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54F180-1406-8858-813B-599F2728D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1682"/>
            <a:ext cx="10287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5359E9-7739-246A-6B51-EB6C6996BD5A}"/>
              </a:ext>
            </a:extLst>
          </p:cNvPr>
          <p:cNvSpPr txBox="1"/>
          <p:nvPr/>
        </p:nvSpPr>
        <p:spPr>
          <a:xfrm>
            <a:off x="10519090" y="663115"/>
            <a:ext cx="15356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C:\code\agenticai\15_real\traditional_vs_agentic_rag.py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473286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FCC1C-46E8-9CD0-8B01-8D26473F0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Common Adaptive Strategies </a:t>
            </a:r>
            <a:r>
              <a:rPr lang="en-IN" sz="3600" dirty="0"/>
              <a:t>(</a:t>
            </a:r>
            <a:r>
              <a:rPr lang="pt-BR" sz="3600" dirty="0"/>
              <a:t>C:\code\agenticai\15_real\adaptive_retrieval_strategies.py)</a:t>
            </a:r>
            <a:endParaRPr lang="en-GB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A11C7C7-BE95-0D30-1CBE-B7EBF9407A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183105"/>
              </p:ext>
            </p:extLst>
          </p:nvPr>
        </p:nvGraphicFramePr>
        <p:xfrm>
          <a:off x="838200" y="2309654"/>
          <a:ext cx="10515600" cy="256032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484353">
                  <a:extLst>
                    <a:ext uri="{9D8B030D-6E8A-4147-A177-3AD203B41FA5}">
                      <a16:colId xmlns:a16="http://schemas.microsoft.com/office/drawing/2014/main" val="1328149517"/>
                    </a:ext>
                  </a:extLst>
                </a:gridCol>
                <a:gridCol w="8031247">
                  <a:extLst>
                    <a:ext uri="{9D8B030D-6E8A-4147-A177-3AD203B41FA5}">
                      <a16:colId xmlns:a16="http://schemas.microsoft.com/office/drawing/2014/main" val="31949909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694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Skip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Answer directly if existing knowledge is sufficient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391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Single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Retrieve once for simple factual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927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Iterative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Retrieve additional documents if more information is needed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65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Query Reformulation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Rewrite the query to improve search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2265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Multi-Source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Combine information from vector databases, SQL databases, APIs, and web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4501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Tool-Based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Choose the most appropriate tool based on the user's request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1815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552370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BF6DC-F6A0-AEAD-38DA-7955EDD8F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Cohere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D9AFA-D53F-5771-D9CA-1E63F9A88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Cohere</a:t>
            </a:r>
            <a:r>
              <a:rPr lang="en-GB" dirty="0"/>
              <a:t>: AI platform that provides APIs for building applications using Large Language Models (LLMs), Embeddings, Reranking, and Semantic Search</a:t>
            </a:r>
          </a:p>
          <a:p>
            <a:r>
              <a:rPr lang="en-GB" dirty="0"/>
              <a:t>Features</a:t>
            </a:r>
          </a:p>
          <a:p>
            <a:pPr lvl="1"/>
            <a:r>
              <a:rPr lang="en-GB" dirty="0"/>
              <a:t>Produces high-quality vector embeddings </a:t>
            </a:r>
          </a:p>
          <a:p>
            <a:pPr lvl="1"/>
            <a:r>
              <a:rPr lang="en-GB" dirty="0"/>
              <a:t>Improves retrieval accuracy with reranking </a:t>
            </a:r>
          </a:p>
          <a:p>
            <a:pPr lvl="1"/>
            <a:r>
              <a:rPr lang="en-GB" dirty="0"/>
              <a:t>Supports multiple vector databases </a:t>
            </a:r>
          </a:p>
          <a:p>
            <a:pPr lvl="1"/>
            <a:r>
              <a:rPr lang="en-GB" dirty="0"/>
              <a:t>Easy API integration </a:t>
            </a:r>
          </a:p>
          <a:p>
            <a:pPr lvl="1"/>
            <a:r>
              <a:rPr lang="en-GB" dirty="0"/>
              <a:t>Optimized for enterprise search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1381125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36C8F-2561-3EC6-9307-C9530671A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Retrieval + Reasoning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C09D6-A641-37E8-FB38-8887D616C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Modern AI applications combine </a:t>
            </a:r>
            <a:r>
              <a:rPr lang="en-GB" b="1" dirty="0"/>
              <a:t>Retrieval</a:t>
            </a:r>
            <a:r>
              <a:rPr lang="en-GB" dirty="0"/>
              <a:t> (finding relevant information) with </a:t>
            </a:r>
            <a:r>
              <a:rPr lang="en-GB" b="1" dirty="0"/>
              <a:t>Reasoning</a:t>
            </a:r>
            <a:r>
              <a:rPr lang="en-GB" dirty="0"/>
              <a:t> (</a:t>
            </a:r>
            <a:r>
              <a:rPr lang="en-GB" dirty="0" err="1"/>
              <a:t>analyzing</a:t>
            </a:r>
            <a:r>
              <a:rPr lang="en-GB" dirty="0"/>
              <a:t>, interpreting, and making decisions) to produce accurate and context-aware responses</a:t>
            </a:r>
          </a:p>
          <a:p>
            <a:pPr lvl="1"/>
            <a:r>
              <a:rPr lang="en-GB" b="1" dirty="0"/>
              <a:t>Retrieval</a:t>
            </a:r>
            <a:r>
              <a:rPr lang="en-GB" dirty="0"/>
              <a:t> provides factual knowledge</a:t>
            </a:r>
          </a:p>
          <a:p>
            <a:pPr lvl="1"/>
            <a:r>
              <a:rPr lang="en-GB" b="1" dirty="0"/>
              <a:t>Reasoning</a:t>
            </a:r>
            <a:r>
              <a:rPr lang="en-GB" dirty="0"/>
              <a:t> uses that knowledge to solve the user's problem</a:t>
            </a:r>
          </a:p>
          <a:p>
            <a:r>
              <a:rPr lang="en-GB" dirty="0"/>
              <a:t>Example: Can I get a ₹50 lakh home loan? My salary is ₹18 lakh/year, I already have a car loan, and my credit score is 760.</a:t>
            </a:r>
          </a:p>
          <a:p>
            <a:pPr lvl="1"/>
            <a:r>
              <a:rPr lang="en-GB" dirty="0"/>
              <a:t>Retrieval: Loan eligibility policy, Current interest rates, Customer profile, Credit score, Existing loans, RBI lending rules</a:t>
            </a:r>
          </a:p>
          <a:p>
            <a:pPr lvl="1"/>
            <a:r>
              <a:rPr lang="en-GB" dirty="0"/>
              <a:t>Reasoning: Calculates Debt-to-Income (DTI) ratio, Checks credit score eligibility, Verifies policy rules, Determines maximum eligible amount, Suggests suitable loan options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829759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813C7-B27B-47F8-C1F1-8E875DF8C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5EE3D-79E4-EB83-4A4F-D05969C6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Retrieval + Reasoning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44B7F-0114-B515-A1F6-AB0CC9327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Code: C:\code\agenticai\15_real\cohere_rag_pipeline.py</a:t>
            </a:r>
          </a:p>
          <a:p>
            <a:pPr lvl="0"/>
            <a:r>
              <a:rPr lang="en-GB" dirty="0"/>
              <a:t>embed() — turns text into 1536-dim vectors (embed-v4.0)</a:t>
            </a:r>
          </a:p>
          <a:p>
            <a:pPr lvl="0"/>
            <a:r>
              <a:rPr lang="en-GB" dirty="0" err="1"/>
              <a:t>rerank</a:t>
            </a:r>
            <a:r>
              <a:rPr lang="en-GB" dirty="0"/>
              <a:t>() — narrows all 324 FAQs down to the top-3 most relevant to the query (rerank-v3.5) — correctly surfaced the 3 refund-related entries for "How do I get my money back for an order?"</a:t>
            </a:r>
          </a:p>
          <a:p>
            <a:pPr lvl="0"/>
            <a:r>
              <a:rPr lang="en-GB" dirty="0"/>
              <a:t>chat() — generates the final answer, passing the reranked FAQs straight in via documents= — </a:t>
            </a:r>
            <a:r>
              <a:rPr lang="en-GB" dirty="0" err="1"/>
              <a:t>Cohere's</a:t>
            </a:r>
            <a:r>
              <a:rPr lang="en-GB" dirty="0"/>
              <a:t> chat endpoint handles the grounding/context-stuffing natively, unlike OpenAI where you build that prompt yourself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608696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A59C-783C-EAF8-11C3-82CEA5459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Market Research Assistant using RAG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18324-A68A-BCAB-0F3B-E92EA7278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Code: </a:t>
            </a:r>
            <a:r>
              <a:rPr lang="en-US" dirty="0"/>
              <a:t>C:\code\agenticai\15_real\market_research_assistant_rag.py</a:t>
            </a:r>
          </a:p>
          <a:p>
            <a:pPr lvl="1"/>
            <a:r>
              <a:rPr lang="en-US" dirty="0"/>
              <a:t>Load competitor data, industry trends, our own product positioning into RAG</a:t>
            </a:r>
          </a:p>
          <a:p>
            <a:pPr lvl="1"/>
            <a:r>
              <a:rPr lang="en-US" dirty="0"/>
              <a:t>Agent is given tools: search market knowledgebase, get pricing benchmark, search web</a:t>
            </a:r>
          </a:p>
          <a:p>
            <a:pPr lvl="1"/>
            <a:r>
              <a:rPr lang="en-US" dirty="0"/>
              <a:t>Summarize findings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866351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4F64C-CC5F-8A2A-889E-E5DD4AC80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LlamaIndex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141FA-0737-9C70-4DDB-4365B32F8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 err="1"/>
              <a:t>LlamaIndex</a:t>
            </a:r>
            <a:r>
              <a:rPr lang="en-GB" dirty="0"/>
              <a:t>: A framework designed to connect Large Language Models (LLMs) with your organization's private data</a:t>
            </a:r>
          </a:p>
          <a:p>
            <a:r>
              <a:rPr lang="en-GB" dirty="0"/>
              <a:t>Simplifies building Retrieval-Augmented Generation (RAG) applications by handling data ingestion, indexing, retrieval, and querying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Much more than a simple vector database such as Chroma</a:t>
            </a:r>
          </a:p>
          <a:p>
            <a:pPr lvl="1"/>
            <a:r>
              <a:rPr lang="en-GB" dirty="0"/>
              <a:t>Vector DBs only store and search embeddings; </a:t>
            </a:r>
            <a:r>
              <a:rPr lang="en-GB" dirty="0" err="1"/>
              <a:t>LlamaIndex</a:t>
            </a:r>
            <a:r>
              <a:rPr lang="en-GB" dirty="0"/>
              <a:t> also parses documents, chunks them, and routes queries to the right source</a:t>
            </a:r>
          </a:p>
          <a:p>
            <a:r>
              <a:rPr lang="en-GB" dirty="0"/>
              <a:t>Example: Ask a question about your company's 500-page policy manual, and </a:t>
            </a:r>
            <a:r>
              <a:rPr lang="en-GB" dirty="0" err="1"/>
              <a:t>LlamaIndex</a:t>
            </a:r>
            <a:r>
              <a:rPr lang="en-GB" dirty="0"/>
              <a:t> finds and feeds the LLM just the relevant paragraphs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0EC278-EE64-1A9B-4717-A61985FCA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066" y="3092648"/>
            <a:ext cx="6487110" cy="142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79406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A874846-0F19-E2B9-AC20-7BE5BC197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49449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32971-9656-8845-32F2-A0D1FBAC0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LlamaIndex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46225-3CFB-94C4-493A-2AC74426E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C:\code\agenticai\15_real\grounded_generation_llamaindex.py</a:t>
            </a:r>
          </a:p>
          <a:p>
            <a:r>
              <a:rPr lang="en-GB" dirty="0" err="1"/>
              <a:t>SimpleDirectoryReader</a:t>
            </a:r>
            <a:endParaRPr lang="en-GB" dirty="0"/>
          </a:p>
          <a:p>
            <a:pPr lvl="1"/>
            <a:r>
              <a:rPr lang="en-GB" dirty="0"/>
              <a:t>Reads documents from disk </a:t>
            </a:r>
          </a:p>
          <a:p>
            <a:pPr lvl="1"/>
            <a:r>
              <a:rPr lang="en-GB" dirty="0"/>
              <a:t>Supports PDFs, Markdown, Word, HTML, etc. </a:t>
            </a:r>
          </a:p>
          <a:p>
            <a:pPr lvl="1"/>
            <a:r>
              <a:rPr lang="en-GB" dirty="0"/>
              <a:t>Converts them into </a:t>
            </a:r>
            <a:r>
              <a:rPr lang="en-GB" dirty="0" err="1"/>
              <a:t>LlamaIndex</a:t>
            </a:r>
            <a:r>
              <a:rPr lang="en-GB" dirty="0"/>
              <a:t> Document objects </a:t>
            </a:r>
          </a:p>
          <a:p>
            <a:r>
              <a:rPr lang="en-GB" dirty="0" err="1"/>
              <a:t>VectorStoreIndex</a:t>
            </a:r>
            <a:endParaRPr lang="en-GB" dirty="0"/>
          </a:p>
          <a:p>
            <a:pPr lvl="1"/>
            <a:r>
              <a:rPr lang="en-GB" dirty="0"/>
              <a:t>Splits documents into chunks </a:t>
            </a:r>
          </a:p>
          <a:p>
            <a:pPr lvl="1"/>
            <a:r>
              <a:rPr lang="en-GB" dirty="0"/>
              <a:t>Creates embeddings </a:t>
            </a:r>
          </a:p>
          <a:p>
            <a:pPr lvl="1"/>
            <a:r>
              <a:rPr lang="en-GB" dirty="0"/>
              <a:t>Builds a searchable vector index </a:t>
            </a:r>
          </a:p>
          <a:p>
            <a:pPr lvl="1"/>
            <a:r>
              <a:rPr lang="en-GB" dirty="0"/>
              <a:t>Enables semantic retrieval </a:t>
            </a:r>
          </a:p>
          <a:p>
            <a:r>
              <a:rPr lang="en-GB" dirty="0" err="1"/>
              <a:t>CitationQueryEngine</a:t>
            </a:r>
            <a:endParaRPr lang="en-GB" dirty="0"/>
          </a:p>
          <a:p>
            <a:pPr lvl="1"/>
            <a:r>
              <a:rPr lang="en-GB" dirty="0"/>
              <a:t>Retrieves the most relevant document chunks </a:t>
            </a:r>
          </a:p>
          <a:p>
            <a:pPr lvl="1"/>
            <a:r>
              <a:rPr lang="en-GB" dirty="0"/>
              <a:t>Sends them to the LLM as context </a:t>
            </a:r>
          </a:p>
          <a:p>
            <a:pPr lvl="1"/>
            <a:r>
              <a:rPr lang="en-GB" dirty="0"/>
              <a:t>Produces answers with inline citations (e.g., [1], [2]) </a:t>
            </a:r>
          </a:p>
          <a:p>
            <a:pPr lvl="1"/>
            <a:r>
              <a:rPr lang="en-GB" dirty="0"/>
              <a:t>Makes responses traceable and verifiable</a:t>
            </a:r>
          </a:p>
        </p:txBody>
      </p:sp>
    </p:spTree>
    <p:extLst>
      <p:ext uri="{BB962C8B-B14F-4D97-AF65-F5344CB8AC3E}">
        <p14:creationId xmlns:p14="http://schemas.microsoft.com/office/powerpoint/2010/main" val="396678262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38148-1663-C912-6C02-C9E3ADA8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F872D4-C8E8-CF9A-7935-874467243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6: Agent Memory, State, and Context Management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522267-FD5B-934F-301E-DF66567B1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04768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A13C8-F40C-FB54-0EEF-53C83AB09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3D201-7A49-2D5D-F6A9-4D3DCB25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485"/>
            <a:ext cx="10515600" cy="1033062"/>
          </a:xfrm>
        </p:spPr>
        <p:txBody>
          <a:bodyPr>
            <a:noAutofit/>
          </a:bodyPr>
          <a:lstStyle/>
          <a:p>
            <a:r>
              <a:rPr lang="en-IN" sz="4000" dirty="0"/>
              <a:t>Memory Types</a:t>
            </a:r>
            <a:endParaRPr lang="en-GB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86C575-3EA4-83C7-0607-ACDBE0EA0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305" y="1825625"/>
            <a:ext cx="3392355" cy="4351338"/>
          </a:xfrm>
        </p:spPr>
        <p:txBody>
          <a:bodyPr>
            <a:normAutofit fontScale="92500"/>
          </a:bodyPr>
          <a:lstStyle/>
          <a:p>
            <a:r>
              <a:rPr lang="en-IN" dirty="0"/>
              <a:t>Why memory?</a:t>
            </a:r>
          </a:p>
          <a:p>
            <a:pPr lvl="1"/>
            <a:r>
              <a:rPr lang="en-GB" dirty="0"/>
              <a:t>Maintain conversation context </a:t>
            </a:r>
          </a:p>
          <a:p>
            <a:pPr lvl="1"/>
            <a:r>
              <a:rPr lang="en-GB" dirty="0"/>
              <a:t>Remember user preferences </a:t>
            </a:r>
          </a:p>
          <a:p>
            <a:pPr lvl="1"/>
            <a:r>
              <a:rPr lang="en-GB" dirty="0"/>
              <a:t>Recall previous tasks </a:t>
            </a:r>
          </a:p>
          <a:p>
            <a:pPr lvl="1"/>
            <a:r>
              <a:rPr lang="en-GB" dirty="0"/>
              <a:t>Personalize responses </a:t>
            </a:r>
          </a:p>
          <a:p>
            <a:pPr lvl="1"/>
            <a:r>
              <a:rPr lang="en-GB" dirty="0"/>
              <a:t>Reduce repeated questions </a:t>
            </a:r>
          </a:p>
          <a:p>
            <a:pPr lvl="1"/>
            <a:r>
              <a:rPr lang="en-GB" dirty="0"/>
              <a:t>Support long-running workflows</a:t>
            </a:r>
          </a:p>
          <a:p>
            <a:endParaRPr lang="en-GB" dirty="0"/>
          </a:p>
          <a:p>
            <a:pPr lvl="1"/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FEF8C4-B8E7-E72C-3316-32E3C9463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376828"/>
              </p:ext>
            </p:extLst>
          </p:nvPr>
        </p:nvGraphicFramePr>
        <p:xfrm>
          <a:off x="3741362" y="1539743"/>
          <a:ext cx="8352336" cy="44805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088084">
                  <a:extLst>
                    <a:ext uri="{9D8B030D-6E8A-4147-A177-3AD203B41FA5}">
                      <a16:colId xmlns:a16="http://schemas.microsoft.com/office/drawing/2014/main" val="2707852265"/>
                    </a:ext>
                  </a:extLst>
                </a:gridCol>
                <a:gridCol w="2088084">
                  <a:extLst>
                    <a:ext uri="{9D8B030D-6E8A-4147-A177-3AD203B41FA5}">
                      <a16:colId xmlns:a16="http://schemas.microsoft.com/office/drawing/2014/main" val="1529649044"/>
                    </a:ext>
                  </a:extLst>
                </a:gridCol>
                <a:gridCol w="1882604">
                  <a:extLst>
                    <a:ext uri="{9D8B030D-6E8A-4147-A177-3AD203B41FA5}">
                      <a16:colId xmlns:a16="http://schemas.microsoft.com/office/drawing/2014/main" val="3195041357"/>
                    </a:ext>
                  </a:extLst>
                </a:gridCol>
                <a:gridCol w="2293564">
                  <a:extLst>
                    <a:ext uri="{9D8B030D-6E8A-4147-A177-3AD203B41FA5}">
                      <a16:colId xmlns:a16="http://schemas.microsoft.com/office/drawing/2014/main" val="3282950048"/>
                    </a:ext>
                  </a:extLst>
                </a:gridCol>
              </a:tblGrid>
              <a:tr h="327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Memory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Lifetime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124022"/>
                  </a:ext>
                </a:extLst>
              </a:tr>
              <a:tr h="57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Short-Term Memory (Working Memory)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Current conversation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Minutes / Session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Previous chat 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777889"/>
                  </a:ext>
                </a:extLst>
              </a:tr>
              <a:tr h="327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Long-Term Memory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Persistent user knowledge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Days to Years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User preferences, 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298387"/>
                  </a:ext>
                </a:extLst>
              </a:tr>
              <a:tr h="57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External Memory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Information stored outside the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ChromaDB, SQL, Redis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058159"/>
                  </a:ext>
                </a:extLst>
              </a:tr>
              <a:tr h="57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Semantic Memory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Facts and knowledge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"Python is your preferred language."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437865"/>
                  </a:ext>
                </a:extLst>
              </a:tr>
              <a:tr h="57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Episodic Memory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Past interactions and experiences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Previous customer support sessions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807768"/>
                  </a:ext>
                </a:extLst>
              </a:tr>
              <a:tr h="57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Procedural Memory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Learned procedures and workflows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Steps to deploy an 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814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2117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14141-9C94-D289-978F-BF1B5FFEA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 Examples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5F6FA-4F4D-132F-8839-1817112A2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First run </a:t>
            </a:r>
            <a:r>
              <a:rPr lang="en-US" dirty="0"/>
              <a:t>C:\code\agenticai\15_real\agent_memory_short_term_langgraph.py</a:t>
            </a:r>
          </a:p>
          <a:p>
            <a:r>
              <a:rPr lang="en-US" dirty="0"/>
              <a:t>Now run C:\code\agenticai\15_real\agent_memory_dynamic_session_id_langgraph.py  -&gt; Change is, we accept user id from user and that is our session ID</a:t>
            </a:r>
          </a:p>
          <a:p>
            <a:r>
              <a:rPr lang="en-US" dirty="0"/>
              <a:t>Now run C:\code\agenticai\15_real\agent_memory_short_to_long_term_langgraph.py and C:\code\agenticai\15_real\agent_memory_short_to_external_sqlite_langgraph.py -&gt; Saving short term memory into local/external long term memory</a:t>
            </a:r>
          </a:p>
          <a:p>
            <a:r>
              <a:rPr lang="en-US" dirty="0"/>
              <a:t>Now run C:\code\agenticai\15_real\agent_memory_episodic_langgraph.py, C:\code\agenticai\15_real\agent_memory_procedural_langgraph.py, C:\code\agenticai\15_real\agent_memory_semantic_langgraph.py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695807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6E079-473F-215D-559A-B71E0FFBA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 Schema Design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8AF8C-8072-3337-98B8-5FFBDE4A6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3629098" cy="4351338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State</a:t>
            </a:r>
            <a:r>
              <a:rPr lang="en-GB" dirty="0"/>
              <a:t>: A structured data object that stores all the information an agent needs while executing a workflow</a:t>
            </a:r>
          </a:p>
          <a:p>
            <a:r>
              <a:rPr lang="en-GB" dirty="0"/>
              <a:t>As the workflow progresses, each node reads the current state and updates it</a:t>
            </a:r>
          </a:p>
          <a:p>
            <a:r>
              <a:rPr lang="en-GB" dirty="0"/>
              <a:t>Initial State -&gt; Agent Node A (Read and Update) -&gt; Updated State -&gt; Agent Node B (Read and Update) -&gt; Updated State -&gt; Final Response</a:t>
            </a: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8131DE-8E39-B624-A40F-3E70FC249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879296"/>
              </p:ext>
            </p:extLst>
          </p:nvPr>
        </p:nvGraphicFramePr>
        <p:xfrm>
          <a:off x="5235115" y="2292552"/>
          <a:ext cx="6707926" cy="329184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702427">
                  <a:extLst>
                    <a:ext uri="{9D8B030D-6E8A-4147-A177-3AD203B41FA5}">
                      <a16:colId xmlns:a16="http://schemas.microsoft.com/office/drawing/2014/main" val="2021403941"/>
                    </a:ext>
                  </a:extLst>
                </a:gridCol>
                <a:gridCol w="4005499">
                  <a:extLst>
                    <a:ext uri="{9D8B030D-6E8A-4147-A177-3AD203B41FA5}">
                      <a16:colId xmlns:a16="http://schemas.microsoft.com/office/drawing/2014/main" val="2925762873"/>
                    </a:ext>
                  </a:extLst>
                </a:gridCol>
              </a:tblGrid>
              <a:tr h="33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438816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Conversation 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5334593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user_query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Current user request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6154603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retrieved_docs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Retrieved knowledge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2812220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tool_results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Results returned by 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6934045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reasoning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Intermediate reasoning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6996299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final_answer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Final 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124531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user_profile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User preferences and 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3657529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Current workflow 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7995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721101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3C05-FE1B-2A93-053E-CE95BCC4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61721" cy="1325563"/>
          </a:xfrm>
        </p:spPr>
        <p:txBody>
          <a:bodyPr/>
          <a:lstStyle/>
          <a:p>
            <a:r>
              <a:rPr lang="en-IN" dirty="0"/>
              <a:t>Example of State Schema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E5862-5750-714E-5047-18117550F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106" y="1825625"/>
            <a:ext cx="3615137" cy="4351338"/>
          </a:xfrm>
        </p:spPr>
        <p:txBody>
          <a:bodyPr>
            <a:normAutofit/>
          </a:bodyPr>
          <a:lstStyle/>
          <a:p>
            <a:r>
              <a:rPr lang="en-GB" dirty="0"/>
              <a:t>Agent State</a:t>
            </a:r>
          </a:p>
          <a:p>
            <a:pPr lvl="1"/>
            <a:r>
              <a:rPr lang="en-GB" dirty="0"/>
              <a:t>messages</a:t>
            </a:r>
          </a:p>
          <a:p>
            <a:pPr lvl="1"/>
            <a:r>
              <a:rPr lang="en-GB" dirty="0" err="1"/>
              <a:t>user_query</a:t>
            </a:r>
            <a:endParaRPr lang="en-GB" dirty="0"/>
          </a:p>
          <a:p>
            <a:pPr lvl="1"/>
            <a:r>
              <a:rPr lang="en-GB" dirty="0" err="1"/>
              <a:t>retrieved_docs</a:t>
            </a:r>
            <a:endParaRPr lang="en-GB" dirty="0"/>
          </a:p>
          <a:p>
            <a:pPr lvl="1"/>
            <a:r>
              <a:rPr lang="en-GB" dirty="0" err="1"/>
              <a:t>tool_results</a:t>
            </a:r>
            <a:endParaRPr lang="en-GB" dirty="0"/>
          </a:p>
          <a:p>
            <a:pPr lvl="1"/>
            <a:r>
              <a:rPr lang="en-GB" dirty="0"/>
              <a:t>reasoning</a:t>
            </a:r>
          </a:p>
          <a:p>
            <a:pPr lvl="1"/>
            <a:r>
              <a:rPr lang="en-GB" dirty="0" err="1"/>
              <a:t>final_answer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AC6D7-C675-01BD-A2AB-8897B92BEE30}"/>
              </a:ext>
            </a:extLst>
          </p:cNvPr>
          <p:cNvSpPr txBox="1"/>
          <p:nvPr/>
        </p:nvSpPr>
        <p:spPr>
          <a:xfrm>
            <a:off x="4732544" y="365125"/>
            <a:ext cx="7126736" cy="618630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User asks: </a:t>
            </a:r>
            <a:r>
              <a:rPr lang="en-GB" sz="1200" dirty="0"/>
              <a:t>Am I eligible for a ₹50 lakh home loan?</a:t>
            </a:r>
          </a:p>
          <a:p>
            <a:endParaRPr lang="en-GB" sz="1200" dirty="0"/>
          </a:p>
          <a:p>
            <a:r>
              <a:rPr lang="en-GB" sz="1200" b="1" dirty="0"/>
              <a:t>Initial State</a:t>
            </a:r>
          </a:p>
          <a:p>
            <a:r>
              <a:rPr lang="en-US" sz="1200" dirty="0"/>
              <a:t>messages</a:t>
            </a:r>
          </a:p>
          <a:p>
            <a:r>
              <a:rPr lang="en-US" sz="1200" dirty="0" err="1"/>
              <a:t>user_query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Everything else empty</a:t>
            </a:r>
          </a:p>
          <a:p>
            <a:endParaRPr lang="en-US" sz="1200" dirty="0"/>
          </a:p>
          <a:p>
            <a:r>
              <a:rPr lang="en-GB" sz="1200" b="1" dirty="0"/>
              <a:t>After retrieval</a:t>
            </a:r>
          </a:p>
          <a:p>
            <a:r>
              <a:rPr lang="en-GB" sz="1200" dirty="0"/>
              <a:t>messages</a:t>
            </a:r>
          </a:p>
          <a:p>
            <a:r>
              <a:rPr lang="en-GB" sz="1200" dirty="0" err="1"/>
              <a:t>user_query</a:t>
            </a:r>
            <a:endParaRPr lang="en-GB" sz="1200" dirty="0"/>
          </a:p>
          <a:p>
            <a:r>
              <a:rPr lang="en-GB" sz="1200" dirty="0" err="1"/>
              <a:t>retrieved_docs</a:t>
            </a:r>
            <a:endParaRPr lang="en-GB" sz="1200" dirty="0"/>
          </a:p>
          <a:p>
            <a:endParaRPr lang="en-GB" sz="1200" dirty="0"/>
          </a:p>
          <a:p>
            <a:r>
              <a:rPr lang="en-GB" sz="1200" b="1" dirty="0"/>
              <a:t>After tool execution</a:t>
            </a:r>
          </a:p>
          <a:p>
            <a:r>
              <a:rPr lang="en-US" sz="1200" dirty="0"/>
              <a:t>messages</a:t>
            </a:r>
          </a:p>
          <a:p>
            <a:r>
              <a:rPr lang="en-US" sz="1200" dirty="0" err="1"/>
              <a:t>user_query</a:t>
            </a:r>
            <a:endParaRPr lang="en-US" sz="1200" dirty="0"/>
          </a:p>
          <a:p>
            <a:r>
              <a:rPr lang="en-US" sz="1200" dirty="0" err="1"/>
              <a:t>retrieved_docs</a:t>
            </a:r>
            <a:endParaRPr lang="en-US" sz="1200" dirty="0"/>
          </a:p>
          <a:p>
            <a:r>
              <a:rPr lang="en-US" sz="1200" dirty="0" err="1"/>
              <a:t>tool_results</a:t>
            </a:r>
            <a:endParaRPr lang="en-US" sz="1200" dirty="0"/>
          </a:p>
          <a:p>
            <a:endParaRPr lang="en-US" sz="1200" dirty="0"/>
          </a:p>
          <a:p>
            <a:r>
              <a:rPr lang="en-US" sz="1200" b="1" dirty="0"/>
              <a:t>After reasoning</a:t>
            </a:r>
          </a:p>
          <a:p>
            <a:r>
              <a:rPr lang="en-US" sz="1200" dirty="0"/>
              <a:t>messages</a:t>
            </a:r>
          </a:p>
          <a:p>
            <a:r>
              <a:rPr lang="en-US" sz="1200" dirty="0" err="1"/>
              <a:t>user_query</a:t>
            </a:r>
            <a:endParaRPr lang="en-US" sz="1200" dirty="0"/>
          </a:p>
          <a:p>
            <a:r>
              <a:rPr lang="en-US" sz="1200" dirty="0" err="1"/>
              <a:t>retrieved_docs</a:t>
            </a:r>
            <a:endParaRPr lang="en-US" sz="1200" dirty="0"/>
          </a:p>
          <a:p>
            <a:r>
              <a:rPr lang="en-US" sz="1200" dirty="0" err="1"/>
              <a:t>tool_results</a:t>
            </a:r>
            <a:endParaRPr lang="en-US" sz="1200" dirty="0"/>
          </a:p>
          <a:p>
            <a:r>
              <a:rPr lang="en-US" sz="1200" dirty="0"/>
              <a:t>reasoning</a:t>
            </a:r>
          </a:p>
          <a:p>
            <a:endParaRPr lang="en-US" sz="1200" dirty="0"/>
          </a:p>
          <a:p>
            <a:r>
              <a:rPr lang="en-US" sz="1200" b="1" dirty="0"/>
              <a:t>Final State</a:t>
            </a:r>
          </a:p>
          <a:p>
            <a:r>
              <a:rPr lang="en-US" sz="1200" dirty="0"/>
              <a:t>messages</a:t>
            </a:r>
          </a:p>
          <a:p>
            <a:r>
              <a:rPr lang="en-US" sz="1200" dirty="0" err="1"/>
              <a:t>user_query</a:t>
            </a:r>
            <a:endParaRPr lang="en-US" sz="1200" dirty="0"/>
          </a:p>
          <a:p>
            <a:r>
              <a:rPr lang="en-US" sz="1200" dirty="0" err="1"/>
              <a:t>retrieved_docs</a:t>
            </a:r>
            <a:endParaRPr lang="en-US" sz="1200" dirty="0"/>
          </a:p>
          <a:p>
            <a:r>
              <a:rPr lang="en-US" sz="1200" dirty="0" err="1"/>
              <a:t>tool_results</a:t>
            </a:r>
            <a:endParaRPr lang="en-US" sz="1200" dirty="0"/>
          </a:p>
          <a:p>
            <a:r>
              <a:rPr lang="en-US" sz="1200" dirty="0"/>
              <a:t>reasoning</a:t>
            </a:r>
          </a:p>
          <a:p>
            <a:r>
              <a:rPr lang="en-US" sz="1200" dirty="0" err="1"/>
              <a:t>Final_answer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2204264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3464-E01A-62BB-3497-85261771E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Propagation and Trim Strategies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1514C-E8FC-D034-7940-9784901CF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Context propagation</a:t>
            </a:r>
            <a:r>
              <a:rPr lang="en-GB" dirty="0"/>
              <a:t>: Passing relevant information from one step (or agent) to the next so that the workflow maintains continuity and makes informed decisions</a:t>
            </a:r>
          </a:p>
          <a:p>
            <a:r>
              <a:rPr lang="en-GB" dirty="0"/>
              <a:t>Example: User asks - Can I get a ₹50 lakh home loan?</a:t>
            </a:r>
          </a:p>
          <a:p>
            <a:pPr lvl="1"/>
            <a:r>
              <a:rPr lang="en-GB" dirty="0"/>
              <a:t>Step 1: Query</a:t>
            </a:r>
          </a:p>
          <a:p>
            <a:pPr lvl="1"/>
            <a:r>
              <a:rPr lang="en-GB" dirty="0"/>
              <a:t>Step 2: Query + Retrieved policies</a:t>
            </a:r>
          </a:p>
          <a:p>
            <a:pPr lvl="1"/>
            <a:r>
              <a:rPr lang="en-GB" dirty="0"/>
              <a:t>Step 3: Query + Retrieved policies + Credit score</a:t>
            </a:r>
          </a:p>
          <a:p>
            <a:pPr lvl="1"/>
            <a:r>
              <a:rPr lang="en-GB" dirty="0"/>
              <a:t>Step 4: Query + Retrieved policies + Credit score + Reasoning -&gt; Final answer</a:t>
            </a:r>
          </a:p>
          <a:p>
            <a:r>
              <a:rPr lang="en-GB" dirty="0"/>
              <a:t>Why trim context?</a:t>
            </a:r>
          </a:p>
          <a:p>
            <a:pPr lvl="1"/>
            <a:r>
              <a:rPr lang="en-GB" dirty="0"/>
              <a:t>LLM has a limited context window</a:t>
            </a:r>
          </a:p>
          <a:p>
            <a:pPr lvl="1"/>
            <a:r>
              <a:rPr lang="en-GB" dirty="0"/>
              <a:t>Techniques: Next slide</a:t>
            </a:r>
          </a:p>
        </p:txBody>
      </p:sp>
    </p:spTree>
    <p:extLst>
      <p:ext uri="{BB962C8B-B14F-4D97-AF65-F5344CB8AC3E}">
        <p14:creationId xmlns:p14="http://schemas.microsoft.com/office/powerpoint/2010/main" val="90949592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0B4E-B0F8-6402-51A8-CAB73F611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Context Trimming Strategies</a:t>
            </a:r>
            <a:br>
              <a:rPr lang="en-IN" dirty="0"/>
            </a:br>
            <a:r>
              <a:rPr lang="en-IN" sz="3100" dirty="0"/>
              <a:t>Code: C:\code\agenticai\15_real\context_management_strategies.py</a:t>
            </a:r>
            <a:endParaRPr lang="en-GB" sz="31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4278EF-BE91-D3D7-F2AE-7AA943529A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2483810"/>
              </p:ext>
            </p:extLst>
          </p:nvPr>
        </p:nvGraphicFramePr>
        <p:xfrm>
          <a:off x="838200" y="2355374"/>
          <a:ext cx="10515600" cy="24688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728658">
                  <a:extLst>
                    <a:ext uri="{9D8B030D-6E8A-4147-A177-3AD203B41FA5}">
                      <a16:colId xmlns:a16="http://schemas.microsoft.com/office/drawing/2014/main" val="4106340199"/>
                    </a:ext>
                  </a:extLst>
                </a:gridCol>
                <a:gridCol w="5200214">
                  <a:extLst>
                    <a:ext uri="{9D8B030D-6E8A-4147-A177-3AD203B41FA5}">
                      <a16:colId xmlns:a16="http://schemas.microsoft.com/office/drawing/2014/main" val="3692593451"/>
                    </a:ext>
                  </a:extLst>
                </a:gridCol>
                <a:gridCol w="2586728">
                  <a:extLst>
                    <a:ext uri="{9D8B030D-6E8A-4147-A177-3AD203B41FA5}">
                      <a16:colId xmlns:a16="http://schemas.microsoft.com/office/drawing/2014/main" val="13496245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919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Sliding Window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Keep only the latest N 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Chatbots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893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Summarization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Replace older conversations with a summary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Long conversations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934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Semantic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Retrieve only relevant past memories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Long-term memory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076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Token-Based Trimming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Remove oldest content when token limit is reached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Production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614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Priority-Based Context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Always keep critical information, discard less important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Enterprise agents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16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47228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53F7C-4194-D103-03F6-EA6E3653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Human In The Loop (HITL) UX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5EF6E-16EC-0DAB-D583-360EF26E1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good HITL experience should provide</a:t>
            </a:r>
          </a:p>
          <a:p>
            <a:pPr lvl="1"/>
            <a:r>
              <a:rPr lang="en-GB" dirty="0"/>
              <a:t>Clear AI recommendation </a:t>
            </a:r>
          </a:p>
          <a:p>
            <a:pPr lvl="1"/>
            <a:r>
              <a:rPr lang="en-GB" dirty="0"/>
              <a:t>Supporting evidence </a:t>
            </a:r>
          </a:p>
          <a:p>
            <a:pPr lvl="1"/>
            <a:r>
              <a:rPr lang="en-GB" dirty="0"/>
              <a:t>Confidence score </a:t>
            </a:r>
          </a:p>
          <a:p>
            <a:pPr lvl="1"/>
            <a:r>
              <a:rPr lang="en-GB" dirty="0"/>
              <a:t>Retrieved documents </a:t>
            </a:r>
          </a:p>
          <a:p>
            <a:pPr lvl="1"/>
            <a:r>
              <a:rPr lang="en-GB" dirty="0"/>
              <a:t>Reasoning summary </a:t>
            </a:r>
          </a:p>
          <a:p>
            <a:pPr lvl="1"/>
            <a:r>
              <a:rPr lang="en-GB" dirty="0"/>
              <a:t>Action buttons</a:t>
            </a:r>
          </a:p>
          <a:p>
            <a:r>
              <a:rPr lang="en-GB" dirty="0"/>
              <a:t>Code: </a:t>
            </a:r>
            <a:r>
              <a:rPr lang="en-US" dirty="0"/>
              <a:t>C:\code\agenticai\15_real\support_ticketing_agent_hitl.py</a:t>
            </a:r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58424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025C8-024D-5AA7-0011-35AA3C937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Code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E6736-9086-F266-FEE6-9947CEC3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Long term memory (in </a:t>
            </a:r>
            <a:r>
              <a:rPr lang="en-IN" dirty="0" err="1"/>
              <a:t>ChromaDB</a:t>
            </a:r>
            <a:r>
              <a:rPr lang="en-IN" dirty="0"/>
              <a:t>) using </a:t>
            </a:r>
            <a:r>
              <a:rPr lang="en-IN" dirty="0" err="1"/>
              <a:t>LangChain</a:t>
            </a:r>
            <a:r>
              <a:rPr lang="en-IN" dirty="0"/>
              <a:t>: </a:t>
            </a:r>
            <a:r>
              <a:rPr lang="en-US" dirty="0"/>
              <a:t>C:\code\agenticai\15_real\langchain_long_term_memory_rag.py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582716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382EEC-3201-8510-93AF-0A474A323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7: Evaluation Frameworks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EE139B-3774-29D0-5EBE-353567E74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030944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BDD55-EC2C-81AB-2939-3C3E190E3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Need for Evaluation in RAG and Agent Systems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CC9FB-79B6-88EA-5914-F751A7235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GB" b="1" dirty="0"/>
              <a:t>Correctness</a:t>
            </a:r>
            <a:r>
              <a:rPr lang="en-GB" dirty="0"/>
              <a:t> – Wrong retrieval/reasoning → wrong answers (e.g., outdated medical advice stated confidently)</a:t>
            </a:r>
          </a:p>
          <a:p>
            <a:pPr lvl="0"/>
            <a:r>
              <a:rPr lang="en-GB" b="1" dirty="0"/>
              <a:t>Retrieval quality</a:t>
            </a:r>
            <a:r>
              <a:rPr lang="en-GB" dirty="0"/>
              <a:t> – Bad retrieval = bad generation, GIGO (Garbage In, Garbage Out)</a:t>
            </a:r>
          </a:p>
          <a:p>
            <a:pPr lvl="0"/>
            <a:r>
              <a:rPr lang="en-GB" b="1" dirty="0"/>
              <a:t>Hallucination and </a:t>
            </a:r>
            <a:r>
              <a:rPr lang="en-GB" b="1" dirty="0" err="1"/>
              <a:t>Groundedness</a:t>
            </a:r>
            <a:r>
              <a:rPr lang="en-GB" dirty="0"/>
              <a:t> – Checks that answers are actually supported by retrieved docs, not fabricated</a:t>
            </a:r>
          </a:p>
          <a:p>
            <a:pPr lvl="0"/>
            <a:r>
              <a:rPr lang="en-GB" b="1" dirty="0"/>
              <a:t>Agentic reasoning</a:t>
            </a:r>
            <a:r>
              <a:rPr lang="en-GB" dirty="0"/>
              <a:t> – Did the agent pick the right tool, reason correctly, and finish the task? (e.g., search → compare → book → confirm)</a:t>
            </a:r>
          </a:p>
          <a:p>
            <a:pPr lvl="0"/>
            <a:r>
              <a:rPr lang="en-GB" b="1" dirty="0"/>
              <a:t>Trust and adoption</a:t>
            </a:r>
            <a:r>
              <a:rPr lang="en-GB" dirty="0"/>
              <a:t> – Users need consistent, explainable, accurate outputs to trust the system</a:t>
            </a:r>
          </a:p>
          <a:p>
            <a:pPr lvl="0"/>
            <a:r>
              <a:rPr lang="en-GB" b="1" dirty="0"/>
              <a:t>Continuous improvement</a:t>
            </a:r>
            <a:r>
              <a:rPr lang="en-GB" dirty="0"/>
              <a:t> – Evaluation catches drift, compares versions, and tunes pipelines/prompts over time</a:t>
            </a:r>
          </a:p>
        </p:txBody>
      </p:sp>
    </p:spTree>
    <p:extLst>
      <p:ext uri="{BB962C8B-B14F-4D97-AF65-F5344CB8AC3E}">
        <p14:creationId xmlns:p14="http://schemas.microsoft.com/office/powerpoint/2010/main" val="184454095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1E21D-C1CF-0E54-0B85-DF6252D0D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RAGAS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E3947-0E60-A451-1FF8-4DC301CB6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Retrieval-Augmented Generation Assessment</a:t>
            </a:r>
          </a:p>
          <a:p>
            <a:pPr lvl="0"/>
            <a:r>
              <a:rPr lang="en-GB" dirty="0"/>
              <a:t>Open-source framework to evaluate RAG systems — no manual </a:t>
            </a:r>
            <a:r>
              <a:rPr lang="en-GB" dirty="0" err="1"/>
              <a:t>labeling</a:t>
            </a:r>
            <a:r>
              <a:rPr lang="en-GB" dirty="0"/>
              <a:t> needed</a:t>
            </a:r>
          </a:p>
          <a:p>
            <a:pPr lvl="0"/>
            <a:r>
              <a:rPr lang="en-GB" dirty="0"/>
              <a:t>Scores both retrieval and generation, not just the final answer</a:t>
            </a:r>
          </a:p>
          <a:p>
            <a:pPr lvl="0"/>
            <a:r>
              <a:rPr lang="en-GB" dirty="0"/>
              <a:t>Why needed? Traditional eval only checks the final answer, RAGAS asks:</a:t>
            </a:r>
          </a:p>
          <a:p>
            <a:pPr lvl="1"/>
            <a:r>
              <a:rPr lang="en-GB" dirty="0"/>
              <a:t>Was the right info retrieved?</a:t>
            </a:r>
          </a:p>
          <a:p>
            <a:pPr lvl="1"/>
            <a:r>
              <a:rPr lang="en-GB" dirty="0"/>
              <a:t>Was it relevant?</a:t>
            </a:r>
          </a:p>
          <a:p>
            <a:pPr lvl="1"/>
            <a:r>
              <a:rPr lang="en-GB" dirty="0"/>
              <a:t>Is the answer grounded in it?</a:t>
            </a:r>
          </a:p>
          <a:p>
            <a:pPr lvl="1"/>
            <a:r>
              <a:rPr lang="en-GB" dirty="0"/>
              <a:t>Does the answer actually address the question?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999884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0ECB6-92A0-94FD-00D2-88C8FBA11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RAGAS Metrics</a:t>
            </a:r>
            <a:endParaRPr lang="en-GB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94C4E58-4077-61C8-8E97-797A6CCED4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9895522"/>
              </p:ext>
            </p:extLst>
          </p:nvPr>
        </p:nvGraphicFramePr>
        <p:xfrm>
          <a:off x="838200" y="1514265"/>
          <a:ext cx="10515600" cy="50292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849159">
                  <a:extLst>
                    <a:ext uri="{9D8B030D-6E8A-4147-A177-3AD203B41FA5}">
                      <a16:colId xmlns:a16="http://schemas.microsoft.com/office/drawing/2014/main" val="4110001383"/>
                    </a:ext>
                  </a:extLst>
                </a:gridCol>
                <a:gridCol w="2806021">
                  <a:extLst>
                    <a:ext uri="{9D8B030D-6E8A-4147-A177-3AD203B41FA5}">
                      <a16:colId xmlns:a16="http://schemas.microsoft.com/office/drawing/2014/main" val="3087493093"/>
                    </a:ext>
                  </a:extLst>
                </a:gridCol>
                <a:gridCol w="1968403">
                  <a:extLst>
                    <a:ext uri="{9D8B030D-6E8A-4147-A177-3AD203B41FA5}">
                      <a16:colId xmlns:a16="http://schemas.microsoft.com/office/drawing/2014/main" val="2476340627"/>
                    </a:ext>
                  </a:extLst>
                </a:gridCol>
                <a:gridCol w="3892017">
                  <a:extLst>
                    <a:ext uri="{9D8B030D-6E8A-4147-A177-3AD203B41FA5}">
                      <a16:colId xmlns:a16="http://schemas.microsoft.com/office/drawing/2014/main" val="10603621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Evaluated Against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Example</a:t>
                      </a:r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765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Faithfulness</a:t>
                      </a:r>
                      <a:endParaRPr lang="en-GB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Are answer claims supported?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Retrieved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Q: "Capital of France?" → Answer: "Paris, population 10M" — if population isn't in retrieved docs, faithfulness score drops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2595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Answer Relevance</a:t>
                      </a:r>
                      <a:endParaRPr lang="en-GB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Does the answer address the user's question?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Original 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Q: "How do I reset my password?" → Answer explaining account creation = low relevance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693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Context Precision</a:t>
                      </a:r>
                      <a:endParaRPr lang="en-GB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Are the retrieved chunks relevant?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Ground Truth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Q: "Symptoms of flu?" → 5 chunks retrieved, only 2 are actually about flu symptoms = low 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547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Context Recall</a:t>
                      </a:r>
                      <a:endParaRPr lang="en-GB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Was all necessary information retrieved?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Ground Truth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Ground truth needs 4 key facts to answer fully; only 2 were retrieved = low 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126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541031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95496-30E1-F5CD-356D-050C449CD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RAGAS Does Internally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4E1D71-E25A-0F62-A141-152C774EFC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114537"/>
              </p:ext>
            </p:extLst>
          </p:nvPr>
        </p:nvGraphicFramePr>
        <p:xfrm>
          <a:off x="1091961" y="1825625"/>
          <a:ext cx="10008078" cy="4351339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160790">
                  <a:extLst>
                    <a:ext uri="{9D8B030D-6E8A-4147-A177-3AD203B41FA5}">
                      <a16:colId xmlns:a16="http://schemas.microsoft.com/office/drawing/2014/main" val="2077905495"/>
                    </a:ext>
                  </a:extLst>
                </a:gridCol>
                <a:gridCol w="7847288">
                  <a:extLst>
                    <a:ext uri="{9D8B030D-6E8A-4147-A177-3AD203B41FA5}">
                      <a16:colId xmlns:a16="http://schemas.microsoft.com/office/drawing/2014/main" val="3222618683"/>
                    </a:ext>
                  </a:extLst>
                </a:gridCol>
              </a:tblGrid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Metric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What RAGAS Does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168724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/>
                        <a:t>Faithfulness</a:t>
                      </a:r>
                      <a:endParaRPr lang="en-GB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/>
                        <a:t>Breaks the answer into individual factual claims (atomic statements), then checks each one against the retrieved context to see if it's actually supported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656475"/>
                  </a:ext>
                </a:extLst>
              </a:tr>
              <a:tr h="1131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/>
                        <a:t>Answer Relevance</a:t>
                      </a:r>
                      <a:endParaRPr lang="en-GB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/>
                        <a:t>Takes the generated answer and asks an LLM to "guess back" what question it is answering (proxy questions), then compares those to the original question using embedding similarity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820037"/>
                  </a:ext>
                </a:extLst>
              </a:tr>
              <a:tr h="1131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/>
                        <a:t>Context Precision</a:t>
                      </a:r>
                      <a:endParaRPr lang="en-GB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Splits the retrieved context into chunks, evaluates each chunk individually as relevant or not, then calculates what fraction of retrieved chunks were actually useful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887274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/>
                        <a:t>Context Recall</a:t>
                      </a:r>
                      <a:endParaRPr lang="en-GB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/>
                        <a:t>Compares the retrieved context against the ground-truth answer to check whether every fact needed to fully answer the question was actually retrieved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6467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203385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5766D-E974-F396-EFD6-83B60B21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RAGAS Metrics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540AB-BEB9-A042-8140-62F64D5CD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 the question is: </a:t>
            </a:r>
            <a:r>
              <a:rPr lang="en-GB" dirty="0"/>
              <a:t>A user asks a smart home support chatbot: </a:t>
            </a:r>
            <a:r>
              <a:rPr lang="en-GB" i="1" dirty="0"/>
              <a:t>"How do I reset my Wi-Fi router?“</a:t>
            </a:r>
          </a:p>
          <a:p>
            <a:endParaRPr lang="en-GB" i="1" dirty="0"/>
          </a:p>
          <a:p>
            <a:r>
              <a:rPr lang="en-GB" dirty="0"/>
              <a:t>Note: Remember this key distinction</a:t>
            </a:r>
          </a:p>
          <a:p>
            <a:pPr lvl="1"/>
            <a:r>
              <a:rPr lang="en-GB" b="1" dirty="0"/>
              <a:t>Precision</a:t>
            </a:r>
            <a:r>
              <a:rPr lang="en-GB" dirty="0"/>
              <a:t> → "Of what you retrieved, how much was useful?"</a:t>
            </a:r>
          </a:p>
          <a:p>
            <a:pPr lvl="1"/>
            <a:r>
              <a:rPr lang="en-GB" b="1" dirty="0"/>
              <a:t>Recall</a:t>
            </a:r>
            <a:r>
              <a:rPr lang="en-GB" dirty="0"/>
              <a:t> → "Of what was needed, how much did you retrieve?"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836681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A6D8C-5765-A147-6B66-7A597D28D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Faithfulness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C2E09-D859-2552-A363-90FC09878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i="1" dirty="0"/>
              <a:t>Are the answer's claims actually backed by the retrieved context?</a:t>
            </a:r>
            <a:endParaRPr lang="en-GB" dirty="0"/>
          </a:p>
          <a:p>
            <a:r>
              <a:rPr lang="en-GB" b="1" dirty="0"/>
              <a:t>Answer generated by RAG/LLM:</a:t>
            </a:r>
            <a:r>
              <a:rPr lang="en-GB" dirty="0"/>
              <a:t> "Hold the reset button for 10 seconds, the light will blink, then wait exactly 2 minutes for it to reboot"</a:t>
            </a:r>
          </a:p>
          <a:p>
            <a:r>
              <a:rPr lang="en-GB" dirty="0"/>
              <a:t>Broken into 3 claims:</a:t>
            </a:r>
          </a:p>
          <a:p>
            <a:pPr lvl="1"/>
            <a:r>
              <a:rPr lang="en-GB" dirty="0"/>
              <a:t>S1: Hold reset button for 10 seconds</a:t>
            </a:r>
          </a:p>
          <a:p>
            <a:pPr lvl="1"/>
            <a:r>
              <a:rPr lang="en-GB" dirty="0"/>
              <a:t>S2: Light will blink</a:t>
            </a:r>
          </a:p>
          <a:p>
            <a:pPr lvl="1"/>
            <a:r>
              <a:rPr lang="en-GB" dirty="0"/>
              <a:t>S3: Wait 2 minutes for reboot</a:t>
            </a:r>
          </a:p>
          <a:p>
            <a:r>
              <a:rPr lang="en-GB" b="1" dirty="0"/>
              <a:t>Retrieved context:</a:t>
            </a:r>
            <a:r>
              <a:rPr lang="en-GB" dirty="0"/>
              <a:t> </a:t>
            </a:r>
            <a:r>
              <a:rPr lang="en-GB" i="1" dirty="0"/>
              <a:t>"Press and hold the reset button on the back of the router for 10 seconds. The status light will blink to confirm the reset. The router will restart automatically."</a:t>
            </a:r>
            <a:endParaRPr lang="en-GB" dirty="0"/>
          </a:p>
          <a:p>
            <a:pPr lvl="1"/>
            <a:r>
              <a:rPr lang="en-GB" dirty="0"/>
              <a:t>S1 ✅ — confirmed</a:t>
            </a:r>
          </a:p>
          <a:p>
            <a:pPr lvl="1"/>
            <a:r>
              <a:rPr lang="en-GB" dirty="0"/>
              <a:t>S2 ✅ — confirmed</a:t>
            </a:r>
          </a:p>
          <a:p>
            <a:pPr lvl="1"/>
            <a:r>
              <a:rPr lang="en-GB" dirty="0"/>
              <a:t>S3 ❌ — context says it restarts "automatically," never gives a specific time. The "2 minutes" detail was made up</a:t>
            </a:r>
          </a:p>
          <a:p>
            <a:r>
              <a:rPr lang="en-GB" b="1" dirty="0"/>
              <a:t>Score = 2/3 = 0.67</a:t>
            </a:r>
            <a:r>
              <a:rPr lang="en-GB" dirty="0"/>
              <a:t> — the answer added a specific-sounding detail that wasn't actually in the source</a:t>
            </a:r>
          </a:p>
        </p:txBody>
      </p:sp>
    </p:spTree>
    <p:extLst>
      <p:ext uri="{BB962C8B-B14F-4D97-AF65-F5344CB8AC3E}">
        <p14:creationId xmlns:p14="http://schemas.microsoft.com/office/powerpoint/2010/main" val="13045862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B915B-3067-5DEA-F798-59E9E0CE0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C9BF9-E54D-76E5-B238-EF8FA8653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Answer Relevance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2409D-BE71-14B5-55C9-7BAC7FF2C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i="1" dirty="0"/>
              <a:t>Does the answer actually address what was asked?</a:t>
            </a:r>
            <a:endParaRPr lang="en-GB" dirty="0"/>
          </a:p>
          <a:p>
            <a:r>
              <a:rPr lang="en-GB" b="1" dirty="0"/>
              <a:t>How it works</a:t>
            </a:r>
            <a:endParaRPr lang="en-GB" dirty="0"/>
          </a:p>
          <a:p>
            <a:pPr lvl="1"/>
            <a:r>
              <a:rPr lang="en-GB" dirty="0"/>
              <a:t>Take the generated answer</a:t>
            </a:r>
          </a:p>
          <a:p>
            <a:pPr lvl="1"/>
            <a:r>
              <a:rPr lang="en-GB" dirty="0"/>
              <a:t>Ask an LLM: "What question would this answer be a good response to?" → generates 1-3 </a:t>
            </a:r>
            <a:r>
              <a:rPr lang="en-GB" b="1" dirty="0"/>
              <a:t>proxy questions</a:t>
            </a:r>
            <a:endParaRPr lang="en-GB" dirty="0"/>
          </a:p>
          <a:p>
            <a:pPr lvl="1"/>
            <a:r>
              <a:rPr lang="en-GB" dirty="0"/>
              <a:t>Compare those proxy questions to the </a:t>
            </a:r>
            <a:r>
              <a:rPr lang="en-GB" b="1" dirty="0"/>
              <a:t>original question</a:t>
            </a:r>
            <a:r>
              <a:rPr lang="en-GB" dirty="0"/>
              <a:t> (embedding similarity, 0 to 1)</a:t>
            </a:r>
          </a:p>
          <a:p>
            <a:pPr lvl="1"/>
            <a:r>
              <a:rPr lang="en-GB" dirty="0"/>
              <a:t>High similarity = answer is on-topic. Low similarity = answer drifted away from what was asked</a:t>
            </a:r>
          </a:p>
          <a:p>
            <a:r>
              <a:rPr lang="en-GB" b="1" dirty="0"/>
              <a:t>Original Question:</a:t>
            </a:r>
            <a:r>
              <a:rPr lang="en-GB" dirty="0"/>
              <a:t> "How do I reset my Wi-Fi router?"</a:t>
            </a:r>
          </a:p>
          <a:p>
            <a:r>
              <a:rPr lang="en-GB" b="1" dirty="0"/>
              <a:t>Case A — On-topic answer: </a:t>
            </a:r>
            <a:r>
              <a:rPr lang="en-GB" dirty="0"/>
              <a:t>"Hold the reset button for 10 seconds until the light blinks."</a:t>
            </a:r>
          </a:p>
          <a:p>
            <a:pPr lvl="1"/>
            <a:r>
              <a:rPr lang="en-GB" dirty="0"/>
              <a:t>Guessed-back question: </a:t>
            </a:r>
            <a:r>
              <a:rPr lang="en-GB" i="1" dirty="0"/>
              <a:t>"How do I reset my router?"</a:t>
            </a:r>
            <a:br>
              <a:rPr lang="en-GB" dirty="0"/>
            </a:br>
            <a:r>
              <a:rPr lang="en-GB" dirty="0"/>
              <a:t>→ Similarity to original: </a:t>
            </a:r>
            <a:r>
              <a:rPr lang="en-GB" b="1" dirty="0"/>
              <a:t>0.95</a:t>
            </a:r>
            <a:br>
              <a:rPr lang="en-GB" dirty="0"/>
            </a:br>
            <a:r>
              <a:rPr lang="en-GB" dirty="0"/>
              <a:t>→ </a:t>
            </a:r>
            <a:r>
              <a:rPr lang="en-GB" b="1" dirty="0"/>
              <a:t>Score ≈ 0.9</a:t>
            </a:r>
            <a:r>
              <a:rPr lang="en-GB" dirty="0"/>
              <a:t> — the answer clearly addresses the question asked</a:t>
            </a:r>
          </a:p>
          <a:p>
            <a:r>
              <a:rPr lang="en-GB" b="1" dirty="0"/>
              <a:t>Case B — Off-topic answer</a:t>
            </a:r>
            <a:r>
              <a:rPr lang="en-GB" dirty="0"/>
              <a:t>: "You can change your Wi-Fi password from the settings app."</a:t>
            </a:r>
          </a:p>
          <a:p>
            <a:pPr lvl="1"/>
            <a:r>
              <a:rPr lang="en-GB" dirty="0"/>
              <a:t>Guessed-back question: </a:t>
            </a:r>
            <a:r>
              <a:rPr lang="en-GB" i="1" dirty="0"/>
              <a:t>"How do I change my Wi-Fi password?"</a:t>
            </a:r>
            <a:br>
              <a:rPr lang="en-GB" dirty="0"/>
            </a:br>
            <a:r>
              <a:rPr lang="en-GB" dirty="0"/>
              <a:t>→ Similarity to original: </a:t>
            </a:r>
            <a:r>
              <a:rPr lang="en-GB" b="1" dirty="0"/>
              <a:t>0.30</a:t>
            </a:r>
            <a:br>
              <a:rPr lang="en-GB" dirty="0"/>
            </a:br>
            <a:r>
              <a:rPr lang="en-GB" dirty="0"/>
              <a:t>→ </a:t>
            </a:r>
            <a:r>
              <a:rPr lang="en-GB" b="1" dirty="0"/>
              <a:t>Score ≈ 0.3</a:t>
            </a:r>
            <a:r>
              <a:rPr lang="en-GB" dirty="0"/>
              <a:t> — related subject (router settings), but doesn't answer </a:t>
            </a:r>
            <a:r>
              <a:rPr lang="en-GB" i="1" dirty="0"/>
              <a:t>what was asked</a:t>
            </a:r>
            <a:endParaRPr lang="en-GB" dirty="0"/>
          </a:p>
          <a:p>
            <a:r>
              <a:rPr lang="en-GB" b="1" dirty="0"/>
              <a:t>Key idea:</a:t>
            </a:r>
            <a:r>
              <a:rPr lang="en-GB" dirty="0"/>
              <a:t> if the answer really addressed the question, working backward from the answer should land you back on roughly the same question - If it does not, the answer wandered</a:t>
            </a:r>
          </a:p>
        </p:txBody>
      </p:sp>
    </p:spTree>
    <p:extLst>
      <p:ext uri="{BB962C8B-B14F-4D97-AF65-F5344CB8AC3E}">
        <p14:creationId xmlns:p14="http://schemas.microsoft.com/office/powerpoint/2010/main" val="409698290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14B75-C112-FC48-A921-1072C13B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E64A9-0AA2-0127-5A18-CF1736184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Precision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ED213-0C41-1C11-8385-F7E7F331B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i="1" dirty="0"/>
              <a:t>Of what was retrieved, how much was actually useful?</a:t>
            </a:r>
            <a:endParaRPr lang="en-GB" dirty="0"/>
          </a:p>
          <a:p>
            <a:r>
              <a:rPr lang="en-GB" dirty="0"/>
              <a:t>5 chunks retrieved for "How do I reset my Wi-Fi router?”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Score = 3/5 = 0.60</a:t>
            </a:r>
            <a:r>
              <a:rPr lang="en-GB" dirty="0"/>
              <a:t> — 2 irrelevant chunks (warranty, parental controls) diluted the useful ones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07D949-9CC8-B9ED-79CC-A3B598FDE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4844"/>
              </p:ext>
            </p:extLst>
          </p:nvPr>
        </p:nvGraphicFramePr>
        <p:xfrm>
          <a:off x="1152308" y="2729860"/>
          <a:ext cx="9317922" cy="21945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013848">
                  <a:extLst>
                    <a:ext uri="{9D8B030D-6E8A-4147-A177-3AD203B41FA5}">
                      <a16:colId xmlns:a16="http://schemas.microsoft.com/office/drawing/2014/main" val="3886692143"/>
                    </a:ext>
                  </a:extLst>
                </a:gridCol>
                <a:gridCol w="4539897">
                  <a:extLst>
                    <a:ext uri="{9D8B030D-6E8A-4147-A177-3AD203B41FA5}">
                      <a16:colId xmlns:a16="http://schemas.microsoft.com/office/drawing/2014/main" val="3024767526"/>
                    </a:ext>
                  </a:extLst>
                </a:gridCol>
                <a:gridCol w="3764177">
                  <a:extLst>
                    <a:ext uri="{9D8B030D-6E8A-4147-A177-3AD203B41FA5}">
                      <a16:colId xmlns:a16="http://schemas.microsoft.com/office/drawing/2014/main" val="3677095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Chunk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Relevant?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6705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"Hold reset button for 10 seconds"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796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"Status light blinks to confirm reset"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0023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"How to set up parental controls"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452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"Router warranty terms and conditions"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808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"Router restarts automatically after reset"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4227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12175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AFE1F-541D-28C4-D2B0-04CD1EC17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B395-7892-DBE4-11C2-630E3DF6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Recall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0B527-ABB8-408B-EF62-840904E4F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2400" i="1" dirty="0"/>
              <a:t>Was everything needed to fully answer the question actually retrieved?</a:t>
            </a:r>
            <a:endParaRPr lang="en-GB" sz="2400" dirty="0"/>
          </a:p>
          <a:p>
            <a:r>
              <a:rPr lang="en-GB" sz="2400" b="1" dirty="0"/>
              <a:t>Ground truth — 4 facts needed for a complete answer</a:t>
            </a:r>
            <a:endParaRPr lang="en-GB" sz="2400" dirty="0"/>
          </a:p>
          <a:p>
            <a:pPr lvl="1"/>
            <a:r>
              <a:rPr lang="en-GB" sz="2000" dirty="0"/>
              <a:t>Hold reset button for 10 seconds</a:t>
            </a:r>
          </a:p>
          <a:p>
            <a:pPr lvl="1"/>
            <a:r>
              <a:rPr lang="en-GB" sz="2000" dirty="0"/>
              <a:t>Status light blinks to confirm</a:t>
            </a:r>
          </a:p>
          <a:p>
            <a:pPr lvl="1"/>
            <a:r>
              <a:rPr lang="en-GB" sz="2000" dirty="0"/>
              <a:t>Router restarts automatically</a:t>
            </a:r>
          </a:p>
          <a:p>
            <a:pPr lvl="1"/>
            <a:r>
              <a:rPr lang="en-GB" sz="2000" dirty="0"/>
              <a:t>All settings return to factory default</a:t>
            </a:r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endParaRPr lang="en-GB" sz="2400" b="1" dirty="0"/>
          </a:p>
          <a:p>
            <a:r>
              <a:rPr lang="en-GB" sz="2400" b="1" dirty="0"/>
              <a:t>Score = 3/4 = 0.75</a:t>
            </a:r>
            <a:r>
              <a:rPr lang="en-GB" sz="2400" dirty="0"/>
              <a:t> — the user would not be warned their custom Wi-Fi name/password will be wiped, because that fact was never retrieved</a:t>
            </a:r>
          </a:p>
          <a:p>
            <a:endParaRPr lang="en-GB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01595D-7DA7-6B9C-19B0-CB0DC2931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397851"/>
              </p:ext>
            </p:extLst>
          </p:nvPr>
        </p:nvGraphicFramePr>
        <p:xfrm>
          <a:off x="1550176" y="3624033"/>
          <a:ext cx="8822332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4411166">
                  <a:extLst>
                    <a:ext uri="{9D8B030D-6E8A-4147-A177-3AD203B41FA5}">
                      <a16:colId xmlns:a16="http://schemas.microsoft.com/office/drawing/2014/main" val="436450654"/>
                    </a:ext>
                  </a:extLst>
                </a:gridCol>
                <a:gridCol w="4411166">
                  <a:extLst>
                    <a:ext uri="{9D8B030D-6E8A-4147-A177-3AD203B41FA5}">
                      <a16:colId xmlns:a16="http://schemas.microsoft.com/office/drawing/2014/main" val="34711486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Required Fact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Retrieved?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20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Hold button 10 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28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Light blinks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6080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Restarts automatically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197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Settings reset to default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01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84568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91AA8-7E09-490F-BD5E-66F358960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Paraphrasing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67A67-C1BB-AAB8-EB0A-7BD02F876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11608" cy="4351338"/>
          </a:xfrm>
        </p:spPr>
        <p:txBody>
          <a:bodyPr>
            <a:normAutofit fontScale="77500" lnSpcReduction="20000"/>
          </a:bodyPr>
          <a:lstStyle/>
          <a:p>
            <a:r>
              <a:rPr lang="en-GB" b="1" dirty="0"/>
              <a:t>The Problem</a:t>
            </a:r>
            <a:endParaRPr lang="en-GB" dirty="0"/>
          </a:p>
          <a:p>
            <a:pPr lvl="1"/>
            <a:r>
              <a:rPr lang="en-GB" dirty="0"/>
              <a:t>Test questions come straight from the FAQ database</a:t>
            </a:r>
          </a:p>
          <a:p>
            <a:pPr lvl="1"/>
            <a:r>
              <a:rPr lang="en-GB" dirty="0"/>
              <a:t>If we ask retrieval the </a:t>
            </a:r>
            <a:r>
              <a:rPr lang="en-GB" i="1" dirty="0"/>
              <a:t>exact same wording</a:t>
            </a:r>
            <a:r>
              <a:rPr lang="en-GB" dirty="0"/>
              <a:t> that is already indexed → retrieval looks perfect, but proves nothing</a:t>
            </a:r>
          </a:p>
          <a:p>
            <a:pPr lvl="1"/>
            <a:r>
              <a:rPr lang="en-GB" dirty="0"/>
              <a:t>Real users never type FAQ questions word-for-word</a:t>
            </a:r>
          </a:p>
          <a:p>
            <a:r>
              <a:rPr lang="en-GB" b="1" dirty="0"/>
              <a:t>The Fix</a:t>
            </a:r>
            <a:endParaRPr lang="en-GB" dirty="0"/>
          </a:p>
          <a:p>
            <a:pPr lvl="1"/>
            <a:r>
              <a:rPr lang="en-GB" dirty="0"/>
              <a:t>Take the real FAQ question → reword it casually, the way an actual user would type it</a:t>
            </a:r>
          </a:p>
          <a:p>
            <a:pPr lvl="1"/>
            <a:r>
              <a:rPr lang="en-GB" dirty="0"/>
              <a:t>Keep the same meaning, different phrasing</a:t>
            </a:r>
          </a:p>
          <a:p>
            <a:pPr lvl="1"/>
            <a:r>
              <a:rPr lang="en-GB" dirty="0"/>
              <a:t>Reference answer (ground truth) stays unchanged — only the </a:t>
            </a:r>
            <a:r>
              <a:rPr lang="en-GB" i="1" dirty="0"/>
              <a:t>question sent to the pipeline</a:t>
            </a:r>
            <a:r>
              <a:rPr lang="en-GB" dirty="0"/>
              <a:t> changes</a:t>
            </a:r>
          </a:p>
          <a:p>
            <a:r>
              <a:rPr lang="en-GB" dirty="0"/>
              <a:t>Paraphrasing stress-tests whether the RAG pipeline actually </a:t>
            </a:r>
            <a:r>
              <a:rPr lang="en-GB" i="1" dirty="0"/>
              <a:t>understands intent</a:t>
            </a:r>
            <a:r>
              <a:rPr lang="en-GB" dirty="0"/>
              <a:t> — not just whether it can look up exact keywords</a:t>
            </a: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90AF12-5FEF-FD07-3D34-DA7636D4C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028356"/>
              </p:ext>
            </p:extLst>
          </p:nvPr>
        </p:nvGraphicFramePr>
        <p:xfrm>
          <a:off x="7077874" y="2903283"/>
          <a:ext cx="4983829" cy="20726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103739">
                  <a:extLst>
                    <a:ext uri="{9D8B030D-6E8A-4147-A177-3AD203B41FA5}">
                      <a16:colId xmlns:a16="http://schemas.microsoft.com/office/drawing/2014/main" val="4240172202"/>
                    </a:ext>
                  </a:extLst>
                </a:gridCol>
                <a:gridCol w="2880090">
                  <a:extLst>
                    <a:ext uri="{9D8B030D-6E8A-4147-A177-3AD203B41FA5}">
                      <a16:colId xmlns:a16="http://schemas.microsoft.com/office/drawing/2014/main" val="1747979199"/>
                    </a:ext>
                  </a:extLst>
                </a:gridCol>
              </a:tblGrid>
              <a:tr h="31854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8358426"/>
                  </a:ext>
                </a:extLst>
              </a:tr>
              <a:tr h="557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Original FAQ 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"What is your return policy for electronics?"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3855790"/>
                  </a:ext>
                </a:extLst>
              </a:tr>
              <a:tr h="557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Paraphrased (user-style)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"can i return a broken laptop i bought"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30761"/>
                  </a:ext>
                </a:extLst>
              </a:tr>
              <a:tr h="557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Reference answer (unchanged)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(real FAQ answer, used as ground truth)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153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44349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F10C14-C2D9-D2C0-B368-26FCA798B1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310872"/>
              </p:ext>
            </p:extLst>
          </p:nvPr>
        </p:nvGraphicFramePr>
        <p:xfrm>
          <a:off x="520310" y="295191"/>
          <a:ext cx="11143524" cy="6042786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444417">
                  <a:extLst>
                    <a:ext uri="{9D8B030D-6E8A-4147-A177-3AD203B41FA5}">
                      <a16:colId xmlns:a16="http://schemas.microsoft.com/office/drawing/2014/main" val="3555447430"/>
                    </a:ext>
                  </a:extLst>
                </a:gridCol>
                <a:gridCol w="3984599">
                  <a:extLst>
                    <a:ext uri="{9D8B030D-6E8A-4147-A177-3AD203B41FA5}">
                      <a16:colId xmlns:a16="http://schemas.microsoft.com/office/drawing/2014/main" val="1866770534"/>
                    </a:ext>
                  </a:extLst>
                </a:gridCol>
                <a:gridCol w="3714508">
                  <a:extLst>
                    <a:ext uri="{9D8B030D-6E8A-4147-A177-3AD203B41FA5}">
                      <a16:colId xmlns:a16="http://schemas.microsoft.com/office/drawing/2014/main" val="3976984246"/>
                    </a:ext>
                  </a:extLst>
                </a:gridCol>
              </a:tblGrid>
              <a:tr h="447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Point</a:t>
                      </a:r>
                      <a:endParaRPr lang="en-GB" sz="2000" dirty="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/>
                        <a:t>Normalizing / Canonicalizing</a:t>
                      </a:r>
                      <a:endParaRPr lang="en-GB" sz="2000" dirty="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/>
                        <a:t>Paraphrasing</a:t>
                      </a:r>
                      <a:endParaRPr lang="en-GB" sz="2000" dirty="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0108794"/>
                  </a:ext>
                </a:extLst>
              </a:tr>
              <a:tr h="783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Goal</a:t>
                      </a:r>
                      <a:endParaRPr lang="en-GB" sz="20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Reduce many forms to one standard form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Express same meaning in different words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458281"/>
                  </a:ext>
                </a:extLst>
              </a:tr>
              <a:tr h="783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Direction</a:t>
                      </a:r>
                      <a:endParaRPr lang="en-GB" sz="20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Many variations → 1 canonical form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1 form → many varied forms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449918"/>
                  </a:ext>
                </a:extLst>
              </a:tr>
              <a:tr h="447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Effect on text</a:t>
                      </a:r>
                      <a:endParaRPr lang="en-GB" sz="20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Simplifies / strips variation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Introduces variation deliberately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043890"/>
                  </a:ext>
                </a:extLst>
              </a:tr>
              <a:tr h="447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Meaning</a:t>
                      </a:r>
                      <a:endParaRPr lang="en-GB" sz="20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Preserved, form standardized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Preserved, form transformed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273992"/>
                  </a:ext>
                </a:extLst>
              </a:tr>
              <a:tr h="447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Method</a:t>
                      </a:r>
                      <a:endParaRPr lang="en-GB" sz="20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Rule-based, deterministic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Generative, often LLM-based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1951476"/>
                  </a:ext>
                </a:extLst>
              </a:tr>
              <a:tr h="783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Example</a:t>
                      </a:r>
                      <a:endParaRPr lang="en-GB" sz="20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"USA" / "U.S.A." → united states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"What is your return policy?" → "can i return this thing"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3403765"/>
                  </a:ext>
                </a:extLst>
              </a:tr>
              <a:tr h="783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Typical use</a:t>
                      </a:r>
                      <a:endParaRPr lang="en-GB" sz="20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Indexing, deduplication, exact matching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Testing robustness, data augmentation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337911"/>
                  </a:ext>
                </a:extLst>
              </a:tr>
              <a:tr h="11196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In RAG evaluation</a:t>
                      </a:r>
                      <a:endParaRPr lang="en-GB" sz="20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Used to clean/standardize documents before indexing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Used to generate realistic test queries that diverge from indexed text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2778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54201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7EBA7-4E8F-A2C0-849B-DB3BDCB3F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DeepEval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5717D-5C06-6701-78D3-A05DAF9E2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Open-source Python framework for testing, evaluating, and benchmarking LLM applications, RAG pipelines, and AI agents</a:t>
            </a:r>
          </a:p>
          <a:p>
            <a:r>
              <a:rPr lang="en-GB" dirty="0"/>
              <a:t>Core features:</a:t>
            </a:r>
          </a:p>
          <a:p>
            <a:pPr lvl="1"/>
            <a:r>
              <a:rPr lang="en-GB" dirty="0"/>
              <a:t>LLM-as-a-Judge evaluation</a:t>
            </a:r>
          </a:p>
          <a:p>
            <a:pPr lvl="1"/>
            <a:r>
              <a:rPr lang="en-GB" dirty="0"/>
              <a:t>Multiple built-in metrics + custom metrics</a:t>
            </a:r>
          </a:p>
          <a:p>
            <a:pPr lvl="1"/>
            <a:r>
              <a:rPr lang="en-GB" dirty="0"/>
              <a:t>Synthetic dataset generation</a:t>
            </a:r>
          </a:p>
          <a:p>
            <a:pPr lvl="1"/>
            <a:r>
              <a:rPr lang="en-GB" dirty="0"/>
              <a:t>CI/CD integration</a:t>
            </a:r>
          </a:p>
          <a:p>
            <a:r>
              <a:rPr lang="en-GB" dirty="0"/>
              <a:t>Working</a:t>
            </a:r>
          </a:p>
          <a:p>
            <a:pPr lvl="1"/>
            <a:r>
              <a:rPr lang="en-GB" dirty="0"/>
              <a:t>You define a test case (input + actual output)</a:t>
            </a:r>
          </a:p>
          <a:p>
            <a:pPr lvl="1"/>
            <a:r>
              <a:rPr lang="en-GB" dirty="0" err="1"/>
              <a:t>DeepEval</a:t>
            </a:r>
            <a:r>
              <a:rPr lang="en-GB" dirty="0"/>
              <a:t> scores it against a chosen metric</a:t>
            </a:r>
          </a:p>
          <a:p>
            <a:pPr lvl="1"/>
            <a:r>
              <a:rPr lang="en-GB" dirty="0"/>
              <a:t>A threshold decides Pass / Fail — just like a unit test</a:t>
            </a:r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192306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19F0E-13B0-A7BC-AAFB-53D9AE8F6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DeepEval</a:t>
            </a:r>
            <a:r>
              <a:rPr lang="en-IN" dirty="0"/>
              <a:t> Metrics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1F6321-C3BF-D547-9147-08622DD3C4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2053322"/>
              </p:ext>
            </p:extLst>
          </p:nvPr>
        </p:nvGraphicFramePr>
        <p:xfrm>
          <a:off x="838200" y="1988218"/>
          <a:ext cx="10515600" cy="25603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2776487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679615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Evaluates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9751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Answer Relevancy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Does the answer address the question?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4408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Faithfulness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Is the answer grounded in retrieved context?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5402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Context 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Are retrieved chunks relevant?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8579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Context 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Was enough information retrieved?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1558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Toxicity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Is the response harmful?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358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Is the response fair?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357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95521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78558-DE9B-E3DA-4CD8-55D24A778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Answer Relevancy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01F97-E5E0-2D59-50E7-9785E8565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from </a:t>
            </a:r>
            <a:r>
              <a:rPr lang="en-GB" dirty="0" err="1"/>
              <a:t>deepeval</a:t>
            </a:r>
            <a:r>
              <a:rPr lang="en-GB" dirty="0"/>
              <a:t> import </a:t>
            </a:r>
            <a:r>
              <a:rPr lang="en-GB" dirty="0" err="1"/>
              <a:t>assert_test</a:t>
            </a:r>
            <a:endParaRPr lang="en-GB" dirty="0"/>
          </a:p>
          <a:p>
            <a:r>
              <a:rPr lang="en-GB" dirty="0"/>
              <a:t>from </a:t>
            </a:r>
            <a:r>
              <a:rPr lang="en-GB" dirty="0" err="1"/>
              <a:t>deepeval.test_case</a:t>
            </a:r>
            <a:r>
              <a:rPr lang="en-GB" dirty="0"/>
              <a:t> import </a:t>
            </a:r>
            <a:r>
              <a:rPr lang="en-GB" dirty="0" err="1"/>
              <a:t>LLMTestCase</a:t>
            </a:r>
            <a:endParaRPr lang="en-GB" dirty="0"/>
          </a:p>
          <a:p>
            <a:r>
              <a:rPr lang="en-GB" dirty="0"/>
              <a:t>from </a:t>
            </a:r>
            <a:r>
              <a:rPr lang="en-GB" dirty="0" err="1"/>
              <a:t>deepeval.metrics</a:t>
            </a:r>
            <a:r>
              <a:rPr lang="en-GB" dirty="0"/>
              <a:t> import </a:t>
            </a:r>
            <a:r>
              <a:rPr lang="en-GB" dirty="0" err="1"/>
              <a:t>AnswerRelevancyMetric</a:t>
            </a:r>
            <a:endParaRPr lang="en-GB" dirty="0"/>
          </a:p>
          <a:p>
            <a:endParaRPr lang="en-GB" dirty="0"/>
          </a:p>
          <a:p>
            <a:r>
              <a:rPr lang="en-GB" dirty="0"/>
              <a:t>metric = </a:t>
            </a:r>
            <a:r>
              <a:rPr lang="en-GB" dirty="0" err="1"/>
              <a:t>AnswerRelevancyMetric</a:t>
            </a:r>
            <a:r>
              <a:rPr lang="en-GB" dirty="0"/>
              <a:t>(threshold=0.7)</a:t>
            </a:r>
          </a:p>
          <a:p>
            <a:endParaRPr lang="en-GB" dirty="0"/>
          </a:p>
          <a:p>
            <a:r>
              <a:rPr lang="en-GB" dirty="0" err="1"/>
              <a:t>test_case</a:t>
            </a:r>
            <a:r>
              <a:rPr lang="en-GB" dirty="0"/>
              <a:t> = </a:t>
            </a:r>
            <a:r>
              <a:rPr lang="en-GB" dirty="0" err="1"/>
              <a:t>LLMTestCase</a:t>
            </a:r>
            <a:r>
              <a:rPr lang="en-GB" dirty="0"/>
              <a:t>(</a:t>
            </a:r>
          </a:p>
          <a:p>
            <a:r>
              <a:rPr lang="en-GB" dirty="0"/>
              <a:t>    input="What is the return policy?",</a:t>
            </a:r>
          </a:p>
          <a:p>
            <a:r>
              <a:rPr lang="en-GB" dirty="0"/>
              <a:t>    </a:t>
            </a:r>
            <a:r>
              <a:rPr lang="en-GB" dirty="0" err="1"/>
              <a:t>actual_output</a:t>
            </a:r>
            <a:r>
              <a:rPr lang="en-GB" dirty="0"/>
              <a:t>="Items can be returned within 30 days."</a:t>
            </a:r>
          </a:p>
          <a:p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 err="1"/>
              <a:t>assert_test</a:t>
            </a:r>
            <a:r>
              <a:rPr lang="en-GB" dirty="0"/>
              <a:t>(</a:t>
            </a:r>
            <a:r>
              <a:rPr lang="en-GB" dirty="0" err="1"/>
              <a:t>test_case</a:t>
            </a:r>
            <a:r>
              <a:rPr lang="en-GB" dirty="0"/>
              <a:t>, [metric])</a:t>
            </a:r>
          </a:p>
        </p:txBody>
      </p:sp>
    </p:spTree>
    <p:extLst>
      <p:ext uri="{BB962C8B-B14F-4D97-AF65-F5344CB8AC3E}">
        <p14:creationId xmlns:p14="http://schemas.microsoft.com/office/powerpoint/2010/main" val="91880117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4615B-BE00-2A5C-54A2-8709F4651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663"/>
            <a:ext cx="10515600" cy="956281"/>
          </a:xfrm>
        </p:spPr>
        <p:txBody>
          <a:bodyPr/>
          <a:lstStyle/>
          <a:p>
            <a:r>
              <a:rPr lang="en-IN" dirty="0"/>
              <a:t>RAGAS Vs </a:t>
            </a:r>
            <a:r>
              <a:rPr lang="en-IN" dirty="0" err="1"/>
              <a:t>DeepEval</a:t>
            </a:r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4BD498-9786-151A-F62B-C469617A7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655551"/>
              </p:ext>
            </p:extLst>
          </p:nvPr>
        </p:nvGraphicFramePr>
        <p:xfrm>
          <a:off x="838200" y="2081054"/>
          <a:ext cx="10515600" cy="42062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330789">
                  <a:extLst>
                    <a:ext uri="{9D8B030D-6E8A-4147-A177-3AD203B41FA5}">
                      <a16:colId xmlns:a16="http://schemas.microsoft.com/office/drawing/2014/main" val="2329034574"/>
                    </a:ext>
                  </a:extLst>
                </a:gridCol>
                <a:gridCol w="4285814">
                  <a:extLst>
                    <a:ext uri="{9D8B030D-6E8A-4147-A177-3AD203B41FA5}">
                      <a16:colId xmlns:a16="http://schemas.microsoft.com/office/drawing/2014/main" val="2586936758"/>
                    </a:ext>
                  </a:extLst>
                </a:gridCol>
                <a:gridCol w="3898997">
                  <a:extLst>
                    <a:ext uri="{9D8B030D-6E8A-4147-A177-3AD203B41FA5}">
                      <a16:colId xmlns:a16="http://schemas.microsoft.com/office/drawing/2014/main" val="3600804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Aspect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RAGAS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DeepEval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2478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One liner</a:t>
                      </a:r>
                      <a:endParaRPr lang="en-GB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How good is my RAG pipeline?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Is my AI application ready </a:t>
                      </a:r>
                      <a:r>
                        <a:rPr lang="en-US"/>
                        <a:t>for production?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463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Primary Focus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RAG pipeline evaluation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LLM, RAG &amp; Agent evaluation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237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Evaluation Style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Metric-based benchmarking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Test-driven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339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Best For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Improving retrieval quality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Testing production AI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896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Key Metrics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Faithfulness, Answer Relevance, Context Precision, Context 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Relevancy, Faithfulness, Toxicity, Bias, Tool Calling, Agent Metrics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932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CI/CD Support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Excellent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7600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Agent Evaluation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Excellent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676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Output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Metric 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Pass/Fail + metric 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5424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Typical Users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Researchers, RAG developers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Application developers, QA engineers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752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34124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3546E-86A9-56AC-2E63-97DA6A8BB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D82068-E362-84D1-3A16-94838BA1E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8: Contextual Agents with Voice Modalities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DABB5A1-407B-DB58-18A8-8F4609D70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442118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E7FB6E-E567-3115-AF7C-25F48ECBD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Modality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517AC2-BEB9-1DBF-D56A-3BF11EB5A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Modality</a:t>
            </a:r>
            <a:r>
              <a:rPr lang="en-GB" dirty="0"/>
              <a:t>: Type of information an AI agent can process or generate</a:t>
            </a:r>
          </a:p>
          <a:p>
            <a:r>
              <a:rPr lang="en-GB" dirty="0"/>
              <a:t>Modern AI agents combine multiple modalities to enable more natural and personalized interactions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By combining voice, text, and memory, modern AI agents can understand spoken requests, maintain conversational context, remember user preferences across sessions, and deliver personalized, natural interactions</a:t>
            </a:r>
          </a:p>
          <a:p>
            <a:endParaRPr lang="en-GB" dirty="0"/>
          </a:p>
          <a:p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831B1C-BF31-FF3F-42DA-6A91C66B4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829099"/>
              </p:ext>
            </p:extLst>
          </p:nvPr>
        </p:nvGraphicFramePr>
        <p:xfrm>
          <a:off x="984783" y="3041872"/>
          <a:ext cx="10515600" cy="14630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152609">
                  <a:extLst>
                    <a:ext uri="{9D8B030D-6E8A-4147-A177-3AD203B41FA5}">
                      <a16:colId xmlns:a16="http://schemas.microsoft.com/office/drawing/2014/main" val="820279017"/>
                    </a:ext>
                  </a:extLst>
                </a:gridCol>
                <a:gridCol w="6362991">
                  <a:extLst>
                    <a:ext uri="{9D8B030D-6E8A-4147-A177-3AD203B41FA5}">
                      <a16:colId xmlns:a16="http://schemas.microsoft.com/office/drawing/2014/main" val="30471073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Modality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Examples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43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Text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Chat, emails, documents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4071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Voice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Speech input and spoken responses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6262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Memory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User preferences, conversation history, long-term knowledge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5411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561233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E24AD-8561-8378-6CD6-79942C142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OpenAI Whisper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B2C89-4D6D-DC9E-E893-8393CB6F6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Automatic speech recognition (ASR) model by OpenAI for converting spoken audio into text</a:t>
            </a:r>
          </a:p>
          <a:p>
            <a:r>
              <a:rPr lang="en-US" dirty="0"/>
              <a:t>Capabilities</a:t>
            </a:r>
          </a:p>
          <a:p>
            <a:pPr lvl="1"/>
            <a:r>
              <a:rPr lang="en-US" dirty="0"/>
              <a:t>Transcribe speech → text</a:t>
            </a:r>
          </a:p>
          <a:p>
            <a:pPr lvl="1"/>
            <a:r>
              <a:rPr lang="en-US" dirty="0"/>
              <a:t>Translate speech → English</a:t>
            </a:r>
          </a:p>
          <a:p>
            <a:pPr lvl="1"/>
            <a:r>
              <a:rPr lang="en-US" dirty="0"/>
              <a:t>Support multiple languages</a:t>
            </a:r>
          </a:p>
          <a:p>
            <a:pPr lvl="1"/>
            <a:r>
              <a:rPr lang="en-US" dirty="0"/>
              <a:t>Handles accents and dialects</a:t>
            </a:r>
          </a:p>
          <a:p>
            <a:pPr lvl="1"/>
            <a:r>
              <a:rPr lang="en-US" dirty="0"/>
              <a:t>Robust to background noise</a:t>
            </a:r>
          </a:p>
          <a:p>
            <a:pPr lvl="1"/>
            <a:r>
              <a:rPr lang="en-US" dirty="0"/>
              <a:t>Works with real-world audio recordings</a:t>
            </a:r>
          </a:p>
        </p:txBody>
      </p:sp>
    </p:spTree>
    <p:extLst>
      <p:ext uri="{BB962C8B-B14F-4D97-AF65-F5344CB8AC3E}">
        <p14:creationId xmlns:p14="http://schemas.microsoft.com/office/powerpoint/2010/main" val="366546908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60FAA-9F1D-E2E1-5B5E-3E742E7D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CDA6-D8FC-F742-EB19-AA219E9ED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OpenAI Whisper on the Local Machine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0C955-E157-F365-7650-94E5BB77C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Note: This setup is not needed if we want to use OpenAI API’s in code</a:t>
            </a:r>
          </a:p>
          <a:p>
            <a:r>
              <a:rPr lang="en-GB" dirty="0"/>
              <a:t>pip install </a:t>
            </a:r>
            <a:r>
              <a:rPr lang="en-GB" dirty="0" err="1"/>
              <a:t>openai</a:t>
            </a:r>
            <a:r>
              <a:rPr lang="en-GB" dirty="0"/>
              <a:t>-whisper</a:t>
            </a:r>
          </a:p>
          <a:p>
            <a:r>
              <a:rPr lang="en-GB" dirty="0"/>
              <a:t>Download the </a:t>
            </a:r>
            <a:r>
              <a:rPr lang="en-GB" dirty="0" err="1"/>
              <a:t>FFmpeg</a:t>
            </a:r>
            <a:r>
              <a:rPr lang="en-GB" dirty="0"/>
              <a:t> Essentials build for Windows (for example, from Gyan's </a:t>
            </a:r>
            <a:r>
              <a:rPr lang="en-GB" dirty="0" err="1"/>
              <a:t>FFmpeg</a:t>
            </a:r>
            <a:r>
              <a:rPr lang="en-GB" dirty="0"/>
              <a:t> builds)</a:t>
            </a:r>
          </a:p>
          <a:p>
            <a:pPr lvl="1"/>
            <a:r>
              <a:rPr lang="en-GB" dirty="0"/>
              <a:t>Download ‘ffmpeg-release-essentials.zip’ (Whisper uses it for audio decoding)</a:t>
            </a:r>
          </a:p>
          <a:p>
            <a:r>
              <a:rPr lang="en-GB" dirty="0"/>
              <a:t>Extract it and move it to a directory c:\ffmpeg</a:t>
            </a:r>
          </a:p>
          <a:p>
            <a:r>
              <a:rPr lang="en-GB" dirty="0"/>
              <a:t>Add path to Windows “PATH” variable: C:\ffmpeg\bin</a:t>
            </a:r>
          </a:p>
          <a:p>
            <a:r>
              <a:rPr lang="en-GB" dirty="0"/>
              <a:t>Restart VS Code, terminal etc</a:t>
            </a:r>
          </a:p>
          <a:p>
            <a:r>
              <a:rPr lang="en-GB" dirty="0"/>
              <a:t>Record a small audio and store in a file, say hello.wav</a:t>
            </a:r>
          </a:p>
          <a:p>
            <a:r>
              <a:rPr lang="en-GB" dirty="0"/>
              <a:t>Now transcribe: whisper hello.wav</a:t>
            </a:r>
          </a:p>
          <a:p>
            <a:r>
              <a:rPr lang="en-GB" dirty="0"/>
              <a:t>Try translation: Create hindi.wav containing some Hindi text</a:t>
            </a:r>
          </a:p>
          <a:p>
            <a:r>
              <a:rPr lang="en-GB" dirty="0"/>
              <a:t>Now transcribe: </a:t>
            </a:r>
            <a:r>
              <a:rPr lang="nb-NO" dirty="0"/>
              <a:t>whisper hindi.wav --task translate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941295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36ADD-3532-D4F0-3EC4-E3AC7EE46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Python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DECC2-6B47-8A94-23C4-38DF175C8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# pip install </a:t>
            </a:r>
            <a:r>
              <a:rPr lang="en-GB" dirty="0" err="1"/>
              <a:t>openai</a:t>
            </a:r>
            <a:r>
              <a:rPr lang="en-GB" dirty="0"/>
              <a:t>-whisper</a:t>
            </a:r>
          </a:p>
          <a:p>
            <a:endParaRPr lang="en-GB" dirty="0"/>
          </a:p>
          <a:p>
            <a:r>
              <a:rPr lang="en-GB" dirty="0"/>
              <a:t>import whisper</a:t>
            </a:r>
          </a:p>
          <a:p>
            <a:endParaRPr lang="en-GB" dirty="0"/>
          </a:p>
          <a:p>
            <a:r>
              <a:rPr lang="en-GB" dirty="0"/>
              <a:t>model = </a:t>
            </a:r>
            <a:r>
              <a:rPr lang="en-GB" dirty="0" err="1"/>
              <a:t>whisper.load_model</a:t>
            </a:r>
            <a:r>
              <a:rPr lang="en-GB" dirty="0"/>
              <a:t>("base")</a:t>
            </a:r>
          </a:p>
          <a:p>
            <a:endParaRPr lang="en-GB" dirty="0"/>
          </a:p>
          <a:p>
            <a:r>
              <a:rPr lang="en-GB" dirty="0"/>
              <a:t>result = </a:t>
            </a:r>
            <a:r>
              <a:rPr lang="en-GB" dirty="0" err="1"/>
              <a:t>model.transcribe</a:t>
            </a:r>
            <a:r>
              <a:rPr lang="en-GB" dirty="0"/>
              <a:t>("hello.wav")</a:t>
            </a:r>
          </a:p>
          <a:p>
            <a:endParaRPr lang="en-GB" dirty="0"/>
          </a:p>
          <a:p>
            <a:r>
              <a:rPr lang="en-GB" dirty="0"/>
              <a:t>print(result["text"])</a:t>
            </a:r>
          </a:p>
        </p:txBody>
      </p:sp>
    </p:spTree>
    <p:extLst>
      <p:ext uri="{BB962C8B-B14F-4D97-AF65-F5344CB8AC3E}">
        <p14:creationId xmlns:p14="http://schemas.microsoft.com/office/powerpoint/2010/main" val="53607398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15168-3C8D-EC0F-93CB-B7FBAC3C2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OpenAI’s Cloud Whisper API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BE597-85C3-232B-9B5E-6DB0FE9A0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C:\code\agenticai\15_real\voice_assistant_whisper_langchain.py</a:t>
            </a:r>
          </a:p>
          <a:p>
            <a:r>
              <a:rPr lang="en-GB" dirty="0"/>
              <a:t>C:\code\agenticai\15_real\personal_memory_assistant.py</a:t>
            </a:r>
          </a:p>
          <a:p>
            <a:pPr lvl="1"/>
            <a:r>
              <a:rPr lang="en-GB" dirty="0"/>
              <a:t>Turn 1: My name is Alex. I'm vegetarian. I'm visiting Japan in October.</a:t>
            </a:r>
          </a:p>
          <a:p>
            <a:pPr lvl="1"/>
            <a:r>
              <a:rPr lang="en-GB" dirty="0"/>
              <a:t>Turn 2: What do you remember about me?</a:t>
            </a:r>
          </a:p>
          <a:p>
            <a:pPr lvl="1"/>
            <a:r>
              <a:rPr lang="en-GB" dirty="0"/>
              <a:t>Assistant: You're Alex, you're vegetarian, and you're traveling to Japan in October.</a:t>
            </a:r>
          </a:p>
          <a:p>
            <a:pPr lvl="1"/>
            <a:r>
              <a:rPr lang="en-GB" dirty="0"/>
              <a:t>Concepts: Whisper, </a:t>
            </a:r>
            <a:r>
              <a:rPr lang="en-GB" dirty="0" err="1"/>
              <a:t>LangChain</a:t>
            </a:r>
            <a:r>
              <a:rPr lang="en-GB" dirty="0"/>
              <a:t> memory, GPT, TTS</a:t>
            </a:r>
          </a:p>
          <a:p>
            <a:r>
              <a:rPr lang="en-GB" dirty="0"/>
              <a:t>C:\code\agenticai\15_real\language_tutor.py</a:t>
            </a:r>
          </a:p>
          <a:p>
            <a:pPr lvl="1"/>
            <a:r>
              <a:rPr lang="en-GB" dirty="0"/>
              <a:t>Turn 1: Teach me three Japanese greetings.</a:t>
            </a:r>
          </a:p>
          <a:p>
            <a:pPr lvl="1"/>
            <a:r>
              <a:rPr lang="en-GB" dirty="0"/>
              <a:t>Turn 2: Repeat the second one.</a:t>
            </a:r>
          </a:p>
          <a:p>
            <a:pPr lvl="1"/>
            <a:r>
              <a:rPr lang="en-GB" dirty="0"/>
              <a:t>Assistant remembers previous lesson.</a:t>
            </a:r>
          </a:p>
          <a:p>
            <a:r>
              <a:rPr lang="en-US" dirty="0"/>
              <a:t>C:\code\agenticai\15_real\customer_support_voice_rag.py</a:t>
            </a:r>
          </a:p>
          <a:p>
            <a:pPr lvl="1"/>
            <a:r>
              <a:rPr lang="en-US" dirty="0"/>
              <a:t>Customer support RAG using voice I/O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152585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042E6-58EC-6904-6B3B-7F5BEFED0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F88056-A752-CE49-65F8-921DD39E3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9: Observability and </a:t>
            </a:r>
            <a:r>
              <a:rPr lang="en-IN" dirty="0" err="1"/>
              <a:t>AgentOps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E3F955-D74A-FF70-6694-90087C826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21458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69646-36FD-EAFA-B5B7-1C8A61979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D00120-0F05-F3CE-F83E-176006BC9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Langfuse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0F334D-0BF2-8354-4290-6F6B5386C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An open-source AI engineering platform for developing, monitoring, evaluating, and debugging LLM applications</a:t>
            </a:r>
          </a:p>
          <a:p>
            <a:r>
              <a:rPr lang="en-GB" dirty="0"/>
              <a:t>Since January 2026 part of </a:t>
            </a:r>
            <a:r>
              <a:rPr lang="en-GB" dirty="0" err="1"/>
              <a:t>ClickHouse</a:t>
            </a:r>
            <a:endParaRPr lang="en-GB" dirty="0"/>
          </a:p>
          <a:p>
            <a:r>
              <a:rPr lang="en-GB" dirty="0"/>
              <a:t>Features</a:t>
            </a:r>
          </a:p>
          <a:p>
            <a:pPr lvl="1"/>
            <a:r>
              <a:rPr lang="en-GB" dirty="0"/>
              <a:t>Observability</a:t>
            </a:r>
          </a:p>
          <a:p>
            <a:pPr lvl="1"/>
            <a:r>
              <a:rPr lang="en-GB" dirty="0"/>
              <a:t>Prompt management</a:t>
            </a:r>
          </a:p>
          <a:p>
            <a:pPr lvl="1"/>
            <a:r>
              <a:rPr lang="en-GB" dirty="0"/>
              <a:t>Evaluation of LLM performance</a:t>
            </a:r>
          </a:p>
          <a:p>
            <a:r>
              <a:rPr lang="en-GB" dirty="0"/>
              <a:t>Deployment options</a:t>
            </a:r>
          </a:p>
          <a:p>
            <a:pPr lvl="1"/>
            <a:r>
              <a:rPr lang="en-GB" dirty="0"/>
              <a:t>Cloud</a:t>
            </a:r>
          </a:p>
          <a:p>
            <a:pPr lvl="1"/>
            <a:r>
              <a:rPr lang="en-GB" dirty="0"/>
              <a:t>Self-hosted</a:t>
            </a:r>
          </a:p>
        </p:txBody>
      </p:sp>
    </p:spTree>
    <p:extLst>
      <p:ext uri="{BB962C8B-B14F-4D97-AF65-F5344CB8AC3E}">
        <p14:creationId xmlns:p14="http://schemas.microsoft.com/office/powerpoint/2010/main" val="113870501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7EF5-7E6C-F67F-78FB-69A700504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</a:t>
            </a:r>
            <a:r>
              <a:rPr lang="en-IN" dirty="0" err="1"/>
              <a:t>LangFuse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FCE89-2A49-95AC-CF39-A1010B2B6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Sign up at </a:t>
            </a:r>
            <a:r>
              <a:rPr lang="en-GB" dirty="0"/>
              <a:t>cloud.langfuse.com (Free tier) and create a project</a:t>
            </a:r>
          </a:p>
          <a:p>
            <a:r>
              <a:rPr lang="en-GB" dirty="0"/>
              <a:t>In our project settings, add public key, secret key, and </a:t>
            </a:r>
            <a:r>
              <a:rPr lang="en-GB" dirty="0" err="1"/>
              <a:t>langfuse</a:t>
            </a:r>
            <a:r>
              <a:rPr lang="en-GB" dirty="0"/>
              <a:t> base URL</a:t>
            </a:r>
          </a:p>
          <a:p>
            <a:r>
              <a:rPr lang="en-GB" dirty="0"/>
              <a:t>Install (pip install </a:t>
            </a:r>
            <a:r>
              <a:rPr lang="en-GB" dirty="0" err="1"/>
              <a:t>langfuse</a:t>
            </a:r>
            <a:r>
              <a:rPr lang="en-GB" dirty="0"/>
              <a:t>)</a:t>
            </a:r>
          </a:p>
          <a:p>
            <a:r>
              <a:rPr lang="en-GB" dirty="0"/>
              <a:t>Integrate as per the API</a:t>
            </a:r>
          </a:p>
          <a:p>
            <a:r>
              <a:rPr lang="en-GB" dirty="0"/>
              <a:t>Code: C:\code\agenticai\15_real\langfuse_rag_tracing.py</a:t>
            </a:r>
          </a:p>
          <a:p>
            <a:r>
              <a:rPr lang="en-GB" dirty="0"/>
              <a:t>Then in the </a:t>
            </a:r>
            <a:r>
              <a:rPr lang="en-GB" dirty="0" err="1"/>
              <a:t>LangFuse</a:t>
            </a:r>
            <a:r>
              <a:rPr lang="en-GB" dirty="0"/>
              <a:t> website, look at the ‘Tracing’ tab</a:t>
            </a:r>
          </a:p>
          <a:p>
            <a:r>
              <a:rPr lang="en-GB" dirty="0"/>
              <a:t>Same code using </a:t>
            </a:r>
            <a:r>
              <a:rPr lang="en-GB" dirty="0" err="1"/>
              <a:t>LangChain</a:t>
            </a:r>
            <a:r>
              <a:rPr lang="en-GB" dirty="0"/>
              <a:t>: 15_real\langfuse_langchain_rag_tracing.py</a:t>
            </a:r>
          </a:p>
          <a:p>
            <a:pPr lvl="1"/>
            <a:r>
              <a:rPr lang="en-GB" dirty="0"/>
              <a:t>In </a:t>
            </a:r>
            <a:r>
              <a:rPr lang="en-GB" dirty="0" err="1"/>
              <a:t>LangChain</a:t>
            </a:r>
            <a:r>
              <a:rPr lang="en-GB" dirty="0"/>
              <a:t>, we just need to make a call to </a:t>
            </a:r>
            <a:r>
              <a:rPr lang="en-GB" dirty="0" err="1"/>
              <a:t>LangFuse</a:t>
            </a:r>
            <a:r>
              <a:rPr lang="en-GB" dirty="0"/>
              <a:t> callback handler – no other code is needed</a:t>
            </a:r>
          </a:p>
        </p:txBody>
      </p:sp>
    </p:spTree>
    <p:extLst>
      <p:ext uri="{BB962C8B-B14F-4D97-AF65-F5344CB8AC3E}">
        <p14:creationId xmlns:p14="http://schemas.microsoft.com/office/powerpoint/2010/main" val="402576918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9F704-F21A-20E6-2E02-DC481456E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LangSmith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078B7-175F-2EB7-615A-03CD573DA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framework-agnostic platform for building, debugging, and deploying AI agents and LLM applications, built by the </a:t>
            </a:r>
            <a:r>
              <a:rPr lang="en-GB" dirty="0" err="1"/>
              <a:t>LangChain</a:t>
            </a:r>
            <a:r>
              <a:rPr lang="en-GB" dirty="0"/>
              <a:t> team</a:t>
            </a:r>
          </a:p>
          <a:p>
            <a:r>
              <a:rPr lang="en-GB" dirty="0"/>
              <a:t>Lets you trace requests, evaluate outputs, test prompts, and manage deployments all in one place, working with your existing agent stack</a:t>
            </a:r>
          </a:p>
          <a:p>
            <a:r>
              <a:rPr lang="en-GB" dirty="0"/>
              <a:t>Features</a:t>
            </a:r>
          </a:p>
          <a:p>
            <a:pPr lvl="1"/>
            <a:r>
              <a:rPr lang="en-GB" dirty="0"/>
              <a:t>Observability</a:t>
            </a:r>
          </a:p>
          <a:p>
            <a:pPr lvl="1"/>
            <a:r>
              <a:rPr lang="en-GB" dirty="0"/>
              <a:t>Evaluation</a:t>
            </a:r>
          </a:p>
          <a:p>
            <a:pPr lvl="1"/>
            <a:r>
              <a:rPr lang="en-GB" dirty="0"/>
              <a:t>Prompt playground</a:t>
            </a:r>
          </a:p>
          <a:p>
            <a:pPr lvl="1"/>
            <a:r>
              <a:rPr lang="en-GB" dirty="0"/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113334426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A438D-26F7-B59A-AC5D-1E31144C5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LangFuse</a:t>
            </a:r>
            <a:r>
              <a:rPr lang="en-IN" dirty="0"/>
              <a:t> versus </a:t>
            </a:r>
            <a:r>
              <a:rPr lang="en-IN" dirty="0" err="1"/>
              <a:t>LangSmith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35029B-80D5-1686-B24E-352DAF6E66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5679747"/>
              </p:ext>
            </p:extLst>
          </p:nvPr>
        </p:nvGraphicFramePr>
        <p:xfrm>
          <a:off x="606720" y="1690688"/>
          <a:ext cx="11406123" cy="4787502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815393">
                  <a:extLst>
                    <a:ext uri="{9D8B030D-6E8A-4147-A177-3AD203B41FA5}">
                      <a16:colId xmlns:a16="http://schemas.microsoft.com/office/drawing/2014/main" val="2115896439"/>
                    </a:ext>
                  </a:extLst>
                </a:gridCol>
                <a:gridCol w="4718583">
                  <a:extLst>
                    <a:ext uri="{9D8B030D-6E8A-4147-A177-3AD203B41FA5}">
                      <a16:colId xmlns:a16="http://schemas.microsoft.com/office/drawing/2014/main" val="1667592256"/>
                    </a:ext>
                  </a:extLst>
                </a:gridCol>
                <a:gridCol w="4872147">
                  <a:extLst>
                    <a:ext uri="{9D8B030D-6E8A-4147-A177-3AD203B41FA5}">
                      <a16:colId xmlns:a16="http://schemas.microsoft.com/office/drawing/2014/main" val="3359876767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Feature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Langfuse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LangSmith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750796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Focus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Open-source AI engineering platform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Agent engineering platform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726266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Open Source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Yes — self-hostable via Docker/Helm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No — proprietary SaaS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533010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Tracing Tech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 err="1"/>
                        <a:t>OpenTelemetry</a:t>
                      </a:r>
                      <a:r>
                        <a:rPr lang="en-GB" sz="2000" dirty="0"/>
                        <a:t>-based, </a:t>
                      </a:r>
                      <a:r>
                        <a:rPr lang="en-GB" sz="2000" dirty="0" err="1"/>
                        <a:t>ClickHouse</a:t>
                      </a:r>
                      <a:r>
                        <a:rPr lang="en-GB" sz="2000" dirty="0"/>
                        <a:t> backend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Proprietary, deeply tied to LangChain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4157392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Framework Support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Framework-agnostic (OpenAI SDK, LangChain, Vercel AI SDK, CrewAI)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Framework-agnostic, tightest with LangChain/LangGraph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7621014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Evaluation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Manual scoring, LLM-as-judge, datasets, user feedback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Built-in + custom criteria, datasets, automated root-cause clustering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6964190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Deployment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Cloud (EU/US/JP/HIPAA) or self-hosted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Managed cloud, self-hosted, or hybrid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129716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Backing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Independent, now part of ClickHouse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Built by LangChain Inc.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587613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Notable Users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Canva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Broad </a:t>
                      </a:r>
                      <a:r>
                        <a:rPr lang="en-GB" sz="2000" dirty="0" err="1"/>
                        <a:t>LangChain</a:t>
                      </a:r>
                      <a:r>
                        <a:rPr lang="en-GB" sz="2000" dirty="0"/>
                        <a:t>/</a:t>
                      </a:r>
                      <a:r>
                        <a:rPr lang="en-GB" sz="2000" dirty="0" err="1"/>
                        <a:t>LangGraph</a:t>
                      </a:r>
                      <a:r>
                        <a:rPr lang="en-GB" sz="2000" dirty="0"/>
                        <a:t> ecosystem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20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765229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B8829-1829-F362-7B48-2E0FA763A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109FA-B2EB-CD43-D149-33D1362BB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</a:t>
            </a:r>
            <a:r>
              <a:rPr lang="en-IN" dirty="0" err="1"/>
              <a:t>LangSmith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2F237-8A94-7D31-AB06-E56FC5D56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Sign up at </a:t>
            </a:r>
            <a:r>
              <a:rPr lang="en-GB" dirty="0"/>
              <a:t>smith.langchain.com (Free tier) and create a project</a:t>
            </a:r>
          </a:p>
          <a:p>
            <a:r>
              <a:rPr lang="en-GB" dirty="0"/>
              <a:t>Settings -&gt; API keys -&gt; Create API key -&gt; Copy and paste in notepad</a:t>
            </a:r>
          </a:p>
          <a:p>
            <a:r>
              <a:rPr lang="en-GB" dirty="0"/>
              <a:t>Install (pip install </a:t>
            </a:r>
            <a:r>
              <a:rPr lang="en-GB" dirty="0" err="1"/>
              <a:t>langsmith</a:t>
            </a:r>
            <a:r>
              <a:rPr lang="en-GB" dirty="0"/>
              <a:t>)</a:t>
            </a:r>
          </a:p>
          <a:p>
            <a:r>
              <a:rPr lang="en-GB" dirty="0"/>
              <a:t>Export LANGSMITH_TRACING=true, LANGSMITH_API_KEY="your-</a:t>
            </a:r>
            <a:r>
              <a:rPr lang="en-GB" dirty="0" err="1"/>
              <a:t>api</a:t>
            </a:r>
            <a:r>
              <a:rPr lang="en-GB" dirty="0"/>
              <a:t>-key", and LANGSMITH_PROJECT="your-project-name"</a:t>
            </a:r>
          </a:p>
          <a:p>
            <a:r>
              <a:rPr lang="en-GB" dirty="0"/>
              <a:t>Integrate as per the API</a:t>
            </a:r>
          </a:p>
          <a:p>
            <a:r>
              <a:rPr lang="en-GB" dirty="0"/>
              <a:t>Code: C:\code\agenticai\15_real\langsmith_rag_tracing.py</a:t>
            </a:r>
          </a:p>
          <a:p>
            <a:r>
              <a:rPr lang="en-GB" dirty="0"/>
              <a:t>Then look at traces in the </a:t>
            </a:r>
            <a:r>
              <a:rPr lang="en-GB" dirty="0" err="1"/>
              <a:t>LangSmith</a:t>
            </a:r>
            <a:r>
              <a:rPr lang="en-GB"/>
              <a:t> website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3288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8838</TotalTime>
  <Words>10066</Words>
  <Application>Microsoft Office PowerPoint</Application>
  <PresentationFormat>Widescreen</PresentationFormat>
  <Paragraphs>1644</Paragraphs>
  <Slides>131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131</vt:i4>
      </vt:variant>
    </vt:vector>
  </HeadingPairs>
  <TitlesOfParts>
    <vt:vector size="138" baseType="lpstr">
      <vt:lpstr>Arial</vt:lpstr>
      <vt:lpstr>Calibri</vt:lpstr>
      <vt:lpstr>Calibri Light</vt:lpstr>
      <vt:lpstr>Cambria Math</vt:lpstr>
      <vt:lpstr>Cascadia Code</vt:lpstr>
      <vt:lpstr>Cascadia Mono</vt:lpstr>
      <vt:lpstr>Office Theme</vt:lpstr>
      <vt:lpstr>Agentic AI</vt:lpstr>
      <vt:lpstr>Module 1: Agentic AI Fundamentals and LLM Access</vt:lpstr>
      <vt:lpstr>AI Agent</vt:lpstr>
      <vt:lpstr>Real World Need of AI Agents</vt:lpstr>
      <vt:lpstr>Traditional, Generative, Agentic AI</vt:lpstr>
      <vt:lpstr>Agent Types</vt:lpstr>
      <vt:lpstr>Foundational Components of an AI Agent</vt:lpstr>
      <vt:lpstr>Hands-on: Directly Accessing LLMs </vt:lpstr>
      <vt:lpstr>Using LLMs: OpenAI</vt:lpstr>
      <vt:lpstr>Building the First Agent</vt:lpstr>
      <vt:lpstr>Building the First Agent</vt:lpstr>
      <vt:lpstr>Hugging Face</vt:lpstr>
      <vt:lpstr>Hugging Face</vt:lpstr>
      <vt:lpstr>Using LLMs: Hugging Face</vt:lpstr>
      <vt:lpstr>Creating a Simple Utility Agent Using OpenAI API (No Frameworks)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Mult-Assistant Agent Step-by-Step</vt:lpstr>
      <vt:lpstr>Writing asynchronous Python with asyncio for concurrent LLM calls</vt:lpstr>
      <vt:lpstr>Core asyncio Concepts</vt:lpstr>
      <vt:lpstr>Basic asyncio Example</vt:lpstr>
      <vt:lpstr>Sequential LLM Calls</vt:lpstr>
      <vt:lpstr>Concurrent LLM Calls</vt:lpstr>
      <vt:lpstr>Module 2: LangChain</vt:lpstr>
      <vt:lpstr>LangChain</vt:lpstr>
      <vt:lpstr>LCEL, Runnable</vt:lpstr>
      <vt:lpstr>Example: Prompt | LLM</vt:lpstr>
      <vt:lpstr>Output Parsers</vt:lpstr>
      <vt:lpstr>Prompt Templates</vt:lpstr>
      <vt:lpstr>Session Memory</vt:lpstr>
      <vt:lpstr>Persistent Memory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CRUD operations and metadata filtering in ChromaDB</vt:lpstr>
      <vt:lpstr>CRUD operations and metadata filtering in ChromaDB</vt:lpstr>
      <vt:lpstr>ChromaDB - Filtering</vt:lpstr>
      <vt:lpstr>FAISS</vt:lpstr>
      <vt:lpstr>PowerPoint Presentation</vt:lpstr>
      <vt:lpstr>FAISS Index Types</vt:lpstr>
      <vt:lpstr>PowerPoint Presentation</vt:lpstr>
      <vt:lpstr>14_advanced\04_rag\faiss_search.py</vt:lpstr>
      <vt:lpstr>Nearest-neighbour retrieval: understanding similarity metrics (cosine, L2, dot product)</vt:lpstr>
      <vt:lpstr>Formulae</vt:lpstr>
      <vt:lpstr>ChromaDB versus FAISS – Benchmarking</vt:lpstr>
      <vt:lpstr>Document Loaders</vt:lpstr>
      <vt:lpstr>Text Splitters</vt:lpstr>
      <vt:lpstr>Building a RAG pipeline</vt:lpstr>
      <vt:lpstr>Retrievers</vt:lpstr>
      <vt:lpstr>Retriever Types (C:\code\agenticai\14_advanced\05_langchain\retrievers.py)</vt:lpstr>
      <vt:lpstr>Callbacks</vt:lpstr>
      <vt:lpstr>Chaining Multiple Retrievers</vt:lpstr>
      <vt:lpstr>LangServe</vt:lpstr>
      <vt:lpstr>LangServe: How to Use?</vt:lpstr>
      <vt:lpstr>Build a Q&amp;A Bot from PDFs</vt:lpstr>
      <vt:lpstr>Module 3: LangGraph for Stateful Agents and HITL</vt:lpstr>
      <vt:lpstr>LangChain versus LangGraph</vt:lpstr>
      <vt:lpstr>LangGraph:  Key Components</vt:lpstr>
      <vt:lpstr>First LangGraph Application (3_1_langgraph_basic.py)</vt:lpstr>
      <vt:lpstr>First LangGraph Application (3_1_langgraph_basic.py)</vt:lpstr>
      <vt:lpstr>First LangGraph Application (3_1_langgraph_basic.py)</vt:lpstr>
      <vt:lpstr>First LangGraph Application (3_1_langgraph_basic.py)</vt:lpstr>
      <vt:lpstr>LangGraph Reducer  (3_2_langgraph_without_reducer.py, 3_3_langgraph_without_reducer.py)</vt:lpstr>
      <vt:lpstr>Using Reducer with LLM</vt:lpstr>
      <vt:lpstr>Cycles/Loops</vt:lpstr>
      <vt:lpstr>Human In the Loop (HIL)</vt:lpstr>
      <vt:lpstr>Checkpointers</vt:lpstr>
      <vt:lpstr>Guardrails</vt:lpstr>
      <vt:lpstr>Module 4: OpenAI Agents SDK</vt:lpstr>
      <vt:lpstr>Tool-Augmented Research Agent</vt:lpstr>
      <vt:lpstr>Agent Lifecycle Hooks</vt:lpstr>
      <vt:lpstr>Module 5: Agentic RAG Systems</vt:lpstr>
      <vt:lpstr>Traditional RAG versus Agentic RAG</vt:lpstr>
      <vt:lpstr>PowerPoint Presentation</vt:lpstr>
      <vt:lpstr>Common Adaptive Strategies (C:\code\agenticai\15_real\adaptive_retrieval_strategies.py)</vt:lpstr>
      <vt:lpstr>Cohere</vt:lpstr>
      <vt:lpstr>Retrieval + Reasoning</vt:lpstr>
      <vt:lpstr>Retrieval + Reasoning Example</vt:lpstr>
      <vt:lpstr>Market Research Assistant using RAG</vt:lpstr>
      <vt:lpstr>LlamaIndex</vt:lpstr>
      <vt:lpstr>PowerPoint Presentation</vt:lpstr>
      <vt:lpstr>LlamaIndex</vt:lpstr>
      <vt:lpstr>Module 6: Agent Memory, State, and Context Management</vt:lpstr>
      <vt:lpstr>Memory Types</vt:lpstr>
      <vt:lpstr>Memory Examples</vt:lpstr>
      <vt:lpstr>State Schema Design</vt:lpstr>
      <vt:lpstr>Example of State Schema</vt:lpstr>
      <vt:lpstr>Context Propagation and Trim Strategies</vt:lpstr>
      <vt:lpstr>Context Trimming Strategies Code: C:\code\agenticai\15_real\context_management_strategies.py</vt:lpstr>
      <vt:lpstr>Human In The Loop (HITL) UX</vt:lpstr>
      <vt:lpstr>Code Example</vt:lpstr>
      <vt:lpstr>Module 7: Evaluation Frameworks</vt:lpstr>
      <vt:lpstr>Need for Evaluation in RAG and Agent Systems</vt:lpstr>
      <vt:lpstr>RAGAS</vt:lpstr>
      <vt:lpstr>RAGAS Metrics</vt:lpstr>
      <vt:lpstr>What RAGAS Does Internally</vt:lpstr>
      <vt:lpstr>RAGAS Metrics Example</vt:lpstr>
      <vt:lpstr>Faithfulness</vt:lpstr>
      <vt:lpstr>Answer Relevance</vt:lpstr>
      <vt:lpstr>Context Precision</vt:lpstr>
      <vt:lpstr>Context Recall</vt:lpstr>
      <vt:lpstr>Paraphrasing</vt:lpstr>
      <vt:lpstr>PowerPoint Presentation</vt:lpstr>
      <vt:lpstr>DeepEval</vt:lpstr>
      <vt:lpstr>DeepEval Metrics</vt:lpstr>
      <vt:lpstr>Example: Answer Relevancy </vt:lpstr>
      <vt:lpstr>RAGAS Vs DeepEval</vt:lpstr>
      <vt:lpstr>Module 8: Contextual Agents with Voice Modalities</vt:lpstr>
      <vt:lpstr>Modality</vt:lpstr>
      <vt:lpstr>OpenAI Whisper</vt:lpstr>
      <vt:lpstr>Using OpenAI Whisper on the Local Machine</vt:lpstr>
      <vt:lpstr>Basic Python Testing</vt:lpstr>
      <vt:lpstr>Using OpenAI’s Cloud Whisper API</vt:lpstr>
      <vt:lpstr>Module 9: Observability and AgentOps</vt:lpstr>
      <vt:lpstr>Langfuse</vt:lpstr>
      <vt:lpstr>Using LangFuse</vt:lpstr>
      <vt:lpstr>LangSmith</vt:lpstr>
      <vt:lpstr>LangFuse versus LangSmith</vt:lpstr>
      <vt:lpstr>Using LangSmith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62</cp:revision>
  <dcterms:created xsi:type="dcterms:W3CDTF">2026-01-14T06:51:35Z</dcterms:created>
  <dcterms:modified xsi:type="dcterms:W3CDTF">2026-08-21T01:36:10Z</dcterms:modified>
</cp:coreProperties>
</file>