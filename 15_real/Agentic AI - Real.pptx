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4"/>
  </p:notesMasterIdLst>
  <p:sldIdLst>
    <p:sldId id="256" r:id="rId2"/>
    <p:sldId id="257" r:id="rId3"/>
    <p:sldId id="417" r:id="rId4"/>
    <p:sldId id="2711" r:id="rId5"/>
    <p:sldId id="2677" r:id="rId6"/>
    <p:sldId id="2709" r:id="rId7"/>
    <p:sldId id="2708" r:id="rId8"/>
    <p:sldId id="2713" r:id="rId9"/>
    <p:sldId id="2714" r:id="rId10"/>
    <p:sldId id="2715" r:id="rId11"/>
    <p:sldId id="2716" r:id="rId12"/>
    <p:sldId id="2804" r:id="rId13"/>
    <p:sldId id="2805" r:id="rId14"/>
    <p:sldId id="2717" r:id="rId15"/>
    <p:sldId id="2782" r:id="rId16"/>
    <p:sldId id="2774" r:id="rId17"/>
    <p:sldId id="2775" r:id="rId18"/>
    <p:sldId id="2776" r:id="rId19"/>
    <p:sldId id="2777" r:id="rId20"/>
    <p:sldId id="2778" r:id="rId21"/>
    <p:sldId id="2779" r:id="rId22"/>
    <p:sldId id="2780" r:id="rId23"/>
    <p:sldId id="2781" r:id="rId24"/>
    <p:sldId id="2884" r:id="rId25"/>
    <p:sldId id="2885" r:id="rId26"/>
    <p:sldId id="2886" r:id="rId27"/>
    <p:sldId id="2887" r:id="rId28"/>
    <p:sldId id="2888" r:id="rId29"/>
    <p:sldId id="2783" r:id="rId30"/>
    <p:sldId id="2973" r:id="rId31"/>
    <p:sldId id="2975" r:id="rId32"/>
    <p:sldId id="2976" r:id="rId33"/>
    <p:sldId id="2977" r:id="rId34"/>
    <p:sldId id="2978" r:id="rId35"/>
    <p:sldId id="2979" r:id="rId36"/>
    <p:sldId id="2980" r:id="rId37"/>
    <p:sldId id="2827" r:id="rId38"/>
    <p:sldId id="2828" r:id="rId39"/>
    <p:sldId id="2829" r:id="rId40"/>
    <p:sldId id="2830" r:id="rId41"/>
    <p:sldId id="2831" r:id="rId42"/>
    <p:sldId id="2832" r:id="rId43"/>
    <p:sldId id="2833" r:id="rId44"/>
    <p:sldId id="2834" r:id="rId45"/>
    <p:sldId id="2835" r:id="rId46"/>
    <p:sldId id="2838" r:id="rId47"/>
    <p:sldId id="2960" r:id="rId48"/>
    <p:sldId id="2961" r:id="rId49"/>
    <p:sldId id="2962" r:id="rId50"/>
    <p:sldId id="2963" r:id="rId51"/>
    <p:sldId id="2966" r:id="rId52"/>
    <p:sldId id="2964" r:id="rId53"/>
    <p:sldId id="2965" r:id="rId54"/>
    <p:sldId id="3036" r:id="rId55"/>
    <p:sldId id="2967" r:id="rId56"/>
    <p:sldId id="2968" r:id="rId57"/>
    <p:sldId id="2971" r:id="rId58"/>
    <p:sldId id="2981" r:id="rId59"/>
    <p:sldId id="2982" r:id="rId60"/>
    <p:sldId id="2983" r:id="rId61"/>
    <p:sldId id="2984" r:id="rId62"/>
    <p:sldId id="2985" r:id="rId63"/>
    <p:sldId id="2986" r:id="rId64"/>
    <p:sldId id="2987" r:id="rId65"/>
    <p:sldId id="2791" r:id="rId66"/>
    <p:sldId id="2792" r:id="rId67"/>
    <p:sldId id="2793" r:id="rId68"/>
    <p:sldId id="2795" r:id="rId69"/>
    <p:sldId id="594" r:id="rId70"/>
    <p:sldId id="595" r:id="rId71"/>
    <p:sldId id="596" r:id="rId72"/>
    <p:sldId id="597" r:id="rId73"/>
    <p:sldId id="598" r:id="rId74"/>
    <p:sldId id="599" r:id="rId75"/>
    <p:sldId id="2796" r:id="rId76"/>
    <p:sldId id="2797" r:id="rId77"/>
    <p:sldId id="3008" r:id="rId78"/>
    <p:sldId id="3009" r:id="rId79"/>
    <p:sldId id="3010" r:id="rId80"/>
    <p:sldId id="780" r:id="rId81"/>
    <p:sldId id="2807" r:id="rId82"/>
    <p:sldId id="3038" r:id="rId83"/>
    <p:sldId id="3037" r:id="rId84"/>
    <p:sldId id="3039" r:id="rId85"/>
    <p:sldId id="3040" r:id="rId86"/>
    <p:sldId id="3041" r:id="rId87"/>
    <p:sldId id="3042" r:id="rId88"/>
    <p:sldId id="3043" r:id="rId89"/>
    <p:sldId id="3044" r:id="rId90"/>
    <p:sldId id="3045" r:id="rId91"/>
    <p:sldId id="3046" r:id="rId92"/>
    <p:sldId id="3047" r:id="rId93"/>
    <p:sldId id="3048" r:id="rId94"/>
    <p:sldId id="3049" r:id="rId95"/>
    <p:sldId id="3050" r:id="rId96"/>
    <p:sldId id="3051" r:id="rId97"/>
    <p:sldId id="3072" r:id="rId98"/>
    <p:sldId id="3052" r:id="rId99"/>
    <p:sldId id="3053" r:id="rId100"/>
    <p:sldId id="3054" r:id="rId101"/>
    <p:sldId id="3055" r:id="rId102"/>
    <p:sldId id="3056" r:id="rId103"/>
    <p:sldId id="3057" r:id="rId104"/>
    <p:sldId id="2816" r:id="rId105"/>
    <p:sldId id="2813" r:id="rId106"/>
    <p:sldId id="3060" r:id="rId107"/>
    <p:sldId id="3059" r:id="rId108"/>
    <p:sldId id="259" r:id="rId109"/>
    <p:sldId id="260" r:id="rId110"/>
    <p:sldId id="2815" r:id="rId111"/>
    <p:sldId id="3061" r:id="rId112"/>
    <p:sldId id="3062" r:id="rId113"/>
    <p:sldId id="262" r:id="rId114"/>
    <p:sldId id="3063" r:id="rId115"/>
    <p:sldId id="3064" r:id="rId116"/>
    <p:sldId id="3065" r:id="rId117"/>
    <p:sldId id="3066" r:id="rId118"/>
    <p:sldId id="3067" r:id="rId119"/>
    <p:sldId id="3068" r:id="rId120"/>
    <p:sldId id="3069" r:id="rId121"/>
    <p:sldId id="3070" r:id="rId122"/>
    <p:sldId id="3071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04" autoAdjust="0"/>
    <p:restoredTop sz="94660"/>
  </p:normalViewPr>
  <p:slideViewPr>
    <p:cSldViewPr snapToGrid="0">
      <p:cViewPr varScale="1">
        <p:scale>
          <a:sx n="91" d="100"/>
          <a:sy n="91" d="100"/>
        </p:scale>
        <p:origin x="8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77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5978-95ED-42CB-885D-FE3D3F54F514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08A140-A7AC-4CD6-9D56-8FFA9C61BC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749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A5120-1FF5-3485-EB2C-7103A1867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3FA97-FD3E-EE67-BFF4-0EEBB2AF3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F2140-428B-4D4E-93AB-2EF353DD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C3414-F8EB-B5E8-7189-5B76300C3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F9C38-7A37-3FCF-ECBF-95D8E45CC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72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6C993-EE6D-4A3E-E7A5-2BB7B7CDD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7185B-6097-E3BC-E76C-DF6E4DB40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425931-50CF-32C9-1ACC-3C630FF0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6F32D-CC0E-00E1-6E2D-E19A53B8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4506-18DA-0E24-B7B5-F53DEE97C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542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8B6B3-6B70-221D-AF36-1E9A33195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EE239-AABE-4051-43C1-F9D9CB10C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0276C-37ED-0767-BCE9-D43BB64A9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B349ED-5E79-10F4-CE4C-AE6DC3D6E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6496E-3C05-9099-1746-51C9F89CC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417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5C4CC-E0A4-5D12-749B-DA19680DC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1BB02-3205-B623-47F3-D48126817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7DFB1-D6F4-9F56-E978-4255289F4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2DA6C4-3FFD-CD46-EB74-F3FC7812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A56E6-0ABF-FDD6-C273-4D5016957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94914-AF9C-FEF2-D985-23D47B2A3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511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E654F-5965-D715-D248-C012948D2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3C81FF-E507-6507-24AB-9AC5A0F13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B8E01-B705-2D9C-27FC-AF329B346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D61D6-9FC6-87E8-6475-7038441D0A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3A6000-1E85-4791-CF57-05ABE65BD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9F5401-01B5-CB77-9542-2BC7CD46C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2671B0-6D76-A6EC-7327-877EB3CC4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77E5E6-59C9-F3F0-1B26-DA4A7A21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861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2302F-935B-37CC-EC9A-762E97AD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B524BF-F351-5B40-70CD-3143C5B43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7F7CF0-6FD6-C632-0C4B-86FF0982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9A5CF8-7960-52DD-9534-33604905A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7482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ABDAC7-8F17-7ABB-C1D2-DE0043F5B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8B05A0-AEDE-BC2A-D3E3-CBA70D52E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71F46-77AF-6AB2-8A06-2034390CE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58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7833D-CDED-D5E8-4AE0-C9683959D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F65A7-633A-D71D-5506-391F6CDD0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4E466B-6DB6-9F77-5962-D67392D6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659AD-FE7C-0CF4-89B5-B867E2D58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4523A-CCCB-E5DA-AE15-1CB81511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FBCAD-FE2E-7C9A-4C3F-EE622E06B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21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3B2EA-E907-2989-BB37-BDF7E874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EFCA6E-0813-A541-83A7-79CE9FBC01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9E567-ED17-8C9C-A72F-597DDF6DE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9801A-1991-9FED-C632-21940ECF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6D5310-8CE5-4084-0907-DE7712FF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00F741-2DAC-C2BA-9E9A-FBD72A21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9310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BF81D-348C-ECFE-B97A-53B08523E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73606-3CFA-01AD-8A6D-6159F90E54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6FDC4-F9C1-D0E5-7207-A4DB8ADA6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CE370-03C0-5868-51BC-960DEF655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0F401-ED22-C23F-5CD5-8BAF2B64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827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FE8101-0075-88E2-F387-242D744AED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4C030-5FC5-7D9A-F1A7-B273C5654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0291-8D3E-08A9-E9BD-90861DB6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E8A7C-E5DA-0E94-D0FA-8F5C47789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56943-61C5-D2FD-CC28-A1EED8385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1743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C13AD4-C8F1-E4FF-A867-83AB23FF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69E6E-5B0E-04A3-656A-13CE7C53E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ABC26-8654-DB25-0F80-36DFAC08D4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B9C6C-0EAB-4CD0-9115-8023772ED0F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DF2B4-29A2-5D62-37D0-879E7BDB5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C446F-731F-85D9-BFA5-FAE1EC3A5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2292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0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0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7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6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note/playground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ask/playground/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35C7-B37F-556E-8E4E-F239C3747C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Agentic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ABB7E8-9F5D-941D-DDFF-B35E9214A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Atul Kahate</a:t>
            </a:r>
          </a:p>
          <a:p>
            <a:r>
              <a:rPr lang="en-US" dirty="0"/>
              <a:t>https://www.linkedin.com/in/atulkahate/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2477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237687-FE1F-0D6C-1202-AE2AEAFF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Module 1: Agentic AI Fundamentals and LLM Access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7A2805-3081-62E8-13AF-71EC48703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9499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CFE38-5A8F-14F7-412E-3F2D51D66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AI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E71C1-A590-FA90-7F94-95CABEAD7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noProof="0" dirty="0"/>
              <a:t>AI Agent</a:t>
            </a:r>
            <a:r>
              <a:rPr lang="en-US" noProof="0" dirty="0"/>
              <a:t>: It is a system that uses AI models to perform tasks</a:t>
            </a:r>
          </a:p>
          <a:p>
            <a:r>
              <a:rPr lang="en-US" noProof="0" dirty="0"/>
              <a:t>Can perceive its environment, make decisions, and take actions in order to achieve specific goals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8DA12A-F307-3446-D90F-4B07BF6E2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373"/>
              </p:ext>
            </p:extLst>
          </p:nvPr>
        </p:nvGraphicFramePr>
        <p:xfrm>
          <a:off x="900729" y="3380003"/>
          <a:ext cx="10139253" cy="32004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98604">
                  <a:extLst>
                    <a:ext uri="{9D8B030D-6E8A-4147-A177-3AD203B41FA5}">
                      <a16:colId xmlns:a16="http://schemas.microsoft.com/office/drawing/2014/main" val="1808843905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2298010791"/>
                    </a:ext>
                  </a:extLst>
                </a:gridCol>
                <a:gridCol w="4834628">
                  <a:extLst>
                    <a:ext uri="{9D8B030D-6E8A-4147-A177-3AD203B41FA5}">
                      <a16:colId xmlns:a16="http://schemas.microsoft.com/office/drawing/2014/main" val="2089804425"/>
                    </a:ext>
                  </a:extLst>
                </a:gridCol>
              </a:tblGrid>
              <a:tr h="169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Capability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Definition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Examples</a:t>
                      </a:r>
                      <a:endParaRPr lang="en-US" sz="18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8492454"/>
                  </a:ext>
                </a:extLst>
              </a:tr>
              <a:tr h="2972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Perception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Takes input from the environment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Camera images, text, audio, sensor data, user queries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0860088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Reasoning / Decision-making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Decides what to do using rules, logic, or machine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Choosing the best move in chess, planning a route, selecting a response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334458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Action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Performs tasks based on decisions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Moving a robot arm, answering a question, executing a command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2044297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Learning (optional)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Improves performance over time using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Updating chatbot responses, refining recommendations, improving 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1612737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DD4E9FE-5393-F975-F2C2-E967B5B63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3975" y="78390"/>
            <a:ext cx="1881689" cy="209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467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8142-0951-03E4-3ADD-CB65907DE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Real World Need of AI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CD708-4A67-B9ED-ACA6-31388599E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Scale: Too much data, too many decisions – Humans cannot do it</a:t>
            </a:r>
          </a:p>
          <a:p>
            <a:pPr lvl="1"/>
            <a:r>
              <a:rPr lang="en-US" noProof="0" dirty="0"/>
              <a:t>Bank frauds, Cloud server management</a:t>
            </a:r>
          </a:p>
          <a:p>
            <a:r>
              <a:rPr lang="en-US" noProof="0" dirty="0"/>
              <a:t>Speed: Decisions must be instant</a:t>
            </a:r>
          </a:p>
          <a:p>
            <a:pPr lvl="1"/>
            <a:r>
              <a:rPr lang="en-US" noProof="0" dirty="0"/>
              <a:t>Stock trading, Network intrusion detection</a:t>
            </a:r>
          </a:p>
          <a:p>
            <a:r>
              <a:rPr lang="en-US" noProof="0" dirty="0"/>
              <a:t>24x7 operation: Humans need breaks – systems do not</a:t>
            </a:r>
          </a:p>
          <a:p>
            <a:pPr lvl="1"/>
            <a:r>
              <a:rPr lang="en-US" noProof="0" dirty="0"/>
              <a:t>Customer support, System monitoring</a:t>
            </a:r>
          </a:p>
          <a:p>
            <a:r>
              <a:rPr lang="en-US" noProof="0" dirty="0"/>
              <a:t>Complexity: Too many variables</a:t>
            </a:r>
          </a:p>
          <a:p>
            <a:pPr lvl="1"/>
            <a:r>
              <a:rPr lang="en-US" noProof="0" dirty="0"/>
              <a:t>Supply chain, Smart grids</a:t>
            </a:r>
          </a:p>
          <a:p>
            <a:r>
              <a:rPr lang="en-US" noProof="0" dirty="0"/>
              <a:t>Adaptability: Changing environment</a:t>
            </a:r>
          </a:p>
          <a:p>
            <a:pPr lvl="1"/>
            <a:r>
              <a:rPr lang="en-US" noProof="0" dirty="0"/>
              <a:t>Recommendation systems, Cyber attacks</a:t>
            </a:r>
          </a:p>
          <a:p>
            <a:r>
              <a:rPr lang="en-US" noProof="0" dirty="0"/>
              <a:t>Autonomy: Reduce human dependence</a:t>
            </a:r>
          </a:p>
          <a:p>
            <a:pPr lvl="1"/>
            <a:r>
              <a:rPr lang="en-US" noProof="0" dirty="0"/>
              <a:t>Auto-healing of cloud infrastructure, Robotic Process Automation (RPA)</a:t>
            </a:r>
          </a:p>
          <a:p>
            <a:r>
              <a:rPr lang="en-US" noProof="0" dirty="0"/>
              <a:t>Decision support: Not just automation</a:t>
            </a:r>
          </a:p>
          <a:p>
            <a:pPr lvl="1"/>
            <a:r>
              <a:rPr lang="en-US" noProof="0" dirty="0"/>
              <a:t>Diagnostic agents for doctors, Investment agents for investment managers</a:t>
            </a:r>
          </a:p>
        </p:txBody>
      </p:sp>
    </p:spTree>
    <p:extLst>
      <p:ext uri="{BB962C8B-B14F-4D97-AF65-F5344CB8AC3E}">
        <p14:creationId xmlns:p14="http://schemas.microsoft.com/office/powerpoint/2010/main" val="2217710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95D1D-2B28-9282-4662-24D3F692B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1"/>
            <a:ext cx="10515600" cy="865539"/>
          </a:xfrm>
        </p:spPr>
        <p:txBody>
          <a:bodyPr/>
          <a:lstStyle/>
          <a:p>
            <a:r>
              <a:rPr lang="en-US" noProof="0" dirty="0"/>
              <a:t>Traditional, Generative, Agentic AI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90019AA-D2CA-C86F-A08F-74ACEE6DD8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964202"/>
              </p:ext>
            </p:extLst>
          </p:nvPr>
        </p:nvGraphicFramePr>
        <p:xfrm>
          <a:off x="947305" y="1316072"/>
          <a:ext cx="10730492" cy="5316462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82623">
                  <a:extLst>
                    <a:ext uri="{9D8B030D-6E8A-4147-A177-3AD203B41FA5}">
                      <a16:colId xmlns:a16="http://schemas.microsoft.com/office/drawing/2014/main" val="4193657813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3553674402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2187027560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3123300298"/>
                    </a:ext>
                  </a:extLst>
                </a:gridCol>
              </a:tblGrid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Aspect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Traditional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Generative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Agentic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3854453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Core idea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Rules and prediction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Content generation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Autonomous goal execution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2276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Main output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Labels / scores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New content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Actions and outcomes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4012179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Creativity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None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Moderate–High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542558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Autonomy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Low–Medium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6651195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Goal handling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Fixed objectives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Prompt-driven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Plans and sub-goals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0440719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Interaction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Predefined inputs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Prompts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Continuous loop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3384873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Tool usage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Minimal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When prompted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Self-selected and orchestrated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070433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Memory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Minimal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Context-based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Short + long-term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580130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Adaptability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6642686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Human involvement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431476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Examples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Spam filter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ChatGPT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Auto-GPT / </a:t>
                      </a:r>
                      <a:r>
                        <a:rPr lang="en-US" sz="1800" noProof="0" dirty="0" err="1"/>
                        <a:t>LangGraph</a:t>
                      </a:r>
                      <a:endParaRPr lang="en-US" sz="1800" noProof="0" dirty="0"/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295719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Use cases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Prediction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Content creation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Automation and decision-making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3577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6544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26FA-9AC7-0D88-E8C1-3812B6DA6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 Types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1860B95-0BE3-AA8F-7FB2-C6F9F88F02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2554098"/>
              </p:ext>
            </p:extLst>
          </p:nvPr>
        </p:nvGraphicFramePr>
        <p:xfrm>
          <a:off x="838200" y="1450396"/>
          <a:ext cx="10515600" cy="146304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114405">
                  <a:extLst>
                    <a:ext uri="{9D8B030D-6E8A-4147-A177-3AD203B41FA5}">
                      <a16:colId xmlns:a16="http://schemas.microsoft.com/office/drawing/2014/main" val="2773456800"/>
                    </a:ext>
                  </a:extLst>
                </a:gridCol>
                <a:gridCol w="3538937">
                  <a:extLst>
                    <a:ext uri="{9D8B030D-6E8A-4147-A177-3AD203B41FA5}">
                      <a16:colId xmlns:a16="http://schemas.microsoft.com/office/drawing/2014/main" val="3675978315"/>
                    </a:ext>
                  </a:extLst>
                </a:gridCol>
                <a:gridCol w="4862258">
                  <a:extLst>
                    <a:ext uri="{9D8B030D-6E8A-4147-A177-3AD203B41FA5}">
                      <a16:colId xmlns:a16="http://schemas.microsoft.com/office/drawing/2014/main" val="4523456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Core idea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87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Reactive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Respond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Process an incoming 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86959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Proactive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Plan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Take action toward a 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0443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Autonomous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Adapt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Independently complete a research task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0020980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9D659CE7-4369-A987-EC30-490F879E03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2975158"/>
              </p:ext>
            </p:extLst>
          </p:nvPr>
        </p:nvGraphicFramePr>
        <p:xfrm>
          <a:off x="838200" y="3213044"/>
          <a:ext cx="10515600" cy="219456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2149305">
                  <a:extLst>
                    <a:ext uri="{9D8B030D-6E8A-4147-A177-3AD203B41FA5}">
                      <a16:colId xmlns:a16="http://schemas.microsoft.com/office/drawing/2014/main" val="511096248"/>
                    </a:ext>
                  </a:extLst>
                </a:gridCol>
                <a:gridCol w="2561716">
                  <a:extLst>
                    <a:ext uri="{9D8B030D-6E8A-4147-A177-3AD203B41FA5}">
                      <a16:colId xmlns:a16="http://schemas.microsoft.com/office/drawing/2014/main" val="2937345171"/>
                    </a:ext>
                  </a:extLst>
                </a:gridCol>
                <a:gridCol w="2401173">
                  <a:extLst>
                    <a:ext uri="{9D8B030D-6E8A-4147-A177-3AD203B41FA5}">
                      <a16:colId xmlns:a16="http://schemas.microsoft.com/office/drawing/2014/main" val="1887806541"/>
                    </a:ext>
                  </a:extLst>
                </a:gridCol>
                <a:gridCol w="3403406">
                  <a:extLst>
                    <a:ext uri="{9D8B030D-6E8A-4147-A177-3AD203B41FA5}">
                      <a16:colId xmlns:a16="http://schemas.microsoft.com/office/drawing/2014/main" val="1201543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Reactive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Proactive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Autonomous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23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Decision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Immediate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Goal-oriented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Self-directed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4099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Planning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833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Sometimes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5348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Human control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5847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Adaptability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618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6642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Foundational Components of an AI Agent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Instructions in a Natural Human Language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0" dirty="0">
                <a:hlinkClick r:id="rId12" tooltip="https://www.programandoamedianoche.com/2009/07/enlace-a-data-objects-en-wpf/"/>
              </a:rPr>
              <a:t>This Photo</a:t>
            </a:r>
            <a:r>
              <a:rPr lang="en-US" sz="900" noProof="0" dirty="0"/>
              <a:t> by Unknown Author is licensed under </a:t>
            </a:r>
            <a:r>
              <a:rPr lang="en-US" sz="900" noProof="0" dirty="0">
                <a:hlinkClick r:id="rId13" tooltip="https://creativecommons.org/licenses/by-nd/3.0/"/>
              </a:rPr>
              <a:t>CC BY-ND</a:t>
            </a:r>
            <a:endParaRPr lang="en-US" sz="900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RAG</a:t>
            </a:r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Think, Act, Review</a:t>
            </a:r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MCP</a:t>
            </a:r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Tool Calling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HITL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Memory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Guardrails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290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4E5A0-C9F5-1368-CC42-9D455FF1F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Hands-on: Directly Accessing LLMs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741F7-E1CD-3E39-DDDE-D6C8953A8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Download and install Python </a:t>
            </a:r>
            <a:r>
              <a:rPr lang="en-US" b="1" noProof="0" dirty="0"/>
              <a:t>Version 3.12 </a:t>
            </a:r>
            <a:r>
              <a:rPr lang="en-US" noProof="0" dirty="0"/>
              <a:t>(</a:t>
            </a:r>
            <a:r>
              <a:rPr lang="en-US" noProof="0" dirty="0">
                <a:hlinkClick r:id="rId2"/>
              </a:rPr>
              <a:t>https://www.python.org/downloads/</a:t>
            </a:r>
            <a:r>
              <a:rPr lang="en-US" noProof="0" dirty="0"/>
              <a:t>)</a:t>
            </a:r>
            <a:endParaRPr lang="en-US" b="1" noProof="0" dirty="0"/>
          </a:p>
          <a:p>
            <a:r>
              <a:rPr lang="en-US" noProof="0" dirty="0"/>
              <a:t>Download and install VS Code (</a:t>
            </a:r>
            <a:r>
              <a:rPr lang="en-US" noProof="0" dirty="0">
                <a:hlinkClick r:id="rId3"/>
              </a:rPr>
              <a:t>https://code.visualstudio.com/download</a:t>
            </a:r>
            <a:r>
              <a:rPr lang="en-US" noProof="0" dirty="0"/>
              <a:t>)</a:t>
            </a:r>
          </a:p>
          <a:p>
            <a:r>
              <a:rPr lang="en-US" noProof="0" dirty="0"/>
              <a:t>Create a directory (e.g. c:\code\agenticai_realpage) on your machine</a:t>
            </a:r>
          </a:p>
          <a:p>
            <a:r>
              <a:rPr lang="en-US" noProof="0" dirty="0"/>
              <a:t>Set up Python in VS Code: Open VS Code and press </a:t>
            </a:r>
            <a:r>
              <a:rPr lang="en-US" noProof="0" dirty="0" err="1"/>
              <a:t>Ctrl+Shift+P</a:t>
            </a:r>
            <a:r>
              <a:rPr lang="en-US" noProof="0" dirty="0"/>
              <a:t> -&gt; Python: Select interpreter -&gt; Select Python that you have installed on your machine</a:t>
            </a:r>
          </a:p>
          <a:p>
            <a:r>
              <a:rPr lang="en-US" noProof="0" dirty="0"/>
              <a:t>Create a virtual environment in VS Code</a:t>
            </a:r>
          </a:p>
          <a:p>
            <a:pPr lvl="1"/>
            <a:r>
              <a:rPr lang="en-US" noProof="0" dirty="0"/>
              <a:t>Terminal -&gt; New Terminal -&gt; </a:t>
            </a:r>
            <a:r>
              <a:rPr lang="en-US" b="1" noProof="0" dirty="0"/>
              <a:t>cd c:\code\agenticai_realpage</a:t>
            </a:r>
          </a:p>
          <a:p>
            <a:pPr lvl="1"/>
            <a:r>
              <a:rPr lang="en-US" b="1" noProof="0" dirty="0"/>
              <a:t>python -m </a:t>
            </a:r>
            <a:r>
              <a:rPr lang="en-US" b="1" noProof="0" dirty="0" err="1"/>
              <a:t>venv</a:t>
            </a:r>
            <a:r>
              <a:rPr lang="en-US" b="1" noProof="0" dirty="0"/>
              <a:t> </a:t>
            </a:r>
            <a:r>
              <a:rPr lang="en-US" b="1" noProof="0" dirty="0" err="1"/>
              <a:t>myenv</a:t>
            </a:r>
            <a:endParaRPr lang="en-US" b="1" noProof="0" dirty="0"/>
          </a:p>
          <a:p>
            <a:pPr lvl="1"/>
            <a:r>
              <a:rPr lang="en-US" b="1" noProof="0" dirty="0" err="1"/>
              <a:t>myenv</a:t>
            </a:r>
            <a:r>
              <a:rPr lang="en-US" b="1" noProof="0" dirty="0"/>
              <a:t>\Scripts\activate</a:t>
            </a:r>
            <a:r>
              <a:rPr lang="en-US" noProof="0" dirty="0"/>
              <a:t> (On Windows) and </a:t>
            </a:r>
            <a:r>
              <a:rPr lang="en-US" b="1" noProof="0" dirty="0"/>
              <a:t>source </a:t>
            </a:r>
            <a:r>
              <a:rPr lang="en-US" b="1" noProof="0" dirty="0" err="1"/>
              <a:t>myenv</a:t>
            </a:r>
            <a:r>
              <a:rPr lang="en-US" b="1" noProof="0" dirty="0"/>
              <a:t>/bin/activate</a:t>
            </a:r>
            <a:r>
              <a:rPr lang="en-US" noProof="0" dirty="0"/>
              <a:t>  (on Linux)</a:t>
            </a:r>
          </a:p>
          <a:p>
            <a:pPr lvl="1"/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 </a:t>
            </a:r>
            <a:r>
              <a:rPr lang="en-US" b="1" noProof="0" dirty="0" err="1"/>
              <a:t>openai</a:t>
            </a:r>
            <a:r>
              <a:rPr lang="en-US" b="1" noProof="0" dirty="0"/>
              <a:t>-agents</a:t>
            </a:r>
          </a:p>
          <a:p>
            <a:pPr lvl="1"/>
            <a:r>
              <a:rPr lang="en-US" noProof="0" dirty="0"/>
              <a:t>Later to deactivate: deactivate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90649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00B3-34C9-CBAE-17A1-60DD0D96A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LLMs: OpenAI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176EC-436E-9D32-EDB9-59AE96E49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Get an API key: https://platform.openai.com/settings/organization/api-keys</a:t>
            </a:r>
          </a:p>
          <a:p>
            <a:r>
              <a:rPr lang="en-US" noProof="0" dirty="0"/>
              <a:t>Copy it in .env file</a:t>
            </a:r>
          </a:p>
          <a:p>
            <a:r>
              <a:rPr lang="en-US" noProof="0" dirty="0"/>
              <a:t>pip install </a:t>
            </a:r>
            <a:r>
              <a:rPr lang="en-US" noProof="0" dirty="0" err="1"/>
              <a:t>openai</a:t>
            </a:r>
            <a:r>
              <a:rPr lang="en-US" noProof="0" dirty="0"/>
              <a:t>  </a:t>
            </a:r>
            <a:r>
              <a:rPr lang="en-US" noProof="0" dirty="0" err="1"/>
              <a:t>dotenv</a:t>
            </a:r>
            <a:endParaRPr lang="en-US" noProof="0" dirty="0"/>
          </a:p>
          <a:p>
            <a:r>
              <a:rPr lang="en-US" noProof="0" dirty="0"/>
              <a:t>Run C:\code\agenticai_realpage\module_1\1_openai_basic.py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68332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92AC0-3620-FC39-DA33-C8B3A2565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the First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816F8-2BD8-7F0C-6C21-67DEED30C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7ED40-EF4F-9D40-EC8D-327B2F5CA575}"/>
              </a:ext>
            </a:extLst>
          </p:cNvPr>
          <p:cNvSpPr txBox="1"/>
          <p:nvPr/>
        </p:nvSpPr>
        <p:spPr>
          <a:xfrm>
            <a:off x="1023174" y="2288559"/>
            <a:ext cx="42922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openai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OpenAI</a:t>
            </a:r>
          </a:p>
          <a:p>
            <a:b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</a:p>
          <a:p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client = OpenAI()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831F0D-C308-09F3-627E-CE145BC63E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803670"/>
              </p:ext>
            </p:extLst>
          </p:nvPr>
        </p:nvGraphicFramePr>
        <p:xfrm>
          <a:off x="5402638" y="1945640"/>
          <a:ext cx="6659066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OpenAI()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Instantiate an object of OpenAI class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6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3805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1CAEC-B4AF-F582-CE08-993B3A139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06CF0-3CD9-CA4A-8513-97AE8C219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the First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0D761-7F53-120A-C071-3DFC049C6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Step 2: Call the LLM</a:t>
            </a:r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92C4B5-B741-B8C3-843E-83ABD12FFAC1}"/>
              </a:ext>
            </a:extLst>
          </p:cNvPr>
          <p:cNvSpPr txBox="1"/>
          <p:nvPr/>
        </p:nvSpPr>
        <p:spPr>
          <a:xfrm>
            <a:off x="1023174" y="2288559"/>
            <a:ext cx="42922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response =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client.chat.completions.create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model="gpt-4o-mini",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messages=[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    {"role": "system", "content": "You are a helpful assistant"},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    {"role": "user", "content": "Explain agentic AI in one paragraph"}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]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print(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response.choices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[0].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message.content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20DD79-C8D0-9F6F-0851-F0E4B93EAE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793748"/>
              </p:ext>
            </p:extLst>
          </p:nvPr>
        </p:nvGraphicFramePr>
        <p:xfrm>
          <a:off x="5402638" y="1945640"/>
          <a:ext cx="6659066" cy="2392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create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call to the LLM using the OpenAI Chat Completions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69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messages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system: Set the persona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user: A specific question/problem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920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response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What the LLM returns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0045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1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83056-37FD-13C2-4A5B-2EF7A5801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Hugging Face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37054-66D1-B97C-B1E0-69E865E8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Open platform for AI model building, training, deployment</a:t>
            </a:r>
          </a:p>
          <a:p>
            <a:r>
              <a:rPr lang="en-IN" dirty="0"/>
              <a:t>“GitHub of modern AI models”</a:t>
            </a:r>
          </a:p>
          <a:p>
            <a:r>
              <a:rPr lang="en-IN" dirty="0"/>
              <a:t>Why Hugging Face?</a:t>
            </a:r>
          </a:p>
          <a:p>
            <a:pPr lvl="1"/>
            <a:r>
              <a:rPr lang="en-IN" dirty="0"/>
              <a:t>Pretrained models – No need to train from scratch</a:t>
            </a:r>
          </a:p>
          <a:p>
            <a:pPr lvl="1"/>
            <a:r>
              <a:rPr lang="en-IN" dirty="0"/>
              <a:t>Standardized APIs – Faster experimentation</a:t>
            </a:r>
          </a:p>
          <a:p>
            <a:pPr lvl="1"/>
            <a:r>
              <a:rPr lang="en-IN" dirty="0"/>
              <a:t>Open ecosystem – Models, Datasets, Demos, Tools</a:t>
            </a:r>
          </a:p>
          <a:p>
            <a:r>
              <a:rPr lang="en-IN" dirty="0"/>
              <a:t>Core components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28281E1-DC56-78DD-D363-AB07850578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275529"/>
              </p:ext>
            </p:extLst>
          </p:nvPr>
        </p:nvGraphicFramePr>
        <p:xfrm>
          <a:off x="4150282" y="4664075"/>
          <a:ext cx="7203518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10725">
                  <a:extLst>
                    <a:ext uri="{9D8B030D-6E8A-4147-A177-3AD203B41FA5}">
                      <a16:colId xmlns:a16="http://schemas.microsoft.com/office/drawing/2014/main" val="1246703174"/>
                    </a:ext>
                  </a:extLst>
                </a:gridCol>
                <a:gridCol w="5592793">
                  <a:extLst>
                    <a:ext uri="{9D8B030D-6E8A-4147-A177-3AD203B41FA5}">
                      <a16:colId xmlns:a16="http://schemas.microsoft.com/office/drawing/2014/main" val="1686628329"/>
                    </a:ext>
                  </a:extLst>
                </a:gridCol>
              </a:tblGrid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3637809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Transformers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State-of-the-art models (BERT, GPT, T5, LLaMA, etc.)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558129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Datasets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Ready-to-use datasets with versioning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40569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Inference API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Run models without infrastructure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1262975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Spaces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Share ML demos (Gradio / Streamlit)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95844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Hub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b-NO" sz="1400" dirty="0"/>
                        <a:t>GitHub-like repo for models &amp;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7629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434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3DAE1-E492-5BA5-56CD-9953E84A1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9B0B6-F0A4-280A-032A-3338898E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Hugging Face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7CB95-387C-221E-5A91-16BE15B92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Typical workflow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Choose a pretrained model from the Hub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Load it using Transformers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(Optional) Fine-tune on your data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Deploy via API / local / cloud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2596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1940F-66D7-69A1-6ACF-A79BE8ABA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LLMs: Hugging 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B3A30-FF3B-C50D-EDCD-82AD4174B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Open-source models</a:t>
            </a:r>
          </a:p>
          <a:p>
            <a:r>
              <a:rPr lang="en-US" noProof="0" dirty="0"/>
              <a:t>We have full control</a:t>
            </a:r>
          </a:p>
          <a:p>
            <a:r>
              <a:rPr lang="en-US" noProof="0" dirty="0"/>
              <a:t>Offline / On-prem</a:t>
            </a:r>
          </a:p>
          <a:p>
            <a:r>
              <a:rPr lang="en-US" noProof="0" dirty="0"/>
              <a:t>No vendor lock-in</a:t>
            </a:r>
          </a:p>
          <a:p>
            <a:r>
              <a:rPr lang="en-US" noProof="0" dirty="0"/>
              <a:t>Very slow, sometimes</a:t>
            </a:r>
          </a:p>
          <a:p>
            <a:r>
              <a:rPr lang="en-US" noProof="0" dirty="0"/>
              <a:t>Two options</a:t>
            </a:r>
          </a:p>
          <a:p>
            <a:pPr lvl="1"/>
            <a:r>
              <a:rPr lang="en-US" noProof="0" dirty="0"/>
              <a:t>Transformers API (Local/GPU/CPU): </a:t>
            </a:r>
            <a:r>
              <a:rPr lang="en-US" b="1" noProof="0" dirty="0"/>
              <a:t>pip install transformers torch accelerate</a:t>
            </a:r>
          </a:p>
          <a:p>
            <a:pPr lvl="2"/>
            <a:r>
              <a:rPr lang="en-US" noProof="0" dirty="0"/>
              <a:t>We download and run the model inside our environment</a:t>
            </a:r>
          </a:p>
          <a:p>
            <a:pPr lvl="1"/>
            <a:r>
              <a:rPr lang="en-US" noProof="0" dirty="0"/>
              <a:t>Hugging Face Interface API (Hosted): </a:t>
            </a:r>
            <a:r>
              <a:rPr lang="en-US" b="1" noProof="0" dirty="0"/>
              <a:t>pip install  </a:t>
            </a:r>
            <a:r>
              <a:rPr lang="en-US" b="1" noProof="0" dirty="0" err="1"/>
              <a:t>huggingface_hub</a:t>
            </a:r>
            <a:endParaRPr lang="en-US" b="1" noProof="0" dirty="0"/>
          </a:p>
          <a:p>
            <a:pPr lvl="2"/>
            <a:r>
              <a:rPr lang="en-US" noProof="0" dirty="0"/>
              <a:t>Model runs on Hugging Face cloud infrastructure </a:t>
            </a:r>
          </a:p>
          <a:p>
            <a:pPr lvl="2"/>
            <a:r>
              <a:rPr lang="en-US" noProof="0" dirty="0"/>
              <a:t>Code: module_1\2_hugging_face_local.py</a:t>
            </a:r>
          </a:p>
          <a:p>
            <a:pPr lvl="2"/>
            <a:r>
              <a:rPr lang="en-US" noProof="0" dirty="0"/>
              <a:t>Will not run, unless we make a payment on Hugging Face site to enable inference endpoints (endpoints.huggingface.co)</a:t>
            </a:r>
          </a:p>
          <a:p>
            <a:pPr marL="457200" lvl="1" indent="0"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59629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E138-4951-5861-A49D-D971B35A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0D855-CC35-3452-CDE1-46E24111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a Simple Utility Agent Using OpenAI API (No Frameworks)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6CABAA-CC9F-16AE-E57F-12FE9425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7204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2A1C4-5CC8-F5F3-62BF-CC0F452F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427CD-28D4-DDA0-846F-3BBC2E865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agents import Agent, Runner,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function_tool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datetime import datetime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AB87BA-0DF5-F6F0-FC8C-09A31C156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768801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agents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OpenAI Agents SDK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For running multiple queries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function_tool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to convert functions into agent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A2F4C94-6CED-2742-B341-F8E3C78F0D67}"/>
              </a:ext>
            </a:extLst>
          </p:cNvPr>
          <p:cNvSpPr txBox="1"/>
          <p:nvPr/>
        </p:nvSpPr>
        <p:spPr>
          <a:xfrm>
            <a:off x="6479908" y="4425417"/>
            <a:ext cx="3697154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Installations</a:t>
            </a:r>
          </a:p>
          <a:p>
            <a:endParaRPr lang="en-US" noProof="0" dirty="0"/>
          </a:p>
          <a:p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-agents  </a:t>
            </a:r>
            <a:r>
              <a:rPr lang="en-US" b="1" noProof="0" dirty="0" err="1"/>
              <a:t>dotenv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42858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80EF-FA53-5833-723A-DBE59DDD8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01799-5DC0-97DE-3EA4-16B31CE1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6041B-0DD0-914D-065A-0F282F1EF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187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(city: str) -&gt; str: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mock temperature for a city."""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temps = {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"new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york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"72°F",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london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"65°F",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tokyo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sydney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mumbai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"85°F"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temps.get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city.lower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(), "70°F")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2F8337-AAB2-FC77-B157-CC0484C9E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76055"/>
              </p:ext>
            </p:extLst>
          </p:nvPr>
        </p:nvGraphicFramePr>
        <p:xfrm>
          <a:off x="6505503" y="3429000"/>
          <a:ext cx="5423578" cy="1651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0243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42114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@function_tool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tells the agent that it is a callable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“””  …  ‘’’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Docstring helps the agent decide if and when to use this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5116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F5AFB-3F10-F669-C276-9BAB4AC9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2D80C-16C2-4295-B9DB-D8B610F74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80E36-51D6-B2E6-C665-A8F0BCDF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794411" cy="4351338"/>
          </a:xfrm>
        </p:spPr>
        <p:txBody>
          <a:bodyPr>
            <a:normAutofit fontScale="77500" lnSpcReduction="2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current time for a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datetime.now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().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strftime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("%I:%M %p")</a:t>
            </a:r>
          </a:p>
          <a:p>
            <a:pPr marL="0" indent="0">
              <a:buNone/>
            </a:pPr>
            <a:endParaRPr lang="en-US" sz="2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calculate(expression: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"""Evaluates a simple math expression."""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try: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result = eval(expression)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f"{expression} = {result}"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except: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"Invalid expression"</a:t>
            </a:r>
          </a:p>
        </p:txBody>
      </p:sp>
    </p:spTree>
    <p:extLst>
      <p:ext uri="{BB962C8B-B14F-4D97-AF65-F5344CB8AC3E}">
        <p14:creationId xmlns:p14="http://schemas.microsoft.com/office/powerpoint/2010/main" val="200440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9AF7-25C8-987A-ED4C-6F2379563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80B76-4095-E894-38D1-2B4D0D7D6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E78AE-BB34-E490-56EE-0E26E1BB0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3: Create Agent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QuickAssistant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model="gpt-4o-mini",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tools=[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calculate],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instructions="You are a helpful assistant. Use tools when needed. Be concise."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C9983C-14A4-63BC-2AF5-BDA273AC9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399949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Identifies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available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instructions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 prompt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6810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9723-4FF1-2AE9-9748-91BA0F91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D96C-D922-5B28-191E-33A33C9E8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8D982-B819-A6FF-1FA8-959859752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4: Prepare Test Queries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async 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queries = [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"What's the temperature in Tokyo?",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"Calculate 25 * 4 + 10",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 time is it in New York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print("Processing queries in parallel...\n")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8C8BA5-CA61-9263-D37A-0D73BE311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316092"/>
              </p:ext>
            </p:extLst>
          </p:nvPr>
        </p:nvGraphicFramePr>
        <p:xfrm>
          <a:off x="7817770" y="2047240"/>
          <a:ext cx="4271853" cy="13817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23588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035971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queries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queries to be sent to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async def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 this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E3989DA-B438-059E-D27D-58587E5B967D}"/>
              </a:ext>
            </a:extLst>
          </p:cNvPr>
          <p:cNvSpPr txBox="1"/>
          <p:nvPr/>
        </p:nvSpPr>
        <p:spPr>
          <a:xfrm>
            <a:off x="8334301" y="4069429"/>
            <a:ext cx="3134089" cy="147732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Queries are in natural (human) language</a:t>
            </a:r>
          </a:p>
          <a:p>
            <a:endParaRPr lang="en-US" b="1" noProof="0" dirty="0"/>
          </a:p>
          <a:p>
            <a:r>
              <a:rPr lang="en-US" b="1" noProof="0" dirty="0"/>
              <a:t>Agent will figure out if and which tool to call </a:t>
            </a:r>
          </a:p>
        </p:txBody>
      </p:sp>
    </p:spTree>
    <p:extLst>
      <p:ext uri="{BB962C8B-B14F-4D97-AF65-F5344CB8AC3E}">
        <p14:creationId xmlns:p14="http://schemas.microsoft.com/office/powerpoint/2010/main" val="3069656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8ED3-504C-760C-8974-CB5A75FC8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7789-DADC-77A2-798D-07B94B0D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3E6C7-F4FC-F004-4294-32C844CAD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5: Run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Process all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tasks = [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query) for query in queries]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results = await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asyncio.gather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(*tasks)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F79C5-8CE6-5DE5-ACC6-066A67816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842605"/>
              </p:ext>
            </p:extLst>
          </p:nvPr>
        </p:nvGraphicFramePr>
        <p:xfrm>
          <a:off x="723609" y="3750397"/>
          <a:ext cx="11030968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Runner.run</a:t>
                      </a:r>
                      <a:r>
                        <a:rPr lang="en-US" noProof="0" dirty="0"/>
                        <a:t>(agent, query)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Executes agent with a query, [ ] creates a list comprehension, i.e. multiple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asyncio.gather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all tasks simultaneously and waits for all to complete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await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Waits for all results before continuing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188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0802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C3F4-FBE6-125D-7293-24856C9B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58DEB-B75E-D300-2A22-88407593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0692-73F6-AB4D-98E2-66ECF52F2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6: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for query, result in zip(queries, results):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f"Q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{query}")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f"A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result.final_output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}\n")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79A348-EA05-09EC-D5D6-CFCBBE4F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650160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zip()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Pairs each query with its 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result.final_output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Agent’s final answer, after all tool calls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138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93686-CCFF-5BB6-0A05-A6C58CCAB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D9727-BFDB-4B90-89CD-727B8EBB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66786-D363-B0F1-D5AC-3C206C095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7: Run the Program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if __name__ == "__main__":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FD8BCD-AE52-3C77-D74C-69A3E8E77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881467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if __name__ == “__main__”: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Standard Python syntax – Only runs if the file is executing directly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asyncio.run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Starts the async event loop and runs main()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59395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/>
            <a:r>
              <a:rPr lang="en-GB" dirty="0"/>
              <a:t>AI applications often wait for external services: </a:t>
            </a:r>
          </a:p>
          <a:p>
            <a:pPr lvl="1"/>
            <a:r>
              <a:rPr lang="en-GB" dirty="0"/>
              <a:t>LLM API calls </a:t>
            </a:r>
          </a:p>
          <a:p>
            <a:pPr lvl="1"/>
            <a:r>
              <a:rPr lang="en-GB" dirty="0"/>
              <a:t>Web searches </a:t>
            </a:r>
          </a:p>
          <a:p>
            <a:pPr lvl="1"/>
            <a:r>
              <a:rPr lang="en-GB" dirty="0"/>
              <a:t>Database queries </a:t>
            </a:r>
          </a:p>
          <a:p>
            <a:pPr lvl="1"/>
            <a:r>
              <a:rPr lang="en-GB" dirty="0"/>
              <a:t>MCP tool calls </a:t>
            </a:r>
          </a:p>
          <a:p>
            <a:pPr lvl="1"/>
            <a:r>
              <a:rPr lang="en-GB" dirty="0"/>
              <a:t>File uploads/downloads </a:t>
            </a:r>
          </a:p>
          <a:p>
            <a:pPr lvl="0"/>
            <a:r>
              <a:rPr lang="en-GB" b="1" dirty="0"/>
              <a:t>Synchronous:</a:t>
            </a:r>
            <a:r>
              <a:rPr lang="en-GB" dirty="0"/>
              <a:t> Wait for one operation to finish before starting the next</a:t>
            </a:r>
          </a:p>
          <a:p>
            <a:pPr lvl="0"/>
            <a:r>
              <a:rPr lang="en-GB" b="1" dirty="0"/>
              <a:t>Asynchronous:</a:t>
            </a:r>
            <a:r>
              <a:rPr lang="en-GB" dirty="0"/>
              <a:t> Start multiple </a:t>
            </a:r>
            <a:r>
              <a:rPr lang="en-GB" b="1" dirty="0"/>
              <a:t>I/O-bound operations concurrently</a:t>
            </a:r>
            <a:r>
              <a:rPr lang="en-GB" dirty="0"/>
              <a:t> while waiting for responses</a:t>
            </a:r>
          </a:p>
          <a:p>
            <a:pPr lvl="0"/>
            <a:r>
              <a:rPr lang="en-GB" b="1" dirty="0"/>
              <a:t>Benefits:</a:t>
            </a:r>
            <a:r>
              <a:rPr lang="en-GB" dirty="0"/>
              <a:t> Better responsiveness and higher throughput</a:t>
            </a:r>
          </a:p>
          <a:p>
            <a:r>
              <a:rPr lang="en-GB" b="1" dirty="0"/>
              <a:t>Simple example: </a:t>
            </a:r>
            <a:r>
              <a:rPr lang="en-GB" dirty="0"/>
              <a:t>Instead of </a:t>
            </a:r>
            <a:r>
              <a:rPr lang="en-GB" b="1" dirty="0"/>
              <a:t>LLM call → wait → Web search → wait → Database query</a:t>
            </a:r>
            <a:r>
              <a:rPr lang="en-GB" dirty="0"/>
              <a:t>, initiate independent operations concurrently and continue when their results are available</a:t>
            </a:r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dirty="0"/>
              <a:t>a</a:t>
            </a:r>
            <a:r>
              <a:rPr lang="en-IN" noProof="0" dirty="0" err="1"/>
              <a:t>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  <a:p>
            <a:endParaRPr lang="en-IN" dirty="0"/>
          </a:p>
          <a:p>
            <a:r>
              <a:rPr lang="en-IN" noProof="0" dirty="0"/>
              <a:t>Code: </a:t>
            </a:r>
            <a:r>
              <a:rPr lang="en-US" dirty="0"/>
              <a:t>15_real\sync_vs_async_llm_calls_openai.py and 15_real\sync_vs_async_llm_calls_ollama.py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27FE3F-4839-07B1-9F90-18025AC03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Module 2: </a:t>
            </a:r>
            <a:r>
              <a:rPr lang="en-US" noProof="0" dirty="0" err="1"/>
              <a:t>LangChain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D68437-8195-2453-9679-9D2E32792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386258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/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build AI workflows by connecting components</a:t>
            </a:r>
          </a:p>
          <a:p>
            <a:r>
              <a:rPr lang="en-GB" b="1" dirty="0"/>
              <a:t>Runnable </a:t>
            </a:r>
            <a:r>
              <a:rPr lang="en-GB" dirty="0"/>
              <a:t>= Any component that can take an input and produce an output</a:t>
            </a:r>
            <a:endParaRPr lang="en-IN" dirty="0"/>
          </a:p>
          <a:p>
            <a:r>
              <a:rPr lang="en-IN" noProof="0" dirty="0"/>
              <a:t>Runnable examples</a:t>
            </a:r>
          </a:p>
          <a:p>
            <a:pPr lvl="1"/>
            <a:r>
              <a:rPr lang="en-GB" dirty="0"/>
              <a:t>Prompt: input → formatted prompt </a:t>
            </a:r>
          </a:p>
          <a:p>
            <a:pPr lvl="1"/>
            <a:r>
              <a:rPr lang="en-GB" dirty="0"/>
              <a:t>LLM: prompt → response </a:t>
            </a:r>
          </a:p>
          <a:p>
            <a:pPr lvl="1"/>
            <a:r>
              <a:rPr lang="en-GB" dirty="0"/>
              <a:t>Parser: LLM response → structured output </a:t>
            </a:r>
          </a:p>
          <a:p>
            <a:pPr lvl="1"/>
            <a:r>
              <a:rPr lang="en-GB" dirty="0"/>
              <a:t>Retriever: query → relevant documents </a:t>
            </a:r>
          </a:p>
          <a:p>
            <a:pPr lvl="1"/>
            <a:r>
              <a:rPr lang="en-GB" dirty="0"/>
              <a:t>Function: input → result</a:t>
            </a:r>
          </a:p>
          <a:p>
            <a:r>
              <a:rPr lang="en-IN" noProof="0" dirty="0" err="1"/>
              <a:t>Runnables</a:t>
            </a:r>
            <a:r>
              <a:rPr lang="en-IN" noProof="0" dirty="0"/>
              <a:t> can be connected, combined, and executed as a chain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Without memory, every user request is independent</a:t>
            </a:r>
          </a:p>
          <a:p>
            <a:r>
              <a:rPr lang="en-IN" noProof="0" dirty="0"/>
              <a:t>Memory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/>
        </p:nvGraphicFramePr>
        <p:xfrm>
          <a:off x="908001" y="2958459"/>
          <a:ext cx="10515600" cy="2560320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497171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BufferMemory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Short conversations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Buffer Window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Last N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8944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SummaryMemory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Long conversations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VectorStoreMemory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retrieval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Entity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Facts about entities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Personal assistants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1989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Combined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Multiple memory types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Enterprise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0423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noProof="0" dirty="0"/>
              <a:t>Session-based memory exists only till the time the application is running</a:t>
            </a:r>
          </a:p>
          <a:p>
            <a:r>
              <a:rPr lang="en-IN" noProof="0" dirty="0"/>
              <a:t>Persistent 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pPr lvl="1"/>
            <a:r>
              <a:rPr lang="en-IN" noProof="0" dirty="0"/>
              <a:t>config's </a:t>
            </a:r>
            <a:r>
              <a:rPr lang="en-IN" noProof="0" dirty="0" err="1"/>
              <a:t>session_id</a:t>
            </a:r>
            <a:r>
              <a:rPr lang="en-IN" noProof="0" dirty="0"/>
              <a:t> is a lookup key used </a:t>
            </a:r>
            <a:r>
              <a:rPr lang="en-IN" i="1" noProof="0" dirty="0"/>
              <a:t>before</a:t>
            </a:r>
            <a:r>
              <a:rPr lang="en-IN" noProof="0" dirty="0"/>
              <a:t> our chain runs, to fetch a </a:t>
            </a:r>
            <a:r>
              <a:rPr lang="en-IN" noProof="0" dirty="0" err="1"/>
              <a:t>SQLChatMessageHistory</a:t>
            </a:r>
            <a:r>
              <a:rPr lang="en-IN" noProof="0" dirty="0"/>
              <a:t> and turn it into an ordinary "history" list; by the time the LLM is actually called, it receives a normal message list like any other chain invocation — the config/session machinery has already done its job and dropped out</a:t>
            </a:r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/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/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EDACFFA-2340-19CE-6675-B391A1EB6B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538254"/>
          <a:ext cx="10515600" cy="316992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3188079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4713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Retriever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5589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VectorStoreRetriever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Basic similarity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44477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MultiQueryRetriever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Multiple query reformulations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920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ContextualCompressionRetriever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Reduce irrelevant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4152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SelfQueryRetriever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Uses metadata filters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9687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ParentDocumentRetriever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Retrieve larger parent documents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18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MultiVectorRetriever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Multiple embeddings per document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597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EnsembleRetriever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Combine multiple retrieval methods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4982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EAF35-C34E-DFBA-3F36-1CB3B7DE9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LangServe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CAA29-4C17-AE45-D1FE-14E70AB2A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noProof="0" dirty="0" err="1"/>
              <a:t>LangServe</a:t>
            </a:r>
            <a:r>
              <a:rPr lang="en-US" noProof="0" dirty="0"/>
              <a:t>: Official way to turn our </a:t>
            </a:r>
            <a:r>
              <a:rPr lang="en-US" noProof="0" dirty="0" err="1"/>
              <a:t>LangChain</a:t>
            </a:r>
            <a:r>
              <a:rPr lang="en-US" noProof="0" dirty="0"/>
              <a:t> </a:t>
            </a:r>
            <a:r>
              <a:rPr lang="en-US" noProof="0" dirty="0" err="1"/>
              <a:t>runnables</a:t>
            </a:r>
            <a:r>
              <a:rPr lang="en-US" noProof="0" dirty="0"/>
              <a:t> and chains into a REST API</a:t>
            </a:r>
          </a:p>
          <a:p>
            <a:r>
              <a:rPr lang="en-US" noProof="0" dirty="0"/>
              <a:t>Built on top of </a:t>
            </a:r>
            <a:r>
              <a:rPr lang="en-US" noProof="0" dirty="0" err="1"/>
              <a:t>FastAPI</a:t>
            </a:r>
            <a:r>
              <a:rPr lang="en-US" noProof="0" dirty="0"/>
              <a:t> </a:t>
            </a:r>
          </a:p>
          <a:p>
            <a:r>
              <a:rPr lang="en-US" noProof="0" dirty="0"/>
              <a:t>Automatically handles the complex parts of deployment, like schema validation, multiple endpoints (/invoke, /batch, /stream), and even a built-in interactive playground</a:t>
            </a:r>
          </a:p>
          <a:p>
            <a:r>
              <a:rPr lang="en-US" noProof="0" dirty="0"/>
              <a:t>We register our </a:t>
            </a:r>
            <a:r>
              <a:rPr lang="en-US" noProof="0" dirty="0" err="1"/>
              <a:t>LangChain</a:t>
            </a:r>
            <a:r>
              <a:rPr lang="en-US" noProof="0" dirty="0"/>
              <a:t> code and register with a path – </a:t>
            </a:r>
            <a:r>
              <a:rPr lang="en-US" noProof="0" dirty="0" err="1"/>
              <a:t>LangServe</a:t>
            </a:r>
            <a:r>
              <a:rPr lang="en-US" noProof="0" dirty="0"/>
              <a:t> creates</a:t>
            </a:r>
          </a:p>
          <a:p>
            <a:pPr lvl="1"/>
            <a:r>
              <a:rPr lang="en-US" noProof="0" dirty="0"/>
              <a:t>API endpoints</a:t>
            </a:r>
          </a:p>
          <a:p>
            <a:pPr lvl="1"/>
            <a:r>
              <a:rPr lang="en-US" noProof="0" dirty="0"/>
              <a:t>Schema (Automatic JSON validation using </a:t>
            </a:r>
            <a:r>
              <a:rPr lang="en-US" noProof="0" dirty="0" err="1"/>
              <a:t>Pydantic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Playground to test the chain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740876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5A707-793A-6072-DD44-0BEEA0695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62DD-4C99-5694-6A43-77412E988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LangServe</a:t>
            </a:r>
            <a:r>
              <a:rPr lang="en-US" noProof="0" dirty="0"/>
              <a:t>: How to Use?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E8B8-6FE4-276E-90D2-568DC95F8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Create deployment code and run it: C:\code\agenticai_realpage\module_2\2_langchain_server.py</a:t>
            </a:r>
          </a:p>
          <a:p>
            <a:endParaRPr lang="en-US" noProof="0" dirty="0"/>
          </a:p>
          <a:p>
            <a:r>
              <a:rPr lang="en-US" noProof="0" dirty="0"/>
              <a:t>To test, browser: </a:t>
            </a:r>
            <a:r>
              <a:rPr lang="en-US" noProof="0" dirty="0">
                <a:hlinkClick r:id="rId2"/>
              </a:rPr>
              <a:t>http://localhost:8000/</a:t>
            </a:r>
            <a:r>
              <a:rPr lang="en-US">
                <a:hlinkClick r:id="rId2"/>
              </a:rPr>
              <a:t>ask</a:t>
            </a:r>
            <a:r>
              <a:rPr lang="en-US" noProof="0">
                <a:hlinkClick r:id="rId2"/>
              </a:rPr>
              <a:t>/</a:t>
            </a:r>
            <a:r>
              <a:rPr lang="en-US" noProof="0" dirty="0">
                <a:hlinkClick r:id="rId2"/>
              </a:rPr>
              <a:t>playground/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Through code: C:\code\agenticai_realpage\module_2\2_langchain_test_server.py</a:t>
            </a:r>
          </a:p>
          <a:p>
            <a:pPr lvl="1"/>
            <a:r>
              <a:rPr lang="en-US" dirty="0"/>
              <a:t>To run, Terminal -&gt; New Terminal Window and then run it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64564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32938-B1F2-F5E3-DA83-1F8D78AF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 a Q&amp;A Bot from PDFs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B4CAF-D7BC-CBC6-ACB6-4C41425BE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Chroma DB, Insurance example: </a:t>
            </a:r>
            <a:r>
              <a:rPr lang="fr-FR" dirty="0"/>
              <a:t>C:\code\agenticai_realpage\module_2\2_langchain_qand_a_bot_chroma.py</a:t>
            </a:r>
          </a:p>
          <a:p>
            <a:r>
              <a:rPr lang="fr-FR" dirty="0"/>
              <a:t>Test: Browser - </a:t>
            </a:r>
            <a:r>
              <a:rPr lang="fr-FR" dirty="0">
                <a:hlinkClick r:id="rId2"/>
              </a:rPr>
              <a:t>http://localhost:8000/ask/playground/</a:t>
            </a:r>
            <a:endParaRPr lang="fr-FR" dirty="0"/>
          </a:p>
          <a:p>
            <a:endParaRPr lang="fr-FR" dirty="0"/>
          </a:p>
          <a:p>
            <a:r>
              <a:rPr lang="fr-FR" dirty="0"/>
              <a:t>FAISS: C:\code\agenticai_realpage\module_2\2_langchain_qanda_bot_faiss.py</a:t>
            </a:r>
          </a:p>
          <a:p>
            <a:r>
              <a:rPr lang="fr-FR" dirty="0"/>
              <a:t>Test: Browser - </a:t>
            </a:r>
            <a:r>
              <a:rPr lang="fr-FR" dirty="0">
                <a:hlinkClick r:id="rId2"/>
              </a:rPr>
              <a:t>http://localhost:8000/ask/playground/</a:t>
            </a:r>
            <a:endParaRPr lang="fr-FR" dirty="0"/>
          </a:p>
          <a:p>
            <a:endParaRPr lang="fr-FR" dirty="0"/>
          </a:p>
          <a:p>
            <a:r>
              <a:rPr lang="en-US" dirty="0"/>
              <a:t>While Chroma manages a directory of files automatically, FAISS typically saves to a single .index file along with a .</a:t>
            </a:r>
            <a:r>
              <a:rPr lang="en-US" dirty="0" err="1"/>
              <a:t>pkl</a:t>
            </a:r>
            <a:r>
              <a:rPr lang="en-US" dirty="0"/>
              <a:t> for the documents</a:t>
            </a:r>
          </a:p>
          <a:p>
            <a:r>
              <a:rPr lang="en-US" dirty="0"/>
              <a:t>In </a:t>
            </a:r>
            <a:r>
              <a:rPr lang="en-US" dirty="0" err="1"/>
              <a:t>LangChain</a:t>
            </a:r>
            <a:r>
              <a:rPr lang="en-US" dirty="0"/>
              <a:t>, we use </a:t>
            </a:r>
            <a:r>
              <a:rPr lang="en-US" dirty="0" err="1"/>
              <a:t>save_local</a:t>
            </a:r>
            <a:r>
              <a:rPr lang="en-US" dirty="0"/>
              <a:t> and </a:t>
            </a:r>
            <a:r>
              <a:rPr lang="en-US" dirty="0" err="1"/>
              <a:t>load_local</a:t>
            </a:r>
            <a:r>
              <a:rPr lang="en-US" dirty="0"/>
              <a:t> for this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4798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428B18-A60C-0260-5F11-5D133AE9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3: </a:t>
            </a:r>
            <a:r>
              <a:rPr lang="en-IN" dirty="0" err="1"/>
              <a:t>LangGraph</a:t>
            </a:r>
            <a:r>
              <a:rPr lang="en-IN" dirty="0"/>
              <a:t> for Stateful Agents and HITL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37C957-A7A4-EC96-E14A-A3ECB40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67468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62C42-D7A6-3955-158D-394FB16F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8D0F-0697-A494-7718-238D86761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14254"/>
          </a:xfrm>
        </p:spPr>
        <p:txBody>
          <a:bodyPr>
            <a:normAutofit fontScale="90000"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 versus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2303E528-C456-D6E5-6A45-8AD2408F14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21380" y="823658"/>
          <a:ext cx="10323645" cy="560158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066125">
                  <a:extLst>
                    <a:ext uri="{9D8B030D-6E8A-4147-A177-3AD203B41FA5}">
                      <a16:colId xmlns:a16="http://schemas.microsoft.com/office/drawing/2014/main" val="2346622512"/>
                    </a:ext>
                  </a:extLst>
                </a:gridCol>
                <a:gridCol w="3999628">
                  <a:extLst>
                    <a:ext uri="{9D8B030D-6E8A-4147-A177-3AD203B41FA5}">
                      <a16:colId xmlns:a16="http://schemas.microsoft.com/office/drawing/2014/main" val="982790813"/>
                    </a:ext>
                  </a:extLst>
                </a:gridCol>
                <a:gridCol w="4257892">
                  <a:extLst>
                    <a:ext uri="{9D8B030D-6E8A-4147-A177-3AD203B41FA5}">
                      <a16:colId xmlns:a16="http://schemas.microsoft.com/office/drawing/2014/main" val="1860951309"/>
                    </a:ext>
                  </a:extLst>
                </a:gridCol>
              </a:tblGrid>
              <a:tr h="324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Aspect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 err="1"/>
                        <a:t>LangChain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 err="1"/>
                        <a:t>LangGraph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707437247"/>
                  </a:ext>
                </a:extLst>
              </a:tr>
              <a:tr h="810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Purpose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Use LLMs as agents with access to external tools (APIs, databases, etc.)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Build complex, stateful, multi-agent applications with LLMs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511167962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Workflow type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Simple, single-step or short workflows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Complex, multi-step, long-running workflows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673393596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Agents involved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Usually one agent handling requests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Multiple agents collaborating and interacting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219371625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State management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Minimal or stateless; memory handled externally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Built-in memory/state tracking across interactions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081419289"/>
                  </a:ext>
                </a:extLst>
              </a:tr>
              <a:tr h="810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Dynamic execution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Limited; follows predefined steps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Supports dynamic branching, agent coordination, and runtime decisions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125623054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Best for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Chatbots, calculators, document queries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Automation systems, multi-agent orchestration, AI workflows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539083421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Learning curve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Easier; basic LLM + tools interface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Steeper; requires understanding of agents, state, and coordination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449461024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Relationship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Foundational concepts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Builds on and extends </a:t>
                      </a:r>
                      <a:r>
                        <a:rPr lang="en-IN" sz="1800" noProof="0" dirty="0" err="1"/>
                        <a:t>LangChain</a:t>
                      </a:r>
                      <a:r>
                        <a:rPr lang="en-IN" sz="1800" noProof="0" dirty="0"/>
                        <a:t> principles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070771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24693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3D703-6E19-8FBC-9BD2-EF7DFFAD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3D721-80DB-A4D9-A42C-8A20B514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</a:t>
            </a:r>
            <a:br>
              <a:rPr lang="en-IN" noProof="0" dirty="0"/>
            </a:br>
            <a:r>
              <a:rPr lang="en-IN" noProof="0" dirty="0"/>
              <a:t>Key Components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164C3-67EF-F87D-8F4B-E47071DBC200}"/>
              </a:ext>
            </a:extLst>
          </p:cNvPr>
          <p:cNvSpPr txBox="1"/>
          <p:nvPr/>
        </p:nvSpPr>
        <p:spPr>
          <a:xfrm>
            <a:off x="2242473" y="537539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Data structure that describes the information flowing through the graph at each stage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17A50-29C9-8511-C8E3-B87C7C526914}"/>
              </a:ext>
            </a:extLst>
          </p:cNvPr>
          <p:cNvSpPr txBox="1"/>
          <p:nvPr/>
        </p:nvSpPr>
        <p:spPr>
          <a:xfrm>
            <a:off x="2269132" y="225831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Step or operation in the graph – Takes an input state and produces an output state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6E926-85D9-FC16-9E86-D78290A7A364}"/>
              </a:ext>
            </a:extLst>
          </p:cNvPr>
          <p:cNvSpPr txBox="1"/>
          <p:nvPr/>
        </p:nvSpPr>
        <p:spPr>
          <a:xfrm>
            <a:off x="2269132" y="412141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Connects two nodes and decides how information flows through them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DD474-090A-F881-C9C9-3A3C09399BBE}"/>
              </a:ext>
            </a:extLst>
          </p:cNvPr>
          <p:cNvSpPr txBox="1"/>
          <p:nvPr/>
        </p:nvSpPr>
        <p:spPr>
          <a:xfrm>
            <a:off x="5871571" y="42349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The overall structure that organizes nodes and edges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6C80D0-CE97-8D71-EFE3-C2B43EC2C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873" y="1195935"/>
            <a:ext cx="3312495" cy="539332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D9B548EF-589E-DC04-C7E0-608E3985A153}"/>
              </a:ext>
            </a:extLst>
          </p:cNvPr>
          <p:cNvSpPr/>
          <p:nvPr/>
        </p:nvSpPr>
        <p:spPr>
          <a:xfrm>
            <a:off x="1024295" y="244304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8CF3B4-29BD-B289-F395-AF709CB2C470}"/>
              </a:ext>
            </a:extLst>
          </p:cNvPr>
          <p:cNvSpPr/>
          <p:nvPr/>
        </p:nvSpPr>
        <p:spPr>
          <a:xfrm>
            <a:off x="1024295" y="417442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Edge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58EDEA-1E5C-6465-3D4D-81D933BF5887}"/>
              </a:ext>
            </a:extLst>
          </p:cNvPr>
          <p:cNvSpPr/>
          <p:nvPr/>
        </p:nvSpPr>
        <p:spPr>
          <a:xfrm>
            <a:off x="9619807" y="434593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Graph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B8151AD-D564-9BF3-31AD-56AC5D3A5760}"/>
              </a:ext>
            </a:extLst>
          </p:cNvPr>
          <p:cNvSpPr/>
          <p:nvPr/>
        </p:nvSpPr>
        <p:spPr>
          <a:xfrm>
            <a:off x="1035396" y="5540399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State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A2205B-1530-2A89-ADFC-BC7726C64C8A}"/>
              </a:ext>
            </a:extLst>
          </p:cNvPr>
          <p:cNvCxnSpPr/>
          <p:nvPr/>
        </p:nvCxnSpPr>
        <p:spPr>
          <a:xfrm>
            <a:off x="5947091" y="5772581"/>
            <a:ext cx="1347169" cy="0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CCB02A-8881-0160-9F83-48A7B89F1939}"/>
              </a:ext>
            </a:extLst>
          </p:cNvPr>
          <p:cNvSpPr txBox="1"/>
          <p:nvPr/>
        </p:nvSpPr>
        <p:spPr>
          <a:xfrm>
            <a:off x="8187720" y="5464598"/>
            <a:ext cx="928361" cy="646331"/>
          </a:xfrm>
          <a:prstGeom prst="rect">
            <a:avLst/>
          </a:prstGeom>
          <a:gradFill>
            <a:gsLst>
              <a:gs pos="0">
                <a:srgbClr val="FFFF0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pPr algn="ctr"/>
            <a:r>
              <a:rPr lang="en-IN" noProof="0" dirty="0"/>
              <a:t>Final balance</a:t>
            </a:r>
          </a:p>
        </p:txBody>
      </p:sp>
    </p:spTree>
    <p:extLst>
      <p:ext uri="{BB962C8B-B14F-4D97-AF65-F5344CB8AC3E}">
        <p14:creationId xmlns:p14="http://schemas.microsoft.com/office/powerpoint/2010/main" val="339723499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E631A-5B43-426A-4481-A91BA2DE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0837D-9543-B95F-D9A8-C2ABD6B7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BA39C2E-21FA-04A5-51F0-156EE364917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72586" y="1837794"/>
          <a:ext cx="5884269" cy="2164080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1430932">
                  <a:extLst>
                    <a:ext uri="{9D8B030D-6E8A-4147-A177-3AD203B41FA5}">
                      <a16:colId xmlns:a16="http://schemas.microsoft.com/office/drawing/2014/main" val="2390569819"/>
                    </a:ext>
                  </a:extLst>
                </a:gridCol>
                <a:gridCol w="4453337">
                  <a:extLst>
                    <a:ext uri="{9D8B030D-6E8A-4147-A177-3AD203B41FA5}">
                      <a16:colId xmlns:a16="http://schemas.microsoft.com/office/drawing/2014/main" val="3223538110"/>
                    </a:ext>
                  </a:extLst>
                </a:gridCol>
              </a:tblGrid>
              <a:tr h="1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Class / Constant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3162"/>
                  </a:ext>
                </a:extLst>
              </a:tr>
              <a:tr h="3011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StateGraph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The main class for building graphs in </a:t>
                      </a:r>
                      <a:r>
                        <a:rPr lang="en-IN" sz="1400" noProof="0" dirty="0" err="1"/>
                        <a:t>LangGraph</a:t>
                      </a:r>
                      <a:endParaRPr lang="en-IN" sz="14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7452833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START / END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Special constants representing entry and exit points of the graph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4298840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ChatOpenAI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The OpenAI integration from </a:t>
                      </a:r>
                      <a:r>
                        <a:rPr lang="en-IN" sz="1400" noProof="0" dirty="0" err="1"/>
                        <a:t>LangChain</a:t>
                      </a:r>
                      <a:r>
                        <a:rPr lang="en-IN" sz="1400" noProof="0" dirty="0"/>
                        <a:t>, used for connecting language models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470750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TypedDict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Used to define the structure and types of data that flows through the graph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623594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6A50B62-FCEB-47AB-2A9F-A11A867AC038}"/>
              </a:ext>
            </a:extLst>
          </p:cNvPr>
          <p:cNvSpPr txBox="1"/>
          <p:nvPr/>
        </p:nvSpPr>
        <p:spPr>
          <a:xfrm>
            <a:off x="169854" y="2394193"/>
            <a:ext cx="5517809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langgraph.graph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 START, END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langchain_openai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ChatOpenAI</a:t>
            </a:r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typing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DED3AF-2217-4A8D-6B65-92820AFA4A0B}"/>
              </a:ext>
            </a:extLst>
          </p:cNvPr>
          <p:cNvSpPr txBox="1"/>
          <p:nvPr/>
        </p:nvSpPr>
        <p:spPr>
          <a:xfrm>
            <a:off x="169853" y="4612718"/>
            <a:ext cx="5517809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 str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greeting: str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messages: list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2C7F87-A376-7B1B-4A15-1C2AF6E56FF9}"/>
              </a:ext>
            </a:extLst>
          </p:cNvPr>
          <p:cNvSpPr txBox="1"/>
          <p:nvPr/>
        </p:nvSpPr>
        <p:spPr>
          <a:xfrm>
            <a:off x="5772585" y="4292794"/>
            <a:ext cx="5884269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uses a </a:t>
            </a:r>
            <a:r>
              <a:rPr lang="en-IN" noProof="0" dirty="0">
                <a:solidFill>
                  <a:srgbClr val="FF0000"/>
                </a:solidFill>
              </a:rPr>
              <a:t>state-based architecture</a:t>
            </a:r>
            <a:r>
              <a:rPr lang="en-IN" noProof="0" dirty="0"/>
              <a:t>. Instead of passing data between individual nodes, all data flows through a shared "state" object. Think of it like a shared clipboard that each step can read from and write to.</a:t>
            </a:r>
          </a:p>
          <a:p>
            <a:endParaRPr lang="en-IN" noProof="0" dirty="0"/>
          </a:p>
          <a:p>
            <a:r>
              <a:rPr lang="en-IN" noProof="0" dirty="0" err="1"/>
              <a:t>user_name</a:t>
            </a:r>
            <a:r>
              <a:rPr lang="en-IN" noProof="0" dirty="0"/>
              <a:t>: Stores the user's name</a:t>
            </a:r>
          </a:p>
          <a:p>
            <a:r>
              <a:rPr lang="en-IN" noProof="0" dirty="0"/>
              <a:t>greeting: Stores the generated greeting message</a:t>
            </a:r>
          </a:p>
          <a:p>
            <a:r>
              <a:rPr lang="en-IN" noProof="0" dirty="0"/>
              <a:t>messages: Keeps a log of the conversation</a:t>
            </a:r>
          </a:p>
        </p:txBody>
      </p:sp>
    </p:spTree>
    <p:extLst>
      <p:ext uri="{BB962C8B-B14F-4D97-AF65-F5344CB8AC3E}">
        <p14:creationId xmlns:p14="http://schemas.microsoft.com/office/powerpoint/2010/main" val="29769760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F97C8-03AB-FB3C-C9AB-1E316F66E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CCD07-A8D9-FE15-5093-C76EF6E6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6FCB7-9E58-A72C-79A1-C5FF565A77B0}"/>
              </a:ext>
            </a:extLst>
          </p:cNvPr>
          <p:cNvSpPr txBox="1"/>
          <p:nvPr/>
        </p:nvSpPr>
        <p:spPr>
          <a:xfrm>
            <a:off x="190795" y="1620062"/>
            <a:ext cx="5517809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 -&gt;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input("Bot: What is your name? 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**state,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"messages":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("messages", []) + [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provided name: {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}"]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613B6-D2B8-B63F-B45C-4575566157D8}"/>
              </a:ext>
            </a:extLst>
          </p:cNvPr>
          <p:cNvSpPr txBox="1"/>
          <p:nvPr/>
        </p:nvSpPr>
        <p:spPr>
          <a:xfrm>
            <a:off x="5765607" y="1777706"/>
            <a:ext cx="5465460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Node function 1</a:t>
            </a:r>
          </a:p>
          <a:p>
            <a:r>
              <a:rPr lang="en-IN" noProof="0" dirty="0"/>
              <a:t>Takes the current state as input</a:t>
            </a:r>
          </a:p>
          <a:p>
            <a:r>
              <a:rPr lang="en-IN" noProof="0" dirty="0"/>
              <a:t>Asks user for their name</a:t>
            </a:r>
          </a:p>
          <a:p>
            <a:r>
              <a:rPr lang="en-IN" noProof="0" dirty="0"/>
              <a:t>Returns a </a:t>
            </a:r>
            <a:r>
              <a:rPr lang="en-IN" b="1" noProof="0" dirty="0"/>
              <a:t>new state </a:t>
            </a:r>
            <a:r>
              <a:rPr lang="en-IN" noProof="0" dirty="0"/>
              <a:t>with updated information</a:t>
            </a:r>
          </a:p>
          <a:p>
            <a:pPr lvl="1"/>
            <a:r>
              <a:rPr lang="en-IN" noProof="0" dirty="0"/>
              <a:t>**state copies all existing state data</a:t>
            </a:r>
          </a:p>
          <a:p>
            <a:pPr lvl="1"/>
            <a:r>
              <a:rPr lang="en-IN" noProof="0" dirty="0"/>
              <a:t>Updates specific fields (</a:t>
            </a:r>
            <a:r>
              <a:rPr lang="en-IN" noProof="0" dirty="0" err="1"/>
              <a:t>user_name</a:t>
            </a:r>
            <a:r>
              <a:rPr lang="en-IN" noProof="0" dirty="0"/>
              <a:t>, messages)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E4F228-FA84-C6B3-20A3-4E31686A436A}"/>
              </a:ext>
            </a:extLst>
          </p:cNvPr>
          <p:cNvSpPr txBox="1"/>
          <p:nvPr/>
        </p:nvSpPr>
        <p:spPr>
          <a:xfrm>
            <a:off x="190795" y="3963130"/>
            <a:ext cx="5517809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 -&gt;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"there")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f"Hello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{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}! Nice to meet you."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**state,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"greeting": greeting,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"messages":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("messages", []) + [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f"Bot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 {greeting}"]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A0D6CD-F29D-1F36-0754-A4694BF42FCB}"/>
              </a:ext>
            </a:extLst>
          </p:cNvPr>
          <p:cNvSpPr txBox="1"/>
          <p:nvPr/>
        </p:nvSpPr>
        <p:spPr>
          <a:xfrm>
            <a:off x="5765607" y="4120774"/>
            <a:ext cx="5465460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Node function 2</a:t>
            </a:r>
          </a:p>
          <a:p>
            <a:r>
              <a:rPr lang="en-IN" noProof="0" dirty="0"/>
              <a:t>Reads </a:t>
            </a:r>
            <a:r>
              <a:rPr lang="en-IN" noProof="0" dirty="0" err="1"/>
              <a:t>user_name</a:t>
            </a:r>
            <a:r>
              <a:rPr lang="en-IN" noProof="0" dirty="0"/>
              <a:t> from the current state</a:t>
            </a:r>
          </a:p>
          <a:p>
            <a:r>
              <a:rPr lang="en-IN" noProof="0" dirty="0"/>
              <a:t>Creates a personalized greeting</a:t>
            </a:r>
          </a:p>
          <a:p>
            <a:r>
              <a:rPr lang="en-IN" noProof="0" dirty="0"/>
              <a:t>Updates state with the greeting and conversation log</a:t>
            </a:r>
          </a:p>
        </p:txBody>
      </p:sp>
    </p:spTree>
    <p:extLst>
      <p:ext uri="{BB962C8B-B14F-4D97-AF65-F5344CB8AC3E}">
        <p14:creationId xmlns:p14="http://schemas.microsoft.com/office/powerpoint/2010/main" val="345471415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2E51B-37AA-5180-D724-E4F292179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7C13C-8BC4-63BD-D6C8-39CF66168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1513CF-2D97-CDF7-6855-4605877419D8}"/>
              </a:ext>
            </a:extLst>
          </p:cNvPr>
          <p:cNvSpPr txBox="1"/>
          <p:nvPr/>
        </p:nvSpPr>
        <p:spPr>
          <a:xfrm>
            <a:off x="190795" y="2117194"/>
            <a:ext cx="5517809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create_greeting_graph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workflow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Add nodes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Add edges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(START,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END)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workflow.compile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AF69CA-261C-0AF3-E4F7-232A6DFB0EFC}"/>
              </a:ext>
            </a:extLst>
          </p:cNvPr>
          <p:cNvSpPr txBox="1"/>
          <p:nvPr/>
        </p:nvSpPr>
        <p:spPr>
          <a:xfrm>
            <a:off x="5765607" y="2274838"/>
            <a:ext cx="5465460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Graph Construction</a:t>
            </a:r>
          </a:p>
          <a:p>
            <a:r>
              <a:rPr lang="en-IN" noProof="0" dirty="0"/>
              <a:t>Structure: START → </a:t>
            </a:r>
            <a:r>
              <a:rPr lang="en-IN" noProof="0" dirty="0" err="1"/>
              <a:t>ask_name</a:t>
            </a:r>
            <a:r>
              <a:rPr lang="en-IN" noProof="0" dirty="0"/>
              <a:t> → </a:t>
            </a:r>
            <a:r>
              <a:rPr lang="en-IN" noProof="0" dirty="0" err="1"/>
              <a:t>greet_user</a:t>
            </a:r>
            <a:r>
              <a:rPr lang="en-IN" noProof="0" dirty="0"/>
              <a:t> → END</a:t>
            </a:r>
          </a:p>
          <a:p>
            <a:endParaRPr lang="en-IN" noProof="0" dirty="0"/>
          </a:p>
          <a:p>
            <a:r>
              <a:rPr lang="en-IN" noProof="0" dirty="0"/>
              <a:t>Nodes represent processing steps (functions)</a:t>
            </a:r>
          </a:p>
          <a:p>
            <a:r>
              <a:rPr lang="en-IN" noProof="0" dirty="0"/>
              <a:t>Edges define the flow between steps</a:t>
            </a:r>
          </a:p>
          <a:p>
            <a:r>
              <a:rPr lang="en-IN" noProof="0" dirty="0"/>
              <a:t>START is where execution begins</a:t>
            </a:r>
          </a:p>
          <a:p>
            <a:r>
              <a:rPr lang="en-IN" noProof="0" dirty="0"/>
              <a:t>END is where execution terminates</a:t>
            </a:r>
          </a:p>
          <a:p>
            <a:r>
              <a:rPr lang="en-IN" noProof="0" dirty="0"/>
              <a:t>.compile() creates the executable graph</a:t>
            </a:r>
          </a:p>
        </p:txBody>
      </p:sp>
    </p:spTree>
    <p:extLst>
      <p:ext uri="{BB962C8B-B14F-4D97-AF65-F5344CB8AC3E}">
        <p14:creationId xmlns:p14="http://schemas.microsoft.com/office/powerpoint/2010/main" val="33991712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451D4-2F6A-77AD-905D-BEFEF3B0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079CF-B612-A7E2-B853-DBEACF058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E9372-AA0E-3103-FFDF-5F8F162FFB9C}"/>
              </a:ext>
            </a:extLst>
          </p:cNvPr>
          <p:cNvSpPr txBox="1"/>
          <p:nvPr/>
        </p:nvSpPr>
        <p:spPr>
          <a:xfrm>
            <a:off x="190795" y="2117194"/>
            <a:ext cx="5517809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Create the graph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app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create_greeting_graph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Initialize state</a:t>
            </a:r>
          </a:p>
          <a:p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initial_state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="",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greeting="",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messages=[]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Run the graph</a:t>
            </a:r>
          </a:p>
          <a:p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final_state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app.invoke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initial_state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CBAD3E-0C4D-7571-BFDC-8E177148902C}"/>
              </a:ext>
            </a:extLst>
          </p:cNvPr>
          <p:cNvSpPr txBox="1"/>
          <p:nvPr/>
        </p:nvSpPr>
        <p:spPr>
          <a:xfrm>
            <a:off x="5765607" y="2274838"/>
            <a:ext cx="5465460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Execution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Initialize: Create empty state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Invoke: Start execution at START node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Flow: State passes through: </a:t>
            </a:r>
            <a:r>
              <a:rPr lang="en-IN" noProof="0" dirty="0" err="1"/>
              <a:t>ask_name</a:t>
            </a:r>
            <a:r>
              <a:rPr lang="en-IN" noProof="0" dirty="0"/>
              <a:t> → </a:t>
            </a:r>
            <a:r>
              <a:rPr lang="en-IN" noProof="0" dirty="0" err="1"/>
              <a:t>greet_user</a:t>
            </a:r>
            <a:endParaRPr lang="en-IN" noProof="0" dirty="0"/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Result: Get final state with all accumulated data</a:t>
            </a:r>
          </a:p>
        </p:txBody>
      </p:sp>
    </p:spTree>
    <p:extLst>
      <p:ext uri="{BB962C8B-B14F-4D97-AF65-F5344CB8AC3E}">
        <p14:creationId xmlns:p14="http://schemas.microsoft.com/office/powerpoint/2010/main" val="40525652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0DD70-3D97-70DC-67F8-2CA73976E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dirty="0" err="1"/>
              <a:t>LangGraph</a:t>
            </a:r>
            <a:r>
              <a:rPr lang="en-IN" sz="3200" dirty="0"/>
              <a:t> Reducer </a:t>
            </a:r>
            <a:br>
              <a:rPr lang="en-IN" sz="3200" dirty="0"/>
            </a:br>
            <a:r>
              <a:rPr lang="en-IN" sz="2400" dirty="0"/>
              <a:t>(</a:t>
            </a:r>
            <a:r>
              <a:rPr lang="en-US" sz="2400" dirty="0"/>
              <a:t>3_2_langgraph_without_reducer.py, 3_3_langgraph_without_reducer.py)</a:t>
            </a:r>
            <a:endParaRPr lang="en-GB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7D955-A403-45D0-E353-0C027A325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1"/>
            <a:ext cx="10515600" cy="4753012"/>
          </a:xfrm>
        </p:spPr>
        <p:txBody>
          <a:bodyPr/>
          <a:lstStyle/>
          <a:p>
            <a:r>
              <a:rPr lang="en-US" b="1" dirty="0"/>
              <a:t>Reducer</a:t>
            </a:r>
            <a:r>
              <a:rPr lang="en-US" dirty="0"/>
              <a:t>: Defines how state values are merged when multiple nodes write to the same key</a:t>
            </a:r>
          </a:p>
          <a:p>
            <a:r>
              <a:rPr lang="en-US" dirty="0"/>
              <a:t>Answers the question: “When many agents update the same state, how do we combine it?”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1B39E5-6800-419E-5656-9D37E4A02DA6}"/>
              </a:ext>
            </a:extLst>
          </p:cNvPr>
          <p:cNvSpPr txBox="1"/>
          <p:nvPr/>
        </p:nvSpPr>
        <p:spPr>
          <a:xfrm>
            <a:off x="551432" y="3622698"/>
            <a:ext cx="4837246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Without reducer</a:t>
            </a:r>
          </a:p>
          <a:p>
            <a:endParaRPr lang="en-GB" dirty="0"/>
          </a:p>
          <a:p>
            <a:r>
              <a:rPr lang="en-US" dirty="0"/>
              <a:t>class State(</a:t>
            </a:r>
            <a:r>
              <a:rPr lang="en-US" dirty="0" err="1"/>
              <a:t>TypedDict</a:t>
            </a:r>
            <a:r>
              <a:rPr lang="en-US" dirty="0"/>
              <a:t>):</a:t>
            </a:r>
          </a:p>
          <a:p>
            <a:r>
              <a:rPr lang="en-US" dirty="0"/>
              <a:t>    messages: List[str]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agent_a</a:t>
            </a:r>
            <a:r>
              <a:rPr lang="en-US" dirty="0"/>
              <a:t>(state: State):</a:t>
            </a:r>
          </a:p>
          <a:p>
            <a:r>
              <a:rPr lang="en-US" strike="sngStrike" dirty="0"/>
              <a:t>    return {"messages": ["Hello from Agent A"]}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agent_b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B"]}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65E82-1BB1-5B47-ACCD-64CDD63607D4}"/>
              </a:ext>
            </a:extLst>
          </p:cNvPr>
          <p:cNvSpPr txBox="1"/>
          <p:nvPr/>
        </p:nvSpPr>
        <p:spPr>
          <a:xfrm>
            <a:off x="5833953" y="2880701"/>
            <a:ext cx="5913644" cy="36933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With reducer</a:t>
            </a:r>
          </a:p>
          <a:p>
            <a:endParaRPr lang="en-IN" dirty="0"/>
          </a:p>
          <a:p>
            <a:r>
              <a:rPr lang="en-US" dirty="0"/>
              <a:t>def </a:t>
            </a:r>
            <a:r>
              <a:rPr lang="en-US" dirty="0" err="1">
                <a:solidFill>
                  <a:srgbClr val="FF0000"/>
                </a:solidFill>
              </a:rPr>
              <a:t>add_messages</a:t>
            </a:r>
            <a:r>
              <a:rPr lang="en-US" dirty="0"/>
              <a:t>(old: List[str], new: List[str]) -&gt; List[str]:</a:t>
            </a:r>
          </a:p>
          <a:p>
            <a:r>
              <a:rPr lang="en-US" dirty="0"/>
              <a:t>    return old + new # This is the reducer function</a:t>
            </a:r>
          </a:p>
          <a:p>
            <a:endParaRPr lang="en-US" dirty="0"/>
          </a:p>
          <a:p>
            <a:r>
              <a:rPr lang="en-US" dirty="0"/>
              <a:t>class State(</a:t>
            </a:r>
            <a:r>
              <a:rPr lang="en-US" dirty="0" err="1"/>
              <a:t>TypedDict</a:t>
            </a:r>
            <a:r>
              <a:rPr lang="en-US" dirty="0"/>
              <a:t>):</a:t>
            </a:r>
          </a:p>
          <a:p>
            <a:r>
              <a:rPr lang="en-US" dirty="0"/>
              <a:t>    messages: </a:t>
            </a:r>
            <a:r>
              <a:rPr lang="en-US" dirty="0">
                <a:solidFill>
                  <a:srgbClr val="FF0000"/>
                </a:solidFill>
              </a:rPr>
              <a:t>Annotated[List[str], </a:t>
            </a:r>
            <a:r>
              <a:rPr lang="en-US" dirty="0" err="1">
                <a:solidFill>
                  <a:srgbClr val="FF0000"/>
                </a:solidFill>
              </a:rPr>
              <a:t>add_messages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agent_a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A"]} # Not lost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agent_b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B"]}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480220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ED00-06AC-B941-A8D9-CF0B1F17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Reducer with LLM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9FB02-19FF-5E49-235D-AD7E8A5F4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Check the product return policy of two e-commerce websites</a:t>
            </a:r>
          </a:p>
          <a:p>
            <a:r>
              <a:rPr lang="en-IN" dirty="0"/>
              <a:t>Use a reducer to combine the outputs of the two</a:t>
            </a:r>
          </a:p>
          <a:p>
            <a:r>
              <a:rPr lang="en-IN" dirty="0"/>
              <a:t>Create two agents and run them in parallel</a:t>
            </a:r>
          </a:p>
          <a:p>
            <a:r>
              <a:rPr lang="en-IN" dirty="0"/>
              <a:t>Code: 3_4_langgraph_reducer_return_policy.py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046503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Implemented using the </a:t>
            </a:r>
            <a:r>
              <a:rPr lang="en-IN" noProof="0" dirty="0" err="1"/>
              <a:t>LangGraph</a:t>
            </a:r>
            <a:r>
              <a:rPr lang="en-IN" noProof="0" dirty="0"/>
              <a:t> </a:t>
            </a:r>
            <a:r>
              <a:rPr lang="en-IN" i="1" noProof="0" dirty="0"/>
              <a:t>interrupt()</a:t>
            </a:r>
            <a:r>
              <a:rPr lang="en-IN" noProof="0" dirty="0"/>
              <a:t> command</a:t>
            </a:r>
          </a:p>
          <a:p>
            <a:pPr lvl="1"/>
            <a:r>
              <a:rPr lang="en-IN" dirty="0"/>
              <a:t>If a ticket is auto resolved -&gt; Skip to finalize, no HITL</a:t>
            </a:r>
          </a:p>
          <a:p>
            <a:pPr lvl="1"/>
            <a:r>
              <a:rPr lang="en-IN" noProof="0" dirty="0"/>
              <a:t>If a ticket resolution says </a:t>
            </a:r>
            <a:r>
              <a:rPr lang="en-IN" i="1" noProof="0" dirty="0" err="1"/>
              <a:t>needs_review</a:t>
            </a:r>
            <a:r>
              <a:rPr lang="en-IN" noProof="0" dirty="0"/>
              <a:t> -&gt; Go to </a:t>
            </a:r>
            <a:r>
              <a:rPr lang="en-IN" noProof="0" dirty="0" err="1"/>
              <a:t>human_approval</a:t>
            </a:r>
            <a:r>
              <a:rPr lang="en-IN" noProof="0" dirty="0"/>
              <a:t> () function</a:t>
            </a:r>
          </a:p>
          <a:p>
            <a:pPr lvl="2"/>
            <a:r>
              <a:rPr lang="en-IN" dirty="0"/>
              <a:t>This function calls </a:t>
            </a:r>
            <a:r>
              <a:rPr lang="en-IN" i="1" dirty="0"/>
              <a:t>interrupt()</a:t>
            </a:r>
            <a:r>
              <a:rPr lang="en-IN" dirty="0"/>
              <a:t> command -&gt; Freezes everything  -&gt; Hands control back to the user and asks in the console: Approve/Edit/Escalate -&gt; Whatever the user types becomes the node’s return value and it unfreezes</a:t>
            </a:r>
          </a:p>
          <a:p>
            <a:pPr lvl="1"/>
            <a:r>
              <a:rPr lang="en-IN" noProof="0" dirty="0"/>
              <a:t>To ensure the interrupt does not cause </a:t>
            </a:r>
            <a:r>
              <a:rPr lang="en-IN" noProof="0" dirty="0" err="1"/>
              <a:t>LangGraph</a:t>
            </a:r>
            <a:r>
              <a:rPr lang="en-IN" noProof="0" dirty="0"/>
              <a:t> to forget what had happened, we need memory saver </a:t>
            </a:r>
            <a:r>
              <a:rPr lang="en-IN" noProof="0" dirty="0" err="1"/>
              <a:t>checkpointer</a:t>
            </a:r>
            <a:endParaRPr lang="en-IN" noProof="0" dirty="0"/>
          </a:p>
          <a:p>
            <a:pPr lvl="0"/>
            <a:r>
              <a:rPr lang="en-US" dirty="0"/>
              <a:t>C:\code\agenticai\15_real\support_ticketing_agent_hitl.py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</a:t>
            </a:r>
          </a:p>
          <a:p>
            <a:pPr lvl="1"/>
            <a:r>
              <a:rPr lang="en-IN" noProof="0" dirty="0"/>
              <a:t>Current graph state </a:t>
            </a:r>
          </a:p>
          <a:p>
            <a:pPr lvl="1"/>
            <a:r>
              <a:rPr lang="en-IN" noProof="0" dirty="0"/>
              <a:t>Current node </a:t>
            </a:r>
          </a:p>
          <a:p>
            <a:pPr lvl="1"/>
            <a:r>
              <a:rPr lang="en-IN" noProof="0" dirty="0"/>
              <a:t>Conversation history </a:t>
            </a:r>
          </a:p>
          <a:p>
            <a:pPr lvl="1"/>
            <a:r>
              <a:rPr lang="en-IN" noProof="0" dirty="0"/>
              <a:t>Variables </a:t>
            </a:r>
          </a:p>
          <a:p>
            <a:pPr lvl="1"/>
            <a:r>
              <a:rPr lang="en-IN" noProof="0" dirty="0"/>
              <a:t>Thread identifier </a:t>
            </a:r>
          </a:p>
          <a:p>
            <a:pPr lvl="1"/>
            <a:r>
              <a:rPr lang="en-IN" noProof="0" dirty="0"/>
              <a:t>Pending interrupts</a:t>
            </a:r>
          </a:p>
          <a:p>
            <a:r>
              <a:rPr lang="en-IN" noProof="0" dirty="0" err="1"/>
              <a:t>Checkpointer</a:t>
            </a:r>
            <a:r>
              <a:rPr lang="en-IN" noProof="0" dirty="0"/>
              <a:t> (</a:t>
            </a:r>
            <a:r>
              <a:rPr lang="en-IN" i="1" noProof="0" dirty="0"/>
              <a:t>Where was the agent?</a:t>
            </a:r>
            <a:r>
              <a:rPr lang="en-IN" noProof="0" dirty="0"/>
              <a:t>) ≠ Memory (</a:t>
            </a:r>
            <a:r>
              <a:rPr lang="en-IN" i="1" noProof="0" dirty="0"/>
              <a:t>What does the agent know?</a:t>
            </a:r>
            <a:r>
              <a:rPr lang="en-IN" noProof="0" dirty="0"/>
              <a:t>)</a:t>
            </a:r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CCEFD-FCAC-AD81-A1CB-D2E2A075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9421C-BAC5-DCCC-5015-11BD2635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safety control mechanism that ensures the model operates within defined limits by preventing unsafe, harmful, incorrect, off-topic, or policy-violating behavior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FEC590-CE2D-1581-D49C-307E41D88BE5}"/>
              </a:ext>
            </a:extLst>
          </p:cNvPr>
          <p:cNvGraphicFramePr>
            <a:graphicFrameLocks noGrp="1"/>
          </p:cNvGraphicFramePr>
          <p:nvPr/>
        </p:nvGraphicFramePr>
        <p:xfrm>
          <a:off x="1030155" y="3213764"/>
          <a:ext cx="10623792" cy="346989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655366">
                  <a:extLst>
                    <a:ext uri="{9D8B030D-6E8A-4147-A177-3AD203B41FA5}">
                      <a16:colId xmlns:a16="http://schemas.microsoft.com/office/drawing/2014/main" val="1500301468"/>
                    </a:ext>
                  </a:extLst>
                </a:gridCol>
                <a:gridCol w="3776263">
                  <a:extLst>
                    <a:ext uri="{9D8B030D-6E8A-4147-A177-3AD203B41FA5}">
                      <a16:colId xmlns:a16="http://schemas.microsoft.com/office/drawing/2014/main" val="3207693654"/>
                    </a:ext>
                  </a:extLst>
                </a:gridCol>
                <a:gridCol w="4192163">
                  <a:extLst>
                    <a:ext uri="{9D8B030D-6E8A-4147-A177-3AD203B41FA5}">
                      <a16:colId xmlns:a16="http://schemas.microsoft.com/office/drawing/2014/main" val="761881727"/>
                    </a:ext>
                  </a:extLst>
                </a:gridCol>
              </a:tblGrid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Type of Guardrail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Purpose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339299965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Keyword / Phrase Blocking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Stop harmful or restricted words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400"/>
                        <a:t>Block: “bomb”, “hack”, “virus”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288825984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Input Validation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Reject malformed, long, or suspicious inputs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Max length, no URLs, no code blocks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627828663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Allow-List Topics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Only permit certain categories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Only allow: product queries, reviews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929346936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Semantic Safety (Embedding-Based)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Detect harmful intent beyond keywords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Check if query is similar to “harm”, “illegal activity”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854544573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Restrict what the LLM is allowed to answer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“Use context only”, “Don’t produce code”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594829134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Output Filtering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Post-process model output before showing it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Remove sensitive data, profanity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284521177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Tool-Use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Restrict which tools the agent is allowed to call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Don't allow web search for medical queries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51056724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Rate and Abuse Control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Prevent spam or automated misuse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Throttling, user authentication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92245731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Content Policy Enforcement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Ensure model answers follow rules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Safety, factuality, privacy constraints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4235607586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Hallucination Reduction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Prevent LLM from making up facts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Use retrieval-only answers; citations required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4238350047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Business-Logic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Enforce domain rules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“Don’t show pricing for unlaunched products”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814944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9191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EB672-0EDF-BD5F-0327-D1A8DBCC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535D71-3382-37FF-1A97-808E3C755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4: OpenAI Agents SDK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F6E854-507D-72CB-2C22-07940D9BC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Refer to the main PPT for discussion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607474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A1F318-66FE-2AF6-1D8D-40785B653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Tool-Augmented Research Agent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40A784A-31FE-A317-E91B-5315F4274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SERP API for researching on the specified topic</a:t>
            </a:r>
          </a:p>
          <a:p>
            <a:r>
              <a:rPr lang="en-US" dirty="0"/>
              <a:t>If the topic is recent, try date-based search</a:t>
            </a:r>
          </a:p>
          <a:p>
            <a:r>
              <a:rPr lang="en-US" dirty="0"/>
              <a:t>For specific topics, retrieve more details using Python </a:t>
            </a:r>
            <a:r>
              <a:rPr lang="en-US" dirty="0" err="1"/>
              <a:t>BeautifulSoup</a:t>
            </a:r>
            <a:r>
              <a:rPr lang="en-US" dirty="0"/>
              <a:t> library</a:t>
            </a:r>
          </a:p>
          <a:p>
            <a:r>
              <a:rPr lang="en-US" dirty="0"/>
              <a:t>C:\code\agenticai\15_real\research_agent_tools.py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97452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D1A7E0-BB9C-49B6-649B-2089888D0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Lifecycle Hooks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42A2F3-DFCF-5D0C-22CC-C66BC81BD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990227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Lifecycle hooks allow you to execute custom code automatically at different stages of an agent's execution</a:t>
            </a:r>
          </a:p>
          <a:p>
            <a:pPr lvl="1"/>
            <a:r>
              <a:rPr lang="en-GB" dirty="0"/>
              <a:t>Logging and Monitoring</a:t>
            </a:r>
          </a:p>
          <a:p>
            <a:pPr lvl="1"/>
            <a:r>
              <a:rPr lang="en-GB" dirty="0"/>
              <a:t>Debugging</a:t>
            </a:r>
          </a:p>
          <a:p>
            <a:pPr lvl="1"/>
            <a:r>
              <a:rPr lang="en-GB" dirty="0"/>
              <a:t>Performance measurement</a:t>
            </a:r>
          </a:p>
          <a:p>
            <a:pPr lvl="1"/>
            <a:r>
              <a:rPr lang="en-GB" dirty="0"/>
              <a:t>Analytics</a:t>
            </a:r>
          </a:p>
          <a:p>
            <a:pPr lvl="1"/>
            <a:r>
              <a:rPr lang="en-GB" dirty="0"/>
              <a:t>Cost tracking</a:t>
            </a:r>
          </a:p>
          <a:p>
            <a:r>
              <a:rPr lang="en-GB" dirty="0" err="1"/>
              <a:t>RunHooks</a:t>
            </a:r>
            <a:r>
              <a:rPr lang="en-GB" dirty="0"/>
              <a:t>: Global, </a:t>
            </a:r>
            <a:r>
              <a:rPr lang="en-GB" dirty="0" err="1"/>
              <a:t>AgentHooks</a:t>
            </a:r>
            <a:r>
              <a:rPr lang="en-GB" dirty="0"/>
              <a:t>: Agent-specific</a:t>
            </a:r>
          </a:p>
          <a:p>
            <a:r>
              <a:rPr lang="en-GB" dirty="0"/>
              <a:t>Code: </a:t>
            </a:r>
            <a:r>
              <a:rPr lang="en-US" dirty="0"/>
              <a:t>C:\code\agenticai\15_real\observability_logging_tracking.py</a:t>
            </a:r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95CF178-8A5A-6DE2-65A3-382DA55AC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5256040"/>
              </p:ext>
            </p:extLst>
          </p:nvPr>
        </p:nvGraphicFramePr>
        <p:xfrm>
          <a:off x="6226296" y="2293947"/>
          <a:ext cx="5772586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73824">
                  <a:extLst>
                    <a:ext uri="{9D8B030D-6E8A-4147-A177-3AD203B41FA5}">
                      <a16:colId xmlns:a16="http://schemas.microsoft.com/office/drawing/2014/main" val="2722225314"/>
                    </a:ext>
                  </a:extLst>
                </a:gridCol>
                <a:gridCol w="3898762">
                  <a:extLst>
                    <a:ext uri="{9D8B030D-6E8A-4147-A177-3AD203B41FA5}">
                      <a16:colId xmlns:a16="http://schemas.microsoft.com/office/drawing/2014/main" val="4116699098"/>
                    </a:ext>
                  </a:extLst>
                </a:gridCol>
              </a:tblGrid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Callback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When It Executes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1396031"/>
                  </a:ext>
                </a:extLst>
              </a:tr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on_agent_start()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Agent begins execution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358211"/>
                  </a:ext>
                </a:extLst>
              </a:tr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on_llm_start()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Before sending request to LLM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985013"/>
                  </a:ext>
                </a:extLst>
              </a:tr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on_llm_end()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After receiving LLM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0729041"/>
                  </a:ext>
                </a:extLst>
              </a:tr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on_tool_start()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Before calling a 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087848"/>
                  </a:ext>
                </a:extLst>
              </a:tr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on_tool_end()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After tool execution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249527"/>
                  </a:ext>
                </a:extLst>
              </a:tr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on_handoff()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Before switching to another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422251"/>
                  </a:ext>
                </a:extLst>
              </a:tr>
              <a:tr h="28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on_agent_end()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Final output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9266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7028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A9C6A-5B72-317B-7254-4F41C8D14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5: Agentic RAG Systems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C19136-91AB-2F91-5466-344FBB725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469398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F067F-C3DA-A75D-0D03-ADE0DE68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Traditional RAG versus Agentic RAG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FBE9731-A9A2-2B55-4BC5-25E686DC31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04023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1816735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4452527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Traditional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Agentic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85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Fixed retrieval pipeline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Intelligent, dynamic workflow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7552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Retrieves documents once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retrieve multiple times as needed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684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Single LLM 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Multiple reasoning steps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092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 planning 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Plans and decides next actions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1865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Limited decision-making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Autonomous decision-making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24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Uses a predefined sequence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Chooses the best execution path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872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Multi-step agent 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4735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 straightforward Q&amp;A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 complex problem solving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470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492337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54F180-1406-8858-813B-599F2728D0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11682"/>
            <a:ext cx="10287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5359E9-7739-246A-6B51-EB6C6996BD5A}"/>
              </a:ext>
            </a:extLst>
          </p:cNvPr>
          <p:cNvSpPr txBox="1"/>
          <p:nvPr/>
        </p:nvSpPr>
        <p:spPr>
          <a:xfrm>
            <a:off x="10519090" y="663115"/>
            <a:ext cx="15356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C:\code\agenticai\15_real\traditional_vs_agentic_rag.py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4732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FCC1C-46E8-9CD0-8B01-8D26473F0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Common Adaptive Strategies </a:t>
            </a:r>
            <a:r>
              <a:rPr lang="en-IN" sz="3600" dirty="0"/>
              <a:t>(</a:t>
            </a:r>
            <a:r>
              <a:rPr lang="pt-BR" sz="3600" dirty="0"/>
              <a:t>C:\code\agenticai\15_real\adaptive_retrieval_strategies.py)</a:t>
            </a:r>
            <a:endParaRPr lang="en-GB" sz="36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A11C7C7-BE95-0D30-1CBE-B7EBF9407A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183105"/>
              </p:ext>
            </p:extLst>
          </p:nvPr>
        </p:nvGraphicFramePr>
        <p:xfrm>
          <a:off x="838200" y="2309654"/>
          <a:ext cx="10515600" cy="25603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484353">
                  <a:extLst>
                    <a:ext uri="{9D8B030D-6E8A-4147-A177-3AD203B41FA5}">
                      <a16:colId xmlns:a16="http://schemas.microsoft.com/office/drawing/2014/main" val="1328149517"/>
                    </a:ext>
                  </a:extLst>
                </a:gridCol>
                <a:gridCol w="8031247">
                  <a:extLst>
                    <a:ext uri="{9D8B030D-6E8A-4147-A177-3AD203B41FA5}">
                      <a16:colId xmlns:a16="http://schemas.microsoft.com/office/drawing/2014/main" val="31949909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5694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Skip Retrieval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Answer directly if existing knowledge is sufficient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5391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Single Retrieval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Retrieve once for simple factual questions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4927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Iterative Retrieval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Retrieve additional documents if more information is needed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65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Query Reformulation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Rewrite the query to improve search 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2265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Multi-Source Retrieval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Combine information from vector databases, SQL databases, APIs, and web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501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Tool-Based Retrieval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Choose the most appropriate tool based on the user's request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1815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552370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F6DC-F6A0-AEAD-38DA-7955EDD8F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Cohere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D9AFA-D53F-5771-D9CA-1E63F9A88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Cohere</a:t>
            </a:r>
            <a:r>
              <a:rPr lang="en-GB" dirty="0"/>
              <a:t>: AI platform that provides APIs for building applications using Large Language Models (LLMs), Embeddings, Reranking, and Semantic Search</a:t>
            </a:r>
          </a:p>
          <a:p>
            <a:r>
              <a:rPr lang="en-GB" dirty="0"/>
              <a:t>Features</a:t>
            </a:r>
          </a:p>
          <a:p>
            <a:pPr lvl="1"/>
            <a:r>
              <a:rPr lang="en-GB" dirty="0"/>
              <a:t>Produces high-quality vector embeddings </a:t>
            </a:r>
          </a:p>
          <a:p>
            <a:pPr lvl="1"/>
            <a:r>
              <a:rPr lang="en-GB" dirty="0"/>
              <a:t>Improves retrieval accuracy with reranking </a:t>
            </a:r>
          </a:p>
          <a:p>
            <a:pPr lvl="1"/>
            <a:r>
              <a:rPr lang="en-GB" dirty="0"/>
              <a:t>Supports multiple vector databases </a:t>
            </a:r>
          </a:p>
          <a:p>
            <a:pPr lvl="1"/>
            <a:r>
              <a:rPr lang="en-GB" dirty="0"/>
              <a:t>Easy API integration </a:t>
            </a:r>
          </a:p>
          <a:p>
            <a:pPr lvl="1"/>
            <a:r>
              <a:rPr lang="en-GB" dirty="0"/>
              <a:t>Optimized for enterprise search applications</a:t>
            </a:r>
          </a:p>
        </p:txBody>
      </p:sp>
    </p:spTree>
    <p:extLst>
      <p:ext uri="{BB962C8B-B14F-4D97-AF65-F5344CB8AC3E}">
        <p14:creationId xmlns:p14="http://schemas.microsoft.com/office/powerpoint/2010/main" val="10138112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36C8F-2561-3EC6-9307-C9530671A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Retrieval + Reasoning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C09D6-A641-37E8-FB38-8887D616C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Modern AI applications combine </a:t>
            </a:r>
            <a:r>
              <a:rPr lang="en-GB" b="1" dirty="0"/>
              <a:t>Retrieval</a:t>
            </a:r>
            <a:r>
              <a:rPr lang="en-GB" dirty="0"/>
              <a:t> (finding relevant information) with </a:t>
            </a:r>
            <a:r>
              <a:rPr lang="en-GB" b="1" dirty="0"/>
              <a:t>Reasoning</a:t>
            </a:r>
            <a:r>
              <a:rPr lang="en-GB" dirty="0"/>
              <a:t> (</a:t>
            </a:r>
            <a:r>
              <a:rPr lang="en-GB" dirty="0" err="1"/>
              <a:t>analyzing</a:t>
            </a:r>
            <a:r>
              <a:rPr lang="en-GB" dirty="0"/>
              <a:t>, interpreting, and making decisions) to produce accurate and context-aware responses</a:t>
            </a:r>
          </a:p>
          <a:p>
            <a:pPr lvl="1"/>
            <a:r>
              <a:rPr lang="en-GB" b="1" dirty="0"/>
              <a:t>Retrieval</a:t>
            </a:r>
            <a:r>
              <a:rPr lang="en-GB" dirty="0"/>
              <a:t> provides factual knowledge</a:t>
            </a:r>
          </a:p>
          <a:p>
            <a:pPr lvl="1"/>
            <a:r>
              <a:rPr lang="en-GB" b="1" dirty="0"/>
              <a:t>Reasoning</a:t>
            </a:r>
            <a:r>
              <a:rPr lang="en-GB" dirty="0"/>
              <a:t> uses that knowledge to solve the user's problem</a:t>
            </a:r>
          </a:p>
          <a:p>
            <a:r>
              <a:rPr lang="en-GB" dirty="0"/>
              <a:t>Example: Can I get a ₹50 lakh home loan? My salary is ₹18 lakh/year, I already have a car loan, and my credit score is 760.</a:t>
            </a:r>
          </a:p>
          <a:p>
            <a:pPr lvl="1"/>
            <a:r>
              <a:rPr lang="en-GB" dirty="0"/>
              <a:t>Retrieval: Loan eligibility policy, Current interest rates, Customer profile, Credit score, Existing loans, RBI lending rules</a:t>
            </a:r>
          </a:p>
          <a:p>
            <a:pPr lvl="1"/>
            <a:r>
              <a:rPr lang="en-GB" dirty="0"/>
              <a:t>Reasoning: Calculates Debt-to-Income (DTI) ratio, Checks credit score eligibility, Verifies policy rules, Determines maximum eligible amount, Suggests suitable loan options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829759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813C7-B27B-47F8-C1F1-8E875DF8C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5EE3D-79E4-EB83-4A4F-D05969C6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Retrieval + Reasoning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44B7F-0114-B515-A1F6-AB0CC9327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Code: C:\code\agenticai\15_real\cohere_rag_pipeline.py</a:t>
            </a:r>
          </a:p>
          <a:p>
            <a:pPr lvl="0"/>
            <a:r>
              <a:rPr lang="en-GB" dirty="0"/>
              <a:t>embed() — turns text into 1536-dim vectors (embed-v4.0)</a:t>
            </a:r>
          </a:p>
          <a:p>
            <a:pPr lvl="0"/>
            <a:r>
              <a:rPr lang="en-GB" dirty="0" err="1"/>
              <a:t>rerank</a:t>
            </a:r>
            <a:r>
              <a:rPr lang="en-GB" dirty="0"/>
              <a:t>() — narrows all 324 FAQs down to the top-3 most relevant to the query (rerank-v3.5) — correctly surfaced the 3 refund-related entries for "How do I get my money back for an order?"</a:t>
            </a:r>
          </a:p>
          <a:p>
            <a:pPr lvl="0"/>
            <a:r>
              <a:rPr lang="en-GB" dirty="0"/>
              <a:t>chat() — generates the final answer, passing the reranked FAQs straight in via documents= — </a:t>
            </a:r>
            <a:r>
              <a:rPr lang="en-GB" dirty="0" err="1"/>
              <a:t>Cohere's</a:t>
            </a:r>
            <a:r>
              <a:rPr lang="en-GB" dirty="0"/>
              <a:t> chat endpoint handles the grounding/context-stuffing natively, unlike OpenAI where you build that prompt yourself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608696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6A59C-783C-EAF8-11C3-82CEA5459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Market Research Assistant using 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18324-A68A-BCAB-0F3B-E92EA7278D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Code: </a:t>
            </a:r>
            <a:r>
              <a:rPr lang="en-US" dirty="0"/>
              <a:t>C:\code\agenticai\15_real\market_research_assistant_rag.py</a:t>
            </a:r>
          </a:p>
          <a:p>
            <a:pPr lvl="1"/>
            <a:r>
              <a:rPr lang="en-US" dirty="0"/>
              <a:t>Load competitor data, industry trends, our own product positioning into RAG</a:t>
            </a:r>
          </a:p>
          <a:p>
            <a:pPr lvl="1"/>
            <a:r>
              <a:rPr lang="en-US" dirty="0"/>
              <a:t>Agent is given tools: search market knowledgebase, get pricing benchmark, search web</a:t>
            </a:r>
          </a:p>
          <a:p>
            <a:pPr lvl="1"/>
            <a:r>
              <a:rPr lang="en-US" dirty="0"/>
              <a:t>Summarize findings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866351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4F64C-CC5F-8A2A-889E-E5DD4AC8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LlamaIndex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41FA-0737-9C70-4DDB-4365B32F8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 err="1"/>
              <a:t>LlamaIndex</a:t>
            </a:r>
            <a:r>
              <a:rPr lang="en-GB" dirty="0"/>
              <a:t>: A framework designed to connect Large Language Models (LLMs) with your organization's private data. </a:t>
            </a:r>
          </a:p>
          <a:p>
            <a:r>
              <a:rPr lang="en-GB" dirty="0"/>
              <a:t>Simplifies building Retrieval-Augmented Generation (RAG) applications by handling data ingestion, indexing, retrieval, and querying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Much more than a simple vector database such as Chroma</a:t>
            </a:r>
          </a:p>
          <a:p>
            <a:pPr lvl="1"/>
            <a:r>
              <a:rPr lang="en-GB" dirty="0"/>
              <a:t>Vector DBs only store and search embeddings; </a:t>
            </a:r>
            <a:r>
              <a:rPr lang="en-GB" dirty="0" err="1"/>
              <a:t>LlamaIndex</a:t>
            </a:r>
            <a:r>
              <a:rPr lang="en-GB" dirty="0"/>
              <a:t> also parses documents, chunks them, and routes queries to the right source</a:t>
            </a:r>
          </a:p>
          <a:p>
            <a:r>
              <a:rPr lang="en-GB" dirty="0"/>
              <a:t>Example: Ask a question about your company's 500-page policy manual, and </a:t>
            </a:r>
            <a:r>
              <a:rPr lang="en-GB" dirty="0" err="1"/>
              <a:t>LlamaIndex</a:t>
            </a:r>
            <a:r>
              <a:rPr lang="en-GB" dirty="0"/>
              <a:t> finds and feeds the LLM just the relevant paragraphs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0EC278-EE64-1A9B-4717-A61985FCA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066" y="3092648"/>
            <a:ext cx="6487110" cy="142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9406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A874846-0F19-E2B9-AC20-7BE5BC1972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49449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32971-9656-8845-32F2-A0D1FBAC0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LlamaIndex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46225-3CFB-94C4-493A-2AC74426E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C:\code\agenticai\15_real\grounded_generation_llamaindex.py</a:t>
            </a:r>
          </a:p>
          <a:p>
            <a:r>
              <a:rPr lang="en-GB" dirty="0" err="1"/>
              <a:t>SimpleDirectoryReader</a:t>
            </a:r>
            <a:endParaRPr lang="en-GB" dirty="0"/>
          </a:p>
          <a:p>
            <a:pPr lvl="1"/>
            <a:r>
              <a:rPr lang="en-GB" dirty="0"/>
              <a:t>Reads documents from disk </a:t>
            </a:r>
          </a:p>
          <a:p>
            <a:pPr lvl="1"/>
            <a:r>
              <a:rPr lang="en-GB" dirty="0"/>
              <a:t>Supports PDFs, Markdown, Word, HTML, etc. </a:t>
            </a:r>
          </a:p>
          <a:p>
            <a:pPr lvl="1"/>
            <a:r>
              <a:rPr lang="en-GB" dirty="0"/>
              <a:t>Converts them into </a:t>
            </a:r>
            <a:r>
              <a:rPr lang="en-GB" dirty="0" err="1"/>
              <a:t>LlamaIndex</a:t>
            </a:r>
            <a:r>
              <a:rPr lang="en-GB" dirty="0"/>
              <a:t> Document objects </a:t>
            </a:r>
          </a:p>
          <a:p>
            <a:r>
              <a:rPr lang="en-GB" dirty="0" err="1"/>
              <a:t>VectorStoreIndex</a:t>
            </a:r>
            <a:endParaRPr lang="en-GB" dirty="0"/>
          </a:p>
          <a:p>
            <a:pPr lvl="1"/>
            <a:r>
              <a:rPr lang="en-GB" dirty="0"/>
              <a:t>Splits documents into chunks </a:t>
            </a:r>
          </a:p>
          <a:p>
            <a:pPr lvl="1"/>
            <a:r>
              <a:rPr lang="en-GB" dirty="0"/>
              <a:t>Creates embeddings </a:t>
            </a:r>
          </a:p>
          <a:p>
            <a:pPr lvl="1"/>
            <a:r>
              <a:rPr lang="en-GB" dirty="0"/>
              <a:t>Builds a searchable vector index </a:t>
            </a:r>
          </a:p>
          <a:p>
            <a:pPr lvl="1"/>
            <a:r>
              <a:rPr lang="en-GB" dirty="0"/>
              <a:t>Enables semantic retrieval </a:t>
            </a:r>
          </a:p>
          <a:p>
            <a:r>
              <a:rPr lang="en-GB" dirty="0" err="1"/>
              <a:t>CitationQueryEngine</a:t>
            </a:r>
            <a:endParaRPr lang="en-GB" dirty="0"/>
          </a:p>
          <a:p>
            <a:pPr lvl="1"/>
            <a:r>
              <a:rPr lang="en-GB" dirty="0"/>
              <a:t>Retrieves the most relevant document chunks </a:t>
            </a:r>
          </a:p>
          <a:p>
            <a:pPr lvl="1"/>
            <a:r>
              <a:rPr lang="en-GB" dirty="0"/>
              <a:t>Sends them to the LLM as context </a:t>
            </a:r>
          </a:p>
          <a:p>
            <a:pPr lvl="1"/>
            <a:r>
              <a:rPr lang="en-GB" dirty="0"/>
              <a:t>Produces answers with inline citations (e.g., [1], [2]) </a:t>
            </a:r>
          </a:p>
          <a:p>
            <a:pPr lvl="1"/>
            <a:r>
              <a:rPr lang="en-GB" dirty="0"/>
              <a:t>Makes responses traceable and verifiable</a:t>
            </a:r>
          </a:p>
        </p:txBody>
      </p:sp>
    </p:spTree>
    <p:extLst>
      <p:ext uri="{BB962C8B-B14F-4D97-AF65-F5344CB8AC3E}">
        <p14:creationId xmlns:p14="http://schemas.microsoft.com/office/powerpoint/2010/main" val="396678262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8148-1663-C912-6C02-C9E3ADA8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6F872D4-C8E8-CF9A-7935-874467243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6: Agent Memory, State, and Context Management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522267-FD5B-934F-301E-DF66567B1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04768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A13C8-F40C-FB54-0EEF-53C83AB0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3D201-7A49-2D5D-F6A9-4D3DCB256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485"/>
            <a:ext cx="10515600" cy="1033062"/>
          </a:xfrm>
        </p:spPr>
        <p:txBody>
          <a:bodyPr>
            <a:noAutofit/>
          </a:bodyPr>
          <a:lstStyle/>
          <a:p>
            <a:r>
              <a:rPr lang="en-IN" sz="4000" dirty="0"/>
              <a:t>Memory Types</a:t>
            </a:r>
            <a:endParaRPr lang="en-GB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86C575-3EA4-83C7-0607-ACDBE0EA0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05" y="1825625"/>
            <a:ext cx="3392355" cy="4351338"/>
          </a:xfrm>
        </p:spPr>
        <p:txBody>
          <a:bodyPr>
            <a:normAutofit fontScale="92500"/>
          </a:bodyPr>
          <a:lstStyle/>
          <a:p>
            <a:r>
              <a:rPr lang="en-IN" dirty="0"/>
              <a:t>Why memory?</a:t>
            </a:r>
          </a:p>
          <a:p>
            <a:pPr lvl="1"/>
            <a:r>
              <a:rPr lang="en-GB" dirty="0"/>
              <a:t>Maintain conversation context </a:t>
            </a:r>
          </a:p>
          <a:p>
            <a:pPr lvl="1"/>
            <a:r>
              <a:rPr lang="en-GB" dirty="0"/>
              <a:t>Remember user preferences </a:t>
            </a:r>
          </a:p>
          <a:p>
            <a:pPr lvl="1"/>
            <a:r>
              <a:rPr lang="en-GB" dirty="0"/>
              <a:t>Recall previous tasks </a:t>
            </a:r>
          </a:p>
          <a:p>
            <a:pPr lvl="1"/>
            <a:r>
              <a:rPr lang="en-GB" dirty="0"/>
              <a:t>Personalize responses </a:t>
            </a:r>
          </a:p>
          <a:p>
            <a:pPr lvl="1"/>
            <a:r>
              <a:rPr lang="en-GB" dirty="0"/>
              <a:t>Reduce repeated questions </a:t>
            </a:r>
          </a:p>
          <a:p>
            <a:pPr lvl="1"/>
            <a:r>
              <a:rPr lang="en-GB" dirty="0"/>
              <a:t>Support long-running workflows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FEF8C4-B8E7-E72C-3316-32E3C9463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3376828"/>
              </p:ext>
            </p:extLst>
          </p:nvPr>
        </p:nvGraphicFramePr>
        <p:xfrm>
          <a:off x="3741362" y="1539743"/>
          <a:ext cx="8352336" cy="448056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88084">
                  <a:extLst>
                    <a:ext uri="{9D8B030D-6E8A-4147-A177-3AD203B41FA5}">
                      <a16:colId xmlns:a16="http://schemas.microsoft.com/office/drawing/2014/main" val="2707852265"/>
                    </a:ext>
                  </a:extLst>
                </a:gridCol>
                <a:gridCol w="2088084">
                  <a:extLst>
                    <a:ext uri="{9D8B030D-6E8A-4147-A177-3AD203B41FA5}">
                      <a16:colId xmlns:a16="http://schemas.microsoft.com/office/drawing/2014/main" val="1529649044"/>
                    </a:ext>
                  </a:extLst>
                </a:gridCol>
                <a:gridCol w="1882604">
                  <a:extLst>
                    <a:ext uri="{9D8B030D-6E8A-4147-A177-3AD203B41FA5}">
                      <a16:colId xmlns:a16="http://schemas.microsoft.com/office/drawing/2014/main" val="3195041357"/>
                    </a:ext>
                  </a:extLst>
                </a:gridCol>
                <a:gridCol w="2293564">
                  <a:extLst>
                    <a:ext uri="{9D8B030D-6E8A-4147-A177-3AD203B41FA5}">
                      <a16:colId xmlns:a16="http://schemas.microsoft.com/office/drawing/2014/main" val="3282950048"/>
                    </a:ext>
                  </a:extLst>
                </a:gridCol>
              </a:tblGrid>
              <a:tr h="327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Lifetime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124022"/>
                  </a:ext>
                </a:extLst>
              </a:tr>
              <a:tr h="572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Short-Term Memory (Working Memory)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Current conversation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Minutes / Session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Previous chat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777889"/>
                  </a:ext>
                </a:extLst>
              </a:tr>
              <a:tr h="327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Long-Term Memory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Persistent user knowledge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Days to Years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 preferences, 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298387"/>
                  </a:ext>
                </a:extLst>
              </a:tr>
              <a:tr h="572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External Memory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Information stored outside the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ChromaDB, SQL, Redis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058159"/>
                  </a:ext>
                </a:extLst>
              </a:tr>
              <a:tr h="572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Semantic Memory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Facts and knowledge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"Python is your preferred language."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2437865"/>
                  </a:ext>
                </a:extLst>
              </a:tr>
              <a:tr h="572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Episodic Memory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Past interactions and experiences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Previous customer support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2807768"/>
                  </a:ext>
                </a:extLst>
              </a:tr>
              <a:tr h="572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Procedural Memory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Learned procedures and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Steps to deploy an application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8147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72117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14141-9C94-D289-978F-BF1B5FFEA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Examples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5F6FA-4F4D-132F-8839-1817112A2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dirty="0"/>
              <a:t>First run </a:t>
            </a:r>
            <a:r>
              <a:rPr lang="en-US" dirty="0"/>
              <a:t>C:\code\agenticai\15_real\agent_memory_short_term_langgraph.py</a:t>
            </a:r>
          </a:p>
          <a:p>
            <a:r>
              <a:rPr lang="en-US" dirty="0"/>
              <a:t>Now run C:\code\agenticai\15_real\agent_memory_dynamic_session_id_langgraph.py  -&gt; Change is, we accept user id from user and that is our session ID</a:t>
            </a:r>
          </a:p>
          <a:p>
            <a:r>
              <a:rPr lang="en-US" dirty="0"/>
              <a:t>Now run C:\code\agenticai\15_real\agent_memory_short_to_long_term_langgraph.py and C:\code\agenticai\15_real\agent_memory_short_to_external_sqlite_langgraph.py -&gt; Saving short term memory into local/external long term memory</a:t>
            </a:r>
          </a:p>
          <a:p>
            <a:r>
              <a:rPr lang="en-US" dirty="0"/>
              <a:t>Now run C:\code\agenticai\15_real\agent_memory_episodic_langgraph.py, C:\code\agenticai\15_real\agent_memory_procedural_langgraph.py, C:\code\agenticai\15_real\agent_memory_semantic_langgraph.py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695807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6E079-473F-215D-559A-B71E0FFB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State Schema Design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F8C-8072-3337-98B8-5FFBDE4A6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629098" cy="4351338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State</a:t>
            </a:r>
            <a:r>
              <a:rPr lang="en-GB" dirty="0"/>
              <a:t>: A structured data object that stores all the information an agent needs while executing a workflow</a:t>
            </a:r>
          </a:p>
          <a:p>
            <a:r>
              <a:rPr lang="en-GB" dirty="0"/>
              <a:t>As the workflow progresses, each node reads the current state and updates it</a:t>
            </a:r>
          </a:p>
          <a:p>
            <a:r>
              <a:rPr lang="en-GB" dirty="0"/>
              <a:t>Initial State -&gt; Agent Node A (Read and Update) -&gt; Updated State -&gt; Agent Node B (Read and Update) -&gt; Updated State -&gt; Final Response</a:t>
            </a:r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8131DE-8E39-B624-A40F-3E70FC249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879296"/>
              </p:ext>
            </p:extLst>
          </p:nvPr>
        </p:nvGraphicFramePr>
        <p:xfrm>
          <a:off x="5235115" y="2292552"/>
          <a:ext cx="6707926" cy="32918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2427">
                  <a:extLst>
                    <a:ext uri="{9D8B030D-6E8A-4147-A177-3AD203B41FA5}">
                      <a16:colId xmlns:a16="http://schemas.microsoft.com/office/drawing/2014/main" val="2021403941"/>
                    </a:ext>
                  </a:extLst>
                </a:gridCol>
                <a:gridCol w="4005499">
                  <a:extLst>
                    <a:ext uri="{9D8B030D-6E8A-4147-A177-3AD203B41FA5}">
                      <a16:colId xmlns:a16="http://schemas.microsoft.com/office/drawing/2014/main" val="2925762873"/>
                    </a:ext>
                  </a:extLst>
                </a:gridCol>
              </a:tblGrid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5438816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334593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user_query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Current user request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6154603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retrieved_docs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Retrieved knowledge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812220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tool_results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Results returned by tools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6934045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Intermediate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6996299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final_answer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Final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124531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user_profile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 preferences and 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657529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Current workflow 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7995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72110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33C05-FE1B-2A93-053E-CE95BCC4D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61721" cy="1325563"/>
          </a:xfrm>
        </p:spPr>
        <p:txBody>
          <a:bodyPr/>
          <a:lstStyle/>
          <a:p>
            <a:r>
              <a:rPr lang="en-IN" dirty="0"/>
              <a:t>Example of State Schema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E5862-5750-714E-5047-18117550F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106" y="1825625"/>
            <a:ext cx="3615137" cy="4351338"/>
          </a:xfrm>
        </p:spPr>
        <p:txBody>
          <a:bodyPr>
            <a:normAutofit/>
          </a:bodyPr>
          <a:lstStyle/>
          <a:p>
            <a:r>
              <a:rPr lang="en-GB" dirty="0"/>
              <a:t>Agent State</a:t>
            </a:r>
          </a:p>
          <a:p>
            <a:pPr lvl="1"/>
            <a:r>
              <a:rPr lang="en-GB" dirty="0"/>
              <a:t>messages</a:t>
            </a:r>
          </a:p>
          <a:p>
            <a:pPr lvl="1"/>
            <a:r>
              <a:rPr lang="en-GB" dirty="0" err="1"/>
              <a:t>user_query</a:t>
            </a:r>
            <a:endParaRPr lang="en-GB" dirty="0"/>
          </a:p>
          <a:p>
            <a:pPr lvl="1"/>
            <a:r>
              <a:rPr lang="en-GB" dirty="0" err="1"/>
              <a:t>retrieved_docs</a:t>
            </a:r>
            <a:endParaRPr lang="en-GB" dirty="0"/>
          </a:p>
          <a:p>
            <a:pPr lvl="1"/>
            <a:r>
              <a:rPr lang="en-GB" dirty="0" err="1"/>
              <a:t>tool_results</a:t>
            </a:r>
            <a:endParaRPr lang="en-GB" dirty="0"/>
          </a:p>
          <a:p>
            <a:pPr lvl="1"/>
            <a:r>
              <a:rPr lang="en-GB" dirty="0"/>
              <a:t>reasoning</a:t>
            </a:r>
          </a:p>
          <a:p>
            <a:pPr lvl="1"/>
            <a:r>
              <a:rPr lang="en-GB" dirty="0" err="1"/>
              <a:t>final_answer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AC6D7-C675-01BD-A2AB-8897B92BEE30}"/>
              </a:ext>
            </a:extLst>
          </p:cNvPr>
          <p:cNvSpPr txBox="1"/>
          <p:nvPr/>
        </p:nvSpPr>
        <p:spPr>
          <a:xfrm>
            <a:off x="4732544" y="365125"/>
            <a:ext cx="7126736" cy="618630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dirty="0"/>
              <a:t>User asks: </a:t>
            </a:r>
            <a:r>
              <a:rPr lang="en-GB" sz="1200" dirty="0"/>
              <a:t>Am I eligible for a ₹50 lakh home loan?</a:t>
            </a:r>
          </a:p>
          <a:p>
            <a:endParaRPr lang="en-GB" sz="1200" dirty="0"/>
          </a:p>
          <a:p>
            <a:r>
              <a:rPr lang="en-GB" sz="1200" b="1" dirty="0"/>
              <a:t>Initial State</a:t>
            </a:r>
          </a:p>
          <a:p>
            <a:r>
              <a:rPr lang="en-US" sz="1200" dirty="0"/>
              <a:t>messages</a:t>
            </a:r>
          </a:p>
          <a:p>
            <a:r>
              <a:rPr lang="en-US" sz="1200" dirty="0" err="1"/>
              <a:t>user_query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Everything else empty</a:t>
            </a:r>
          </a:p>
          <a:p>
            <a:endParaRPr lang="en-US" sz="1200" dirty="0"/>
          </a:p>
          <a:p>
            <a:r>
              <a:rPr lang="en-GB" sz="1200" b="1" dirty="0"/>
              <a:t>After retrieval</a:t>
            </a:r>
          </a:p>
          <a:p>
            <a:r>
              <a:rPr lang="en-GB" sz="1200" dirty="0"/>
              <a:t>messages</a:t>
            </a:r>
          </a:p>
          <a:p>
            <a:r>
              <a:rPr lang="en-GB" sz="1200" dirty="0" err="1"/>
              <a:t>user_query</a:t>
            </a:r>
            <a:endParaRPr lang="en-GB" sz="1200" dirty="0"/>
          </a:p>
          <a:p>
            <a:r>
              <a:rPr lang="en-GB" sz="1200" dirty="0" err="1"/>
              <a:t>retrieved_docs</a:t>
            </a:r>
            <a:endParaRPr lang="en-GB" sz="1200" dirty="0"/>
          </a:p>
          <a:p>
            <a:endParaRPr lang="en-GB" sz="1200" dirty="0"/>
          </a:p>
          <a:p>
            <a:r>
              <a:rPr lang="en-GB" sz="1200" b="1" dirty="0"/>
              <a:t>After tool execution</a:t>
            </a:r>
          </a:p>
          <a:p>
            <a:r>
              <a:rPr lang="en-US" sz="1200" dirty="0"/>
              <a:t>messages</a:t>
            </a:r>
          </a:p>
          <a:p>
            <a:r>
              <a:rPr lang="en-US" sz="1200" dirty="0" err="1"/>
              <a:t>user_query</a:t>
            </a:r>
            <a:endParaRPr lang="en-US" sz="1200" dirty="0"/>
          </a:p>
          <a:p>
            <a:r>
              <a:rPr lang="en-US" sz="1200" dirty="0" err="1"/>
              <a:t>retrieved_docs</a:t>
            </a:r>
            <a:endParaRPr lang="en-US" sz="1200" dirty="0"/>
          </a:p>
          <a:p>
            <a:r>
              <a:rPr lang="en-US" sz="1200" dirty="0" err="1"/>
              <a:t>tool_results</a:t>
            </a:r>
            <a:endParaRPr lang="en-US" sz="1200" dirty="0"/>
          </a:p>
          <a:p>
            <a:endParaRPr lang="en-US" sz="1200" dirty="0"/>
          </a:p>
          <a:p>
            <a:r>
              <a:rPr lang="en-US" sz="1200" b="1" dirty="0"/>
              <a:t>After reasoning</a:t>
            </a:r>
          </a:p>
          <a:p>
            <a:r>
              <a:rPr lang="en-US" sz="1200" dirty="0"/>
              <a:t>messages</a:t>
            </a:r>
          </a:p>
          <a:p>
            <a:r>
              <a:rPr lang="en-US" sz="1200" dirty="0" err="1"/>
              <a:t>user_query</a:t>
            </a:r>
            <a:endParaRPr lang="en-US" sz="1200" dirty="0"/>
          </a:p>
          <a:p>
            <a:r>
              <a:rPr lang="en-US" sz="1200" dirty="0" err="1"/>
              <a:t>retrieved_docs</a:t>
            </a:r>
            <a:endParaRPr lang="en-US" sz="1200" dirty="0"/>
          </a:p>
          <a:p>
            <a:r>
              <a:rPr lang="en-US" sz="1200" dirty="0" err="1"/>
              <a:t>tool_results</a:t>
            </a:r>
            <a:endParaRPr lang="en-US" sz="1200" dirty="0"/>
          </a:p>
          <a:p>
            <a:r>
              <a:rPr lang="en-US" sz="1200" dirty="0"/>
              <a:t>reasoning</a:t>
            </a:r>
          </a:p>
          <a:p>
            <a:endParaRPr lang="en-US" sz="1200" dirty="0"/>
          </a:p>
          <a:p>
            <a:r>
              <a:rPr lang="en-US" sz="1200" b="1" dirty="0"/>
              <a:t>Final State</a:t>
            </a:r>
          </a:p>
          <a:p>
            <a:r>
              <a:rPr lang="en-US" sz="1200" dirty="0"/>
              <a:t>messages</a:t>
            </a:r>
          </a:p>
          <a:p>
            <a:r>
              <a:rPr lang="en-US" sz="1200" dirty="0" err="1"/>
              <a:t>user_query</a:t>
            </a:r>
            <a:endParaRPr lang="en-US" sz="1200" dirty="0"/>
          </a:p>
          <a:p>
            <a:r>
              <a:rPr lang="en-US" sz="1200" dirty="0" err="1"/>
              <a:t>retrieved_docs</a:t>
            </a:r>
            <a:endParaRPr lang="en-US" sz="1200" dirty="0"/>
          </a:p>
          <a:p>
            <a:r>
              <a:rPr lang="en-US" sz="1200" dirty="0" err="1"/>
              <a:t>tool_results</a:t>
            </a:r>
            <a:endParaRPr lang="en-US" sz="1200" dirty="0"/>
          </a:p>
          <a:p>
            <a:r>
              <a:rPr lang="en-US" sz="1200" dirty="0"/>
              <a:t>reasoning</a:t>
            </a:r>
          </a:p>
          <a:p>
            <a:r>
              <a:rPr lang="en-US" sz="1200" dirty="0" err="1"/>
              <a:t>Final_answer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2204264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3464-E01A-62BB-3497-85261771E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Propagation and Trim Strategies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1514C-E8FC-D034-7940-9784901C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Context propagation</a:t>
            </a:r>
            <a:r>
              <a:rPr lang="en-GB" dirty="0"/>
              <a:t>: Passing relevant information from one step (or agent) to the next so that the workflow maintains continuity and makes informed decisions</a:t>
            </a:r>
          </a:p>
          <a:p>
            <a:r>
              <a:rPr lang="en-GB" dirty="0"/>
              <a:t>Example: User asks - Can I get a ₹50 lakh home loan?</a:t>
            </a:r>
          </a:p>
          <a:p>
            <a:pPr lvl="1"/>
            <a:r>
              <a:rPr lang="en-GB" dirty="0"/>
              <a:t>Step 1: Query</a:t>
            </a:r>
          </a:p>
          <a:p>
            <a:pPr lvl="1"/>
            <a:r>
              <a:rPr lang="en-GB" dirty="0"/>
              <a:t>Step 2: Query + Retrieved policies</a:t>
            </a:r>
          </a:p>
          <a:p>
            <a:pPr lvl="1"/>
            <a:r>
              <a:rPr lang="en-GB" dirty="0"/>
              <a:t>Step 3: Query + Retrieved policies + Credit score</a:t>
            </a:r>
          </a:p>
          <a:p>
            <a:pPr lvl="1"/>
            <a:r>
              <a:rPr lang="en-GB" dirty="0"/>
              <a:t>Step 4: Query + Retrieved policies + Credit score + Reasoning -&gt; Final answer</a:t>
            </a:r>
          </a:p>
          <a:p>
            <a:r>
              <a:rPr lang="en-GB" dirty="0"/>
              <a:t>Why trim context?</a:t>
            </a:r>
          </a:p>
          <a:p>
            <a:pPr lvl="1"/>
            <a:r>
              <a:rPr lang="en-GB" dirty="0"/>
              <a:t>LLM has a limited context window</a:t>
            </a:r>
          </a:p>
          <a:p>
            <a:pPr lvl="1"/>
            <a:r>
              <a:rPr lang="en-GB" dirty="0"/>
              <a:t>Techniques: Next slide</a:t>
            </a:r>
          </a:p>
        </p:txBody>
      </p:sp>
    </p:spTree>
    <p:extLst>
      <p:ext uri="{BB962C8B-B14F-4D97-AF65-F5344CB8AC3E}">
        <p14:creationId xmlns:p14="http://schemas.microsoft.com/office/powerpoint/2010/main" val="90949592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0B4E-B0F8-6402-51A8-CAB73F611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Context Trimming Strategies</a:t>
            </a:r>
            <a:br>
              <a:rPr lang="en-IN" dirty="0"/>
            </a:br>
            <a:r>
              <a:rPr lang="en-IN" sz="3100" dirty="0"/>
              <a:t>Code: C:\code\agenticai\15_real\context_management_strategies.py</a:t>
            </a:r>
            <a:endParaRPr lang="en-GB" sz="31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4278EF-BE91-D3D7-F2AE-7AA943529A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2483810"/>
              </p:ext>
            </p:extLst>
          </p:nvPr>
        </p:nvGraphicFramePr>
        <p:xfrm>
          <a:off x="838200" y="2355374"/>
          <a:ext cx="10515600" cy="24688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728658">
                  <a:extLst>
                    <a:ext uri="{9D8B030D-6E8A-4147-A177-3AD203B41FA5}">
                      <a16:colId xmlns:a16="http://schemas.microsoft.com/office/drawing/2014/main" val="4106340199"/>
                    </a:ext>
                  </a:extLst>
                </a:gridCol>
                <a:gridCol w="5200214">
                  <a:extLst>
                    <a:ext uri="{9D8B030D-6E8A-4147-A177-3AD203B41FA5}">
                      <a16:colId xmlns:a16="http://schemas.microsoft.com/office/drawing/2014/main" val="3692593451"/>
                    </a:ext>
                  </a:extLst>
                </a:gridCol>
                <a:gridCol w="2586728">
                  <a:extLst>
                    <a:ext uri="{9D8B030D-6E8A-4147-A177-3AD203B41FA5}">
                      <a16:colId xmlns:a16="http://schemas.microsoft.com/office/drawing/2014/main" val="13496245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4919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Sliding Window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Keep only the latest N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38932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Summarization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Replace older conversations with a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 conversations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69349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Semantic Retrieval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 only relevant past memories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Long-term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0767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Token-Based Trimming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Remove oldest content when token limit is reached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Production systems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614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Priority-Based Context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Always keep critical information, discard less important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Enterprise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716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47228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3F7C-4194-D103-03F6-EA6E3653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In The Loop (HITL) UX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5EF6E-16EC-0DAB-D583-360EF26E1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 good HITL experience should provide</a:t>
            </a:r>
          </a:p>
          <a:p>
            <a:pPr lvl="1"/>
            <a:r>
              <a:rPr lang="en-GB" dirty="0"/>
              <a:t>Clear AI recommendation </a:t>
            </a:r>
          </a:p>
          <a:p>
            <a:pPr lvl="1"/>
            <a:r>
              <a:rPr lang="en-GB" dirty="0"/>
              <a:t>Supporting evidence </a:t>
            </a:r>
          </a:p>
          <a:p>
            <a:pPr lvl="1"/>
            <a:r>
              <a:rPr lang="en-GB" dirty="0"/>
              <a:t>Confidence score </a:t>
            </a:r>
          </a:p>
          <a:p>
            <a:pPr lvl="1"/>
            <a:r>
              <a:rPr lang="en-GB" dirty="0"/>
              <a:t>Retrieved documents </a:t>
            </a:r>
          </a:p>
          <a:p>
            <a:pPr lvl="1"/>
            <a:r>
              <a:rPr lang="en-GB" dirty="0"/>
              <a:t>Reasoning summary </a:t>
            </a:r>
          </a:p>
          <a:p>
            <a:pPr lvl="1"/>
            <a:r>
              <a:rPr lang="en-GB" dirty="0"/>
              <a:t>Action buttons</a:t>
            </a:r>
          </a:p>
          <a:p>
            <a:r>
              <a:rPr lang="en-GB" dirty="0"/>
              <a:t>Code: </a:t>
            </a:r>
            <a:r>
              <a:rPr lang="en-US" dirty="0"/>
              <a:t>C:\code\agenticai\15_real\support_ticketing_agent_hitl.py</a:t>
            </a:r>
            <a:endParaRPr lang="en-GB" dirty="0"/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58424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025C8-024D-5AA7-0011-35AA3C937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Code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E6736-9086-F266-FEE6-9947CEC38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Long term memory (in </a:t>
            </a:r>
            <a:r>
              <a:rPr lang="en-IN" dirty="0" err="1"/>
              <a:t>ChromaDB</a:t>
            </a:r>
            <a:r>
              <a:rPr lang="en-IN" dirty="0"/>
              <a:t>) using </a:t>
            </a:r>
            <a:r>
              <a:rPr lang="en-IN" dirty="0" err="1"/>
              <a:t>LangChain</a:t>
            </a:r>
            <a:r>
              <a:rPr lang="en-IN" dirty="0"/>
              <a:t>: </a:t>
            </a:r>
            <a:r>
              <a:rPr lang="en-US" dirty="0"/>
              <a:t>C:\code\agenticai\15_real\langchain_long_term_memory_rag.py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82716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82EEC-3201-8510-93AF-0A474A323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7: Evaluation Frameworks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EE139B-3774-29D0-5EBE-353567E74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030944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A8EC22-74E8-9FD7-6274-1CF6D729E13E}"/>
              </a:ext>
            </a:extLst>
          </p:cNvPr>
          <p:cNvSpPr txBox="1"/>
          <p:nvPr/>
        </p:nvSpPr>
        <p:spPr>
          <a:xfrm>
            <a:off x="139603" y="55841"/>
            <a:ext cx="4516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Need for Evaluation in RAG and Agent Systems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780919-34C5-27B0-A053-20F790F335C4}"/>
              </a:ext>
            </a:extLst>
          </p:cNvPr>
          <p:cNvSpPr txBox="1"/>
          <p:nvPr/>
        </p:nvSpPr>
        <p:spPr>
          <a:xfrm>
            <a:off x="139604" y="593313"/>
            <a:ext cx="2903743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IN" sz="1400" b="1" dirty="0"/>
              <a:t>Ensures correctness of responses</a:t>
            </a:r>
          </a:p>
          <a:p>
            <a:endParaRPr lang="en-US" sz="1400" dirty="0"/>
          </a:p>
          <a:p>
            <a:r>
              <a:rPr lang="en-US" sz="1400" dirty="0"/>
              <a:t>RAG and agents generate answers using: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Retrieved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Reasoning chains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External tools</a:t>
            </a:r>
          </a:p>
          <a:p>
            <a:endParaRPr lang="en-US" sz="1400" dirty="0"/>
          </a:p>
          <a:p>
            <a:r>
              <a:rPr lang="en-US" sz="1400" dirty="0"/>
              <a:t>If retrieval or reasoning is wrong → final output becomes wrong</a:t>
            </a:r>
          </a:p>
          <a:p>
            <a:endParaRPr lang="en-US" sz="1400" dirty="0"/>
          </a:p>
          <a:p>
            <a:r>
              <a:rPr lang="en-US" sz="1400" dirty="0"/>
              <a:t>Imagine: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medical chatbot retrieves outdated treatment guidelines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LLM generates confident but incorrect advice</a:t>
            </a:r>
          </a:p>
          <a:p>
            <a:endParaRPr lang="en-US" sz="1400" dirty="0"/>
          </a:p>
          <a:p>
            <a:r>
              <a:rPr lang="en-US" sz="1400" dirty="0"/>
              <a:t>Without evaluation → dangerous hallucinations may go unnoticed</a:t>
            </a:r>
          </a:p>
          <a:p>
            <a:endParaRPr lang="en-US" sz="1400" dirty="0"/>
          </a:p>
          <a:p>
            <a:r>
              <a:rPr lang="en-US" sz="1400" dirty="0"/>
              <a:t>Evaluation checks: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Factual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Grounding in retrieved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Logical reasoning quality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ABE53F-2C49-A47F-5B71-3E26432D3061}"/>
              </a:ext>
            </a:extLst>
          </p:cNvPr>
          <p:cNvSpPr txBox="1"/>
          <p:nvPr/>
        </p:nvSpPr>
        <p:spPr>
          <a:xfrm>
            <a:off x="3118966" y="582067"/>
            <a:ext cx="2903743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Validates retrieval quality</a:t>
            </a:r>
          </a:p>
          <a:p>
            <a:endParaRPr lang="en-US" sz="1400" dirty="0"/>
          </a:p>
          <a:p>
            <a:r>
              <a:rPr lang="en-GB" sz="1400" dirty="0"/>
              <a:t>RAG systems depend heavily on retrieving relevant context</a:t>
            </a:r>
          </a:p>
          <a:p>
            <a:endParaRPr lang="en-GB" sz="1400" dirty="0"/>
          </a:p>
          <a:p>
            <a:r>
              <a:rPr lang="en-GB" sz="1400" dirty="0"/>
              <a:t>Even a powerful LLM fails if retrieval is poor</a:t>
            </a:r>
          </a:p>
          <a:p>
            <a:endParaRPr lang="en-GB" sz="1400" dirty="0"/>
          </a:p>
          <a:p>
            <a:r>
              <a:rPr lang="en-GB" sz="1400" dirty="0"/>
              <a:t>Problems Without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Missing relevant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Retrieving irrelevant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Partial context retrieval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Ranking mistakes</a:t>
            </a:r>
          </a:p>
          <a:p>
            <a:endParaRPr lang="en-GB" sz="1400" dirty="0"/>
          </a:p>
          <a:p>
            <a:r>
              <a:rPr lang="en-US" sz="1400" dirty="0"/>
              <a:t>If retrieval fails, generation will fail — Garbage In → Garbage Out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04916-D45D-ED51-AA9D-EA12475BCF74}"/>
              </a:ext>
            </a:extLst>
          </p:cNvPr>
          <p:cNvSpPr txBox="1"/>
          <p:nvPr/>
        </p:nvSpPr>
        <p:spPr>
          <a:xfrm>
            <a:off x="3118965" y="4145443"/>
            <a:ext cx="2903743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IN" sz="1400" b="1" dirty="0"/>
              <a:t>Measures hallucination and </a:t>
            </a:r>
            <a:r>
              <a:rPr lang="en-IN" sz="1400" b="1" dirty="0" err="1"/>
              <a:t>groundedness</a:t>
            </a:r>
            <a:endParaRPr lang="en-IN" sz="1400" b="1" dirty="0"/>
          </a:p>
          <a:p>
            <a:endParaRPr lang="en-US" sz="1400" dirty="0"/>
          </a:p>
          <a:p>
            <a:r>
              <a:rPr lang="en-US" sz="1400" dirty="0"/>
              <a:t>LLMs often: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 extra unsupported facts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Fabricate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Mix multiple sources incorrectly</a:t>
            </a:r>
          </a:p>
          <a:p>
            <a:endParaRPr lang="en-US" sz="1400" dirty="0"/>
          </a:p>
          <a:p>
            <a:r>
              <a:rPr lang="en-US" sz="1400" dirty="0"/>
              <a:t>Evaluation ensures: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is supported by retrieved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Claims are verifiable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24059E-E2A2-EAD8-EDD3-CF0BA9ED2331}"/>
              </a:ext>
            </a:extLst>
          </p:cNvPr>
          <p:cNvSpPr txBox="1"/>
          <p:nvPr/>
        </p:nvSpPr>
        <p:spPr>
          <a:xfrm>
            <a:off x="6113453" y="582067"/>
            <a:ext cx="2903743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IN" sz="1400" b="1" dirty="0"/>
              <a:t>Evaluates reasoning and multi-step decisions (Agentic apps)</a:t>
            </a:r>
          </a:p>
          <a:p>
            <a:endParaRPr lang="en-US" sz="1400" dirty="0"/>
          </a:p>
          <a:p>
            <a:r>
              <a:rPr lang="en-US" sz="1400" dirty="0"/>
              <a:t>Agents do more than answer questions. They: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Plan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Choose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Execute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Maintain memory</a:t>
            </a:r>
          </a:p>
          <a:p>
            <a:endParaRPr lang="en-US" sz="1400" dirty="0"/>
          </a:p>
          <a:p>
            <a:r>
              <a:rPr lang="en-US" sz="1400" dirty="0"/>
              <a:t>Evaluation checks: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Was the correct tool selected?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Was reasoning logically consistent?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Were intermediate steps valid?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Did the agent complete the task successfully?</a:t>
            </a:r>
          </a:p>
          <a:p>
            <a:endParaRPr lang="en-US" sz="1400" dirty="0"/>
          </a:p>
          <a:p>
            <a:r>
              <a:rPr lang="en-US" sz="1400" dirty="0"/>
              <a:t>Example: Travel agent AI</a:t>
            </a:r>
          </a:p>
          <a:p>
            <a:r>
              <a:rPr lang="en-US" sz="1400" dirty="0"/>
              <a:t>Search flights -&gt; Compare prices -&gt; Book ticket -&gt; Send confirmation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077756-8BF8-0B9E-2410-5174512AE954}"/>
              </a:ext>
            </a:extLst>
          </p:cNvPr>
          <p:cNvSpPr txBox="1"/>
          <p:nvPr/>
        </p:nvSpPr>
        <p:spPr>
          <a:xfrm>
            <a:off x="9107940" y="582067"/>
            <a:ext cx="2903743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IN" sz="1400" b="1" dirty="0"/>
              <a:t>Improves user trust and adoption</a:t>
            </a:r>
          </a:p>
          <a:p>
            <a:endParaRPr lang="en-US" sz="1400" dirty="0"/>
          </a:p>
          <a:p>
            <a:r>
              <a:rPr lang="en-US" sz="1400" dirty="0"/>
              <a:t>Users must trust: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Consistency</a:t>
            </a:r>
          </a:p>
          <a:p>
            <a:endParaRPr lang="en-US" sz="1400" dirty="0"/>
          </a:p>
          <a:p>
            <a:r>
              <a:rPr lang="en-US" sz="1400" dirty="0"/>
              <a:t>Evaluation helps measure: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Response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Explainability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Confidence scoring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Human satisfaction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54A56A-9D05-8089-D702-5904031AF149}"/>
              </a:ext>
            </a:extLst>
          </p:cNvPr>
          <p:cNvSpPr txBox="1"/>
          <p:nvPr/>
        </p:nvSpPr>
        <p:spPr>
          <a:xfrm>
            <a:off x="9107940" y="3582369"/>
            <a:ext cx="290374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IN" sz="1400" b="1" dirty="0"/>
              <a:t>Continuous improvement</a:t>
            </a:r>
          </a:p>
          <a:p>
            <a:endParaRPr lang="en-US" sz="1400" dirty="0"/>
          </a:p>
          <a:p>
            <a:r>
              <a:rPr lang="en-US" sz="1400" dirty="0"/>
              <a:t>Evaluation helps: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Detect performance drift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Compare model 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Tune retrieval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Optimize prompts and workflows</a:t>
            </a:r>
          </a:p>
        </p:txBody>
      </p:sp>
    </p:spTree>
    <p:extLst>
      <p:ext uri="{BB962C8B-B14F-4D97-AF65-F5344CB8AC3E}">
        <p14:creationId xmlns:p14="http://schemas.microsoft.com/office/powerpoint/2010/main" val="175526769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1E21D-C1CF-0E54-0B85-DF6252D0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E3947-0E60-A451-1FF8-4DC301CB6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Retrieval-Augmented Generation Assessment</a:t>
            </a:r>
          </a:p>
          <a:p>
            <a:r>
              <a:rPr lang="en-GB" dirty="0"/>
              <a:t>Open-source evaluation framework specifically designed to assess the quality of Retrieval-Augmented Generation (RAG) systems</a:t>
            </a:r>
          </a:p>
          <a:p>
            <a:r>
              <a:rPr lang="en-GB" dirty="0"/>
              <a:t>Evaluates both the retrieval and generation components without requiring manually </a:t>
            </a:r>
            <a:r>
              <a:rPr lang="en-GB" dirty="0" err="1"/>
              <a:t>labeled</a:t>
            </a:r>
            <a:r>
              <a:rPr lang="en-GB" dirty="0"/>
              <a:t> datasets</a:t>
            </a:r>
          </a:p>
          <a:p>
            <a:r>
              <a:rPr lang="en-GB" dirty="0"/>
              <a:t>Why needed?</a:t>
            </a:r>
          </a:p>
          <a:p>
            <a:pPr lvl="1"/>
            <a:r>
              <a:rPr lang="en-GB" dirty="0"/>
              <a:t>Traditional evaluation focuses only on the final answer</a:t>
            </a:r>
          </a:p>
          <a:p>
            <a:pPr lvl="1"/>
            <a:r>
              <a:rPr lang="en-GB" dirty="0"/>
              <a:t>But we want to know</a:t>
            </a:r>
          </a:p>
          <a:p>
            <a:pPr lvl="2"/>
            <a:r>
              <a:rPr lang="en-GB" dirty="0"/>
              <a:t>Was the correct information retrieved? </a:t>
            </a:r>
          </a:p>
          <a:p>
            <a:pPr lvl="2"/>
            <a:r>
              <a:rPr lang="en-GB" dirty="0"/>
              <a:t>Was the retrieved context relevant? </a:t>
            </a:r>
          </a:p>
          <a:p>
            <a:pPr lvl="2"/>
            <a:r>
              <a:rPr lang="en-GB" dirty="0"/>
              <a:t>Was the answer grounded in the retrieved documents? </a:t>
            </a:r>
          </a:p>
          <a:p>
            <a:pPr lvl="2"/>
            <a:r>
              <a:rPr lang="en-GB" dirty="0"/>
              <a:t>Did the answer actually address the user's </a:t>
            </a:r>
            <a:r>
              <a:rPr lang="en-GB"/>
              <a:t>question?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999884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ECB6-92A0-94FD-00D2-88C8FBA11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 Metrics</a:t>
            </a:r>
            <a:endParaRPr lang="en-GB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94C4E58-4077-61C8-8E97-797A6CCED4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0840627"/>
              </p:ext>
            </p:extLst>
          </p:nvPr>
        </p:nvGraphicFramePr>
        <p:xfrm>
          <a:off x="838200" y="1940055"/>
          <a:ext cx="10515600" cy="22860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568115">
                  <a:extLst>
                    <a:ext uri="{9D8B030D-6E8A-4147-A177-3AD203B41FA5}">
                      <a16:colId xmlns:a16="http://schemas.microsoft.com/office/drawing/2014/main" val="4110001383"/>
                    </a:ext>
                  </a:extLst>
                </a:gridCol>
                <a:gridCol w="4934967">
                  <a:extLst>
                    <a:ext uri="{9D8B030D-6E8A-4147-A177-3AD203B41FA5}">
                      <a16:colId xmlns:a16="http://schemas.microsoft.com/office/drawing/2014/main" val="3087493093"/>
                    </a:ext>
                  </a:extLst>
                </a:gridCol>
                <a:gridCol w="3012518">
                  <a:extLst>
                    <a:ext uri="{9D8B030D-6E8A-4147-A177-3AD203B41FA5}">
                      <a16:colId xmlns:a16="http://schemas.microsoft.com/office/drawing/2014/main" val="2476340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Evaluated Against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7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Faithfulness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answer claims supported?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Retrieved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259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Answer Relevance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Does the answer address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Original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93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Precision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the retrieved chunks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User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47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Recall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Was all necessary information 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Required / Ground Truth 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126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541031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33C627-A37C-FFD2-339A-0A47C73F6910}"/>
              </a:ext>
            </a:extLst>
          </p:cNvPr>
          <p:cNvSpPr txBox="1"/>
          <p:nvPr/>
        </p:nvSpPr>
        <p:spPr>
          <a:xfrm>
            <a:off x="139603" y="55841"/>
            <a:ext cx="5088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Retrieval Argument Generation Assessment (RAGAS)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92671-0316-7414-B3D2-C986AE88F98F}"/>
              </a:ext>
            </a:extLst>
          </p:cNvPr>
          <p:cNvSpPr txBox="1"/>
          <p:nvPr/>
        </p:nvSpPr>
        <p:spPr>
          <a:xfrm>
            <a:off x="139604" y="425173"/>
            <a:ext cx="2903743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FF0000"/>
                </a:solidFill>
              </a:rPr>
              <a:t>Faithfulness</a:t>
            </a:r>
          </a:p>
          <a:p>
            <a:endParaRPr lang="en-IN" sz="1400" dirty="0"/>
          </a:p>
          <a:p>
            <a:pPr marL="342900" indent="-342900">
              <a:buAutoNum type="arabicPeriod"/>
            </a:pPr>
            <a:r>
              <a:rPr lang="en-IN" sz="1400" b="1" dirty="0"/>
              <a:t>Break answer into atomic statements</a:t>
            </a:r>
          </a:p>
          <a:p>
            <a:endParaRPr lang="en-GB" sz="1400" dirty="0"/>
          </a:p>
          <a:p>
            <a:r>
              <a:rPr lang="en-GB" sz="1400" dirty="0"/>
              <a:t>RAGAS first decomposes answer A into small factual claims</a:t>
            </a:r>
          </a:p>
          <a:p>
            <a:endParaRPr lang="en-GB" sz="1400" dirty="0"/>
          </a:p>
          <a:p>
            <a:r>
              <a:rPr lang="en-GB" sz="1400" dirty="0"/>
              <a:t>Sample answer: </a:t>
            </a:r>
            <a:r>
              <a:rPr lang="en-US" sz="1400" dirty="0"/>
              <a:t>"Bell invented the telephone in 1876 and was a Scottish scientist.“</a:t>
            </a:r>
          </a:p>
          <a:p>
            <a:endParaRPr lang="en-US" sz="1400" dirty="0"/>
          </a:p>
          <a:p>
            <a:r>
              <a:rPr lang="en-US" sz="1400" dirty="0"/>
              <a:t>This becomes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S₁ = Bell invented the telephone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S₂ = Bell invented it in 1876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S₃ = Bell was Scottish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F71F8D-5F50-6B87-7326-01B8406B4E98}"/>
              </a:ext>
            </a:extLst>
          </p:cNvPr>
          <p:cNvSpPr txBox="1"/>
          <p:nvPr/>
        </p:nvSpPr>
        <p:spPr>
          <a:xfrm>
            <a:off x="139603" y="3999012"/>
            <a:ext cx="2903743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Verify Support</a:t>
            </a:r>
          </a:p>
          <a:p>
            <a:endParaRPr lang="en-GB" sz="1400" dirty="0"/>
          </a:p>
          <a:p>
            <a:r>
              <a:rPr lang="en-IN" sz="1400" dirty="0"/>
              <a:t>Each statement is checked against retrieved context: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Bell invented the telephone.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patent was granted in 1876.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Bell was born in Scotland.</a:t>
            </a:r>
          </a:p>
          <a:p>
            <a:endParaRPr lang="en-GB" sz="1400" dirty="0"/>
          </a:p>
          <a:p>
            <a:r>
              <a:rPr lang="en-GB" sz="1400" dirty="0"/>
              <a:t>Evaluation: S1: Yes, S2: Find, S3: Yes</a:t>
            </a:r>
          </a:p>
          <a:p>
            <a:endParaRPr lang="en-GB" sz="1400" dirty="0"/>
          </a:p>
          <a:p>
            <a:r>
              <a:rPr lang="en-GB" sz="1400" dirty="0"/>
              <a:t>If a statement cannot be verified from the docs, it is marked </a:t>
            </a:r>
            <a:r>
              <a:rPr lang="en-GB" sz="1400" b="1" dirty="0"/>
              <a:t>unsupported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A453DA-03E8-33E5-7CC3-903734177AE9}"/>
                  </a:ext>
                </a:extLst>
              </p:cNvPr>
              <p:cNvSpPr txBox="1"/>
              <p:nvPr/>
            </p:nvSpPr>
            <p:spPr>
              <a:xfrm>
                <a:off x="3098025" y="425173"/>
                <a:ext cx="2903743" cy="221669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en-IN" sz="1400" b="1" dirty="0"/>
                  <a:t>Calculate Faithfulness Score</a:t>
                </a:r>
              </a:p>
              <a:p>
                <a:endParaRPr lang="en-GB" sz="1400" dirty="0"/>
              </a:p>
              <a:p>
                <a:r>
                  <a:rPr lang="en-IN" sz="1400" dirty="0"/>
                  <a:t>Faithfulness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𝑆𝑢𝑝𝑝𝑜𝑟𝑡𝑒𝑑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𝑆𝑡𝑎𝑡𝑒𝑚𝑒𝑛𝑡𝑠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𝑇𝑜𝑡𝑎𝑙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𝑆𝑡𝑎𝑡𝑒𝑚𝑒𝑛𝑡𝑠</m:t>
                        </m:r>
                      </m:den>
                    </m:f>
                  </m:oMath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Example: 3 statements, 2 supported</a:t>
                </a:r>
              </a:p>
              <a:p>
                <a:r>
                  <a:rPr lang="en-GB" sz="1400" dirty="0"/>
                  <a:t>Faithfulness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400" dirty="0"/>
                  <a:t> = 0.67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Conclusion: </a:t>
                </a:r>
                <a:r>
                  <a:rPr lang="en-GB" sz="1400" b="1" dirty="0"/>
                  <a:t>Faithfulness = Precision of claims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A453DA-03E8-33E5-7CC3-903734177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025" y="425173"/>
                <a:ext cx="2903743" cy="2216697"/>
              </a:xfrm>
              <a:prstGeom prst="rect">
                <a:avLst/>
              </a:prstGeom>
              <a:blipFill>
                <a:blip r:embed="rId2"/>
                <a:stretch>
                  <a:fillRect l="-629" t="-826" b="-1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D93BA73-9B7B-B3B4-06B0-52500C92F4F4}"/>
              </a:ext>
            </a:extLst>
          </p:cNvPr>
          <p:cNvSpPr txBox="1"/>
          <p:nvPr/>
        </p:nvSpPr>
        <p:spPr>
          <a:xfrm>
            <a:off x="3107331" y="2685580"/>
            <a:ext cx="2903743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FF0000"/>
                </a:solidFill>
              </a:rPr>
              <a:t>Answer Relevance</a:t>
            </a:r>
          </a:p>
          <a:p>
            <a:endParaRPr lang="en-IN" sz="1400" dirty="0"/>
          </a:p>
          <a:p>
            <a:pPr marL="342900" indent="-342900">
              <a:buAutoNum type="arabicPeriod"/>
            </a:pPr>
            <a:r>
              <a:rPr lang="en-IN" sz="1400" b="1" dirty="0"/>
              <a:t>Generate proxy questions</a:t>
            </a:r>
          </a:p>
          <a:p>
            <a:endParaRPr lang="en-GB" sz="1400" dirty="0"/>
          </a:p>
          <a:p>
            <a:r>
              <a:rPr lang="en-IN" sz="1400" dirty="0"/>
              <a:t>Instead of comparing the answer directly with the original question, RAGAS asks:</a:t>
            </a:r>
          </a:p>
          <a:p>
            <a:endParaRPr lang="en-IN" sz="1400" dirty="0"/>
          </a:p>
          <a:p>
            <a:r>
              <a:rPr lang="en-IN" sz="1400" dirty="0"/>
              <a:t>What question(s) could this answer logically answer?</a:t>
            </a:r>
          </a:p>
          <a:p>
            <a:endParaRPr lang="en-IN" sz="1400" dirty="0"/>
          </a:p>
          <a:p>
            <a:r>
              <a:rPr lang="en-IN" sz="1400" dirty="0"/>
              <a:t>The evaluator LLM generates one or more proxy questions</a:t>
            </a:r>
          </a:p>
          <a:p>
            <a:endParaRPr lang="en-IN" sz="1400" dirty="0"/>
          </a:p>
          <a:p>
            <a:r>
              <a:rPr lang="en-IN" sz="1400" dirty="0"/>
              <a:t>Example answer: Bell invented the telephone in 1876</a:t>
            </a:r>
          </a:p>
          <a:p>
            <a:r>
              <a:rPr lang="en-IN" sz="1400" dirty="0"/>
              <a:t>Generated proxy 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Who invented the telephone?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When was telephone invented?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8A628A-FF82-4744-6FB4-F701299A1A13}"/>
              </a:ext>
            </a:extLst>
          </p:cNvPr>
          <p:cNvSpPr txBox="1"/>
          <p:nvPr/>
        </p:nvSpPr>
        <p:spPr>
          <a:xfrm>
            <a:off x="6056446" y="425173"/>
            <a:ext cx="3157356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Measure Semantic Similarity</a:t>
            </a:r>
          </a:p>
          <a:p>
            <a:endParaRPr lang="en-GB" sz="1400" dirty="0"/>
          </a:p>
          <a:p>
            <a:r>
              <a:rPr lang="en-IN" sz="1400" dirty="0"/>
              <a:t>Now measure similarity between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Original question -&gt; 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Generated proxy questions -&gt; Q’</a:t>
            </a:r>
          </a:p>
          <a:p>
            <a:endParaRPr lang="en-IN" sz="1400" dirty="0"/>
          </a:p>
          <a:p>
            <a:r>
              <a:rPr lang="en-IN" sz="1400" dirty="0"/>
              <a:t>Using embedding similarity</a:t>
            </a:r>
          </a:p>
          <a:p>
            <a:r>
              <a:rPr lang="en-IN" sz="1400" dirty="0"/>
              <a:t>More similar -&gt; More relevant is the answer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CF4538-C81A-AC47-09B1-5647BDC95051}"/>
              </a:ext>
            </a:extLst>
          </p:cNvPr>
          <p:cNvSpPr txBox="1"/>
          <p:nvPr/>
        </p:nvSpPr>
        <p:spPr>
          <a:xfrm>
            <a:off x="6075060" y="2510368"/>
            <a:ext cx="3157356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IN" sz="1400" b="1" dirty="0"/>
              <a:t>Aggregate Similarity</a:t>
            </a:r>
          </a:p>
          <a:p>
            <a:endParaRPr lang="en-GB" sz="1400" dirty="0"/>
          </a:p>
          <a:p>
            <a:r>
              <a:rPr lang="en-US" sz="1400" dirty="0"/>
              <a:t>If multiple proxy questions are generated, calculate the average semantic similarity</a:t>
            </a:r>
          </a:p>
          <a:p>
            <a:endParaRPr lang="en-US" sz="1400" dirty="0"/>
          </a:p>
          <a:p>
            <a:r>
              <a:rPr lang="en-US" sz="1400" dirty="0"/>
              <a:t>Example: Original question – Who invented the telephone?</a:t>
            </a:r>
          </a:p>
          <a:p>
            <a:endParaRPr lang="en-US" sz="1400" dirty="0"/>
          </a:p>
          <a:p>
            <a:r>
              <a:rPr lang="en-US" sz="1400" dirty="0"/>
              <a:t>Proxy questions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“Who invented the telephone?" → Very Similar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"When was the telephone invented?" → Moderately Similar</a:t>
            </a:r>
          </a:p>
          <a:p>
            <a:endParaRPr lang="en-GB" sz="1400" dirty="0"/>
          </a:p>
          <a:p>
            <a:r>
              <a:rPr lang="en-GB" sz="1400" dirty="0"/>
              <a:t>Final Answer Relevance Score = Average Similarity</a:t>
            </a:r>
          </a:p>
          <a:p>
            <a:r>
              <a:rPr lang="en-GB" sz="1400" dirty="0"/>
              <a:t>High Score -&gt; Answer is relevant</a:t>
            </a:r>
          </a:p>
          <a:p>
            <a:r>
              <a:rPr lang="en-GB" sz="1400" dirty="0"/>
              <a:t>Low Score -&gt; Answer is about something else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CF2921-E3B8-EF64-3399-AC1CDDD5B8F3}"/>
              </a:ext>
            </a:extLst>
          </p:cNvPr>
          <p:cNvSpPr txBox="1"/>
          <p:nvPr/>
        </p:nvSpPr>
        <p:spPr>
          <a:xfrm>
            <a:off x="9232418" y="64547"/>
            <a:ext cx="290374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FF0000"/>
                </a:solidFill>
              </a:rPr>
              <a:t>Context Precision</a:t>
            </a:r>
          </a:p>
          <a:p>
            <a:endParaRPr lang="en-IN" sz="1400" dirty="0"/>
          </a:p>
          <a:p>
            <a:pPr marL="342900" indent="-342900">
              <a:buAutoNum type="arabicPeriod"/>
            </a:pPr>
            <a:r>
              <a:rPr lang="en-IN" sz="1400" b="1" dirty="0"/>
              <a:t>Split context into chunks</a:t>
            </a:r>
          </a:p>
          <a:p>
            <a:endParaRPr lang="en-GB" sz="1400" dirty="0"/>
          </a:p>
          <a:p>
            <a:r>
              <a:rPr lang="en-IN" sz="1400" dirty="0"/>
              <a:t>Retrieved context</a:t>
            </a:r>
          </a:p>
          <a:p>
            <a:r>
              <a:rPr lang="en-IN" sz="1400" dirty="0"/>
              <a:t>C = {c1, c2, …, ck}</a:t>
            </a:r>
            <a:endParaRPr lang="en-GB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429348-E820-3309-1998-A01A1FC1AA97}"/>
              </a:ext>
            </a:extLst>
          </p:cNvPr>
          <p:cNvSpPr txBox="1"/>
          <p:nvPr/>
        </p:nvSpPr>
        <p:spPr>
          <a:xfrm>
            <a:off x="9232417" y="1496432"/>
            <a:ext cx="2903743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Evaluate each chunk</a:t>
            </a:r>
          </a:p>
          <a:p>
            <a:endParaRPr lang="en-GB" sz="1400" dirty="0"/>
          </a:p>
          <a:p>
            <a:r>
              <a:rPr lang="en-IN" sz="1400" dirty="0"/>
              <a:t>Chunk 1: Yes (= Relevant)</a:t>
            </a:r>
          </a:p>
          <a:p>
            <a:r>
              <a:rPr lang="en-IN" sz="1400" dirty="0"/>
              <a:t>Chunk 2: No (= Not Relevant)</a:t>
            </a:r>
          </a:p>
          <a:p>
            <a:r>
              <a:rPr lang="en-IN" sz="1400" dirty="0"/>
              <a:t>…</a:t>
            </a:r>
            <a:endParaRPr lang="en-GB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05ABEC-6C84-6C26-C037-F82524928E16}"/>
                  </a:ext>
                </a:extLst>
              </p:cNvPr>
              <p:cNvSpPr txBox="1"/>
              <p:nvPr/>
            </p:nvSpPr>
            <p:spPr>
              <a:xfrm>
                <a:off x="9277789" y="2713064"/>
                <a:ext cx="2903743" cy="147418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en-IN" sz="1400" b="1" dirty="0"/>
                  <a:t>Calculate Context Precision</a:t>
                </a:r>
              </a:p>
              <a:p>
                <a:endParaRPr lang="en-GB" sz="1400" dirty="0"/>
              </a:p>
              <a:p>
                <a:r>
                  <a:rPr lang="en-IN" sz="1400" dirty="0"/>
                  <a:t>What fraction of retrieved chunks are actually useful?</a:t>
                </a:r>
              </a:p>
              <a:p>
                <a:r>
                  <a:rPr lang="en-IN" sz="1400" dirty="0"/>
                  <a:t> </a:t>
                </a:r>
              </a:p>
              <a:p>
                <a:r>
                  <a:rPr lang="en-IN" sz="1400" dirty="0"/>
                  <a:t>Example: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1400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60</m:t>
                    </m:r>
                  </m:oMath>
                </a14:m>
                <a:endParaRPr lang="en-GB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05ABEC-6C84-6C26-C037-F82524928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7789" y="2713064"/>
                <a:ext cx="2903743" cy="1474186"/>
              </a:xfrm>
              <a:prstGeom prst="rect">
                <a:avLst/>
              </a:prstGeom>
              <a:blipFill>
                <a:blip r:embed="rId3"/>
                <a:stretch>
                  <a:fillRect l="-840" t="-1240" r="-1471" b="-8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BD6045-1E28-3030-2477-39BF0CBB91FE}"/>
                  </a:ext>
                </a:extLst>
              </p:cNvPr>
              <p:cNvSpPr txBox="1"/>
              <p:nvPr/>
            </p:nvSpPr>
            <p:spPr>
              <a:xfrm>
                <a:off x="9277788" y="4265006"/>
                <a:ext cx="2903743" cy="257051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400" b="1" dirty="0">
                    <a:solidFill>
                      <a:srgbClr val="FF0000"/>
                    </a:solidFill>
                  </a:rPr>
                  <a:t>Context Recall</a:t>
                </a:r>
              </a:p>
              <a:p>
                <a:endParaRPr lang="en-IN" sz="1400" dirty="0"/>
              </a:p>
              <a:p>
                <a:r>
                  <a:rPr lang="en-GB" sz="1400" dirty="0"/>
                  <a:t>How much of the required information was successfully retrieved?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Example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400" dirty="0"/>
                  <a:t>Required facts = 4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400" dirty="0"/>
                  <a:t>Retrieved facts = 3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Recall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=0.75</m:t>
                    </m:r>
                  </m:oMath>
                </a14:m>
                <a:endParaRPr lang="en-GB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BD6045-1E28-3030-2477-39BF0CBB9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7788" y="4265006"/>
                <a:ext cx="2903743" cy="2570512"/>
              </a:xfrm>
              <a:prstGeom prst="rect">
                <a:avLst/>
              </a:prstGeom>
              <a:blipFill>
                <a:blip r:embed="rId4"/>
                <a:stretch>
                  <a:fillRect l="-630" t="-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55339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D933E7-9A0A-79C2-B39C-4CDD0DF11A3E}"/>
              </a:ext>
            </a:extLst>
          </p:cNvPr>
          <p:cNvSpPr txBox="1"/>
          <p:nvPr/>
        </p:nvSpPr>
        <p:spPr>
          <a:xfrm>
            <a:off x="139604" y="55841"/>
            <a:ext cx="1102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/>
              <a:t>DeepEval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2DE944-2889-7FD8-A121-80781663BB73}"/>
              </a:ext>
            </a:extLst>
          </p:cNvPr>
          <p:cNvSpPr txBox="1"/>
          <p:nvPr/>
        </p:nvSpPr>
        <p:spPr>
          <a:xfrm>
            <a:off x="69803" y="474650"/>
            <a:ext cx="2903743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400" dirty="0"/>
              <a:t>Open-source Python framework for testing, evaluating, and benchmarking LLM applications, RAG pipelines, and AI agents</a:t>
            </a:r>
            <a:endParaRPr lang="en-US" sz="1400" dirty="0"/>
          </a:p>
          <a:p>
            <a:endParaRPr lang="en-US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Developed by Confident AI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Often called the </a:t>
            </a:r>
            <a:r>
              <a:rPr lang="en-GB" sz="1400" i="1" dirty="0" err="1"/>
              <a:t>Pytest</a:t>
            </a:r>
            <a:r>
              <a:rPr lang="en-GB" sz="1400" i="1" dirty="0"/>
              <a:t> for LLMs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Enables automated evaluation of LLM applications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56AA8F-07E0-3EA6-29E9-B048C3813727}"/>
              </a:ext>
            </a:extLst>
          </p:cNvPr>
          <p:cNvSpPr txBox="1"/>
          <p:nvPr/>
        </p:nvSpPr>
        <p:spPr>
          <a:xfrm>
            <a:off x="69800" y="2555452"/>
            <a:ext cx="290374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Core features</a:t>
            </a:r>
          </a:p>
          <a:p>
            <a:endParaRPr lang="en-US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LLM-as-a-Judge evaluation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Multiple built-in metrics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Custom evaluation metrics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Synthetic dataset generation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CI/CD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1F59B9-83A8-DEDE-8E86-13C733687AB6}"/>
              </a:ext>
            </a:extLst>
          </p:cNvPr>
          <p:cNvSpPr txBox="1"/>
          <p:nvPr/>
        </p:nvSpPr>
        <p:spPr>
          <a:xfrm>
            <a:off x="69799" y="4427791"/>
            <a:ext cx="2903743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Working</a:t>
            </a:r>
          </a:p>
          <a:p>
            <a:endParaRPr lang="en-US" sz="1400" dirty="0"/>
          </a:p>
          <a:p>
            <a:r>
              <a:rPr lang="en-US" sz="1400" dirty="0"/>
              <a:t>Test Case -&gt; Input -&gt; LLM Application -&gt; Actual Output -&gt; Evaluation Metric -&gt; Pass / Fail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CBA47-5DA0-134E-250F-5D3FC42EA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1662345"/>
              </p:ext>
            </p:extLst>
          </p:nvPr>
        </p:nvGraphicFramePr>
        <p:xfrm>
          <a:off x="3189928" y="474650"/>
          <a:ext cx="5144374" cy="213360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682219">
                  <a:extLst>
                    <a:ext uri="{9D8B030D-6E8A-4147-A177-3AD203B41FA5}">
                      <a16:colId xmlns:a16="http://schemas.microsoft.com/office/drawing/2014/main" val="4282325178"/>
                    </a:ext>
                  </a:extLst>
                </a:gridCol>
                <a:gridCol w="3462155">
                  <a:extLst>
                    <a:ext uri="{9D8B030D-6E8A-4147-A177-3AD203B41FA5}">
                      <a16:colId xmlns:a16="http://schemas.microsoft.com/office/drawing/2014/main" val="3049344162"/>
                    </a:ext>
                  </a:extLst>
                </a:gridCol>
              </a:tblGrid>
              <a:tr h="2972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Evaluates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4206225"/>
                  </a:ext>
                </a:extLst>
              </a:tr>
              <a:tr h="2972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Answer Relevancy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Does the answer address the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4745547"/>
                  </a:ext>
                </a:extLst>
              </a:tr>
              <a:tr h="2972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Faithfulness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Is the answer grounded in retrieved context?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0408157"/>
                  </a:ext>
                </a:extLst>
              </a:tr>
              <a:tr h="2972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Context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Are retrieved chunks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2099347"/>
                  </a:ext>
                </a:extLst>
              </a:tr>
              <a:tr h="2972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Context 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Was enough information 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294003"/>
                  </a:ext>
                </a:extLst>
              </a:tr>
              <a:tr h="2972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Toxicity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Is the response harmful?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1892334"/>
                  </a:ext>
                </a:extLst>
              </a:tr>
              <a:tr h="2972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Is the response fair?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053332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48EBEC0-0E85-080F-DD31-F00E6EAF6E90}"/>
              </a:ext>
            </a:extLst>
          </p:cNvPr>
          <p:cNvSpPr txBox="1"/>
          <p:nvPr/>
        </p:nvSpPr>
        <p:spPr>
          <a:xfrm>
            <a:off x="8657717" y="335050"/>
            <a:ext cx="2280182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Advantages</a:t>
            </a:r>
          </a:p>
          <a:p>
            <a:endParaRPr lang="en-US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Automated testing of AI applications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Repeatable evaluation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Supports regression testing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400" dirty="0"/>
              <a:t>Easy integration into CI/CD pipelines</a:t>
            </a:r>
          </a:p>
          <a:p>
            <a:endParaRPr lang="en-GB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93999F-0E50-F12E-1485-C975AAC8A5CC}"/>
              </a:ext>
            </a:extLst>
          </p:cNvPr>
          <p:cNvSpPr txBox="1"/>
          <p:nvPr/>
        </p:nvSpPr>
        <p:spPr>
          <a:xfrm>
            <a:off x="3192257" y="2735773"/>
            <a:ext cx="7808464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Example (Answer Relevancy)</a:t>
            </a:r>
          </a:p>
          <a:p>
            <a:endParaRPr lang="en-US" sz="1400" dirty="0"/>
          </a:p>
          <a:p>
            <a:r>
              <a:rPr lang="en-GB" sz="1400" dirty="0"/>
              <a:t>from </a:t>
            </a:r>
            <a:r>
              <a:rPr lang="en-GB" sz="1400" dirty="0" err="1"/>
              <a:t>deepeval</a:t>
            </a:r>
            <a:r>
              <a:rPr lang="en-GB" sz="1400" dirty="0"/>
              <a:t> import </a:t>
            </a:r>
            <a:r>
              <a:rPr lang="en-GB" sz="1400" dirty="0" err="1"/>
              <a:t>assert_test</a:t>
            </a:r>
            <a:endParaRPr lang="en-GB" sz="1400" dirty="0"/>
          </a:p>
          <a:p>
            <a:r>
              <a:rPr lang="en-GB" sz="1400" dirty="0"/>
              <a:t>from </a:t>
            </a:r>
            <a:r>
              <a:rPr lang="en-GB" sz="1400" dirty="0" err="1"/>
              <a:t>deepeval.test_case</a:t>
            </a:r>
            <a:r>
              <a:rPr lang="en-GB" sz="1400" dirty="0"/>
              <a:t> import </a:t>
            </a:r>
            <a:r>
              <a:rPr lang="en-GB" sz="1400" dirty="0" err="1"/>
              <a:t>LLMTestCase</a:t>
            </a:r>
            <a:endParaRPr lang="en-GB" sz="1400" dirty="0"/>
          </a:p>
          <a:p>
            <a:r>
              <a:rPr lang="en-GB" sz="1400" dirty="0"/>
              <a:t>from </a:t>
            </a:r>
            <a:r>
              <a:rPr lang="en-GB" sz="1400" dirty="0" err="1"/>
              <a:t>deepeval.metrics</a:t>
            </a:r>
            <a:r>
              <a:rPr lang="en-GB" sz="1400" dirty="0"/>
              <a:t> import </a:t>
            </a:r>
            <a:r>
              <a:rPr lang="en-GB" sz="1400" dirty="0" err="1"/>
              <a:t>AnswerRelevancyMetric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/>
              <a:t>metric = </a:t>
            </a:r>
            <a:r>
              <a:rPr lang="en-GB" sz="1400" dirty="0" err="1"/>
              <a:t>AnswerRelevancyMetric</a:t>
            </a:r>
            <a:r>
              <a:rPr lang="en-GB" sz="1400" dirty="0"/>
              <a:t>(threshold=0.7)</a:t>
            </a:r>
          </a:p>
          <a:p>
            <a:endParaRPr lang="en-GB" sz="1400" dirty="0"/>
          </a:p>
          <a:p>
            <a:r>
              <a:rPr lang="en-GB" sz="1400" dirty="0" err="1"/>
              <a:t>test_case</a:t>
            </a:r>
            <a:r>
              <a:rPr lang="en-GB" sz="1400" dirty="0"/>
              <a:t> = </a:t>
            </a:r>
            <a:r>
              <a:rPr lang="en-GB" sz="1400" dirty="0" err="1"/>
              <a:t>LLMTestCase</a:t>
            </a:r>
            <a:r>
              <a:rPr lang="en-GB" sz="1400" dirty="0"/>
              <a:t>(</a:t>
            </a:r>
          </a:p>
          <a:p>
            <a:r>
              <a:rPr lang="en-GB" sz="1400" dirty="0"/>
              <a:t>    input="What is the return policy?",</a:t>
            </a:r>
          </a:p>
          <a:p>
            <a:r>
              <a:rPr lang="en-GB" sz="1400" dirty="0"/>
              <a:t>    </a:t>
            </a:r>
            <a:r>
              <a:rPr lang="en-GB" sz="1400" dirty="0" err="1"/>
              <a:t>actual_output</a:t>
            </a:r>
            <a:r>
              <a:rPr lang="en-GB" sz="1400" dirty="0"/>
              <a:t>="Items can be returned within 30 days."</a:t>
            </a:r>
          </a:p>
          <a:p>
            <a:r>
              <a:rPr lang="en-GB" sz="1400" dirty="0"/>
              <a:t>)</a:t>
            </a:r>
          </a:p>
          <a:p>
            <a:endParaRPr lang="en-GB" sz="1400" dirty="0"/>
          </a:p>
          <a:p>
            <a:r>
              <a:rPr lang="en-GB" sz="1400" dirty="0" err="1"/>
              <a:t>assert_test</a:t>
            </a:r>
            <a:r>
              <a:rPr lang="en-GB" sz="1400" dirty="0"/>
              <a:t>(</a:t>
            </a:r>
            <a:r>
              <a:rPr lang="en-GB" sz="1400" dirty="0" err="1"/>
              <a:t>test_case</a:t>
            </a:r>
            <a:r>
              <a:rPr lang="en-GB" sz="1400" dirty="0"/>
              <a:t>, [metric])</a:t>
            </a:r>
          </a:p>
        </p:txBody>
      </p:sp>
    </p:spTree>
    <p:extLst>
      <p:ext uri="{BB962C8B-B14F-4D97-AF65-F5344CB8AC3E}">
        <p14:creationId xmlns:p14="http://schemas.microsoft.com/office/powerpoint/2010/main" val="377044463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615B-BE00-2A5C-54A2-8709F4651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663"/>
            <a:ext cx="10515600" cy="956281"/>
          </a:xfrm>
        </p:spPr>
        <p:txBody>
          <a:bodyPr/>
          <a:lstStyle/>
          <a:p>
            <a:r>
              <a:rPr lang="en-IN" dirty="0"/>
              <a:t>RAGAS Vs </a:t>
            </a:r>
            <a:r>
              <a:rPr lang="en-IN" dirty="0" err="1"/>
              <a:t>DeepEval</a:t>
            </a:r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4BD498-9786-151A-F62B-C469617A7F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655551"/>
              </p:ext>
            </p:extLst>
          </p:nvPr>
        </p:nvGraphicFramePr>
        <p:xfrm>
          <a:off x="838200" y="2081054"/>
          <a:ext cx="10515600" cy="42062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330789">
                  <a:extLst>
                    <a:ext uri="{9D8B030D-6E8A-4147-A177-3AD203B41FA5}">
                      <a16:colId xmlns:a16="http://schemas.microsoft.com/office/drawing/2014/main" val="2329034574"/>
                    </a:ext>
                  </a:extLst>
                </a:gridCol>
                <a:gridCol w="4285814">
                  <a:extLst>
                    <a:ext uri="{9D8B030D-6E8A-4147-A177-3AD203B41FA5}">
                      <a16:colId xmlns:a16="http://schemas.microsoft.com/office/drawing/2014/main" val="2586936758"/>
                    </a:ext>
                  </a:extLst>
                </a:gridCol>
                <a:gridCol w="3898997">
                  <a:extLst>
                    <a:ext uri="{9D8B030D-6E8A-4147-A177-3AD203B41FA5}">
                      <a16:colId xmlns:a16="http://schemas.microsoft.com/office/drawing/2014/main" val="3600804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Aspect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RAGAS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DeepEval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2478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One liner</a:t>
                      </a:r>
                      <a:endParaRPr lang="en-GB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How good is my RAG pipeline?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Is my AI application ready </a:t>
                      </a:r>
                      <a:r>
                        <a:rPr lang="en-US"/>
                        <a:t>for production?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0463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Primary Focus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RAG pipeline evaluation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LLM, RAG &amp; Agent evaluation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378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Evaluation Style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Metric-based benchmarking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Test-driven validation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8339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Best For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Improving retrieval quality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Testing production AI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48965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Key Metrics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Faithfulness, Answer Relevance, Context Precision, Context 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Relevancy, Faithfulness, Toxicity, Bias, Tool Calling, Agent Metrics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9326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CI/CD Support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Limited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7600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Agent Evaluation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Limited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676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Output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Metric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Pass/Fail + metric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5424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Typical Users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Researchers, RAG developers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Application developers, QA engineers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0752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34124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3546E-86A9-56AC-2E63-97DA6A8BB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D82068-E362-84D1-3A16-94838BA1E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8: Contextual Agents with Voice Modalities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DABB5A1-407B-DB58-18A8-8F4609D70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442118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E7FB6E-E567-3115-AF7C-25F48ECBD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Modality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517AC2-BEB9-1DBF-D56A-3BF11EB5A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Modality</a:t>
            </a:r>
            <a:r>
              <a:rPr lang="en-GB" dirty="0"/>
              <a:t>: Type of information an AI agent can process or generate</a:t>
            </a:r>
          </a:p>
          <a:p>
            <a:r>
              <a:rPr lang="en-GB" dirty="0"/>
              <a:t>Modern AI agents combine multiple modalities to enable more natural and personalized interactions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By combining voice, text, and memory, modern AI agents can understand spoken requests, maintain conversational context, remember user preferences across sessions, and deliver personalized, natural interactions</a:t>
            </a:r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831B1C-BF31-FF3F-42DA-6A91C66B40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7829099"/>
              </p:ext>
            </p:extLst>
          </p:nvPr>
        </p:nvGraphicFramePr>
        <p:xfrm>
          <a:off x="984783" y="3041872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152609">
                  <a:extLst>
                    <a:ext uri="{9D8B030D-6E8A-4147-A177-3AD203B41FA5}">
                      <a16:colId xmlns:a16="http://schemas.microsoft.com/office/drawing/2014/main" val="820279017"/>
                    </a:ext>
                  </a:extLst>
                </a:gridCol>
                <a:gridCol w="6362991">
                  <a:extLst>
                    <a:ext uri="{9D8B030D-6E8A-4147-A177-3AD203B41FA5}">
                      <a16:colId xmlns:a16="http://schemas.microsoft.com/office/drawing/2014/main" val="30471073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Modality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843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Text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Chat, emails, documents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407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Voice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Speech input and spoken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6262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Memory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User preferences, conversation history, long-term knowledge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5411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561233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E24AD-8561-8378-6CD6-79942C142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Whisper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B2C89-4D6D-DC9E-E893-8393CB6F6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speech recognition (ASR) model by OpenAI for converting spoken audio into text</a:t>
            </a:r>
          </a:p>
          <a:p>
            <a:r>
              <a:rPr lang="en-US" dirty="0"/>
              <a:t>Capabilities</a:t>
            </a:r>
          </a:p>
          <a:p>
            <a:pPr lvl="1"/>
            <a:r>
              <a:rPr lang="en-US" dirty="0"/>
              <a:t>Transcribe speech → text</a:t>
            </a:r>
          </a:p>
          <a:p>
            <a:pPr lvl="1"/>
            <a:r>
              <a:rPr lang="en-US" dirty="0"/>
              <a:t>Translate speech → English</a:t>
            </a:r>
          </a:p>
          <a:p>
            <a:pPr lvl="1"/>
            <a:r>
              <a:rPr lang="en-US" dirty="0"/>
              <a:t>Support multiple languages</a:t>
            </a:r>
          </a:p>
          <a:p>
            <a:pPr lvl="1"/>
            <a:r>
              <a:rPr lang="en-US" dirty="0"/>
              <a:t>Handles accents and dialects</a:t>
            </a:r>
          </a:p>
          <a:p>
            <a:pPr lvl="1"/>
            <a:r>
              <a:rPr lang="en-US" dirty="0"/>
              <a:t>Robust to background noise</a:t>
            </a:r>
          </a:p>
          <a:p>
            <a:pPr lvl="1"/>
            <a:r>
              <a:rPr lang="en-US" dirty="0"/>
              <a:t>Works with real-world audio recordings</a:t>
            </a:r>
          </a:p>
        </p:txBody>
      </p:sp>
    </p:spTree>
    <p:extLst>
      <p:ext uri="{BB962C8B-B14F-4D97-AF65-F5344CB8AC3E}">
        <p14:creationId xmlns:p14="http://schemas.microsoft.com/office/powerpoint/2010/main" val="36654690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60FAA-9F1D-E2E1-5B5E-3E742E7D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CDA6-D8FC-F742-EB19-AA219E9ED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OpenAI Whisper on the Local Machine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0C955-E157-F365-7650-94E5BB77C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Note: This setup is not needed if we want to use OpenAI API’s in code</a:t>
            </a:r>
          </a:p>
          <a:p>
            <a:r>
              <a:rPr lang="en-GB" dirty="0"/>
              <a:t>pip install </a:t>
            </a:r>
            <a:r>
              <a:rPr lang="en-GB" dirty="0" err="1"/>
              <a:t>openai</a:t>
            </a:r>
            <a:r>
              <a:rPr lang="en-GB" dirty="0"/>
              <a:t>-whisper</a:t>
            </a:r>
          </a:p>
          <a:p>
            <a:r>
              <a:rPr lang="en-GB" dirty="0"/>
              <a:t>Download the </a:t>
            </a:r>
            <a:r>
              <a:rPr lang="en-GB" dirty="0" err="1"/>
              <a:t>FFmpeg</a:t>
            </a:r>
            <a:r>
              <a:rPr lang="en-GB" dirty="0"/>
              <a:t> Essentials build for Windows (for example, from Gyan's </a:t>
            </a:r>
            <a:r>
              <a:rPr lang="en-GB" dirty="0" err="1"/>
              <a:t>FFmpeg</a:t>
            </a:r>
            <a:r>
              <a:rPr lang="en-GB" dirty="0"/>
              <a:t> builds)</a:t>
            </a:r>
          </a:p>
          <a:p>
            <a:pPr lvl="1"/>
            <a:r>
              <a:rPr lang="en-GB" dirty="0"/>
              <a:t>Download ‘ffmpeg-release-essentials.zip’ (Whisper uses it for audio decoding)</a:t>
            </a:r>
          </a:p>
          <a:p>
            <a:r>
              <a:rPr lang="en-GB" dirty="0"/>
              <a:t>Extract it and move it to a directory c:\ffmpeg</a:t>
            </a:r>
          </a:p>
          <a:p>
            <a:r>
              <a:rPr lang="en-GB" dirty="0"/>
              <a:t>Add path to Windows “PATH” variable: C:\ffmpeg\bin</a:t>
            </a:r>
          </a:p>
          <a:p>
            <a:r>
              <a:rPr lang="en-GB" dirty="0"/>
              <a:t>Restart VS Code, terminal etc</a:t>
            </a:r>
          </a:p>
          <a:p>
            <a:r>
              <a:rPr lang="en-GB" dirty="0"/>
              <a:t>Record a small audio and store in a file, say hello.wav</a:t>
            </a:r>
          </a:p>
          <a:p>
            <a:r>
              <a:rPr lang="en-GB" dirty="0"/>
              <a:t>Now transcribe: whisper hello.wav</a:t>
            </a:r>
          </a:p>
          <a:p>
            <a:r>
              <a:rPr lang="en-GB" dirty="0"/>
              <a:t>Try translation: Create hindi.wav containing some Hindi text</a:t>
            </a:r>
          </a:p>
          <a:p>
            <a:r>
              <a:rPr lang="en-GB" dirty="0"/>
              <a:t>Now transcribe: </a:t>
            </a:r>
            <a:r>
              <a:rPr lang="nb-NO" dirty="0"/>
              <a:t>whisper hindi.wav --task translate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941295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6ADD-3532-D4F0-3EC4-E3AC7EE46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Python Testing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ECC2-6B47-8A94-23C4-38DF175C8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import whisper</a:t>
            </a:r>
          </a:p>
          <a:p>
            <a:endParaRPr lang="en-GB" dirty="0"/>
          </a:p>
          <a:p>
            <a:r>
              <a:rPr lang="en-GB" dirty="0"/>
              <a:t>model = </a:t>
            </a:r>
            <a:r>
              <a:rPr lang="en-GB" dirty="0" err="1"/>
              <a:t>whisper.load_model</a:t>
            </a:r>
            <a:r>
              <a:rPr lang="en-GB" dirty="0"/>
              <a:t>("base")</a:t>
            </a:r>
          </a:p>
          <a:p>
            <a:endParaRPr lang="en-GB" dirty="0"/>
          </a:p>
          <a:p>
            <a:r>
              <a:rPr lang="en-GB" dirty="0"/>
              <a:t>result = </a:t>
            </a:r>
            <a:r>
              <a:rPr lang="en-GB" dirty="0" err="1"/>
              <a:t>model.transcribe</a:t>
            </a:r>
            <a:r>
              <a:rPr lang="en-GB" dirty="0"/>
              <a:t>("hello.wav")</a:t>
            </a:r>
          </a:p>
          <a:p>
            <a:endParaRPr lang="en-GB" dirty="0"/>
          </a:p>
          <a:p>
            <a:r>
              <a:rPr lang="en-GB" dirty="0"/>
              <a:t>print(result["text"])</a:t>
            </a:r>
          </a:p>
        </p:txBody>
      </p:sp>
    </p:spTree>
    <p:extLst>
      <p:ext uri="{BB962C8B-B14F-4D97-AF65-F5344CB8AC3E}">
        <p14:creationId xmlns:p14="http://schemas.microsoft.com/office/powerpoint/2010/main" val="53607398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15168-3C8D-EC0F-93CB-B7FBAC3C2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OpenAI’s Cloud Whisper 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BE597-85C3-232B-9B5E-6DB0FE9A0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C:\code\agenticai\15_real\voice_assistant_whisper_langchain.py</a:t>
            </a:r>
          </a:p>
          <a:p>
            <a:r>
              <a:rPr lang="en-GB" dirty="0"/>
              <a:t>C:\code\agenticai\15_real\personal_memory_assistant.py</a:t>
            </a:r>
          </a:p>
          <a:p>
            <a:pPr lvl="1"/>
            <a:r>
              <a:rPr lang="en-GB" dirty="0"/>
              <a:t>Turn 1: My name is Alex. I'm vegetarian. I'm visiting Japan in October.</a:t>
            </a:r>
          </a:p>
          <a:p>
            <a:pPr lvl="1"/>
            <a:r>
              <a:rPr lang="en-GB" dirty="0"/>
              <a:t>Turn 2: What do you remember about me?</a:t>
            </a:r>
          </a:p>
          <a:p>
            <a:pPr lvl="1"/>
            <a:r>
              <a:rPr lang="en-GB" dirty="0"/>
              <a:t>Assistant: You're Alex, you're vegetarian, and you're traveling to Japan in October.</a:t>
            </a:r>
          </a:p>
          <a:p>
            <a:pPr lvl="1"/>
            <a:r>
              <a:rPr lang="en-GB" dirty="0"/>
              <a:t>Concepts: Whisper, </a:t>
            </a:r>
            <a:r>
              <a:rPr lang="en-GB" dirty="0" err="1"/>
              <a:t>LangChain</a:t>
            </a:r>
            <a:r>
              <a:rPr lang="en-GB" dirty="0"/>
              <a:t> memory, GPT, TTS</a:t>
            </a:r>
          </a:p>
          <a:p>
            <a:r>
              <a:rPr lang="en-GB" dirty="0"/>
              <a:t>C:\code\agenticai\15_real\language_tutor.py</a:t>
            </a:r>
          </a:p>
          <a:p>
            <a:pPr lvl="1"/>
            <a:r>
              <a:rPr lang="en-GB" dirty="0"/>
              <a:t>Turn 1: Teach me three Japanese greetings.</a:t>
            </a:r>
          </a:p>
          <a:p>
            <a:pPr lvl="1"/>
            <a:r>
              <a:rPr lang="en-GB" dirty="0"/>
              <a:t>Turn 2: Repeat the second one.</a:t>
            </a:r>
          </a:p>
          <a:p>
            <a:pPr lvl="1"/>
            <a:r>
              <a:rPr lang="en-GB" dirty="0"/>
              <a:t>Assistant remembers previous lesson.</a:t>
            </a:r>
          </a:p>
          <a:p>
            <a:r>
              <a:rPr lang="en-US" dirty="0"/>
              <a:t>C:\code\agenticai\15_real\customer_support_voice_rag.py</a:t>
            </a:r>
          </a:p>
          <a:p>
            <a:pPr lvl="1"/>
            <a:r>
              <a:rPr lang="en-US" dirty="0"/>
              <a:t>Customer support RAG using voice I/O</a:t>
            </a:r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152585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042E6-58EC-6904-6B3B-7F5BEFED0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F88056-A752-CE49-65F8-921DD39E3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9: Observability and </a:t>
            </a:r>
            <a:r>
              <a:rPr lang="en-IN" dirty="0" err="1"/>
              <a:t>AgentOps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E3F955-D74A-FF70-6694-90087C826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21458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69646-36FD-EAFA-B5B7-1C8A61979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D00120-0F05-F3CE-F83E-176006BC9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Langfuse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C0F334D-0BF2-8354-4290-6F6B5386C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An open-source AI engineering platform for developing, monitoring, evaluating, and debugging LLM applications</a:t>
            </a:r>
          </a:p>
          <a:p>
            <a:r>
              <a:rPr lang="en-GB" dirty="0"/>
              <a:t>Since January 2026 part of </a:t>
            </a:r>
            <a:r>
              <a:rPr lang="en-GB" dirty="0" err="1"/>
              <a:t>ClickHouse</a:t>
            </a:r>
            <a:endParaRPr lang="en-GB" dirty="0"/>
          </a:p>
          <a:p>
            <a:r>
              <a:rPr lang="en-GB" dirty="0"/>
              <a:t>Features</a:t>
            </a:r>
          </a:p>
          <a:p>
            <a:pPr lvl="1"/>
            <a:r>
              <a:rPr lang="en-GB" dirty="0"/>
              <a:t>Observability</a:t>
            </a:r>
          </a:p>
          <a:p>
            <a:pPr lvl="1"/>
            <a:r>
              <a:rPr lang="en-GB" dirty="0"/>
              <a:t>Prompt management</a:t>
            </a:r>
          </a:p>
          <a:p>
            <a:pPr lvl="1"/>
            <a:r>
              <a:rPr lang="en-GB" dirty="0"/>
              <a:t>Evaluation of LLM performance</a:t>
            </a:r>
          </a:p>
          <a:p>
            <a:r>
              <a:rPr lang="en-GB" dirty="0"/>
              <a:t>Deployment options</a:t>
            </a:r>
          </a:p>
          <a:p>
            <a:pPr lvl="1"/>
            <a:r>
              <a:rPr lang="en-GB" dirty="0"/>
              <a:t>Cloud</a:t>
            </a:r>
          </a:p>
          <a:p>
            <a:pPr lvl="1"/>
            <a:r>
              <a:rPr lang="en-GB" dirty="0"/>
              <a:t>Self-hosted</a:t>
            </a:r>
          </a:p>
        </p:txBody>
      </p:sp>
    </p:spTree>
    <p:extLst>
      <p:ext uri="{BB962C8B-B14F-4D97-AF65-F5344CB8AC3E}">
        <p14:creationId xmlns:p14="http://schemas.microsoft.com/office/powerpoint/2010/main" val="113870501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7EF5-7E6C-F67F-78FB-69A700504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LangFuse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FCE89-2A49-95AC-CF39-A1010B2B6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Sign up at </a:t>
            </a:r>
            <a:r>
              <a:rPr lang="en-GB" dirty="0"/>
              <a:t>cloud.langfuse.com (Free tier) and create a project</a:t>
            </a:r>
          </a:p>
          <a:p>
            <a:r>
              <a:rPr lang="en-GB" dirty="0"/>
              <a:t>In our project settings, add public key, secret key, and </a:t>
            </a:r>
            <a:r>
              <a:rPr lang="en-GB" dirty="0" err="1"/>
              <a:t>langfuse</a:t>
            </a:r>
            <a:r>
              <a:rPr lang="en-GB" dirty="0"/>
              <a:t> base URL</a:t>
            </a:r>
          </a:p>
          <a:p>
            <a:r>
              <a:rPr lang="en-GB" dirty="0"/>
              <a:t>Install (pip install </a:t>
            </a:r>
            <a:r>
              <a:rPr lang="en-GB" dirty="0" err="1"/>
              <a:t>langfuse</a:t>
            </a:r>
            <a:r>
              <a:rPr lang="en-GB" dirty="0"/>
              <a:t>)</a:t>
            </a:r>
          </a:p>
          <a:p>
            <a:r>
              <a:rPr lang="en-GB" dirty="0"/>
              <a:t>Integrate as per the API</a:t>
            </a:r>
          </a:p>
          <a:p>
            <a:r>
              <a:rPr lang="en-GB" dirty="0"/>
              <a:t>Code: C:\code\agenticai\15_real\langfuse_rag_tracing.py</a:t>
            </a:r>
          </a:p>
          <a:p>
            <a:r>
              <a:rPr lang="en-GB" dirty="0"/>
              <a:t>Then in the </a:t>
            </a:r>
            <a:r>
              <a:rPr lang="en-GB" dirty="0" err="1"/>
              <a:t>LangFuse</a:t>
            </a:r>
            <a:r>
              <a:rPr lang="en-GB" dirty="0"/>
              <a:t> website, look at the ‘Tracing’ tab</a:t>
            </a:r>
          </a:p>
          <a:p>
            <a:r>
              <a:rPr lang="en-GB" dirty="0"/>
              <a:t>Same code using </a:t>
            </a:r>
            <a:r>
              <a:rPr lang="en-GB" dirty="0" err="1"/>
              <a:t>LangChain</a:t>
            </a:r>
            <a:r>
              <a:rPr lang="en-GB" dirty="0"/>
              <a:t>: 15_real\langfuse_langchain_rag_tracing.py</a:t>
            </a:r>
          </a:p>
          <a:p>
            <a:pPr lvl="1"/>
            <a:r>
              <a:rPr lang="en-GB" dirty="0"/>
              <a:t>In </a:t>
            </a:r>
            <a:r>
              <a:rPr lang="en-GB" dirty="0" err="1"/>
              <a:t>LangChain</a:t>
            </a:r>
            <a:r>
              <a:rPr lang="en-GB" dirty="0"/>
              <a:t>, we just need to make a call to </a:t>
            </a:r>
            <a:r>
              <a:rPr lang="en-GB" dirty="0" err="1"/>
              <a:t>LangFuse</a:t>
            </a:r>
            <a:r>
              <a:rPr lang="en-GB" dirty="0"/>
              <a:t> callback handler – no other code is needed</a:t>
            </a:r>
          </a:p>
        </p:txBody>
      </p:sp>
    </p:spTree>
    <p:extLst>
      <p:ext uri="{BB962C8B-B14F-4D97-AF65-F5344CB8AC3E}">
        <p14:creationId xmlns:p14="http://schemas.microsoft.com/office/powerpoint/2010/main" val="402576918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F704-F21A-20E6-2E02-DC481456E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LangSmith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078B7-175F-2EB7-615A-03CD573DA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framework-agnostic platform for building, debugging, and deploying AI agents and LLM applications, built by the </a:t>
            </a:r>
            <a:r>
              <a:rPr lang="en-GB" dirty="0" err="1"/>
              <a:t>LangChain</a:t>
            </a:r>
            <a:r>
              <a:rPr lang="en-GB" dirty="0"/>
              <a:t> team</a:t>
            </a:r>
          </a:p>
          <a:p>
            <a:r>
              <a:rPr lang="en-GB" dirty="0"/>
              <a:t>Lets you trace requests, evaluate outputs, test prompts, and manage deployments all in one place, working with your existing agent stack</a:t>
            </a:r>
          </a:p>
          <a:p>
            <a:r>
              <a:rPr lang="en-GB" dirty="0"/>
              <a:t>Features</a:t>
            </a:r>
          </a:p>
          <a:p>
            <a:pPr lvl="1"/>
            <a:r>
              <a:rPr lang="en-GB" dirty="0"/>
              <a:t>Observability</a:t>
            </a:r>
          </a:p>
          <a:p>
            <a:pPr lvl="1"/>
            <a:r>
              <a:rPr lang="en-GB" dirty="0"/>
              <a:t>Evaluation</a:t>
            </a:r>
          </a:p>
          <a:p>
            <a:pPr lvl="1"/>
            <a:r>
              <a:rPr lang="en-GB" dirty="0"/>
              <a:t>Prompt playground</a:t>
            </a:r>
          </a:p>
          <a:p>
            <a:pPr lvl="1"/>
            <a:r>
              <a:rPr lang="en-GB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11333442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A438D-26F7-B59A-AC5D-1E31144C5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LangFuse</a:t>
            </a:r>
            <a:r>
              <a:rPr lang="en-IN" dirty="0"/>
              <a:t> versus </a:t>
            </a:r>
            <a:r>
              <a:rPr lang="en-IN" dirty="0" err="1"/>
              <a:t>LangSmith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35029B-80D5-1686-B24E-352DAF6E66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5679747"/>
              </p:ext>
            </p:extLst>
          </p:nvPr>
        </p:nvGraphicFramePr>
        <p:xfrm>
          <a:off x="606720" y="1690688"/>
          <a:ext cx="11406123" cy="4787502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15393">
                  <a:extLst>
                    <a:ext uri="{9D8B030D-6E8A-4147-A177-3AD203B41FA5}">
                      <a16:colId xmlns:a16="http://schemas.microsoft.com/office/drawing/2014/main" val="2115896439"/>
                    </a:ext>
                  </a:extLst>
                </a:gridCol>
                <a:gridCol w="4718583">
                  <a:extLst>
                    <a:ext uri="{9D8B030D-6E8A-4147-A177-3AD203B41FA5}">
                      <a16:colId xmlns:a16="http://schemas.microsoft.com/office/drawing/2014/main" val="1667592256"/>
                    </a:ext>
                  </a:extLst>
                </a:gridCol>
                <a:gridCol w="4872147">
                  <a:extLst>
                    <a:ext uri="{9D8B030D-6E8A-4147-A177-3AD203B41FA5}">
                      <a16:colId xmlns:a16="http://schemas.microsoft.com/office/drawing/2014/main" val="3359876767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Feature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Langfuse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LangSmith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3750796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Focus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Open-source AI engineering platform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Agent engineering platform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2726266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Open Source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Yes — self-hostable via Docker/Helm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No — proprietary SaaS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9533010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Tracing Tech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 err="1"/>
                        <a:t>OpenTelemetry</a:t>
                      </a:r>
                      <a:r>
                        <a:rPr lang="en-GB" sz="2000" dirty="0"/>
                        <a:t>-based, </a:t>
                      </a:r>
                      <a:r>
                        <a:rPr lang="en-GB" sz="2000" dirty="0" err="1"/>
                        <a:t>ClickHouse</a:t>
                      </a:r>
                      <a:r>
                        <a:rPr lang="en-GB" sz="2000" dirty="0"/>
                        <a:t> backend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Proprietary, deeply tied to LangChain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4157392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Framework Support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Framework-agnostic (OpenAI SDK, LangChain, Vercel AI SDK, CrewAI)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Framework-agnostic, tightest with LangChain/LangGraph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7621014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Evaluation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Manual scoring, LLM-as-judge, datasets, user feedback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Built-in + custom criteria, datasets, automated root-cause clustering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6964190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Deployment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Cloud (EU/US/JP/HIPAA) or self-hosted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Managed cloud, self-hosted, or hybrid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129716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Backing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Independent, now part of ClickHouse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Built by LangChain Inc.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5587613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Notable Users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Canva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Broad </a:t>
                      </a:r>
                      <a:r>
                        <a:rPr lang="en-GB" sz="2000" dirty="0" err="1"/>
                        <a:t>LangChain</a:t>
                      </a:r>
                      <a:r>
                        <a:rPr lang="en-GB" sz="2000" dirty="0"/>
                        <a:t>/</a:t>
                      </a:r>
                      <a:r>
                        <a:rPr lang="en-GB" sz="2000" dirty="0" err="1"/>
                        <a:t>LangGraph</a:t>
                      </a:r>
                      <a:r>
                        <a:rPr lang="en-GB" sz="2000" dirty="0"/>
                        <a:t> ecosystem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8204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76522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8829-1829-F362-7B48-2E0FA763A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109FA-B2EB-CD43-D149-33D1362BB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LangSmith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2F237-8A94-7D31-AB06-E56FC5D56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Sign up at </a:t>
            </a:r>
            <a:r>
              <a:rPr lang="en-GB" dirty="0"/>
              <a:t>smith.langchain.com (Free tier) and create a project</a:t>
            </a:r>
          </a:p>
          <a:p>
            <a:r>
              <a:rPr lang="en-GB" dirty="0"/>
              <a:t>Settings -&gt; API keys -&gt; Create API key -&gt; Copy and paste in notepad</a:t>
            </a:r>
          </a:p>
          <a:p>
            <a:r>
              <a:rPr lang="en-GB" dirty="0"/>
              <a:t>Install (pip install </a:t>
            </a:r>
            <a:r>
              <a:rPr lang="en-GB" dirty="0" err="1"/>
              <a:t>langsmith</a:t>
            </a:r>
            <a:r>
              <a:rPr lang="en-GB" dirty="0"/>
              <a:t>)</a:t>
            </a:r>
          </a:p>
          <a:p>
            <a:r>
              <a:rPr lang="en-GB" dirty="0"/>
              <a:t>Export LANGSMITH_TRACING=true, LANGSMITH_API_KEY="your-</a:t>
            </a:r>
            <a:r>
              <a:rPr lang="en-GB" dirty="0" err="1"/>
              <a:t>api</a:t>
            </a:r>
            <a:r>
              <a:rPr lang="en-GB" dirty="0"/>
              <a:t>-key", and LANGSMITH_PROJECT="your-project-name"</a:t>
            </a:r>
          </a:p>
          <a:p>
            <a:r>
              <a:rPr lang="en-GB" dirty="0"/>
              <a:t>Integrate as per the API</a:t>
            </a:r>
          </a:p>
          <a:p>
            <a:r>
              <a:rPr lang="en-GB" dirty="0"/>
              <a:t>Code: C:\code\agenticai\15_real\langsmith_rag_tracing.py</a:t>
            </a:r>
          </a:p>
          <a:p>
            <a:r>
              <a:rPr lang="en-GB" dirty="0"/>
              <a:t>Then look at traces in the </a:t>
            </a:r>
            <a:r>
              <a:rPr lang="en-GB" dirty="0" err="1"/>
              <a:t>LangSmith</a:t>
            </a:r>
            <a:r>
              <a:rPr lang="en-GB"/>
              <a:t> website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3288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8151</TotalTime>
  <Words>9502</Words>
  <Application>Microsoft Office PowerPoint</Application>
  <PresentationFormat>Widescreen</PresentationFormat>
  <Paragraphs>1675</Paragraphs>
  <Slides>122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9" baseType="lpstr">
      <vt:lpstr>Arial</vt:lpstr>
      <vt:lpstr>Calibri</vt:lpstr>
      <vt:lpstr>Calibri Light</vt:lpstr>
      <vt:lpstr>Cambria Math</vt:lpstr>
      <vt:lpstr>Cascadia Code</vt:lpstr>
      <vt:lpstr>Cascadia Mono</vt:lpstr>
      <vt:lpstr>Office Theme</vt:lpstr>
      <vt:lpstr>Agentic AI</vt:lpstr>
      <vt:lpstr>Module 1: Agentic AI Fundamentals and LLM Access</vt:lpstr>
      <vt:lpstr>AI Agent</vt:lpstr>
      <vt:lpstr>Real World Need of AI Agents</vt:lpstr>
      <vt:lpstr>Traditional, Generative, Agentic AI</vt:lpstr>
      <vt:lpstr>Agent Types</vt:lpstr>
      <vt:lpstr>Foundational Components of an AI Agent</vt:lpstr>
      <vt:lpstr>Hands-on: Directly Accessing LLMs </vt:lpstr>
      <vt:lpstr>Using LLMs: OpenAI</vt:lpstr>
      <vt:lpstr>Building the First Agent</vt:lpstr>
      <vt:lpstr>Building the First Agent</vt:lpstr>
      <vt:lpstr>Hugging Face</vt:lpstr>
      <vt:lpstr>Hugging Face</vt:lpstr>
      <vt:lpstr>Using LLMs: Hugging Face</vt:lpstr>
      <vt:lpstr>Creating a Simple Utility Agent Using OpenAI API (No Frameworks)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Mult-Assistant Agent Step-by-Step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2: LangChain</vt:lpstr>
      <vt:lpstr>LangChain</vt:lpstr>
      <vt:lpstr>LCEL, Runnable</vt:lpstr>
      <vt:lpstr>Example: Prompt | LLM</vt:lpstr>
      <vt:lpstr>Output Parsers</vt:lpstr>
      <vt:lpstr>Prompt Templates</vt:lpstr>
      <vt:lpstr>Session Memory</vt:lpstr>
      <vt:lpstr>Persistent Memory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Callbacks</vt:lpstr>
      <vt:lpstr>Chaining Multiple Retrievers</vt:lpstr>
      <vt:lpstr>LangServe</vt:lpstr>
      <vt:lpstr>LangServe: How to Use?</vt:lpstr>
      <vt:lpstr>Build a Q&amp;A Bot from PDFs</vt:lpstr>
      <vt:lpstr>Module 3: LangGraph for Stateful Agents and HITL</vt:lpstr>
      <vt:lpstr>LangChain versus LangGraph</vt:lpstr>
      <vt:lpstr>LangGraph:  Key Components</vt:lpstr>
      <vt:lpstr>First LangGraph Application (3_1_langgraph_basic.py)</vt:lpstr>
      <vt:lpstr>First LangGraph Application (3_1_langgraph_basic.py)</vt:lpstr>
      <vt:lpstr>First LangGraph Application (3_1_langgraph_basic.py)</vt:lpstr>
      <vt:lpstr>First LangGraph Application (3_1_langgraph_basic.py)</vt:lpstr>
      <vt:lpstr>LangGraph Reducer  (3_2_langgraph_without_reducer.py, 3_3_langgraph_without_reducer.py)</vt:lpstr>
      <vt:lpstr>Using Reducer with LLM</vt:lpstr>
      <vt:lpstr>Cycles/Loops</vt:lpstr>
      <vt:lpstr>Human In the Loop (HIL)</vt:lpstr>
      <vt:lpstr>Checkpointers</vt:lpstr>
      <vt:lpstr>Guardrails</vt:lpstr>
      <vt:lpstr>Module 4: OpenAI Agents SDK</vt:lpstr>
      <vt:lpstr>Tool-Augmented Research Agent</vt:lpstr>
      <vt:lpstr>Agent Lifecycle Hooks</vt:lpstr>
      <vt:lpstr>Module 5: Agentic RAG Systems</vt:lpstr>
      <vt:lpstr>Traditional RAG versus Agentic RAG</vt:lpstr>
      <vt:lpstr>PowerPoint Presentation</vt:lpstr>
      <vt:lpstr>Common Adaptive Strategies (C:\code\agenticai\15_real\adaptive_retrieval_strategies.py)</vt:lpstr>
      <vt:lpstr>Cohere</vt:lpstr>
      <vt:lpstr>Retrieval + Reasoning</vt:lpstr>
      <vt:lpstr>Retrieval + Reasoning Example</vt:lpstr>
      <vt:lpstr>Market Research Assistant using RAG</vt:lpstr>
      <vt:lpstr>LlamaIndex</vt:lpstr>
      <vt:lpstr>PowerPoint Presentation</vt:lpstr>
      <vt:lpstr>LlamaIndex</vt:lpstr>
      <vt:lpstr>Module 6: Agent Memory, State, and Context Management</vt:lpstr>
      <vt:lpstr>Memory Types</vt:lpstr>
      <vt:lpstr>Memory Examples</vt:lpstr>
      <vt:lpstr>State Schema Design</vt:lpstr>
      <vt:lpstr>Example of State Schema</vt:lpstr>
      <vt:lpstr>Context Propagation and Trim Strategies</vt:lpstr>
      <vt:lpstr>Context Trimming Strategies Code: C:\code\agenticai\15_real\context_management_strategies.py</vt:lpstr>
      <vt:lpstr>Human In The Loop (HITL) UX</vt:lpstr>
      <vt:lpstr>Code Example</vt:lpstr>
      <vt:lpstr>Module 7: Evaluation Frameworks</vt:lpstr>
      <vt:lpstr>PowerPoint Presentation</vt:lpstr>
      <vt:lpstr>RAGAS</vt:lpstr>
      <vt:lpstr>RAGAS Metrics</vt:lpstr>
      <vt:lpstr>PowerPoint Presentation</vt:lpstr>
      <vt:lpstr>PowerPoint Presentation</vt:lpstr>
      <vt:lpstr>RAGAS Vs DeepEval</vt:lpstr>
      <vt:lpstr>Module 8: Contextual Agents with Voice Modalities</vt:lpstr>
      <vt:lpstr>Modality</vt:lpstr>
      <vt:lpstr>OpenAI Whisper</vt:lpstr>
      <vt:lpstr>Using OpenAI Whisper on the Local Machine</vt:lpstr>
      <vt:lpstr>Basic Python Testing</vt:lpstr>
      <vt:lpstr>Using OpenAI’s Cloud Whisper API</vt:lpstr>
      <vt:lpstr>Module 9: Observability and AgentOps</vt:lpstr>
      <vt:lpstr>Langfuse</vt:lpstr>
      <vt:lpstr>Using LangFuse</vt:lpstr>
      <vt:lpstr>LangSmith</vt:lpstr>
      <vt:lpstr>LangFuse versus LangSmith</vt:lpstr>
      <vt:lpstr>Using LangSmith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57</cp:revision>
  <dcterms:created xsi:type="dcterms:W3CDTF">2026-01-14T06:51:35Z</dcterms:created>
  <dcterms:modified xsi:type="dcterms:W3CDTF">2026-08-20T03:28:31Z</dcterms:modified>
</cp:coreProperties>
</file>