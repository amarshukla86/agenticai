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5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93" r:id="rId185"/>
    <p:sldId id="3022" r:id="rId186"/>
    <p:sldId id="3090" r:id="rId187"/>
    <p:sldId id="3023" r:id="rId188"/>
    <p:sldId id="3024" r:id="rId189"/>
    <p:sldId id="2711" r:id="rId190"/>
    <p:sldId id="3091" r:id="rId191"/>
    <p:sldId id="3092" r:id="rId192"/>
    <p:sldId id="3025" r:id="rId193"/>
    <p:sldId id="3026" r:id="rId194"/>
    <p:sldId id="3027" r:id="rId195"/>
    <p:sldId id="3028" r:id="rId196"/>
    <p:sldId id="3029" r:id="rId197"/>
    <p:sldId id="3030" r:id="rId198"/>
    <p:sldId id="3094" r:id="rId199"/>
    <p:sldId id="3031" r:id="rId200"/>
    <p:sldId id="3095" r:id="rId201"/>
    <p:sldId id="3032" r:id="rId202"/>
    <p:sldId id="3051" r:id="rId203"/>
    <p:sldId id="3033" r:id="rId204"/>
    <p:sldId id="3034" r:id="rId205"/>
    <p:sldId id="3052" r:id="rId206"/>
    <p:sldId id="3053" r:id="rId207"/>
    <p:sldId id="3054" r:id="rId208"/>
    <p:sldId id="3055" r:id="rId209"/>
    <p:sldId id="3056" r:id="rId210"/>
    <p:sldId id="3057" r:id="rId211"/>
    <p:sldId id="3058" r:id="rId212"/>
    <p:sldId id="3059" r:id="rId213"/>
    <p:sldId id="3060" r:id="rId214"/>
    <p:sldId id="3061" r:id="rId215"/>
    <p:sldId id="3062" r:id="rId216"/>
    <p:sldId id="3063" r:id="rId217"/>
    <p:sldId id="3064" r:id="rId218"/>
    <p:sldId id="3065" r:id="rId219"/>
    <p:sldId id="3067" r:id="rId220"/>
    <p:sldId id="3068" r:id="rId221"/>
    <p:sldId id="3079" r:id="rId222"/>
    <p:sldId id="3077" r:id="rId223"/>
    <p:sldId id="3078" r:id="rId224"/>
    <p:sldId id="3080" r:id="rId225"/>
    <p:sldId id="3081" r:id="rId226"/>
    <p:sldId id="3082" r:id="rId227"/>
    <p:sldId id="3083" r:id="rId228"/>
    <p:sldId id="3084" r:id="rId229"/>
    <p:sldId id="3085" r:id="rId230"/>
    <p:sldId id="3086" r:id="rId231"/>
    <p:sldId id="3087" r:id="rId232"/>
    <p:sldId id="3088" r:id="rId233"/>
    <p:sldId id="3089" r:id="rId2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-739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tableStyles" Target="tableStyle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presProps" Target="presProp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notesMaster" Target="notesMasters/notesMaster1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8F2F4-9718-7AEC-7567-45C2B1801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1138D-1149-E14C-6BD6-82CA715D4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Old MCP SDK (version 1.x)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mcp.server.fastmcp</a:t>
            </a:r>
            <a:r>
              <a:rPr lang="en-GB" dirty="0"/>
              <a:t> import </a:t>
            </a:r>
            <a:r>
              <a:rPr lang="en-GB" dirty="0" err="1"/>
              <a:t>FastMCP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FastMCP</a:t>
            </a:r>
            <a:r>
              <a:rPr lang="en-GB" dirty="0"/>
              <a:t>("Forex Server")	</a:t>
            </a:r>
          </a:p>
          <a:p>
            <a:r>
              <a:rPr lang="en-GB" dirty="0"/>
              <a:t>New MCP SDK (version 2.x)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mcp.server.mcpserver</a:t>
            </a:r>
            <a:r>
              <a:rPr lang="en-GB" dirty="0"/>
              <a:t> import </a:t>
            </a:r>
            <a:r>
              <a:rPr lang="en-GB" dirty="0" err="1"/>
              <a:t>MCPServer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MCPServer</a:t>
            </a:r>
            <a:r>
              <a:rPr lang="en-GB" dirty="0"/>
              <a:t>("Forex Server")</a:t>
            </a:r>
          </a:p>
        </p:txBody>
      </p:sp>
    </p:spTree>
    <p:extLst>
      <p:ext uri="{BB962C8B-B14F-4D97-AF65-F5344CB8AC3E}">
        <p14:creationId xmlns:p14="http://schemas.microsoft.com/office/powerpoint/2010/main" val="94954709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an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962D-9C30-9E31-9C31-2D22BF6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Prompts are not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BAFFB-A32B-F478-2D9D-0CB7DADD5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Imagine we are using an AI chat app connected to a Forex MCP server - We can type / to see what is available</a:t>
            </a:r>
          </a:p>
          <a:p>
            <a:pPr lvl="1"/>
            <a:r>
              <a:rPr lang="en-GB" dirty="0"/>
              <a:t>A menu pops up:</a:t>
            </a:r>
          </a:p>
          <a:p>
            <a:pPr lvl="2"/>
            <a:r>
              <a:rPr lang="en-GB" dirty="0"/>
              <a:t>/</a:t>
            </a:r>
            <a:r>
              <a:rPr lang="en-GB" dirty="0" err="1"/>
              <a:t>analyze</a:t>
            </a:r>
            <a:r>
              <a:rPr lang="en-GB" dirty="0"/>
              <a:t>-currency-trend</a:t>
            </a:r>
          </a:p>
          <a:p>
            <a:pPr lvl="2"/>
            <a:r>
              <a:rPr lang="en-GB" dirty="0"/>
              <a:t>/convert-currency</a:t>
            </a:r>
          </a:p>
          <a:p>
            <a:pPr lvl="1"/>
            <a:r>
              <a:rPr lang="en-GB" dirty="0"/>
              <a:t>These are </a:t>
            </a:r>
            <a:r>
              <a:rPr lang="en-GB" b="1" dirty="0"/>
              <a:t>prompts </a:t>
            </a:r>
            <a:r>
              <a:rPr lang="en-GB" dirty="0"/>
              <a:t>(pre-written question templates, so that users do not have to type long questions)</a:t>
            </a:r>
          </a:p>
          <a:p>
            <a:pPr lvl="1"/>
            <a:r>
              <a:rPr lang="en-GB" dirty="0"/>
              <a:t>Suppose the user clicks the first one – the MCP server might add the following question to the chat box: </a:t>
            </a:r>
            <a:r>
              <a:rPr lang="en-GB" i="1" dirty="0"/>
              <a:t>Fetch the last 30 days of USD/INR rates, calculate volatility, and tell me if the trend is bullish or bearish</a:t>
            </a:r>
          </a:p>
          <a:p>
            <a:pPr lvl="1"/>
            <a:r>
              <a:rPr lang="en-GB" dirty="0"/>
              <a:t>User hits the </a:t>
            </a:r>
            <a:r>
              <a:rPr lang="en-GB" i="1" dirty="0"/>
              <a:t>Send</a:t>
            </a:r>
            <a:r>
              <a:rPr lang="en-GB" dirty="0"/>
              <a:t> button</a:t>
            </a:r>
          </a:p>
          <a:p>
            <a:pPr lvl="1"/>
            <a:r>
              <a:rPr lang="en-GB" dirty="0"/>
              <a:t>Behind the scenes, AI calls a </a:t>
            </a:r>
            <a:r>
              <a:rPr lang="en-GB" b="1" dirty="0"/>
              <a:t>tool</a:t>
            </a:r>
            <a:r>
              <a:rPr lang="en-GB" dirty="0"/>
              <a:t>, say </a:t>
            </a:r>
            <a:r>
              <a:rPr lang="en-US" dirty="0" err="1"/>
              <a:t>get_exchange_rate_history</a:t>
            </a:r>
            <a:r>
              <a:rPr lang="en-US" dirty="0"/>
              <a:t>(pair="USD/INR", days=30)</a:t>
            </a:r>
          </a:p>
          <a:p>
            <a:r>
              <a:rPr lang="en-GB" b="1" dirty="0"/>
              <a:t>Prompt </a:t>
            </a:r>
            <a:r>
              <a:rPr lang="en-GB" dirty="0"/>
              <a:t>= A pre-written question which the user clicks/calls from a menu</a:t>
            </a:r>
          </a:p>
          <a:p>
            <a:r>
              <a:rPr lang="en-GB" b="1" dirty="0"/>
              <a:t>Tool</a:t>
            </a:r>
            <a:r>
              <a:rPr lang="en-GB" dirty="0"/>
              <a:t>: Code that AI decides to call on its own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4470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24" y="1690688"/>
            <a:ext cx="5257800" cy="4351338"/>
          </a:xfrm>
        </p:spPr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User asks: </a:t>
            </a:r>
            <a:r>
              <a:rPr lang="en-GB" i="1" dirty="0"/>
              <a:t>"Should I convert my USD to INR right now, and if it looks good, do it for $1000"</a:t>
            </a:r>
            <a:endParaRPr lang="en-GB" dirty="0"/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Resource</a:t>
            </a:r>
            <a:r>
              <a:rPr lang="en-GB" dirty="0"/>
              <a:t> to pull forex://rates/USD-INR/latest and maybe forex://rates/USD-INR/history/30d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Prompt</a:t>
            </a:r>
            <a:r>
              <a:rPr lang="en-GB" dirty="0"/>
              <a:t> /</a:t>
            </a:r>
            <a:r>
              <a:rPr lang="en-GB" dirty="0" err="1"/>
              <a:t>analyze</a:t>
            </a:r>
            <a:r>
              <a:rPr lang="en-GB" dirty="0"/>
              <a:t>-currency-trend to structure a proper trend analysis instead of just eyeballing one number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Based on the analysis, AI uses the </a:t>
            </a:r>
            <a:r>
              <a:rPr lang="en-GB" b="1" dirty="0"/>
              <a:t>Tool</a:t>
            </a:r>
            <a:r>
              <a:rPr lang="en-GB" dirty="0"/>
              <a:t> </a:t>
            </a:r>
            <a:r>
              <a:rPr lang="en-GB" dirty="0" err="1"/>
              <a:t>place_order</a:t>
            </a:r>
            <a:r>
              <a:rPr lang="en-GB" dirty="0"/>
              <a:t>(...) to actually execute the conversion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F5430F-123E-A9A0-E60E-C431FE9FE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503948"/>
              </p:ext>
            </p:extLst>
          </p:nvPr>
        </p:nvGraphicFramePr>
        <p:xfrm>
          <a:off x="5349124" y="1690688"/>
          <a:ext cx="6732939" cy="47548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93703">
                  <a:extLst>
                    <a:ext uri="{9D8B030D-6E8A-4147-A177-3AD203B41FA5}">
                      <a16:colId xmlns:a16="http://schemas.microsoft.com/office/drawing/2014/main" val="2839657797"/>
                    </a:ext>
                  </a:extLst>
                </a:gridCol>
                <a:gridCol w="2945625">
                  <a:extLst>
                    <a:ext uri="{9D8B030D-6E8A-4147-A177-3AD203B41FA5}">
                      <a16:colId xmlns:a16="http://schemas.microsoft.com/office/drawing/2014/main" val="3592541666"/>
                    </a:ext>
                  </a:extLst>
                </a:gridCol>
                <a:gridCol w="2393611">
                  <a:extLst>
                    <a:ext uri="{9D8B030D-6E8A-4147-A177-3AD203B41FA5}">
                      <a16:colId xmlns:a16="http://schemas.microsoft.com/office/drawing/2014/main" val="3077105968"/>
                    </a:ext>
                  </a:extLst>
                </a:gridCol>
              </a:tblGrid>
              <a:tr h="300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Primitive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503316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forex://rates/USD-INR/latest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reads the current USD→INR exchange rate — passive data, no action taken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7513679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place_order(pair="USD/INR", amount=1000, type="buy")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executes an actual trade — this changes real-world state (money moves)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8758750"/>
                  </a:ext>
                </a:extLst>
              </a:tr>
              <a:tr h="9750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/analyze-currency-trend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reusable template like: "Fetch 30-day historical rates, compute volatility, and summarize whether the trend is bullish or bearish"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9738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Message format: </a:t>
            </a:r>
            <a:r>
              <a:rPr lang="en-GB" i="1" dirty="0"/>
              <a:t>what</a:t>
            </a:r>
            <a:r>
              <a:rPr lang="en-GB" dirty="0"/>
              <a:t> the message looks like, Message transport: </a:t>
            </a:r>
            <a:r>
              <a:rPr lang="en-GB" i="1" dirty="0"/>
              <a:t>how</a:t>
            </a:r>
            <a:r>
              <a:rPr lang="en-GB" dirty="0"/>
              <a:t> it gets delivered </a:t>
            </a:r>
            <a:endParaRPr lang="en-IN" noProof="0" dirty="0"/>
          </a:p>
          <a:p>
            <a:r>
              <a:rPr lang="en-IN" noProof="0" dirty="0"/>
              <a:t>Message format – the </a:t>
            </a:r>
            <a:r>
              <a:rPr lang="en-IN" i="1" noProof="0" dirty="0"/>
              <a:t>grammar</a:t>
            </a:r>
            <a:r>
              <a:rPr lang="en-IN" noProof="0" dirty="0"/>
              <a:t> for every message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</a:t>
            </a:r>
            <a:r>
              <a:rPr lang="en-GB" dirty="0"/>
              <a:t>Defines the structure of every message exchanged between an MCP client and server — requests, results, and errors all follow this format</a:t>
            </a:r>
            <a:endParaRPr lang="en-IN" noProof="0" dirty="0"/>
          </a:p>
          <a:p>
            <a:r>
              <a:rPr lang="en-IN" noProof="0" dirty="0"/>
              <a:t>Message transmission – How the messages will actually travel</a:t>
            </a:r>
          </a:p>
          <a:p>
            <a:pPr lvl="1"/>
            <a:r>
              <a:rPr lang="en-GB" dirty="0"/>
              <a:t>Transport layer defines how messages move between client and server</a:t>
            </a:r>
            <a:endParaRPr lang="en-IN" noProof="0" dirty="0"/>
          </a:p>
          <a:p>
            <a:pPr lvl="1"/>
            <a:r>
              <a:rPr lang="en-GB" b="1" dirty="0" err="1"/>
              <a:t>stdio</a:t>
            </a:r>
            <a:r>
              <a:rPr lang="en-GB" dirty="0"/>
              <a:t> (Standard Input/Output) — Used when client and server run </a:t>
            </a:r>
            <a:r>
              <a:rPr lang="en-GB" b="1" dirty="0"/>
              <a:t>on the same machine</a:t>
            </a:r>
            <a:r>
              <a:rPr lang="en-GB" dirty="0"/>
              <a:t> (e.g., a local MCP server launched as a subprocess) - Simple, fast, no network</a:t>
            </a:r>
          </a:p>
          <a:p>
            <a:pPr lvl="1"/>
            <a:r>
              <a:rPr lang="en-GB" b="1" dirty="0" err="1"/>
              <a:t>Streamable</a:t>
            </a:r>
            <a:r>
              <a:rPr lang="en-GB" b="1" dirty="0"/>
              <a:t> HTTP</a:t>
            </a:r>
            <a:r>
              <a:rPr lang="en-GB" dirty="0"/>
              <a:t> — Used when the server is </a:t>
            </a:r>
            <a:r>
              <a:rPr lang="en-GB" b="1" dirty="0"/>
              <a:t>remote</a:t>
            </a:r>
            <a:r>
              <a:rPr lang="en-GB" dirty="0"/>
              <a:t> (e.g., a cloud-hosted MCP server) - Works over the network</a:t>
            </a:r>
          </a:p>
          <a:p>
            <a:pPr lvl="2"/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</a:t>
            </a:r>
            <a:r>
              <a:rPr lang="en-IN" sz="1200" noProof="0" dirty="0">
                <a:highlight>
                  <a:srgbClr val="FFFF00"/>
                </a:highlight>
              </a:rPr>
              <a:t>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</a:t>
            </a:r>
            <a:r>
              <a:rPr lang="en-IN" noProof="0" dirty="0">
                <a:highlight>
                  <a:srgbClr val="FFFF00"/>
                </a:highlight>
              </a:rPr>
              <a:t>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96889-148F-2209-FA48-432163E58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1: Session Initialization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A6465-60D5-3470-54A7-A2355FF22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happens before any tool discovery — the client and server agree on what they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6F060C-571D-BF66-28CB-B9B3AD708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8" y="2680379"/>
            <a:ext cx="6023289" cy="39282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75FC3-8BE6-0DBE-CD7D-23BDFB95E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42" y="2283458"/>
            <a:ext cx="6683550" cy="472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3280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5B3B-EA24-48EC-EF51-8A8AB6660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2: Tool Discovery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C68C3-17B4-79D3-060F-DDC2EEA43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Lets a client learn what tools a server offers — names, descriptions, inputs, and outputs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Server defines a tool</a:t>
            </a:r>
          </a:p>
          <a:p>
            <a:pPr marL="457200" lvl="1" indent="0">
              <a:buNone/>
            </a:pPr>
            <a:r>
              <a:rPr lang="en-US" dirty="0"/>
              <a:t>@mcp.tool()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search_documents</a:t>
            </a:r>
            <a:r>
              <a:rPr lang="en-US" dirty="0"/>
              <a:t>(query: str, limit: int = 5) -&gt; list:</a:t>
            </a:r>
          </a:p>
          <a:p>
            <a:pPr marL="457200" lvl="1" indent="0">
              <a:buNone/>
            </a:pPr>
            <a:r>
              <a:rPr lang="en-US" dirty="0"/>
              <a:t>    """Search company documents using a keyword."""</a:t>
            </a:r>
          </a:p>
          <a:p>
            <a:pPr marL="457200" lvl="1" indent="0">
              <a:buNone/>
            </a:pPr>
            <a:r>
              <a:rPr lang="en-US" dirty="0"/>
              <a:t>    ...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Client asks for available tools and server responds with each tool’s schema</a:t>
            </a:r>
          </a:p>
          <a:p>
            <a:pPr marL="457200" lvl="1" indent="0">
              <a:buNone/>
            </a:pPr>
            <a:r>
              <a:rPr lang="en-GB" dirty="0" err="1"/>
              <a:t>search_documents</a:t>
            </a:r>
            <a:endParaRPr lang="en-GB" dirty="0"/>
          </a:p>
          <a:p>
            <a:pPr marL="457200" lvl="1" indent="0">
              <a:buNone/>
            </a:pPr>
            <a:r>
              <a:rPr lang="en-GB" dirty="0"/>
              <a:t> ├── query: string</a:t>
            </a:r>
          </a:p>
          <a:p>
            <a:pPr marL="457200" lvl="1" indent="0">
              <a:buNone/>
            </a:pPr>
            <a:r>
              <a:rPr lang="en-GB" dirty="0"/>
              <a:t> └── limit: integer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LLM sees the tool schema and decides whether to call it to answer the user's question</a:t>
            </a:r>
          </a:p>
        </p:txBody>
      </p:sp>
    </p:spTree>
    <p:extLst>
      <p:ext uri="{BB962C8B-B14F-4D97-AF65-F5344CB8AC3E}">
        <p14:creationId xmlns:p14="http://schemas.microsoft.com/office/powerpoint/2010/main" val="31912609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pPr lvl="0"/>
            <a:r>
              <a:rPr lang="en-GB" dirty="0"/>
              <a:t>SQLite MCP Server = a local, standardized bridge between AI clients and a SQLite database</a:t>
            </a:r>
          </a:p>
          <a:p>
            <a:pPr lvl="0"/>
            <a:r>
              <a:rPr lang="en-GB" dirty="0"/>
              <a:t>Exposes CRUD + schema tools</a:t>
            </a:r>
          </a:p>
          <a:p>
            <a:pPr lvl="0"/>
            <a:r>
              <a:rPr lang="en-GB" dirty="0" err="1"/>
              <a:t>ClientSession.initialize</a:t>
            </a:r>
            <a:r>
              <a:rPr lang="en-GB" dirty="0"/>
              <a:t>() performs the MCP handshake</a:t>
            </a:r>
          </a:p>
          <a:p>
            <a:pPr lvl="0"/>
            <a:r>
              <a:rPr lang="en-GB" dirty="0"/>
              <a:t>Client discovers available tools dynamically via </a:t>
            </a:r>
            <a:r>
              <a:rPr lang="en-GB" dirty="0" err="1"/>
              <a:t>list_tools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create_table</a:t>
            </a:r>
            <a:r>
              <a:rPr lang="en-GB" dirty="0"/>
              <a:t> — run DDL to create tables</a:t>
            </a:r>
          </a:p>
          <a:p>
            <a:pPr lvl="1"/>
            <a:r>
              <a:rPr lang="en-GB" dirty="0" err="1"/>
              <a:t>write_query</a:t>
            </a:r>
            <a:r>
              <a:rPr lang="en-GB" dirty="0"/>
              <a:t> — INSERT/UPDATE/DELETE</a:t>
            </a:r>
          </a:p>
          <a:p>
            <a:pPr lvl="1"/>
            <a:r>
              <a:rPr lang="en-GB" dirty="0" err="1"/>
              <a:t>read_query</a:t>
            </a:r>
            <a:r>
              <a:rPr lang="en-GB" dirty="0"/>
              <a:t> — SELECT statements</a:t>
            </a:r>
          </a:p>
          <a:p>
            <a:pPr lvl="1"/>
            <a:r>
              <a:rPr lang="en-GB" dirty="0" err="1"/>
              <a:t>list_tables</a:t>
            </a:r>
            <a:r>
              <a:rPr lang="en-GB" dirty="0"/>
              <a:t> — enumerate tables in the DB</a:t>
            </a:r>
          </a:p>
          <a:p>
            <a:pPr lvl="1"/>
            <a:r>
              <a:rPr lang="en-GB" dirty="0" err="1"/>
              <a:t>describe_table</a:t>
            </a:r>
            <a:r>
              <a:rPr lang="en-GB" dirty="0"/>
              <a:t> — inspect schema/columns</a:t>
            </a:r>
          </a:p>
          <a:p>
            <a:r>
              <a:rPr lang="en-GB" dirty="0"/>
              <a:t>Client does not need to manage SQLite connection, cursor, etc</a:t>
            </a:r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4EAD-0253-4065-DF04-75A079EB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2924-1387-0523-10EC-0C4D3EA1B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E4455-3EDF-3B8F-A919-36DAC0EC2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Filesystem MCP server: C:\code\agenticai\6_mcp\6_14_filesystem_mcp_client.py</a:t>
            </a:r>
          </a:p>
          <a:p>
            <a:r>
              <a:rPr lang="en-GB" dirty="0"/>
              <a:t>Giving AI clients safe, scoped access to local files</a:t>
            </a:r>
          </a:p>
          <a:p>
            <a:r>
              <a:rPr lang="en-GB" dirty="0"/>
              <a:t>Lets an MCP client read, write, search, and manage files/directories without custom file-handling code</a:t>
            </a:r>
          </a:p>
          <a:p>
            <a:pPr lvl="0"/>
            <a:r>
              <a:rPr lang="en-GB" dirty="0"/>
              <a:t>Server is launched with one or more allowed root directories as startup </a:t>
            </a:r>
            <a:r>
              <a:rPr lang="en-GB" dirty="0" err="1"/>
              <a:t>args</a:t>
            </a:r>
            <a:endParaRPr lang="en-GB" dirty="0"/>
          </a:p>
          <a:p>
            <a:pPr lvl="0"/>
            <a:r>
              <a:rPr lang="en-GB" dirty="0"/>
              <a:t>All operations are restricted to those directories — no arbitrary filesystem access</a:t>
            </a:r>
          </a:p>
          <a:p>
            <a:pPr lvl="0"/>
            <a:r>
              <a:rPr lang="en-GB" dirty="0"/>
              <a:t>Attempts to access paths outside the allowed roots are rejected</a:t>
            </a:r>
          </a:p>
          <a:p>
            <a:pPr lvl="0"/>
            <a:r>
              <a:rPr lang="en-GB" dirty="0"/>
              <a:t>Tools exposed: </a:t>
            </a:r>
            <a:r>
              <a:rPr lang="en-GB" dirty="0" err="1"/>
              <a:t>read_file</a:t>
            </a:r>
            <a:r>
              <a:rPr lang="en-GB" dirty="0"/>
              <a:t>, </a:t>
            </a:r>
            <a:r>
              <a:rPr lang="en-GB" dirty="0" err="1"/>
              <a:t>read_multiple_files</a:t>
            </a:r>
            <a:r>
              <a:rPr lang="en-GB" dirty="0"/>
              <a:t>, </a:t>
            </a:r>
            <a:r>
              <a:rPr lang="en-GB" dirty="0" err="1"/>
              <a:t>write_file</a:t>
            </a:r>
            <a:r>
              <a:rPr lang="en-GB" dirty="0"/>
              <a:t>, </a:t>
            </a:r>
            <a:r>
              <a:rPr lang="en-GB" dirty="0" err="1"/>
              <a:t>edit_file</a:t>
            </a:r>
            <a:r>
              <a:rPr lang="en-GB" dirty="0"/>
              <a:t>, </a:t>
            </a:r>
            <a:r>
              <a:rPr lang="en-GB" dirty="0" err="1"/>
              <a:t>create_directory</a:t>
            </a:r>
            <a:r>
              <a:rPr lang="en-GB" dirty="0"/>
              <a:t>, </a:t>
            </a:r>
            <a:r>
              <a:rPr lang="en-GB" dirty="0" err="1"/>
              <a:t>list_directory</a:t>
            </a:r>
            <a:r>
              <a:rPr lang="en-GB" dirty="0"/>
              <a:t>, </a:t>
            </a:r>
            <a:r>
              <a:rPr lang="en-GB" dirty="0" err="1"/>
              <a:t>move_file</a:t>
            </a:r>
            <a:r>
              <a:rPr lang="en-GB" dirty="0"/>
              <a:t>, </a:t>
            </a:r>
            <a:r>
              <a:rPr lang="en-GB" dirty="0" err="1"/>
              <a:t>search_files</a:t>
            </a:r>
            <a:r>
              <a:rPr lang="en-GB" dirty="0"/>
              <a:t>, </a:t>
            </a:r>
            <a:r>
              <a:rPr lang="en-GB" dirty="0" err="1"/>
              <a:t>get_file_info</a:t>
            </a:r>
            <a:r>
              <a:rPr lang="en-GB" dirty="0"/>
              <a:t>, </a:t>
            </a:r>
            <a:r>
              <a:rPr lang="en-GB" dirty="0" err="1"/>
              <a:t>list_allowed_directories</a:t>
            </a:r>
            <a:endParaRPr lang="en-GB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870201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 (See next slide)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r>
              <a:rPr lang="en-GB" dirty="0"/>
              <a:t>We also need Docker running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80B4-6E5E-4566-2435-AAF1C9E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Tokens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DA035-E335-29BE-4137-A8653BE92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Go to GitHub Settings</a:t>
            </a:r>
            <a:r>
              <a:rPr lang="en-GB" dirty="0"/>
              <a:t> — click your profile photo (top-right) → </a:t>
            </a:r>
            <a:r>
              <a:rPr lang="en-GB" b="1" dirty="0"/>
              <a:t>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Developer settings</a:t>
            </a:r>
            <a:r>
              <a:rPr lang="en-GB" dirty="0"/>
              <a:t> — in the left sidebar, scroll to the bottom and click </a:t>
            </a:r>
            <a:r>
              <a:rPr lang="en-GB" b="1" dirty="0"/>
              <a:t>Developer 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Fine-grained tokens</a:t>
            </a:r>
            <a:r>
              <a:rPr lang="en-GB" dirty="0"/>
              <a:t> — in the left sidebar, under </a:t>
            </a:r>
            <a:r>
              <a:rPr lang="en-GB" b="1" dirty="0"/>
              <a:t>Personal access tokens</a:t>
            </a:r>
            <a:r>
              <a:rPr lang="en-GB" dirty="0"/>
              <a:t>, click </a:t>
            </a:r>
            <a:r>
              <a:rPr lang="en-GB" b="1" dirty="0"/>
              <a:t>Fine-grained tokens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new token</a:t>
            </a:r>
            <a:r>
              <a:rPr lang="en-GB" dirty="0"/>
              <a:t> — click the </a:t>
            </a:r>
            <a:r>
              <a:rPr lang="en-GB" b="1" dirty="0"/>
              <a:t>Generate new token</a:t>
            </a:r>
            <a:r>
              <a:rPr lang="en-GB" dirty="0"/>
              <a:t> button.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Name it</a:t>
            </a:r>
            <a:r>
              <a:rPr lang="en-GB" dirty="0"/>
              <a:t> — e.g. </a:t>
            </a:r>
            <a:r>
              <a:rPr lang="en-GB" dirty="0" err="1"/>
              <a:t>mcp</a:t>
            </a:r>
            <a:r>
              <a:rPr lang="en-GB" dirty="0"/>
              <a:t>-</a:t>
            </a:r>
            <a:r>
              <a:rPr lang="en-GB" dirty="0" err="1"/>
              <a:t>readonly</a:t>
            </a:r>
            <a:r>
              <a:rPr lang="en-GB" dirty="0"/>
              <a:t>-demo.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Set expiration</a:t>
            </a:r>
            <a:r>
              <a:rPr lang="en-GB" dirty="0"/>
              <a:t> — pick a short window (7–30 days is plenty for a demo/test token).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Resource owner</a:t>
            </a:r>
            <a:r>
              <a:rPr lang="en-GB" dirty="0"/>
              <a:t> — leave it as your personal account (not an org), since this script only touches a public repo (</a:t>
            </a:r>
            <a:r>
              <a:rPr lang="en-GB" dirty="0" err="1"/>
              <a:t>octocat</a:t>
            </a:r>
            <a:r>
              <a:rPr lang="en-GB" dirty="0"/>
              <a:t>/Hello-World) that isn't owned by you anyway.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Repository access</a:t>
            </a:r>
            <a:r>
              <a:rPr lang="en-GB" dirty="0"/>
              <a:t> — select </a:t>
            </a:r>
            <a:r>
              <a:rPr lang="en-GB" b="1" dirty="0"/>
              <a:t>Public Repositories (read-only)</a:t>
            </a:r>
            <a:r>
              <a:rPr lang="en-GB" dirty="0"/>
              <a:t>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This is the key setting for your script: it gives read-only access to </a:t>
            </a:r>
            <a:r>
              <a:rPr lang="en-GB" i="1" dirty="0"/>
              <a:t>all</a:t>
            </a:r>
            <a:r>
              <a:rPr lang="en-GB" dirty="0"/>
              <a:t> public repos and </a:t>
            </a:r>
            <a:r>
              <a:rPr lang="en-GB" b="1" dirty="0"/>
              <a:t>zero access to any private repo or write action</a:t>
            </a:r>
            <a:r>
              <a:rPr lang="en-GB" dirty="0"/>
              <a:t>, which matches the comment in your code exactly.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Do </a:t>
            </a:r>
            <a:r>
              <a:rPr lang="en-GB" b="1" dirty="0"/>
              <a:t>not</a:t>
            </a:r>
            <a:r>
              <a:rPr lang="en-GB" dirty="0"/>
              <a:t> pick "Only select repositories" — that option is for granting access to specific </a:t>
            </a:r>
            <a:r>
              <a:rPr lang="en-GB" i="1" dirty="0"/>
              <a:t>private</a:t>
            </a:r>
            <a:r>
              <a:rPr lang="en-GB" dirty="0"/>
              <a:t> repos you own; it's irrelevant here since </a:t>
            </a:r>
            <a:r>
              <a:rPr lang="en-GB" dirty="0" err="1"/>
              <a:t>octocat</a:t>
            </a:r>
            <a:r>
              <a:rPr lang="en-GB" dirty="0"/>
              <a:t>/Hello-World isn't yours.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Permissions</a:t>
            </a:r>
            <a:r>
              <a:rPr lang="en-GB" dirty="0"/>
              <a:t> — with "Public Repositories (read-only)" selected, GitHub auto-sets safe read-only defaults; you don't need to touch the granular permissions list.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token</a:t>
            </a:r>
            <a:r>
              <a:rPr lang="en-GB" dirty="0"/>
              <a:t> — scroll down and click </a:t>
            </a:r>
            <a:r>
              <a:rPr lang="en-GB" b="1" dirty="0"/>
              <a:t>Generate token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Copy it immediately</a:t>
            </a:r>
            <a:r>
              <a:rPr lang="en-GB" dirty="0"/>
              <a:t> — GitHub shows the </a:t>
            </a:r>
            <a:r>
              <a:rPr lang="en-GB" dirty="0" err="1"/>
              <a:t>github_pat</a:t>
            </a:r>
            <a:r>
              <a:rPr lang="en-GB" dirty="0"/>
              <a:t>_... string only once.</a:t>
            </a:r>
          </a:p>
        </p:txBody>
      </p:sp>
    </p:spTree>
    <p:extLst>
      <p:ext uri="{BB962C8B-B14F-4D97-AF65-F5344CB8AC3E}">
        <p14:creationId xmlns:p14="http://schemas.microsoft.com/office/powerpoint/2010/main" val="190466099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Its web version: C:\code\agenticai\6_mcp\6_21_2_crypto_forex_agent_flask.py</a:t>
            </a:r>
          </a:p>
          <a:p>
            <a:endParaRPr lang="en-GB" dirty="0"/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May Loop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 -&gt; Loop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C:\code\agenticai\14_advanced\12_deep_agents\meal_plan_reflection.py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C:\code\agenticai\14_advanced\12_deep_agents\study_plan_plan_execute.py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Episodic memory in </a:t>
            </a:r>
            <a:r>
              <a:rPr lang="en-GB" dirty="0" err="1"/>
              <a:t>LangGraph</a:t>
            </a:r>
            <a:r>
              <a:rPr lang="en-GB" dirty="0"/>
              <a:t> using a </a:t>
            </a:r>
            <a:r>
              <a:rPr lang="en-GB" dirty="0" err="1"/>
              <a:t>VectorDB</a:t>
            </a:r>
            <a:r>
              <a:rPr lang="en-GB" dirty="0"/>
              <a:t>: </a:t>
            </a:r>
            <a:r>
              <a:rPr lang="en-US" dirty="0"/>
              <a:t>C:\code\agenticai\14_advanced\12_deep_agents\episodic_memory_store.py	</a:t>
            </a:r>
          </a:p>
          <a:p>
            <a:pPr lvl="1"/>
            <a:r>
              <a:rPr lang="en-US" dirty="0"/>
              <a:t>Why episodic? We do not store "ATM withdrawals have a $500 limit.”, instead we store Customer asked X + Agent resolved it with Y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58413"/>
              </p:ext>
            </p:extLst>
          </p:nvPr>
        </p:nvGraphicFramePr>
        <p:xfrm>
          <a:off x="838200" y="305129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Using Evaluation Scores to Update Future Behaviour</a:t>
            </a:r>
          </a:p>
          <a:p>
            <a:r>
              <a:rPr lang="en-US" dirty="0"/>
              <a:t>Task -&gt; Answer -&gt; Evaluate -&gt; Score + Feedback -&gt; Learn what went wrong -&gt; Update </a:t>
            </a:r>
            <a:r>
              <a:rPr lang="en-US" dirty="0" err="1"/>
              <a:t>behaviour</a:t>
            </a:r>
            <a:r>
              <a:rPr lang="en-US" dirty="0"/>
              <a:t> -&gt; Future task</a:t>
            </a:r>
          </a:p>
          <a:p>
            <a:r>
              <a:rPr lang="en-US" dirty="0"/>
              <a:t>What can be improved?</a:t>
            </a:r>
          </a:p>
          <a:p>
            <a:pPr lvl="1"/>
            <a:r>
              <a:rPr lang="en-US" dirty="0"/>
              <a:t>Prompts</a:t>
            </a:r>
          </a:p>
          <a:p>
            <a:pPr lvl="1"/>
            <a:r>
              <a:rPr lang="en-US" dirty="0"/>
              <a:t>Tool selection</a:t>
            </a:r>
          </a:p>
          <a:p>
            <a:pPr lvl="1"/>
            <a:r>
              <a:rPr lang="en-US" dirty="0"/>
              <a:t>Workflow</a:t>
            </a:r>
          </a:p>
          <a:p>
            <a:pPr lvl="1"/>
            <a:r>
              <a:rPr lang="en-US" dirty="0"/>
              <a:t>Memory usage</a:t>
            </a:r>
          </a:p>
          <a:p>
            <a:pPr lvl="1"/>
            <a:r>
              <a:rPr lang="en-US" dirty="0"/>
              <a:t>Routing</a:t>
            </a:r>
          </a:p>
          <a:p>
            <a:r>
              <a:rPr lang="en-US" dirty="0"/>
              <a:t>Code: C:\code\agenticai\14_advanced\12_deep_agents\self_improving_agent.py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4802DC-4FC6-08CE-A36D-3F29E980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14: Agentic RAG and </a:t>
            </a:r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5FFE43-DEA4-8813-22AD-02B78939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94579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04DA-DC7F-8779-ED9F-5AC768FB1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Failure Modes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B0BD5-503F-0EEC-307D-C6CB8A29B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Missed Retrieval</a:t>
            </a:r>
          </a:p>
          <a:p>
            <a:pPr lvl="1"/>
            <a:r>
              <a:rPr lang="en-GB" dirty="0"/>
              <a:t>The correct information exists in the knowledge base but is not retrieved</a:t>
            </a:r>
          </a:p>
          <a:p>
            <a:pPr lvl="1"/>
            <a:r>
              <a:rPr lang="en-GB" dirty="0"/>
              <a:t>Causes: Poor query formulation, Bad chunking, Weak embeddings, Incorrect top-k </a:t>
            </a:r>
          </a:p>
          <a:p>
            <a:pPr lvl="1"/>
            <a:r>
              <a:rPr lang="en-GB" dirty="0"/>
              <a:t>Result: LLM doesn't see the required evidence and may guess</a:t>
            </a:r>
          </a:p>
          <a:p>
            <a:pPr lvl="1"/>
            <a:r>
              <a:rPr lang="en-GB" dirty="0"/>
              <a:t>Example: The policy contains the ATM withdrawal limit, but retrieval returns unrelated card-security documents</a:t>
            </a:r>
          </a:p>
          <a:p>
            <a:r>
              <a:rPr lang="en-GB" b="1" dirty="0"/>
              <a:t>Irrelevant Context</a:t>
            </a:r>
          </a:p>
          <a:p>
            <a:pPr lvl="1"/>
            <a:r>
              <a:rPr lang="en-GB" dirty="0"/>
              <a:t>Retrieved documents are not sufficiently relevant to the question</a:t>
            </a:r>
          </a:p>
          <a:p>
            <a:pPr lvl="1"/>
            <a:r>
              <a:rPr lang="en-GB" dirty="0"/>
              <a:t>Too much irrelevant context can confuse the LLM or introduce conflicting information</a:t>
            </a:r>
          </a:p>
          <a:p>
            <a:pPr lvl="1"/>
            <a:r>
              <a:rPr lang="en-GB" dirty="0"/>
              <a:t>Causes: Low retrieval precision, Excessive top-k, Poor reranking </a:t>
            </a:r>
          </a:p>
          <a:p>
            <a:pPr lvl="1"/>
            <a:r>
              <a:rPr lang="en-GB" dirty="0"/>
              <a:t>Example: Question is about refunds, but retrieved context contains shipping, warranty, and account-security policies</a:t>
            </a:r>
          </a:p>
          <a:p>
            <a:r>
              <a:rPr lang="en-GB" b="1" dirty="0"/>
              <a:t>Hallucination</a:t>
            </a:r>
          </a:p>
          <a:p>
            <a:pPr lvl="1"/>
            <a:r>
              <a:rPr lang="en-GB" dirty="0"/>
              <a:t>The LLM generates information not supported by the retrieved context</a:t>
            </a:r>
          </a:p>
          <a:p>
            <a:pPr lvl="1"/>
            <a:r>
              <a:rPr lang="en-GB" dirty="0"/>
              <a:t>Can happen even when retrieval is correct</a:t>
            </a:r>
          </a:p>
          <a:p>
            <a:pPr lvl="1"/>
            <a:r>
              <a:rPr lang="en-GB" dirty="0"/>
              <a:t>Causes: Missing information, Model assumptions, Overconfident generation, Poor grounding instructions</a:t>
            </a:r>
          </a:p>
          <a:p>
            <a:pPr lvl="1"/>
            <a:r>
              <a:rPr lang="en-GB" dirty="0"/>
              <a:t>Example: </a:t>
            </a:r>
            <a:r>
              <a:rPr lang="en-US" dirty="0"/>
              <a:t>Context: "Refunds take 5 business days.“ but  LLM: "Refunds take 5 business days and you will receive an email confirmation."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72157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Retrieval-Augmented Generation Assessment</a:t>
            </a:r>
          </a:p>
          <a:p>
            <a:pPr lvl="0"/>
            <a:r>
              <a:rPr lang="en-GB" dirty="0"/>
              <a:t>Open-source framework to evaluate RAG systems — no manual </a:t>
            </a:r>
            <a:r>
              <a:rPr lang="en-GB" dirty="0" err="1"/>
              <a:t>labeling</a:t>
            </a:r>
            <a:r>
              <a:rPr lang="en-GB" dirty="0"/>
              <a:t> needed</a:t>
            </a:r>
          </a:p>
          <a:p>
            <a:pPr lvl="0"/>
            <a:r>
              <a:rPr lang="en-GB" dirty="0"/>
              <a:t>Scores both retrieval and generation, not just the final answer</a:t>
            </a:r>
          </a:p>
          <a:p>
            <a:pPr lvl="0"/>
            <a:r>
              <a:rPr lang="en-GB" dirty="0"/>
              <a:t>Why needed? Traditional eval only checks the final answer, RAGAS asks:</a:t>
            </a:r>
          </a:p>
          <a:p>
            <a:pPr lvl="1"/>
            <a:r>
              <a:rPr lang="en-GB" dirty="0"/>
              <a:t>Was the right info retrieved?</a:t>
            </a:r>
          </a:p>
          <a:p>
            <a:pPr lvl="1"/>
            <a:r>
              <a:rPr lang="en-GB" dirty="0"/>
              <a:t>Was it relevant?</a:t>
            </a:r>
          </a:p>
          <a:p>
            <a:pPr lvl="1"/>
            <a:r>
              <a:rPr lang="en-GB" dirty="0"/>
              <a:t>Is the answer grounded in it?</a:t>
            </a:r>
          </a:p>
          <a:p>
            <a:pPr lvl="1"/>
            <a:r>
              <a:rPr lang="en-GB" dirty="0"/>
              <a:t>Does the answer actually address the question?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514265"/>
          <a:ext cx="10515600" cy="502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49159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1968403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  <a:gridCol w="3892017">
                  <a:extLst>
                    <a:ext uri="{9D8B030D-6E8A-4147-A177-3AD203B41FA5}">
                      <a16:colId xmlns:a16="http://schemas.microsoft.com/office/drawing/2014/main" val="1060362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"Capital of France?" → Answer: "Paris, population 10M" — if population isn't in retrieved docs, faithfulness score drops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"How do I reset my password?" → Answer explaining account creation = low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"Symptoms of flu?" → 5 chunks retrieved, only 2 are actually about flu symptoms = low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 needs 4 key facts to answer fully; only 2 were retrieved = low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5496-30E1-F5CD-356D-050C449C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RAGAS Does Internally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4E1D71-E25A-0F62-A141-152C774EFC9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1961" y="1825625"/>
          <a:ext cx="10008078" cy="4351339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160790">
                  <a:extLst>
                    <a:ext uri="{9D8B030D-6E8A-4147-A177-3AD203B41FA5}">
                      <a16:colId xmlns:a16="http://schemas.microsoft.com/office/drawing/2014/main" val="2077905495"/>
                    </a:ext>
                  </a:extLst>
                </a:gridCol>
                <a:gridCol w="7847288">
                  <a:extLst>
                    <a:ext uri="{9D8B030D-6E8A-4147-A177-3AD203B41FA5}">
                      <a16:colId xmlns:a16="http://schemas.microsoft.com/office/drawing/2014/main" val="3222618683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Metric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What RAGAS Does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16872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Faithfulness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Breaks the answer into individual factual claims (atomic statements), then checks each one against the retrieved context to see if it's actually supported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656475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Answer Relevance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Takes the generated answer and asks an LLM to "guess back" what question it is answering (proxy questions), then compares those to the original question using embedding similarity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20037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Precision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Splits the retrieved context into chunks, evaluates each chunk individually as relevant or not, then calculates what fraction of retrieved chunks were actually useful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8727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Recall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Compares the retrieved context against the ground-truth answer to check whether every fact needed to fully answer the question was actually retrieved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6467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03385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A6D8C-5765-A147-6B66-7A597D28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Faithfulness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C2E09-D859-2552-A363-90FC0987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i="1" dirty="0"/>
              <a:t>Are the answer's claims actually backed by the retrieved context?</a:t>
            </a:r>
            <a:endParaRPr lang="en-GB" dirty="0"/>
          </a:p>
          <a:p>
            <a:r>
              <a:rPr lang="en-GB" b="1" dirty="0"/>
              <a:t>Answer generated by RAG/LLM:</a:t>
            </a:r>
            <a:r>
              <a:rPr lang="en-GB" dirty="0"/>
              <a:t> "Hold the reset button for 10 seconds, the light will blink, then wait exactly 2 minutes for it to reboot"</a:t>
            </a:r>
          </a:p>
          <a:p>
            <a:r>
              <a:rPr lang="en-GB" dirty="0"/>
              <a:t>Broken into 3 claims:</a:t>
            </a:r>
          </a:p>
          <a:p>
            <a:pPr lvl="1"/>
            <a:r>
              <a:rPr lang="en-GB" dirty="0"/>
              <a:t>S1: Hold reset button for 10 seconds</a:t>
            </a:r>
          </a:p>
          <a:p>
            <a:pPr lvl="1"/>
            <a:r>
              <a:rPr lang="en-GB" dirty="0"/>
              <a:t>S2: Light will blink</a:t>
            </a:r>
          </a:p>
          <a:p>
            <a:pPr lvl="1"/>
            <a:r>
              <a:rPr lang="en-GB" dirty="0"/>
              <a:t>S3: Wait 2 minutes for reboot</a:t>
            </a:r>
          </a:p>
          <a:p>
            <a:r>
              <a:rPr lang="en-GB" b="1" dirty="0"/>
              <a:t>Retrieved context:</a:t>
            </a:r>
            <a:r>
              <a:rPr lang="en-GB" dirty="0"/>
              <a:t> </a:t>
            </a:r>
            <a:r>
              <a:rPr lang="en-GB" i="1" dirty="0"/>
              <a:t>"Press and hold the reset button on the back of the router for 10 seconds. The status light will blink to confirm the reset. The router will restart automatically."</a:t>
            </a:r>
            <a:endParaRPr lang="en-GB" dirty="0"/>
          </a:p>
          <a:p>
            <a:pPr lvl="1"/>
            <a:r>
              <a:rPr lang="en-GB" dirty="0"/>
              <a:t>S1 ✅ — confirmed</a:t>
            </a:r>
          </a:p>
          <a:p>
            <a:pPr lvl="1"/>
            <a:r>
              <a:rPr lang="en-GB" dirty="0"/>
              <a:t>S2 ✅ — confirmed</a:t>
            </a:r>
          </a:p>
          <a:p>
            <a:pPr lvl="1"/>
            <a:r>
              <a:rPr lang="en-GB" dirty="0"/>
              <a:t>S3 ❌ — context says it restarts "automatically," never gives a specific time. The "2 minutes" detail was made up</a:t>
            </a:r>
          </a:p>
          <a:p>
            <a:r>
              <a:rPr lang="en-GB" b="1" dirty="0"/>
              <a:t>Score = 2/3 = 0.67</a:t>
            </a:r>
            <a:r>
              <a:rPr lang="en-GB" dirty="0"/>
              <a:t> — the answer added a specific-sounding detail that wasn't actually in the source</a:t>
            </a:r>
          </a:p>
        </p:txBody>
      </p:sp>
    </p:spTree>
    <p:extLst>
      <p:ext uri="{BB962C8B-B14F-4D97-AF65-F5344CB8AC3E}">
        <p14:creationId xmlns:p14="http://schemas.microsoft.com/office/powerpoint/2010/main" val="13045862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915B-3067-5DEA-F798-59E9E0CE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9BF9-E54D-76E5-B238-EF8FA865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Answer Relevance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409D-BE71-14B5-55C9-7BAC7FF2C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i="1" dirty="0"/>
              <a:t>Does the answer actually address what was asked?</a:t>
            </a:r>
            <a:endParaRPr lang="en-GB" dirty="0"/>
          </a:p>
          <a:p>
            <a:r>
              <a:rPr lang="en-GB" b="1" dirty="0"/>
              <a:t>How it works</a:t>
            </a:r>
            <a:endParaRPr lang="en-GB" dirty="0"/>
          </a:p>
          <a:p>
            <a:pPr lvl="1"/>
            <a:r>
              <a:rPr lang="en-GB" dirty="0"/>
              <a:t>Take the generated answer</a:t>
            </a:r>
          </a:p>
          <a:p>
            <a:pPr lvl="1"/>
            <a:r>
              <a:rPr lang="en-GB" dirty="0"/>
              <a:t>Ask an LLM: "What question would this answer be a good response to?" → generates 1-3 </a:t>
            </a:r>
            <a:r>
              <a:rPr lang="en-GB" b="1" dirty="0"/>
              <a:t>proxy questions</a:t>
            </a:r>
            <a:endParaRPr lang="en-GB" dirty="0"/>
          </a:p>
          <a:p>
            <a:pPr lvl="1"/>
            <a:r>
              <a:rPr lang="en-GB" dirty="0"/>
              <a:t>Compare those proxy questions to the </a:t>
            </a:r>
            <a:r>
              <a:rPr lang="en-GB" b="1" dirty="0"/>
              <a:t>original question</a:t>
            </a:r>
            <a:r>
              <a:rPr lang="en-GB" dirty="0"/>
              <a:t> (embedding similarity, 0 to 1)</a:t>
            </a:r>
          </a:p>
          <a:p>
            <a:pPr lvl="1"/>
            <a:r>
              <a:rPr lang="en-GB" dirty="0"/>
              <a:t>High similarity = answer is on-topic. Low similarity = answer drifted away from what was asked</a:t>
            </a:r>
          </a:p>
          <a:p>
            <a:r>
              <a:rPr lang="en-GB" b="1" dirty="0"/>
              <a:t>Original Question:</a:t>
            </a:r>
            <a:r>
              <a:rPr lang="en-GB" dirty="0"/>
              <a:t> "How do I reset my Wi-Fi router?"</a:t>
            </a:r>
          </a:p>
          <a:p>
            <a:r>
              <a:rPr lang="en-GB" b="1" dirty="0"/>
              <a:t>Case A — On-topic answer: </a:t>
            </a:r>
            <a:r>
              <a:rPr lang="en-GB" dirty="0"/>
              <a:t>"Hold the reset button for 10 seconds until the light blinks."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reset my router?"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0.95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0.9</a:t>
            </a:r>
            <a:r>
              <a:rPr lang="en-GB" dirty="0"/>
              <a:t> — the answer clearly addresses the question asked</a:t>
            </a:r>
          </a:p>
          <a:p>
            <a:r>
              <a:rPr lang="en-GB" b="1" dirty="0"/>
              <a:t>Case B — Off-topic answer</a:t>
            </a:r>
            <a:r>
              <a:rPr lang="en-GB" dirty="0"/>
              <a:t>: "You can change your Wi-Fi password from the settings app."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change my Wi-Fi password?"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0.30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0.3</a:t>
            </a:r>
            <a:r>
              <a:rPr lang="en-GB" dirty="0"/>
              <a:t> — related subject (router settings), but doesn't answer </a:t>
            </a:r>
            <a:r>
              <a:rPr lang="en-GB" i="1" dirty="0"/>
              <a:t>what was asked</a:t>
            </a:r>
            <a:endParaRPr lang="en-GB" dirty="0"/>
          </a:p>
          <a:p>
            <a:r>
              <a:rPr lang="en-GB" b="1" dirty="0"/>
              <a:t>Key idea:</a:t>
            </a:r>
            <a:r>
              <a:rPr lang="en-GB" dirty="0"/>
              <a:t> if the answer really addressed the question, working backward from the answer should land you back on roughly the same question - If it does not, the answer wandered</a:t>
            </a:r>
          </a:p>
        </p:txBody>
      </p:sp>
    </p:spTree>
    <p:extLst>
      <p:ext uri="{BB962C8B-B14F-4D97-AF65-F5344CB8AC3E}">
        <p14:creationId xmlns:p14="http://schemas.microsoft.com/office/powerpoint/2010/main" val="409698290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14B75-C112-FC48-A921-1072C13B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64A9-0AA2-0127-5A18-CF173618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Precision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213-0C41-1C11-8385-F7E7F331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i="1" dirty="0"/>
              <a:t>Of what was retrieved, how much was actually useful?</a:t>
            </a:r>
            <a:endParaRPr lang="en-GB" dirty="0"/>
          </a:p>
          <a:p>
            <a:r>
              <a:rPr lang="en-GB" dirty="0"/>
              <a:t>5 chunks retrieved for "How do I reset my Wi-Fi router?”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Score = 3/5 = 0.60</a:t>
            </a:r>
            <a:r>
              <a:rPr lang="en-GB" dirty="0"/>
              <a:t> — 2 irrelevant chunks (warranty, parental controls) diluted the useful ones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7D949-9CC8-B9ED-79CC-A3B598FDE405}"/>
              </a:ext>
            </a:extLst>
          </p:cNvPr>
          <p:cNvGraphicFramePr>
            <a:graphicFrameLocks noGrp="1"/>
          </p:cNvGraphicFramePr>
          <p:nvPr/>
        </p:nvGraphicFramePr>
        <p:xfrm>
          <a:off x="1152308" y="2729860"/>
          <a:ext cx="9317922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013848">
                  <a:extLst>
                    <a:ext uri="{9D8B030D-6E8A-4147-A177-3AD203B41FA5}">
                      <a16:colId xmlns:a16="http://schemas.microsoft.com/office/drawing/2014/main" val="3886692143"/>
                    </a:ext>
                  </a:extLst>
                </a:gridCol>
                <a:gridCol w="4539897">
                  <a:extLst>
                    <a:ext uri="{9D8B030D-6E8A-4147-A177-3AD203B41FA5}">
                      <a16:colId xmlns:a16="http://schemas.microsoft.com/office/drawing/2014/main" val="3024767526"/>
                    </a:ext>
                  </a:extLst>
                </a:gridCol>
                <a:gridCol w="3764177">
                  <a:extLst>
                    <a:ext uri="{9D8B030D-6E8A-4147-A177-3AD203B41FA5}">
                      <a16:colId xmlns:a16="http://schemas.microsoft.com/office/drawing/2014/main" val="3677095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Chunk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70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"Hold reset button for 10 seconds"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796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"Status light blinks to confirm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023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"How to set up parental controls"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52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warranty terms and conditions"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808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restarts automatically after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227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1217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FE1F-541D-28C4-D2B0-04CD1EC1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B395-7892-DBE4-11C2-630E3DF6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Recall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B527-ABB8-408B-EF62-840904E4F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400" i="1" dirty="0"/>
              <a:t>Was everything needed to fully answer the question actually retrieved?</a:t>
            </a:r>
            <a:endParaRPr lang="en-GB" sz="2400" dirty="0"/>
          </a:p>
          <a:p>
            <a:r>
              <a:rPr lang="en-GB" sz="2400" b="1" dirty="0"/>
              <a:t>Ground truth — 4 facts needed for a complete answer</a:t>
            </a:r>
            <a:endParaRPr lang="en-GB" sz="2400" dirty="0"/>
          </a:p>
          <a:p>
            <a:pPr lvl="1"/>
            <a:r>
              <a:rPr lang="en-GB" sz="2000" dirty="0"/>
              <a:t>Hold reset button for 10 seconds</a:t>
            </a:r>
          </a:p>
          <a:p>
            <a:pPr lvl="1"/>
            <a:r>
              <a:rPr lang="en-GB" sz="2000" dirty="0"/>
              <a:t>Status light blinks to confirm</a:t>
            </a:r>
          </a:p>
          <a:p>
            <a:pPr lvl="1"/>
            <a:r>
              <a:rPr lang="en-GB" sz="2000" dirty="0"/>
              <a:t>Router restarts automatically</a:t>
            </a:r>
          </a:p>
          <a:p>
            <a:pPr lvl="1"/>
            <a:r>
              <a:rPr lang="en-GB" sz="2000" dirty="0"/>
              <a:t>All settings return to factory default</a:t>
            </a:r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endParaRPr lang="en-GB" sz="2400" b="1" dirty="0"/>
          </a:p>
          <a:p>
            <a:r>
              <a:rPr lang="en-GB" sz="2400" b="1" dirty="0"/>
              <a:t>Score = 3/4 = 0.75</a:t>
            </a:r>
            <a:r>
              <a:rPr lang="en-GB" sz="2400" dirty="0"/>
              <a:t> — the user would not be warned their custom Wi-Fi name/password will be wiped, because that fact was never retrieved</a:t>
            </a:r>
          </a:p>
          <a:p>
            <a:r>
              <a:rPr lang="en-GB" sz="2400" dirty="0"/>
              <a:t>RAGAS code: C:\code\agenticai\15_real\ragas_evaluation.py</a:t>
            </a:r>
          </a:p>
          <a:p>
            <a:endParaRPr lang="en-GB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01595D-7DA7-6B9C-19B0-CB0DC2931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32271"/>
              </p:ext>
            </p:extLst>
          </p:nvPr>
        </p:nvGraphicFramePr>
        <p:xfrm>
          <a:off x="1417552" y="3519331"/>
          <a:ext cx="8822332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4411166">
                  <a:extLst>
                    <a:ext uri="{9D8B030D-6E8A-4147-A177-3AD203B41FA5}">
                      <a16:colId xmlns:a16="http://schemas.microsoft.com/office/drawing/2014/main" val="436450654"/>
                    </a:ext>
                  </a:extLst>
                </a:gridCol>
                <a:gridCol w="4411166">
                  <a:extLst>
                    <a:ext uri="{9D8B030D-6E8A-4147-A177-3AD203B41FA5}">
                      <a16:colId xmlns:a16="http://schemas.microsoft.com/office/drawing/2014/main" val="3471148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20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Hold button 10 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28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Light blinks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080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Restarts automatically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197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Settings reset to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0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84568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44A1-B255-0D30-9AEA-D348215B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92E-90F6-9264-17B4-F33C3ACE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Self-RAG </a:t>
            </a:r>
            <a:r>
              <a:rPr lang="en-GB" dirty="0"/>
              <a:t>makes the RAG system evaluate its own retrieval and generation instead of blindly using retrieved documents</a:t>
            </a:r>
          </a:p>
          <a:p>
            <a:r>
              <a:rPr lang="en-GB" dirty="0"/>
              <a:t>Retrieve → Evaluate Score Relevance → Regenerate → Synthesize</a:t>
            </a:r>
          </a:p>
          <a:p>
            <a:pPr lvl="1"/>
            <a:r>
              <a:rPr lang="en-GB" dirty="0"/>
              <a:t>Retrieve — fetch candidate chunks from the knowledge base</a:t>
            </a:r>
          </a:p>
          <a:p>
            <a:pPr lvl="1"/>
            <a:r>
              <a:rPr lang="en-GB" dirty="0"/>
              <a:t>Evaluate Score relevance — assess whether each chunk actually helps answer the query</a:t>
            </a:r>
          </a:p>
          <a:p>
            <a:pPr lvl="1"/>
            <a:r>
              <a:rPr lang="en-GB" dirty="0"/>
              <a:t>Regenerate / retrieve again — if evidence is weak or the answer is unsupported, perform another retrieval/generation cycle</a:t>
            </a:r>
          </a:p>
          <a:p>
            <a:pPr lvl="1"/>
            <a:r>
              <a:rPr lang="en-GB" dirty="0"/>
              <a:t>Synthesize — combine the relevant evidence into the final grounded answer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506186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9F25-AD6D-10AC-C06E-F6CA849B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Corrective RAG (CRAG)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DB70-7C29-083A-8704-E1EC2DFE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Falling back to web search when local knowledge fails</a:t>
            </a:r>
          </a:p>
          <a:p>
            <a:r>
              <a:rPr lang="en-US" dirty="0"/>
              <a:t>C:\code\agenticai\14_advanced\14_agentic_rag_graph_rag\corrective_rag.py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78231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E9EB-CBCF-DAE9-0415-08D286AF7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 Retrieved Chunks with Cohere and Cross-encoder Models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8875-ADEE-6E69-B476-C656F6741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Why re-ranking?</a:t>
            </a:r>
          </a:p>
          <a:p>
            <a:r>
              <a:rPr lang="en-GB" dirty="0"/>
              <a:t>User Query -&gt; Vector Search -&gt; Top 20 candidate chunks -&gt; </a:t>
            </a:r>
            <a:r>
              <a:rPr lang="en-GB" dirty="0" err="1"/>
              <a:t>Reranker</a:t>
            </a:r>
            <a:r>
              <a:rPr lang="en-GB" dirty="0"/>
              <a:t> -&gt; Best 3–5 chunks -&gt; LLM</a:t>
            </a:r>
          </a:p>
          <a:p>
            <a:r>
              <a:rPr lang="en-GB" dirty="0" err="1"/>
              <a:t>Reranker</a:t>
            </a:r>
            <a:r>
              <a:rPr lang="en-GB" dirty="0"/>
              <a:t> looks at the query and each retrieved chunk together and assigns a relevance score</a:t>
            </a:r>
          </a:p>
          <a:p>
            <a:pPr lvl="1"/>
            <a:r>
              <a:rPr lang="en-US" dirty="0"/>
              <a:t>Query: "What is the refund period?"</a:t>
            </a:r>
          </a:p>
          <a:p>
            <a:pPr lvl="1"/>
            <a:r>
              <a:rPr lang="en-US" dirty="0"/>
              <a:t>Chunk A → "Refunds are processed within 5 days."     → 0.96 ✓</a:t>
            </a:r>
          </a:p>
          <a:p>
            <a:pPr lvl="1"/>
            <a:r>
              <a:rPr lang="en-US" dirty="0"/>
              <a:t>Chunk B → "Shipping normally takes 3 days."          → 0.31</a:t>
            </a:r>
          </a:p>
          <a:p>
            <a:pPr lvl="1"/>
            <a:r>
              <a:rPr lang="en-US" dirty="0"/>
              <a:t>Chunk C → "Refund eligibility requires cancellation." → 0.78 ✓</a:t>
            </a:r>
          </a:p>
          <a:p>
            <a:r>
              <a:rPr lang="en-US" b="1" dirty="0"/>
              <a:t>Cohere </a:t>
            </a:r>
            <a:r>
              <a:rPr lang="en-US" dirty="0"/>
              <a:t>can do this: C:\code\agenticai\14_advanced\14_agentic_rag_graph_rag\cohere_reranking.py</a:t>
            </a:r>
          </a:p>
          <a:p>
            <a:r>
              <a:rPr lang="en-US" dirty="0"/>
              <a:t>Cross-encoder: </a:t>
            </a:r>
            <a:r>
              <a:rPr lang="en-GB" dirty="0"/>
              <a:t>Evaluates the query and document together</a:t>
            </a:r>
          </a:p>
          <a:p>
            <a:pPr lvl="1"/>
            <a:r>
              <a:rPr lang="en-GB" dirty="0"/>
              <a:t>Takes query and chunk together and finds a relevant score</a:t>
            </a:r>
          </a:p>
        </p:txBody>
      </p:sp>
    </p:spTree>
    <p:extLst>
      <p:ext uri="{BB962C8B-B14F-4D97-AF65-F5344CB8AC3E}">
        <p14:creationId xmlns:p14="http://schemas.microsoft.com/office/powerpoint/2010/main" val="407477622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69A7-E124-576A-D50A-225988A3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HyDE</a:t>
            </a:r>
            <a:r>
              <a:rPr lang="en-US" dirty="0"/>
              <a:t>: Generating a Hypothetical Answer to Improve Query Embedding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9E93-25F3-33B2-FD47-E12E3B15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HyDE</a:t>
            </a:r>
            <a:r>
              <a:rPr lang="en-GB" dirty="0"/>
              <a:t>: Improves retrieval by first asking the LLM to generate a hypothetical answer/document, then using that generated text for semantic search</a:t>
            </a:r>
          </a:p>
          <a:p>
            <a:r>
              <a:rPr lang="en-GB" dirty="0"/>
              <a:t>User Query -&gt; LLM -&gt; Hypothetical Answer -&gt; Embed the answer -&gt; Vector Search -&gt; Relevant Documents</a:t>
            </a:r>
          </a:p>
          <a:p>
            <a:r>
              <a:rPr lang="en-GB" dirty="0"/>
              <a:t>C:\code\agenticai\14_advanced\14_agentic_rag_graph_rag\hyde_retrieval.py</a:t>
            </a:r>
          </a:p>
        </p:txBody>
      </p:sp>
    </p:spTree>
    <p:extLst>
      <p:ext uri="{BB962C8B-B14F-4D97-AF65-F5344CB8AC3E}">
        <p14:creationId xmlns:p14="http://schemas.microsoft.com/office/powerpoint/2010/main" val="229378120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EF14-CE2A-FBB6-B7BB-319C94F5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Expansion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89EE-2560-B6CC-D9D0-3CC762C4D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multiple reformulations to improve recall</a:t>
            </a:r>
          </a:p>
          <a:p>
            <a:r>
              <a:rPr lang="en-GB" dirty="0"/>
              <a:t>Instead of searching with one query, the system generates several alternative queries that express the same information differently</a:t>
            </a:r>
          </a:p>
          <a:p>
            <a:r>
              <a:rPr lang="en-GB" dirty="0"/>
              <a:t>Original query: "Why was my card declined abroad?"</a:t>
            </a:r>
          </a:p>
          <a:p>
            <a:r>
              <a:rPr lang="en-GB" dirty="0"/>
              <a:t>The LLM might generate</a:t>
            </a:r>
          </a:p>
          <a:p>
            <a:pPr lvl="1"/>
            <a:r>
              <a:rPr lang="en-GB" dirty="0"/>
              <a:t>"Debit card declined during international transaction" </a:t>
            </a:r>
          </a:p>
          <a:p>
            <a:pPr lvl="1"/>
            <a:r>
              <a:rPr lang="en-GB" dirty="0"/>
              <a:t>"Reasons for card rejection overseas" </a:t>
            </a:r>
          </a:p>
          <a:p>
            <a:pPr lvl="1"/>
            <a:r>
              <a:rPr lang="en-GB" dirty="0"/>
              <a:t>"International card transaction declined" </a:t>
            </a:r>
          </a:p>
          <a:p>
            <a:pPr lvl="1"/>
            <a:r>
              <a:rPr lang="en-GB" dirty="0"/>
              <a:t>"Foreign ATM/card usage restrictions" </a:t>
            </a:r>
          </a:p>
          <a:p>
            <a:r>
              <a:rPr lang="en-GB" dirty="0"/>
              <a:t>Different formulations may retrieve different relevant documents</a:t>
            </a:r>
          </a:p>
        </p:txBody>
      </p:sp>
    </p:spTree>
    <p:extLst>
      <p:ext uri="{BB962C8B-B14F-4D97-AF65-F5344CB8AC3E}">
        <p14:creationId xmlns:p14="http://schemas.microsoft.com/office/powerpoint/2010/main" val="129482853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3B5C-B7EA-E2A8-5CA1-A954D1CF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0AEFC-3F81-7F6D-AAE7-F8F3DE26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treating documents as independent chunks, </a:t>
            </a:r>
            <a:r>
              <a:rPr lang="en-GB" b="1" dirty="0" err="1"/>
              <a:t>GraphRAG</a:t>
            </a:r>
            <a:r>
              <a:rPr lang="en-GB" dirty="0"/>
              <a:t> extracts entities and relationships and represents them as a graph</a:t>
            </a:r>
          </a:p>
          <a:p>
            <a:r>
              <a:rPr lang="en-GB" dirty="0"/>
              <a:t>Example - Documents mention</a:t>
            </a:r>
          </a:p>
          <a:p>
            <a:pPr lvl="1"/>
            <a:r>
              <a:rPr lang="en-GB" dirty="0"/>
              <a:t>"Microsoft acquired Activision Blizzard. Satya Nadella is Microsoft's CEO.“</a:t>
            </a:r>
          </a:p>
          <a:p>
            <a:r>
              <a:rPr lang="en-GB" dirty="0" err="1"/>
              <a:t>GraphRAG</a:t>
            </a:r>
            <a:r>
              <a:rPr lang="en-GB" dirty="0"/>
              <a:t> may represent this as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Uses </a:t>
            </a:r>
            <a:r>
              <a:rPr lang="en-GB" b="1" dirty="0"/>
              <a:t>multi-hop reasoning</a:t>
            </a:r>
            <a:r>
              <a:rPr lang="en-GB" dirty="0"/>
              <a:t> (next slide)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95FEB-354D-5E8C-9A96-23247F4C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12" y="4140611"/>
            <a:ext cx="3191792" cy="129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0822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E04E2-4FA9-BE6B-713A-22313A3CB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Multi-Hop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A0978-2778-18AE-919D-80594C27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Multi-hop reasoning</a:t>
            </a:r>
            <a:r>
              <a:rPr lang="en-GB" dirty="0"/>
              <a:t>: Answering a question by following multiple relationships or pieces of evidence rather than finding the answer in a single document</a:t>
            </a:r>
          </a:p>
          <a:p>
            <a:r>
              <a:rPr lang="en-GB" dirty="0"/>
              <a:t>"Who is the CEO of the company that acquired Activision Blizzard?“</a:t>
            </a:r>
          </a:p>
          <a:p>
            <a:pPr lvl="1"/>
            <a:r>
              <a:rPr lang="en-GB" dirty="0"/>
              <a:t>Microsoft -&gt; acquired -&gt; Activision Blizzard</a:t>
            </a:r>
          </a:p>
          <a:p>
            <a:pPr lvl="1"/>
            <a:r>
              <a:rPr lang="en-GB" dirty="0"/>
              <a:t>Microsoft -&gt; CEO -&gt; Satya Nadella</a:t>
            </a:r>
          </a:p>
          <a:p>
            <a:r>
              <a:rPr lang="en-GB" dirty="0"/>
              <a:t>Agent performs multiple hops</a:t>
            </a:r>
          </a:p>
          <a:p>
            <a:pPr lvl="1"/>
            <a:r>
              <a:rPr lang="en-GB" dirty="0"/>
              <a:t>Activision Blizzard -&gt; acquired by -&gt; Microsoft -&gt; CEO -&gt; Satya Nadella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398116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66F2-45A3-2627-9009-5790586B3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69A-8BA3-7531-6E9C-324212D1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Hybrid RAG</a:t>
            </a:r>
            <a:r>
              <a:rPr lang="en-GB" dirty="0"/>
              <a:t>: Combines two retrieval strategies</a:t>
            </a:r>
          </a:p>
          <a:p>
            <a:pPr lvl="1"/>
            <a:r>
              <a:rPr lang="en-GB" b="1" dirty="0"/>
              <a:t>Vector search</a:t>
            </a:r>
            <a:r>
              <a:rPr lang="en-GB" dirty="0"/>
              <a:t> → finds semantically similar text </a:t>
            </a:r>
          </a:p>
          <a:p>
            <a:pPr lvl="1"/>
            <a:r>
              <a:rPr lang="en-GB" b="1" dirty="0"/>
              <a:t>Graph traversal</a:t>
            </a:r>
            <a:r>
              <a:rPr lang="en-GB" dirty="0"/>
              <a:t> → finds connected entities and relationships</a:t>
            </a:r>
          </a:p>
          <a:p>
            <a:r>
              <a:rPr lang="en-GB" dirty="0"/>
              <a:t>"How did Microsoft's acquisition of Activision affect its gaming business?“</a:t>
            </a:r>
          </a:p>
          <a:p>
            <a:pPr lvl="1"/>
            <a:r>
              <a:rPr lang="en-GB" dirty="0"/>
              <a:t>Vector search finds</a:t>
            </a:r>
          </a:p>
          <a:p>
            <a:pPr lvl="2"/>
            <a:r>
              <a:rPr lang="en-US" dirty="0"/>
              <a:t>Acquisition announcement</a:t>
            </a:r>
          </a:p>
          <a:p>
            <a:pPr lvl="2"/>
            <a:r>
              <a:rPr lang="en-US" dirty="0"/>
              <a:t>Gaming revenue reports</a:t>
            </a:r>
          </a:p>
          <a:p>
            <a:pPr lvl="2"/>
            <a:r>
              <a:rPr lang="en-US" dirty="0"/>
              <a:t>Business analysis</a:t>
            </a:r>
          </a:p>
          <a:p>
            <a:pPr lvl="1"/>
            <a:r>
              <a:rPr lang="en-US" dirty="0"/>
              <a:t>Graph traversal finds</a:t>
            </a:r>
          </a:p>
          <a:p>
            <a:pPr lvl="2"/>
            <a:r>
              <a:rPr lang="en-US" dirty="0"/>
              <a:t>Microsoft -&gt; acquired -&gt; Activision Blizzard -&gt; owns -&gt; Call of Duty -&gt; belongs to Gaming business</a:t>
            </a:r>
          </a:p>
          <a:p>
            <a:r>
              <a:rPr lang="en-US" dirty="0"/>
              <a:t>System will combine both</a:t>
            </a:r>
          </a:p>
          <a:p>
            <a:r>
              <a:rPr lang="en-US" dirty="0"/>
              <a:t>C:\code\agenticai\14_advanced\04_rag\hybrid_search.py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6373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108400</TotalTime>
  <Words>18869</Words>
  <Application>Microsoft Office PowerPoint</Application>
  <PresentationFormat>Widescreen</PresentationFormat>
  <Paragraphs>2751</Paragraphs>
  <Slides>233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38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Syntax</vt:lpstr>
      <vt:lpstr>MCP Primitives</vt:lpstr>
      <vt:lpstr>Prompts are not Tools</vt:lpstr>
      <vt:lpstr>MCP Server Example</vt:lpstr>
      <vt:lpstr>MCP Communication</vt:lpstr>
      <vt:lpstr>MCP Communication</vt:lpstr>
      <vt:lpstr>Step 1: Session Initialization</vt:lpstr>
      <vt:lpstr>Step 2: Tool Discovery 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MCP Server</vt:lpstr>
      <vt:lpstr>FileSystem MCP Servers</vt:lpstr>
      <vt:lpstr>GitHub MCP Server</vt:lpstr>
      <vt:lpstr>GitHub Tokens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Memory Consolidation</vt:lpstr>
      <vt:lpstr>Confidence and Uncertainty Estimation</vt:lpstr>
      <vt:lpstr>Agent Self-Improvement</vt:lpstr>
      <vt:lpstr>Combining Reflection, Planning, and Memory into One Unified Agent Architecture</vt:lpstr>
      <vt:lpstr>Module 14: Agentic RAG and GraphRAG</vt:lpstr>
      <vt:lpstr>RAG Failure Modes</vt:lpstr>
      <vt:lpstr>RAGAS</vt:lpstr>
      <vt:lpstr>RAGAS Metrics</vt:lpstr>
      <vt:lpstr>What RAGAS Does Internally</vt:lpstr>
      <vt:lpstr>Faithfulness</vt:lpstr>
      <vt:lpstr>Answer Relevance</vt:lpstr>
      <vt:lpstr>Context Precision</vt:lpstr>
      <vt:lpstr>Context Recall</vt:lpstr>
      <vt:lpstr>Self-RAG</vt:lpstr>
      <vt:lpstr>Corrective RAG (CRAG)</vt:lpstr>
      <vt:lpstr>Re-ranking Retrieved Chunks with Cohere and Cross-encoder Models</vt:lpstr>
      <vt:lpstr>HyDE: Generating a Hypothetical Answer to Improve Query Embedding</vt:lpstr>
      <vt:lpstr>Query Expansion</vt:lpstr>
      <vt:lpstr>GraphRAG</vt:lpstr>
      <vt:lpstr>Multi-Hop Reasoning</vt:lpstr>
      <vt:lpstr>Hybrid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720</cp:revision>
  <dcterms:created xsi:type="dcterms:W3CDTF">2025-07-21T11:47:41Z</dcterms:created>
  <dcterms:modified xsi:type="dcterms:W3CDTF">2026-09-09T15:06:28Z</dcterms:modified>
</cp:coreProperties>
</file>