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3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22" r:id="rId185"/>
    <p:sldId id="3023" r:id="rId186"/>
    <p:sldId id="3024" r:id="rId187"/>
    <p:sldId id="2711" r:id="rId188"/>
    <p:sldId id="3050" r:id="rId189"/>
    <p:sldId id="3025" r:id="rId190"/>
    <p:sldId id="3026" r:id="rId191"/>
    <p:sldId id="3027" r:id="rId192"/>
    <p:sldId id="3028" r:id="rId193"/>
    <p:sldId id="3029" r:id="rId194"/>
    <p:sldId id="3030" r:id="rId195"/>
    <p:sldId id="3031" r:id="rId196"/>
    <p:sldId id="3032" r:id="rId197"/>
    <p:sldId id="3051" r:id="rId198"/>
    <p:sldId id="3033" r:id="rId199"/>
    <p:sldId id="3034" r:id="rId200"/>
    <p:sldId id="3052" r:id="rId201"/>
    <p:sldId id="3053" r:id="rId202"/>
    <p:sldId id="3054" r:id="rId203"/>
    <p:sldId id="3055" r:id="rId204"/>
    <p:sldId id="3056" r:id="rId205"/>
    <p:sldId id="3057" r:id="rId206"/>
    <p:sldId id="3058" r:id="rId207"/>
    <p:sldId id="3059" r:id="rId208"/>
    <p:sldId id="3060" r:id="rId209"/>
    <p:sldId id="3061" r:id="rId210"/>
    <p:sldId id="3062" r:id="rId211"/>
    <p:sldId id="3063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theme" Target="theme/theme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tableStyles" Target="tableStyles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presProps" Target="pres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viewProps" Target="viewProp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response, bank account information)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CCAB-D888-767B-4B92-DAA26B21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 Discovery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81D2D-E082-2090-887F-BC27F809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42911" cy="4351338"/>
          </a:xfrm>
        </p:spPr>
        <p:txBody>
          <a:bodyPr>
            <a:normAutofit/>
          </a:bodyPr>
          <a:lstStyle/>
          <a:p>
            <a:r>
              <a:rPr lang="en-GB" b="1" dirty="0"/>
              <a:t>Tool discovery</a:t>
            </a:r>
            <a:r>
              <a:rPr lang="en-GB" dirty="0"/>
              <a:t>: Allows a client to learn what tools a server provides, what each tool does, what inputs it accepts, what outputs it produces, what capabilities the server supports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C445F2-68E2-0AF5-3084-8226EA519A29}"/>
              </a:ext>
            </a:extLst>
          </p:cNvPr>
          <p:cNvSpPr txBox="1">
            <a:spLocks/>
          </p:cNvSpPr>
          <p:nvPr/>
        </p:nvSpPr>
        <p:spPr>
          <a:xfrm>
            <a:off x="4181111" y="1825625"/>
            <a:ext cx="334291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Server defines tool</a:t>
            </a:r>
          </a:p>
          <a:p>
            <a:pPr marL="0" indent="0">
              <a:buNone/>
            </a:pPr>
            <a:r>
              <a:rPr lang="en-US" sz="1800" dirty="0"/>
              <a:t>@mcp.tool()</a:t>
            </a:r>
          </a:p>
          <a:p>
            <a:pPr marL="0" indent="0">
              <a:buNone/>
            </a:pPr>
            <a:r>
              <a:rPr lang="en-US" sz="1800" dirty="0"/>
              <a:t>def </a:t>
            </a:r>
            <a:r>
              <a:rPr lang="en-US" sz="1800" dirty="0" err="1"/>
              <a:t>search_documents</a:t>
            </a:r>
            <a:r>
              <a:rPr lang="en-US" sz="1800" dirty="0"/>
              <a:t>(query: str, limit: int = 5) -&gt; list:</a:t>
            </a:r>
          </a:p>
          <a:p>
            <a:pPr marL="0" indent="0">
              <a:buNone/>
            </a:pPr>
            <a:r>
              <a:rPr lang="en-US" sz="1800" dirty="0"/>
              <a:t>    """Search company documents using a keyword."""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    results = []</a:t>
            </a:r>
          </a:p>
          <a:p>
            <a:pPr marL="0" indent="0">
              <a:buNone/>
            </a:pPr>
            <a:r>
              <a:rPr lang="en-US" sz="1800" dirty="0"/>
              <a:t>    for doc in documents:</a:t>
            </a:r>
          </a:p>
          <a:p>
            <a:pPr marL="0" indent="0">
              <a:buNone/>
            </a:pPr>
            <a:r>
              <a:rPr lang="en-US" sz="1800" dirty="0"/>
              <a:t>           text = doc[“content”]</a:t>
            </a:r>
          </a:p>
          <a:p>
            <a:pPr marL="0" indent="0">
              <a:buNone/>
            </a:pPr>
            <a:r>
              <a:rPr lang="en-US" sz="1800" dirty="0"/>
              <a:t>           …</a:t>
            </a:r>
          </a:p>
          <a:p>
            <a:pPr marL="0" indent="0">
              <a:buNone/>
            </a:pPr>
            <a:r>
              <a:rPr lang="en-US" sz="1800" dirty="0"/>
              <a:t>     return results</a:t>
            </a:r>
          </a:p>
          <a:p>
            <a:pPr marL="0" indent="0">
              <a:buNone/>
            </a:pPr>
            <a:endParaRPr lang="en-GB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F12FC5-E10D-5EFB-C180-804FED121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022" y="1902406"/>
            <a:ext cx="2228965" cy="17336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6CDE27-DC47-1867-2803-D7BC4AB1D6E6}"/>
              </a:ext>
            </a:extLst>
          </p:cNvPr>
          <p:cNvSpPr txBox="1"/>
          <p:nvPr/>
        </p:nvSpPr>
        <p:spPr>
          <a:xfrm>
            <a:off x="7524021" y="3800569"/>
            <a:ext cx="222896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In ‘Supported capabilities’, the server confirms that it supports tool capability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Now client asks for available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Server sends metadata for </a:t>
            </a:r>
            <a:r>
              <a:rPr lang="en-IN" sz="1600" dirty="0" err="1"/>
              <a:t>search_documents</a:t>
            </a:r>
            <a:endParaRPr lang="en-GB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ED5C52-5F17-F828-3B2A-D16D6FFBD294}"/>
              </a:ext>
            </a:extLst>
          </p:cNvPr>
          <p:cNvSpPr txBox="1"/>
          <p:nvPr/>
        </p:nvSpPr>
        <p:spPr>
          <a:xfrm>
            <a:off x="10021753" y="1902406"/>
            <a:ext cx="22289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LLM sees the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Decides to call it to answer user’s question</a:t>
            </a:r>
            <a:endParaRPr lang="en-GB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804B621-F7C0-A051-6B0E-B293A53EF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2479" y="2278361"/>
            <a:ext cx="1187511" cy="57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46823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C:\code\agenticai\14_advanced\12_deep_agents\multi_turn_reflection.py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  <a:p>
            <a:r>
              <a:rPr lang="en-GB" dirty="0"/>
              <a:t>Example: For Research C of the earlier example, website is not available</a:t>
            </a:r>
          </a:p>
          <a:p>
            <a:r>
              <a:rPr lang="en-US" dirty="0"/>
              <a:t>C:\code\agenticai\14_advanced\12_deep_agents\plan_execute_replan.py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Episodic memory in </a:t>
            </a:r>
            <a:r>
              <a:rPr lang="en-GB" dirty="0" err="1"/>
              <a:t>LangGraph</a:t>
            </a:r>
            <a:r>
              <a:rPr lang="en-GB" dirty="0"/>
              <a:t> using a </a:t>
            </a:r>
            <a:r>
              <a:rPr lang="en-GB" dirty="0" err="1"/>
              <a:t>VectorDB</a:t>
            </a:r>
            <a:r>
              <a:rPr lang="en-GB" dirty="0"/>
              <a:t>: </a:t>
            </a:r>
            <a:r>
              <a:rPr lang="en-US" dirty="0"/>
              <a:t>C:\code\agenticai\14_advanced\12_deep_agents\episodic_memory_store.py	</a:t>
            </a:r>
          </a:p>
          <a:p>
            <a:pPr lvl="1"/>
            <a:r>
              <a:rPr lang="en-US" dirty="0"/>
              <a:t>Why episodic? We do not store "ATM withdrawals have a $500 limit.”, instead we store Customer asked X + Agent resolved it with Y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58413"/>
              </p:ext>
            </p:extLst>
          </p:nvPr>
        </p:nvGraphicFramePr>
        <p:xfrm>
          <a:off x="838200" y="305129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Using Evaluation Scores to Update Future Behaviour</a:t>
            </a:r>
          </a:p>
          <a:p>
            <a:r>
              <a:rPr lang="en-US" dirty="0"/>
              <a:t>Task -&gt; Answer -&gt; Evaluate -&gt; Score + Feedback -&gt; Learn what went wrong -&gt; Update </a:t>
            </a:r>
            <a:r>
              <a:rPr lang="en-US" dirty="0" err="1"/>
              <a:t>behaviour</a:t>
            </a:r>
            <a:r>
              <a:rPr lang="en-US" dirty="0"/>
              <a:t> -&gt; Future task</a:t>
            </a:r>
          </a:p>
          <a:p>
            <a:r>
              <a:rPr lang="en-US" dirty="0"/>
              <a:t>What can be improved?</a:t>
            </a:r>
          </a:p>
          <a:p>
            <a:pPr lvl="1"/>
            <a:r>
              <a:rPr lang="en-US" dirty="0"/>
              <a:t>Prompts</a:t>
            </a:r>
          </a:p>
          <a:p>
            <a:pPr lvl="1"/>
            <a:r>
              <a:rPr lang="en-US" dirty="0"/>
              <a:t>Tool selection</a:t>
            </a:r>
          </a:p>
          <a:p>
            <a:pPr lvl="1"/>
            <a:r>
              <a:rPr lang="en-US" dirty="0"/>
              <a:t>Workflow</a:t>
            </a:r>
          </a:p>
          <a:p>
            <a:pPr lvl="1"/>
            <a:r>
              <a:rPr lang="en-US" dirty="0"/>
              <a:t>Memory usage</a:t>
            </a:r>
          </a:p>
          <a:p>
            <a:pPr lvl="1"/>
            <a:r>
              <a:rPr lang="en-US" dirty="0"/>
              <a:t>Routing</a:t>
            </a:r>
          </a:p>
          <a:p>
            <a:r>
              <a:rPr lang="en-US" dirty="0"/>
              <a:t>Code: C:\code\agenticai\14_advanced\12_deep_agents\self_improving_agent.py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103081</TotalTime>
  <Words>16314</Words>
  <Application>Microsoft Office PowerPoint</Application>
  <PresentationFormat>Widescreen</PresentationFormat>
  <Paragraphs>2507</Paragraphs>
  <Slides>211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211</vt:i4>
      </vt:variant>
    </vt:vector>
  </HeadingPairs>
  <TitlesOfParts>
    <vt:vector size="216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Tool Discovery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Memory Consolidation</vt:lpstr>
      <vt:lpstr>Confidence and Uncertainty Estimation</vt:lpstr>
      <vt:lpstr>Agent Self-Improvement</vt:lpstr>
      <vt:lpstr>Combining Reflection, Planning, and Memory into One Unified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707</cp:revision>
  <dcterms:created xsi:type="dcterms:W3CDTF">2025-07-21T11:47:41Z</dcterms:created>
  <dcterms:modified xsi:type="dcterms:W3CDTF">2026-08-25T09:25:58Z</dcterms:modified>
</cp:coreProperties>
</file>