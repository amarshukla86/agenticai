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5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2986" r:id="rId144"/>
    <p:sldId id="2987" r:id="rId145"/>
    <p:sldId id="2989" r:id="rId146"/>
    <p:sldId id="2988" r:id="rId147"/>
    <p:sldId id="2990" r:id="rId148"/>
    <p:sldId id="2991" r:id="rId149"/>
    <p:sldId id="2992" r:id="rId150"/>
    <p:sldId id="2993" r:id="rId151"/>
    <p:sldId id="2994" r:id="rId152"/>
    <p:sldId id="2995" r:id="rId153"/>
    <p:sldId id="2996" r:id="rId154"/>
    <p:sldId id="2997" r:id="rId155"/>
    <p:sldId id="2998" r:id="rId156"/>
    <p:sldId id="2999" r:id="rId157"/>
    <p:sldId id="3000" r:id="rId158"/>
    <p:sldId id="3001" r:id="rId159"/>
    <p:sldId id="3002" r:id="rId160"/>
    <p:sldId id="3003" r:id="rId161"/>
    <p:sldId id="3004" r:id="rId162"/>
    <p:sldId id="3005" r:id="rId163"/>
    <p:sldId id="3006" r:id="rId164"/>
    <p:sldId id="3007" r:id="rId165"/>
    <p:sldId id="3008" r:id="rId166"/>
    <p:sldId id="3009" r:id="rId167"/>
    <p:sldId id="3010" r:id="rId168"/>
    <p:sldId id="3011" r:id="rId169"/>
    <p:sldId id="3012" r:id="rId170"/>
    <p:sldId id="3013" r:id="rId171"/>
    <p:sldId id="3014" r:id="rId172"/>
    <p:sldId id="3015" r:id="rId173"/>
    <p:sldId id="3016" r:id="rId174"/>
    <p:sldId id="3017" r:id="rId175"/>
    <p:sldId id="3018" r:id="rId176"/>
    <p:sldId id="3019" r:id="rId177"/>
    <p:sldId id="3020" r:id="rId178"/>
    <p:sldId id="3021" r:id="rId179"/>
    <p:sldId id="701" r:id="rId180"/>
    <p:sldId id="3022" r:id="rId181"/>
    <p:sldId id="3023" r:id="rId182"/>
    <p:sldId id="3024" r:id="rId183"/>
    <p:sldId id="2711" r:id="rId184"/>
    <p:sldId id="3025" r:id="rId185"/>
    <p:sldId id="3026" r:id="rId186"/>
    <p:sldId id="3027" r:id="rId187"/>
    <p:sldId id="3028" r:id="rId188"/>
    <p:sldId id="3029" r:id="rId189"/>
    <p:sldId id="3030" r:id="rId190"/>
    <p:sldId id="3031" r:id="rId191"/>
    <p:sldId id="3032" r:id="rId192"/>
    <p:sldId id="3033" r:id="rId193"/>
    <p:sldId id="3034" r:id="rId1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notesMaster" Target="notesMasters/notesMaster1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Without memory, every user request is independent</a:t>
            </a:r>
          </a:p>
          <a:p>
            <a:r>
              <a:rPr lang="en-IN" noProof="0" dirty="0"/>
              <a:t>Memory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10140"/>
              </p:ext>
            </p:extLst>
          </p:nvPr>
        </p:nvGraphicFramePr>
        <p:xfrm>
          <a:off x="908001" y="2958459"/>
          <a:ext cx="10515600" cy="256032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497171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BufferMemory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Short conversations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Buffer Window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Last N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944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SummaryMemory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Long conversations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VectorStoreMemory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retrieval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Entity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Facts about entities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Personal assistants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1989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Combined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Multiple memory types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Enterprise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0423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noProof="0" dirty="0"/>
              <a:t>Session-based memory exists only till the time the application is running</a:t>
            </a:r>
          </a:p>
          <a:p>
            <a:r>
              <a:rPr lang="en-IN" noProof="0" dirty="0"/>
              <a:t>Persistent 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pPr lvl="1"/>
            <a:r>
              <a:rPr lang="en-IN" noProof="0" dirty="0"/>
              <a:t>config's </a:t>
            </a:r>
            <a:r>
              <a:rPr lang="en-IN" noProof="0" dirty="0" err="1"/>
              <a:t>session_id</a:t>
            </a:r>
            <a:r>
              <a:rPr lang="en-IN" noProof="0" dirty="0"/>
              <a:t> is a lookup key used </a:t>
            </a:r>
            <a:r>
              <a:rPr lang="en-IN" i="1" noProof="0" dirty="0"/>
              <a:t>before</a:t>
            </a:r>
            <a:r>
              <a:rPr lang="en-IN" noProof="0" dirty="0"/>
              <a:t> our chain runs, to fetch a </a:t>
            </a:r>
            <a:r>
              <a:rPr lang="en-IN" noProof="0" dirty="0" err="1"/>
              <a:t>SQLChatMessageHistory</a:t>
            </a:r>
            <a:r>
              <a:rPr lang="en-IN" noProof="0" dirty="0"/>
              <a:t> and turn it into an ordinary "history" list; by the time the LLM is actually called, it receives a normal message list like any other chain invocation — the config/session machinery has already done its job and dropped out</a:t>
            </a:r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EDACFFA-2340-19CE-6675-B391A1EB6B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874802"/>
              </p:ext>
            </p:extLst>
          </p:nvPr>
        </p:nvGraphicFramePr>
        <p:xfrm>
          <a:off x="838200" y="2538254"/>
          <a:ext cx="10515600" cy="316992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3188079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4713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Retriever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589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VectorStoreRetriever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Basic similarity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44477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MultiQueryRetriever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Multiple query reformulations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92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ContextualCompressionRetriever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Reduce irrelevant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4152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SelfQueryRetriever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Uses metadata filters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9687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ParentDocumentRetriever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Retrieve larger parent documents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18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MultiVectorRetriever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Multiple embeddings per 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597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EnsembleRetriever</a:t>
                      </a:r>
                      <a:endParaRPr lang="en-IN" sz="20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Combine multiple retrieval methods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49820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Tool</a:t>
            </a:r>
            <a:r>
              <a:rPr lang="en-IN" noProof="0" dirty="0"/>
              <a:t>: A Python function that an AI agent can call to perform a specific task</a:t>
            </a:r>
          </a:p>
          <a:p>
            <a:pPr lvl="1"/>
            <a:r>
              <a:rPr lang="en-IN" noProof="0" dirty="0"/>
              <a:t>Search the web </a:t>
            </a:r>
          </a:p>
          <a:p>
            <a:pPr lvl="1"/>
            <a:r>
              <a:rPr lang="en-IN" noProof="0" dirty="0"/>
              <a:t>Perform calculations </a:t>
            </a:r>
          </a:p>
          <a:p>
            <a:pPr lvl="1"/>
            <a:r>
              <a:rPr lang="en-IN" noProof="0" dirty="0"/>
              <a:t>Read files </a:t>
            </a:r>
          </a:p>
          <a:p>
            <a:pPr lvl="1"/>
            <a:r>
              <a:rPr lang="en-IN" noProof="0" dirty="0"/>
              <a:t>Query databases </a:t>
            </a:r>
          </a:p>
          <a:p>
            <a:pPr lvl="1"/>
            <a:r>
              <a:rPr lang="en-IN" noProof="0" dirty="0"/>
              <a:t>Call REST APIs </a:t>
            </a:r>
          </a:p>
          <a:p>
            <a:pPr lvl="1"/>
            <a:r>
              <a:rPr lang="en-IN" noProof="0" dirty="0"/>
              <a:t>Send emails </a:t>
            </a:r>
          </a:p>
          <a:p>
            <a:pPr lvl="1"/>
            <a:r>
              <a:rPr lang="en-IN" noProof="0" dirty="0"/>
              <a:t>Execute Python code</a:t>
            </a:r>
          </a:p>
          <a:p>
            <a:r>
              <a:rPr lang="en-IN" noProof="0" dirty="0"/>
              <a:t>from </a:t>
            </a:r>
            <a:r>
              <a:rPr lang="en-IN" noProof="0" dirty="0" err="1"/>
              <a:t>langchain_core.tools</a:t>
            </a:r>
            <a:r>
              <a:rPr lang="en-IN" noProof="0" dirty="0"/>
              <a:t> import tool</a:t>
            </a:r>
          </a:p>
          <a:p>
            <a:r>
              <a:rPr lang="en-IN" noProof="0" dirty="0"/>
              <a:t>@tool def square(number: int) -&gt; int: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Tool input schema can be defined using </a:t>
            </a:r>
            <a:r>
              <a:rPr lang="en-IN" noProof="0" dirty="0" err="1"/>
              <a:t>Pydantic</a:t>
            </a:r>
            <a:r>
              <a:rPr lang="en-IN" noProof="0" dirty="0"/>
              <a:t> for safe structured arguments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LoanInput</a:t>
            </a:r>
            <a:r>
              <a:rPr lang="en-IN" noProof="0" dirty="0"/>
              <a:t>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amount: float</a:t>
            </a:r>
          </a:p>
          <a:p>
            <a:pPr marL="0" indent="0">
              <a:buNone/>
            </a:pPr>
            <a:r>
              <a:rPr lang="en-IN" noProof="0" dirty="0"/>
              <a:t>    years: int</a:t>
            </a:r>
          </a:p>
          <a:p>
            <a:pPr marL="0" indent="0">
              <a:buNone/>
            </a:pPr>
            <a:r>
              <a:rPr lang="en-IN" noProof="0" dirty="0"/>
              <a:t>    rate: float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emi</a:t>
            </a:r>
            <a:r>
              <a:rPr lang="en-IN" noProof="0" dirty="0"/>
              <a:t>(amount, years, rate):</a:t>
            </a:r>
          </a:p>
          <a:p>
            <a:pPr marL="0" indent="0">
              <a:buNone/>
            </a:pPr>
            <a:r>
              <a:rPr lang="en-IN" noProof="0" dirty="0"/>
              <a:t>    ...</a:t>
            </a:r>
          </a:p>
          <a:p>
            <a:pPr marL="0" indent="0">
              <a:buNone/>
            </a:pPr>
            <a:r>
              <a:rPr lang="en-IN" noProof="0" dirty="0"/>
              <a:t>tool = </a:t>
            </a:r>
            <a:r>
              <a:rPr lang="en-IN" noProof="0" dirty="0" err="1"/>
              <a:t>StructuredTool.from_function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func</a:t>
            </a:r>
            <a:r>
              <a:rPr lang="en-IN" noProof="0" dirty="0"/>
              <a:t>=</a:t>
            </a:r>
            <a:r>
              <a:rPr lang="en-IN" noProof="0" dirty="0" err="1"/>
              <a:t>emi</a:t>
            </a:r>
            <a:r>
              <a:rPr lang="en-IN" noProof="0" dirty="0"/>
              <a:t>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args_schema</a:t>
            </a:r>
            <a:r>
              <a:rPr lang="en-IN" noProof="0" dirty="0"/>
              <a:t>=</a:t>
            </a:r>
            <a:r>
              <a:rPr lang="en-IN" noProof="0" dirty="0" err="1"/>
              <a:t>LoanInput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It is responsible for</a:t>
            </a:r>
          </a:p>
          <a:p>
            <a:pPr lvl="1"/>
            <a:r>
              <a:rPr lang="en-IN" noProof="0" dirty="0"/>
              <a:t>Executing the agent </a:t>
            </a:r>
          </a:p>
          <a:p>
            <a:pPr lvl="1"/>
            <a:r>
              <a:rPr lang="en-IN" noProof="0" dirty="0"/>
              <a:t>Running the reasoning loop </a:t>
            </a:r>
          </a:p>
          <a:p>
            <a:pPr lvl="1"/>
            <a:r>
              <a:rPr lang="en-IN" noProof="0" dirty="0"/>
              <a:t>Calling tools </a:t>
            </a:r>
          </a:p>
          <a:p>
            <a:pPr lvl="1"/>
            <a:r>
              <a:rPr lang="en-IN" noProof="0" dirty="0"/>
              <a:t>Tracking observations </a:t>
            </a:r>
          </a:p>
          <a:p>
            <a:pPr lvl="1"/>
            <a:r>
              <a:rPr lang="en-IN" noProof="0" dirty="0"/>
              <a:t>Deciding when to stop </a:t>
            </a:r>
          </a:p>
          <a:p>
            <a:pPr lvl="1"/>
            <a:r>
              <a:rPr lang="en-IN" noProof="0" dirty="0"/>
              <a:t>Returning the final answer </a:t>
            </a:r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  <a:p>
            <a:pPr marL="0" indent="0">
              <a:buNone/>
            </a:pPr>
            <a:r>
              <a:rPr lang="en-IN" noProof="0" dirty="0" err="1"/>
              <a:t>agent_executor</a:t>
            </a:r>
            <a:r>
              <a:rPr lang="en-IN" noProof="0" dirty="0"/>
              <a:t> = </a:t>
            </a:r>
            <a:r>
              <a:rPr lang="en-IN" noProof="0" dirty="0" err="1"/>
              <a:t>AgentExecutor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agent=agent,</a:t>
            </a:r>
          </a:p>
          <a:p>
            <a:pPr marL="0" indent="0">
              <a:buNone/>
            </a:pPr>
            <a:r>
              <a:rPr lang="en-IN" noProof="0" dirty="0"/>
              <a:t>    tools=tools,</a:t>
            </a:r>
          </a:p>
          <a:p>
            <a:pPr marL="0" indent="0">
              <a:buNone/>
            </a:pPr>
            <a:r>
              <a:rPr lang="en-IN" noProof="0" dirty="0"/>
              <a:t>    verbose=True,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max_iterations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early_stopping_method</a:t>
            </a:r>
            <a:r>
              <a:rPr lang="en-IN" noProof="0" dirty="0"/>
              <a:t>="force"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A </a:t>
            </a:r>
            <a:r>
              <a:rPr lang="en-IN" noProof="0" dirty="0" err="1"/>
              <a:t>LangChain</a:t>
            </a:r>
            <a:r>
              <a:rPr lang="en-IN" noProof="0" dirty="0"/>
              <a:t> toolkit that supplies tools for interacting with SQL databases</a:t>
            </a:r>
          </a:p>
          <a:p>
            <a:r>
              <a:rPr lang="en-IN" noProof="0" dirty="0"/>
              <a:t>It enables an agent to: Inspect tables, View schemas, Generate SQL, Execute SQL queries, Validate SQL, Return results</a:t>
            </a:r>
          </a:p>
          <a:p>
            <a:r>
              <a:rPr lang="en-IN" noProof="0" dirty="0"/>
              <a:t>C:\code\agenticai\14_advanced\06_langchain_agents\sql_database_toolkit_agent.py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</a:t>
            </a:r>
          </a:p>
          <a:p>
            <a:pPr lvl="1"/>
            <a:r>
              <a:rPr lang="en-IN" noProof="0" dirty="0"/>
              <a:t>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</a:t>
            </a:r>
          </a:p>
          <a:p>
            <a:r>
              <a:rPr lang="en-IN" noProof="0" dirty="0"/>
              <a:t>C:\code\agenticai\14_advanced\06_langchain_agents\chaining_tool_outputs.py</a:t>
            </a:r>
          </a:p>
        </p:txBody>
      </p:sp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  <a:p>
            <a:r>
              <a:rPr lang="en-IN" noProof="0" dirty="0"/>
              <a:t>Example: START -&gt; Authenticate user -&gt; Balance check -&gt; Enough balance -&gt; If yes: Transfer -&gt; If no: Notify User -&gt; End</a:t>
            </a:r>
          </a:p>
        </p:txBody>
      </p:sp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("answer",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MessageGraph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Conversations are not one-time tasks, hence they need context</a:t>
            </a:r>
          </a:p>
          <a:p>
            <a:r>
              <a:rPr lang="en-IN" noProof="0" dirty="0"/>
              <a:t>Message history helps us achieve this</a:t>
            </a:r>
          </a:p>
          <a:p>
            <a:pPr lvl="1"/>
            <a:r>
              <a:rPr lang="en-IN" noProof="0" dirty="0"/>
              <a:t>User -&gt; History -&gt; LLM -&gt; New Message -&gt; Updated History</a:t>
            </a:r>
          </a:p>
          <a:p>
            <a:r>
              <a:rPr lang="en-IN" b="1" noProof="0" dirty="0" err="1"/>
              <a:t>MessageGraph</a:t>
            </a:r>
            <a:r>
              <a:rPr lang="en-IN" noProof="0" dirty="0"/>
              <a:t>: A specialized </a:t>
            </a:r>
            <a:r>
              <a:rPr lang="en-IN" noProof="0" dirty="0" err="1"/>
              <a:t>LangGraph</a:t>
            </a:r>
            <a:r>
              <a:rPr lang="en-IN" noProof="0" dirty="0"/>
              <a:t> designed for conversational applications</a:t>
            </a:r>
          </a:p>
          <a:p>
            <a:r>
              <a:rPr lang="en-IN" noProof="0" dirty="0" err="1"/>
              <a:t>StateGraph</a:t>
            </a:r>
            <a:r>
              <a:rPr lang="en-IN" noProof="0" dirty="0"/>
              <a:t>: Question -&gt; Documents -&gt; Summary -&gt; Answer</a:t>
            </a:r>
          </a:p>
          <a:p>
            <a:r>
              <a:rPr lang="en-IN" noProof="0" dirty="0" err="1"/>
              <a:t>MessageGraph</a:t>
            </a:r>
            <a:r>
              <a:rPr lang="en-IN" noProof="0" dirty="0"/>
              <a:t>: Human -&gt; AI -&gt; Human -&gt; AI -&gt; Human</a:t>
            </a:r>
          </a:p>
          <a:p>
            <a:r>
              <a:rPr lang="en-IN" noProof="0" dirty="0"/>
              <a:t>Message types: SystemMessage, </a:t>
            </a:r>
            <a:r>
              <a:rPr lang="en-IN" noProof="0" dirty="0" err="1"/>
              <a:t>HumanMessage</a:t>
            </a:r>
            <a:r>
              <a:rPr lang="en-IN" noProof="0" dirty="0"/>
              <a:t>, </a:t>
            </a:r>
            <a:r>
              <a:rPr lang="en-IN" noProof="0" dirty="0" err="1"/>
              <a:t>AIMessage</a:t>
            </a:r>
            <a:r>
              <a:rPr lang="en-IN" noProof="0" dirty="0"/>
              <a:t>, </a:t>
            </a:r>
            <a:r>
              <a:rPr lang="en-IN" noProof="0" dirty="0" err="1"/>
              <a:t>ToolMessage</a:t>
            </a:r>
            <a:r>
              <a:rPr lang="en-IN" noProof="0" dirty="0"/>
              <a:t> </a:t>
            </a:r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/>
              <a:t>greeter</a:t>
            </a:r>
            <a:r>
              <a:rPr lang="en-IN" noProof="0" dirty="0"/>
              <a:t> graph and give input such as </a:t>
            </a:r>
            <a:r>
              <a:rPr lang="en-IN" i="1" noProof="0" dirty="0"/>
              <a:t>{"message": "I just got promoted!", "mood": "", "reply": ""}</a:t>
            </a:r>
          </a:p>
          <a:p>
            <a:pPr lvl="1"/>
            <a:r>
              <a:rPr lang="en-IN" noProof="0" dirty="0"/>
              <a:t>Step through, inspect state at every step</a:t>
            </a:r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</a:t>
            </a:r>
          </a:p>
          <a:p>
            <a:pPr lvl="1"/>
            <a:r>
              <a:rPr lang="en-IN" noProof="0" dirty="0"/>
              <a:t>Current graph state </a:t>
            </a:r>
          </a:p>
          <a:p>
            <a:pPr lvl="1"/>
            <a:r>
              <a:rPr lang="en-IN" noProof="0" dirty="0"/>
              <a:t>Current node </a:t>
            </a:r>
          </a:p>
          <a:p>
            <a:pPr lvl="1"/>
            <a:r>
              <a:rPr lang="en-IN" noProof="0" dirty="0"/>
              <a:t>Conversation history </a:t>
            </a:r>
          </a:p>
          <a:p>
            <a:pPr lvl="1"/>
            <a:r>
              <a:rPr lang="en-IN" noProof="0" dirty="0"/>
              <a:t>Variables </a:t>
            </a:r>
          </a:p>
          <a:p>
            <a:pPr lvl="1"/>
            <a:r>
              <a:rPr lang="en-IN" noProof="0" dirty="0"/>
              <a:t>Thread identifier </a:t>
            </a:r>
          </a:p>
          <a:p>
            <a:pPr lvl="1"/>
            <a:r>
              <a:rPr lang="en-IN" noProof="0" dirty="0"/>
              <a:t>Pending interrupts</a:t>
            </a:r>
          </a:p>
          <a:p>
            <a:r>
              <a:rPr lang="en-IN" noProof="0" dirty="0" err="1"/>
              <a:t>Checkpointer</a:t>
            </a:r>
            <a:r>
              <a:rPr lang="en-IN" noProof="0" dirty="0"/>
              <a:t> (</a:t>
            </a:r>
            <a:r>
              <a:rPr lang="en-IN" i="1" noProof="0" dirty="0"/>
              <a:t>Where was the agent?</a:t>
            </a:r>
            <a:r>
              <a:rPr lang="en-IN" noProof="0" dirty="0"/>
              <a:t>) ≠ Memory (</a:t>
            </a:r>
            <a:r>
              <a:rPr lang="en-IN" i="1" noProof="0" dirty="0"/>
              <a:t>What does the agent know?</a:t>
            </a:r>
            <a:r>
              <a:rPr lang="en-IN" noProof="0" dirty="0"/>
              <a:t>)</a:t>
            </a:r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 err="1"/>
              <a:t>LangSmith</a:t>
            </a:r>
            <a:r>
              <a:rPr lang="en-IN" noProof="0" dirty="0"/>
              <a:t> allows you to create custom judge prompts, evaluate entire datasets automatically, compare multiple model versions, score every application run, store evaluation results, track improvements over time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noProof="0" dirty="0"/>
              <a:t>Resource: Provides information that AI can read (text file, PDF, database record, API response, bank account information)</a:t>
            </a:r>
          </a:p>
          <a:p>
            <a:r>
              <a:rPr lang="en-IN" noProof="0" dirty="0"/>
              <a:t>Tool: Performs an action or computation (Search web, Send email, Query database, Book flight)</a:t>
            </a:r>
          </a:p>
          <a:p>
            <a:r>
              <a:rPr lang="en-IN" noProof="0" dirty="0"/>
              <a:t>Prompt: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100005</TotalTime>
  <Words>13570</Words>
  <Application>Microsoft Office PowerPoint</Application>
  <PresentationFormat>Widescreen</PresentationFormat>
  <Paragraphs>2209</Paragraphs>
  <Slides>193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193</vt:i4>
      </vt:variant>
    </vt:vector>
  </HeadingPairs>
  <TitlesOfParts>
    <vt:vector size="198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Schema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MessageGraph</vt:lpstr>
      <vt:lpstr>Streaming</vt:lpstr>
      <vt:lpstr>Visualizing and Debugging Graphs in LangGraph Studio</vt:lpstr>
      <vt:lpstr>Module 08: LangGraph – Cycles, HIL, Persistence</vt:lpstr>
      <vt:lpstr>Cycles/Loops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Report Pipeline</vt:lpstr>
      <vt:lpstr>MCP in Production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689</cp:revision>
  <dcterms:created xsi:type="dcterms:W3CDTF">2025-07-21T11:47:41Z</dcterms:created>
  <dcterms:modified xsi:type="dcterms:W3CDTF">2026-08-07T10:31:52Z</dcterms:modified>
</cp:coreProperties>
</file>