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5"/>
  </p:notesMasterIdLst>
  <p:sldIdLst>
    <p:sldId id="256" r:id="rId2"/>
    <p:sldId id="2806" r:id="rId3"/>
    <p:sldId id="2873" r:id="rId4"/>
    <p:sldId id="2874" r:id="rId5"/>
    <p:sldId id="2875" r:id="rId6"/>
    <p:sldId id="2876" r:id="rId7"/>
    <p:sldId id="2877" r:id="rId8"/>
    <p:sldId id="2878" r:id="rId9"/>
    <p:sldId id="2880" r:id="rId10"/>
    <p:sldId id="2881" r:id="rId11"/>
    <p:sldId id="2879" r:id="rId12"/>
    <p:sldId id="2882" r:id="rId13"/>
    <p:sldId id="2883" r:id="rId14"/>
    <p:sldId id="2884" r:id="rId15"/>
    <p:sldId id="2885" r:id="rId16"/>
    <p:sldId id="2886" r:id="rId17"/>
    <p:sldId id="2887" r:id="rId18"/>
    <p:sldId id="2888" r:id="rId19"/>
    <p:sldId id="2889" r:id="rId20"/>
    <p:sldId id="2890" r:id="rId21"/>
    <p:sldId id="2891" r:id="rId22"/>
    <p:sldId id="2892" r:id="rId23"/>
    <p:sldId id="2893" r:id="rId24"/>
    <p:sldId id="2894" r:id="rId25"/>
    <p:sldId id="2895" r:id="rId26"/>
    <p:sldId id="2896" r:id="rId27"/>
    <p:sldId id="2897" r:id="rId28"/>
    <p:sldId id="2898" r:id="rId29"/>
    <p:sldId id="2899" r:id="rId30"/>
    <p:sldId id="2900" r:id="rId31"/>
    <p:sldId id="2901" r:id="rId32"/>
    <p:sldId id="2902" r:id="rId33"/>
    <p:sldId id="2903" r:id="rId34"/>
    <p:sldId id="2904" r:id="rId35"/>
    <p:sldId id="2905" r:id="rId36"/>
    <p:sldId id="2906" r:id="rId37"/>
    <p:sldId id="2907" r:id="rId38"/>
    <p:sldId id="2908" r:id="rId39"/>
    <p:sldId id="2909" r:id="rId40"/>
    <p:sldId id="2910" r:id="rId41"/>
    <p:sldId id="2911" r:id="rId42"/>
    <p:sldId id="2912" r:id="rId43"/>
    <p:sldId id="2913" r:id="rId44"/>
    <p:sldId id="2914" r:id="rId45"/>
    <p:sldId id="2915" r:id="rId46"/>
    <p:sldId id="2916" r:id="rId47"/>
    <p:sldId id="2917" r:id="rId48"/>
    <p:sldId id="2918" r:id="rId49"/>
    <p:sldId id="2919" r:id="rId50"/>
    <p:sldId id="2920" r:id="rId51"/>
    <p:sldId id="2922" r:id="rId52"/>
    <p:sldId id="2921" r:id="rId53"/>
    <p:sldId id="2923" r:id="rId54"/>
    <p:sldId id="2924" r:id="rId55"/>
    <p:sldId id="2925" r:id="rId56"/>
    <p:sldId id="2926" r:id="rId57"/>
    <p:sldId id="2927" r:id="rId58"/>
    <p:sldId id="2928" r:id="rId59"/>
    <p:sldId id="2929" r:id="rId60"/>
    <p:sldId id="2930" r:id="rId61"/>
    <p:sldId id="2931" r:id="rId62"/>
    <p:sldId id="2932" r:id="rId63"/>
    <p:sldId id="2933" r:id="rId64"/>
    <p:sldId id="260" r:id="rId65"/>
    <p:sldId id="261" r:id="rId66"/>
    <p:sldId id="262" r:id="rId67"/>
    <p:sldId id="263" r:id="rId68"/>
    <p:sldId id="264" r:id="rId69"/>
    <p:sldId id="266" r:id="rId70"/>
    <p:sldId id="268" r:id="rId71"/>
    <p:sldId id="269" r:id="rId72"/>
    <p:sldId id="3035" r:id="rId73"/>
    <p:sldId id="2934" r:id="rId74"/>
    <p:sldId id="2936" r:id="rId75"/>
    <p:sldId id="3042" r:id="rId76"/>
    <p:sldId id="2937" r:id="rId77"/>
    <p:sldId id="2938" r:id="rId78"/>
    <p:sldId id="2940" r:id="rId79"/>
    <p:sldId id="3043" r:id="rId80"/>
    <p:sldId id="3044" r:id="rId81"/>
    <p:sldId id="3045" r:id="rId82"/>
    <p:sldId id="2941" r:id="rId83"/>
    <p:sldId id="2942" r:id="rId84"/>
    <p:sldId id="2943" r:id="rId85"/>
    <p:sldId id="2944" r:id="rId86"/>
    <p:sldId id="2945" r:id="rId87"/>
    <p:sldId id="2946" r:id="rId88"/>
    <p:sldId id="2947" r:id="rId89"/>
    <p:sldId id="2948" r:id="rId90"/>
    <p:sldId id="2949" r:id="rId91"/>
    <p:sldId id="2950" r:id="rId92"/>
    <p:sldId id="2951" r:id="rId93"/>
    <p:sldId id="2953" r:id="rId94"/>
    <p:sldId id="2954" r:id="rId95"/>
    <p:sldId id="2955" r:id="rId96"/>
    <p:sldId id="2957" r:id="rId97"/>
    <p:sldId id="2958" r:id="rId98"/>
    <p:sldId id="2959" r:id="rId99"/>
    <p:sldId id="2827" r:id="rId100"/>
    <p:sldId id="2828" r:id="rId101"/>
    <p:sldId id="2829" r:id="rId102"/>
    <p:sldId id="2830" r:id="rId103"/>
    <p:sldId id="2831" r:id="rId104"/>
    <p:sldId id="2832" r:id="rId105"/>
    <p:sldId id="2833" r:id="rId106"/>
    <p:sldId id="2834" r:id="rId107"/>
    <p:sldId id="2835" r:id="rId108"/>
    <p:sldId id="2838" r:id="rId109"/>
    <p:sldId id="2960" r:id="rId110"/>
    <p:sldId id="2961" r:id="rId111"/>
    <p:sldId id="2962" r:id="rId112"/>
    <p:sldId id="2963" r:id="rId113"/>
    <p:sldId id="2966" r:id="rId114"/>
    <p:sldId id="2964" r:id="rId115"/>
    <p:sldId id="2965" r:id="rId116"/>
    <p:sldId id="3036" r:id="rId117"/>
    <p:sldId id="2967" r:id="rId118"/>
    <p:sldId id="2968" r:id="rId119"/>
    <p:sldId id="2971" r:id="rId120"/>
    <p:sldId id="2848" r:id="rId121"/>
    <p:sldId id="2849" r:id="rId122"/>
    <p:sldId id="3037" r:id="rId123"/>
    <p:sldId id="3038" r:id="rId124"/>
    <p:sldId id="3039" r:id="rId125"/>
    <p:sldId id="3040" r:id="rId126"/>
    <p:sldId id="3041" r:id="rId127"/>
    <p:sldId id="2851" r:id="rId128"/>
    <p:sldId id="2972" r:id="rId129"/>
    <p:sldId id="2970" r:id="rId130"/>
    <p:sldId id="2974" r:id="rId131"/>
    <p:sldId id="2973" r:id="rId132"/>
    <p:sldId id="2975" r:id="rId133"/>
    <p:sldId id="2976" r:id="rId134"/>
    <p:sldId id="2977" r:id="rId135"/>
    <p:sldId id="2978" r:id="rId136"/>
    <p:sldId id="2979" r:id="rId137"/>
    <p:sldId id="2980" r:id="rId138"/>
    <p:sldId id="2981" r:id="rId139"/>
    <p:sldId id="2982" r:id="rId140"/>
    <p:sldId id="2983" r:id="rId141"/>
    <p:sldId id="2984" r:id="rId142"/>
    <p:sldId id="2985" r:id="rId143"/>
    <p:sldId id="2986" r:id="rId144"/>
    <p:sldId id="2987" r:id="rId145"/>
    <p:sldId id="2989" r:id="rId146"/>
    <p:sldId id="2988" r:id="rId147"/>
    <p:sldId id="2990" r:id="rId148"/>
    <p:sldId id="2991" r:id="rId149"/>
    <p:sldId id="2992" r:id="rId150"/>
    <p:sldId id="2993" r:id="rId151"/>
    <p:sldId id="2994" r:id="rId152"/>
    <p:sldId id="2995" r:id="rId153"/>
    <p:sldId id="2996" r:id="rId154"/>
    <p:sldId id="2997" r:id="rId155"/>
    <p:sldId id="2998" r:id="rId156"/>
    <p:sldId id="2999" r:id="rId157"/>
    <p:sldId id="3000" r:id="rId158"/>
    <p:sldId id="3001" r:id="rId159"/>
    <p:sldId id="3002" r:id="rId160"/>
    <p:sldId id="3003" r:id="rId161"/>
    <p:sldId id="3004" r:id="rId162"/>
    <p:sldId id="3005" r:id="rId163"/>
    <p:sldId id="3006" r:id="rId164"/>
    <p:sldId id="3007" r:id="rId165"/>
    <p:sldId id="3008" r:id="rId166"/>
    <p:sldId id="3009" r:id="rId167"/>
    <p:sldId id="3010" r:id="rId168"/>
    <p:sldId id="3011" r:id="rId169"/>
    <p:sldId id="3012" r:id="rId170"/>
    <p:sldId id="3013" r:id="rId171"/>
    <p:sldId id="3014" r:id="rId172"/>
    <p:sldId id="3015" r:id="rId173"/>
    <p:sldId id="3016" r:id="rId174"/>
    <p:sldId id="3017" r:id="rId175"/>
    <p:sldId id="3018" r:id="rId176"/>
    <p:sldId id="3019" r:id="rId177"/>
    <p:sldId id="3020" r:id="rId178"/>
    <p:sldId id="3021" r:id="rId179"/>
    <p:sldId id="701" r:id="rId180"/>
    <p:sldId id="3022" r:id="rId181"/>
    <p:sldId id="3023" r:id="rId182"/>
    <p:sldId id="3024" r:id="rId183"/>
    <p:sldId id="2711" r:id="rId184"/>
    <p:sldId id="3025" r:id="rId185"/>
    <p:sldId id="3026" r:id="rId186"/>
    <p:sldId id="3027" r:id="rId187"/>
    <p:sldId id="3028" r:id="rId188"/>
    <p:sldId id="3029" r:id="rId189"/>
    <p:sldId id="3030" r:id="rId190"/>
    <p:sldId id="3031" r:id="rId191"/>
    <p:sldId id="3032" r:id="rId192"/>
    <p:sldId id="3033" r:id="rId193"/>
    <p:sldId id="3034" r:id="rId1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notesMaster" Target="notesMasters/notesMaster1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theme" Target="theme/theme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4187C0-3FBC-4FD3-800A-B57CA324F63C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3FE73-CC94-4F23-B51B-5E3E293A6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11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62EF-99C0-7C12-EB48-A6A6859D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4220-7ADF-D34A-E602-55A8A3C1B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FA6DD-09F2-28D2-2486-EF8A9BDB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ACA1E-8ACA-B19F-A6BA-C6E765B3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69B3C-3AF7-BB06-00CE-545708C8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40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61EC-2E47-0E91-E9A3-DFEFB52D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5CDF-F6CB-CED6-2CD2-C569EB436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894D2-2DDD-2ABA-EE56-DAEE4DE3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D37E0-9CA4-C226-F318-CCA6E1535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DB39-2D53-211D-1633-A0329C66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16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1780-E958-057B-02A0-1C4032486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A055F-3965-C5B2-C854-2E807DBE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19612-6C8F-AB9D-455B-A0C75AD36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BE88F-AC6B-D219-5527-75A6353F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545B3-EE91-C20F-08AE-F5319F1F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8737-736C-59AE-7E47-0E5C7183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ED73F-F19F-9E9E-DE15-BA878C323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3433A-0E43-8E7A-3861-9637267B0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72685-D6FB-A1CF-3979-26F04EB2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F6CA2-8DF4-E78B-CA23-C719CAD4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2172B-C212-FFD5-F248-A19FB462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5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AFF9-F935-ED39-272E-6DC5485A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2E520-8148-A6DD-2D67-906A429F2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B7E6C-56F6-16DF-F48C-92F97EDA7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8269D-BE96-8B01-DA9A-DF160D402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48A89-D4CF-11F2-B7F5-8470CF33A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BE1AA-5944-4769-DB4B-4F5449DA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C17F5-7AFC-AF88-A316-19DE34C5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AEA018-7862-3610-18D0-B00DBB0F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46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FF18-F3A9-FC70-0E43-50E6F155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7E6A0-C24C-6BBA-CF17-FB3256201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4A160-172D-CD4D-5AF7-18572417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50886-375E-811D-CD3D-45FEA6A2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58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C7402-5EC0-6901-4A7B-6C5DF6CA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EF5083-6517-1A20-E150-A196396A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169BD-D634-4585-2B30-D1B51637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39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12F38-4F56-5F50-6097-EA6E475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2FC63-36E9-3DBA-1970-D555C5166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D58B6-9C27-767E-0F0F-B2FFD7E0A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52F9C-D63F-09D1-AFDE-B7D5F993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02797-69A9-50AD-94E6-1C3E8B30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6A29B-DB62-E581-42B2-201A8A5E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72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9A7C-492F-EEB0-E1D4-9D21B41A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B85C-3E83-E7E3-B2CB-B47277CCD8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1344D-72DA-FB12-CEC5-B4EB0D74D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81CD9-9DE0-1CE3-D82D-23F819D1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4E090-7211-55C3-46A8-EEA9C41D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17C55-9D7C-1E55-0878-FE833DAD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81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E974C-3B7E-2757-B5C7-A315E7AF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B8F2C-123E-434C-0B57-9AB984E70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6D5E3-BFA3-E17E-8D99-169ECE48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96B55-824D-DD73-0D5E-3E909FDBE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D13FB-ACA6-3144-809D-039045AE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60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E6D89-11B4-6EF7-F2CC-ADD8A9FCE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70D23-6711-C1AC-BC53-D2B169437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7A1B0-6F5D-8B4E-3C4C-4A05E683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487B5-801B-F9E2-BDEC-7F84AFEF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E38EC-2C6A-0DF9-3F81-0190290E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66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268EF0-D3CB-0102-4070-777A6417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8C55D-42BF-69EB-EF16-FEF363EA5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56434-6F73-D8AA-0F69-1F70EE96A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A4139-EEBD-4B10-8AB5-141C8FB52912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5A9B4-7503-6B30-C36D-4BFF69990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32812-2F76-3DC4-9984-70F4528E4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13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atulkahat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doc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docs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%3cusername%3e/%3cspace-name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" TargetMode="External"/><Relationship Id="rId2" Type="http://schemas.openxmlformats.org/officeDocument/2006/relationships/hyperlink" Target="https://poloclub.github.io/transformer-explain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router.ai/models" TargetMode="External"/><Relationship Id="rId5" Type="http://schemas.openxmlformats.org/officeDocument/2006/relationships/hyperlink" Target="https://arena.ai/how-it-works" TargetMode="External"/><Relationship Id="rId4" Type="http://schemas.openxmlformats.org/officeDocument/2006/relationships/hyperlink" Target="https://livebench.ai/" TargetMode="Externa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tick-figure-red-man-isolated-304090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5726-993D-AA51-A001-B26EEA285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noProof="0" dirty="0"/>
              <a:t>Agentic AI – </a:t>
            </a:r>
            <a:br>
              <a:rPr lang="en-IN" noProof="0" dirty="0"/>
            </a:br>
            <a:r>
              <a:rPr lang="en-IN" noProof="0" dirty="0"/>
              <a:t>Advanced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FE039-FCA5-0502-063B-FA0985BC6D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Atul Kahate</a:t>
            </a:r>
          </a:p>
          <a:p>
            <a:r>
              <a:rPr lang="en-IN" noProof="0" dirty="0">
                <a:hlinkClick r:id="rId2"/>
              </a:rPr>
              <a:t>https://www.linkedin.com/in/atulkahate/</a:t>
            </a:r>
            <a:endParaRPr lang="en-IN" noProof="0" dirty="0"/>
          </a:p>
          <a:p>
            <a:r>
              <a:rPr lang="en-IN" noProof="0" dirty="0"/>
              <a:t>Course Repository: https://github.com/atulkahatecdac/agenticai</a:t>
            </a:r>
          </a:p>
        </p:txBody>
      </p:sp>
    </p:spTree>
    <p:extLst>
      <p:ext uri="{BB962C8B-B14F-4D97-AF65-F5344CB8AC3E}">
        <p14:creationId xmlns:p14="http://schemas.microsoft.com/office/powerpoint/2010/main" val="3571657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6DFB-D75E-B5B1-C608-71AFCE4D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B81C6A-D08B-35E0-6EDA-3E821B6B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01: Python &amp; AI Dev Environment Setup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E3238E-B962-6B69-3ECB-9D4433D5E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235677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937D79-8431-9067-A6F7-6E2F2567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Agentic AI Ecosystem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B08C62-76E4-7622-E90B-199362DC7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Agentic AI ecosystem is a set of technologies that enable AI systems to</a:t>
            </a:r>
          </a:p>
          <a:p>
            <a:pPr lvl="1"/>
            <a:r>
              <a:rPr lang="en-IN" noProof="0" dirty="0"/>
              <a:t>Understand user goals </a:t>
            </a:r>
          </a:p>
          <a:p>
            <a:pPr lvl="1"/>
            <a:r>
              <a:rPr lang="en-IN" noProof="0" dirty="0"/>
              <a:t>Plan a sequence of actions </a:t>
            </a:r>
          </a:p>
          <a:p>
            <a:pPr lvl="1"/>
            <a:r>
              <a:rPr lang="en-IN" noProof="0" dirty="0"/>
              <a:t>Use external tools and APIs </a:t>
            </a:r>
          </a:p>
          <a:p>
            <a:pPr lvl="1"/>
            <a:r>
              <a:rPr lang="en-IN" noProof="0" dirty="0"/>
              <a:t>Access knowledge and memory </a:t>
            </a:r>
          </a:p>
          <a:p>
            <a:pPr lvl="1"/>
            <a:r>
              <a:rPr lang="en-IN" noProof="0" dirty="0"/>
              <a:t>Collaborate with other agents </a:t>
            </a:r>
          </a:p>
          <a:p>
            <a:pPr lvl="1"/>
            <a:r>
              <a:rPr lang="en-IN" noProof="0" dirty="0"/>
              <a:t>Learn from previous interactions </a:t>
            </a:r>
          </a:p>
          <a:p>
            <a:pPr lvl="1"/>
            <a:r>
              <a:rPr lang="en-IN" noProof="0" dirty="0"/>
              <a:t>Deliver results with minimal human intervention</a:t>
            </a:r>
          </a:p>
        </p:txBody>
      </p:sp>
    </p:spTree>
    <p:extLst>
      <p:ext uri="{BB962C8B-B14F-4D97-AF65-F5344CB8AC3E}">
        <p14:creationId xmlns:p14="http://schemas.microsoft.com/office/powerpoint/2010/main" val="275015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9818-90E5-45F2-6F57-793A1021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Major Components of the Ecosystem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30F54C-EAE5-BA85-D8E9-40622E52F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011243"/>
              </p:ext>
            </p:extLst>
          </p:nvPr>
        </p:nvGraphicFramePr>
        <p:xfrm>
          <a:off x="1546873" y="1776914"/>
          <a:ext cx="9098253" cy="44487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032751">
                  <a:extLst>
                    <a:ext uri="{9D8B030D-6E8A-4147-A177-3AD203B41FA5}">
                      <a16:colId xmlns:a16="http://schemas.microsoft.com/office/drawing/2014/main" val="3450178834"/>
                    </a:ext>
                  </a:extLst>
                </a:gridCol>
                <a:gridCol w="3032751">
                  <a:extLst>
                    <a:ext uri="{9D8B030D-6E8A-4147-A177-3AD203B41FA5}">
                      <a16:colId xmlns:a16="http://schemas.microsoft.com/office/drawing/2014/main" val="1706406590"/>
                    </a:ext>
                  </a:extLst>
                </a:gridCol>
                <a:gridCol w="3032751">
                  <a:extLst>
                    <a:ext uri="{9D8B030D-6E8A-4147-A177-3AD203B41FA5}">
                      <a16:colId xmlns:a16="http://schemas.microsoft.com/office/drawing/2014/main" val="2094702697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Component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Purpose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Examples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616015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Foundation Models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Reasoning and language understanding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GPT-5, Claude, Gemini, Llama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6227817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Agent Frameworks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Build AI agents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OpenAI Agents SDK, </a:t>
                      </a:r>
                      <a:r>
                        <a:rPr lang="en-IN" sz="1600" noProof="0" dirty="0" err="1"/>
                        <a:t>LangGraph</a:t>
                      </a:r>
                      <a:r>
                        <a:rPr lang="en-IN" sz="1600" noProof="0" dirty="0"/>
                        <a:t>, </a:t>
                      </a:r>
                      <a:r>
                        <a:rPr lang="en-IN" sz="1600" noProof="0" dirty="0" err="1"/>
                        <a:t>CrewAI</a:t>
                      </a:r>
                      <a:r>
                        <a:rPr lang="en-IN" sz="1600" noProof="0" dirty="0"/>
                        <a:t>, </a:t>
                      </a:r>
                      <a:r>
                        <a:rPr lang="en-IN" sz="1600" noProof="0" dirty="0" err="1"/>
                        <a:t>AutoGen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640757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Tools &amp; APIs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Perform external actions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Weather API, Gmail, SQL Database, GitHub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515949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MCP Servers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Standardized access to tools and data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Filesystem, PostgreSQL, GitHub, </a:t>
                      </a:r>
                      <a:r>
                        <a:rPr lang="en-IN" sz="1600" noProof="0" dirty="0" err="1"/>
                        <a:t>Tavily</a:t>
                      </a:r>
                      <a:r>
                        <a:rPr lang="en-IN" sz="1600" noProof="0" dirty="0"/>
                        <a:t> MCP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38584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A2A Protocol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Agent-to-agent communication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Multi-agent collaboration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475178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Memory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Store conversation and long-term knowledge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 err="1"/>
                        <a:t>ChromaDB</a:t>
                      </a:r>
                      <a:r>
                        <a:rPr lang="en-IN" sz="1600" noProof="0" dirty="0"/>
                        <a:t>, FAISS, Redis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87671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Workflow Automation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Orchestrate business processes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n8n, Make, Zapier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28723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Vector Databases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Semantic document retrieval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Pinecone, </a:t>
                      </a:r>
                      <a:r>
                        <a:rPr lang="en-IN" sz="1600" noProof="0" dirty="0" err="1"/>
                        <a:t>Weaviate</a:t>
                      </a:r>
                      <a:r>
                        <a:rPr lang="en-IN" sz="1600" noProof="0" dirty="0"/>
                        <a:t>, </a:t>
                      </a:r>
                      <a:r>
                        <a:rPr lang="en-IN" sz="1600" noProof="0" dirty="0" err="1"/>
                        <a:t>ChromaDB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6466386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Observability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Debugging and monitoring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 err="1"/>
                        <a:t>LangSmith</a:t>
                      </a:r>
                      <a:r>
                        <a:rPr lang="en-IN" sz="1600" noProof="0" dirty="0"/>
                        <a:t>, </a:t>
                      </a:r>
                      <a:r>
                        <a:rPr lang="en-IN" sz="1600" noProof="0" dirty="0" err="1"/>
                        <a:t>OpenTelemetry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525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07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B6DB-6AE9-79D4-7724-479D45AC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Popular Python Libraries for Agentic AI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FEBD74-E590-4C1C-5796-5DF09931D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1356265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239474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04956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Popular Libraries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354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LLM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OpenAI, Anthropic, Google GenAI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871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Agent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OpenAI Agents SDK, </a:t>
                      </a:r>
                      <a:r>
                        <a:rPr lang="en-IN" noProof="0" dirty="0" err="1"/>
                        <a:t>LangGraph</a:t>
                      </a:r>
                      <a:r>
                        <a:rPr lang="en-IN" noProof="0" dirty="0"/>
                        <a:t>, </a:t>
                      </a:r>
                      <a:r>
                        <a:rPr lang="en-IN" noProof="0" dirty="0" err="1"/>
                        <a:t>CrewAI</a:t>
                      </a:r>
                      <a:r>
                        <a:rPr lang="en-IN" noProof="0" dirty="0"/>
                        <a:t>, </a:t>
                      </a:r>
                      <a:r>
                        <a:rPr lang="en-IN" noProof="0" dirty="0" err="1"/>
                        <a:t>AutoGen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187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MCP Python SDK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692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LlamaIndex</a:t>
                      </a:r>
                      <a:r>
                        <a:rPr lang="en-IN" noProof="0" dirty="0"/>
                        <a:t>,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08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Vector Databases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ChromaDB</a:t>
                      </a:r>
                      <a:r>
                        <a:rPr lang="en-IN" noProof="0" dirty="0"/>
                        <a:t>, Pinecone, FAISS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715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Data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pandas, NumPy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973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Web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FastAPI</a:t>
                      </a:r>
                      <a:r>
                        <a:rPr lang="en-IN" noProof="0" dirty="0"/>
                        <a:t>, Flask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33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requests, </a:t>
                      </a:r>
                      <a:r>
                        <a:rPr lang="en-IN" noProof="0" dirty="0" err="1"/>
                        <a:t>asyncio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028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59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ABBF-6376-781A-16E2-5C5E31E7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Typical Agent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3A19C-54E4-4C7E-83EC-396789C06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120AC-17A9-E3BE-9642-230CAE413743}"/>
              </a:ext>
            </a:extLst>
          </p:cNvPr>
          <p:cNvSpPr txBox="1"/>
          <p:nvPr/>
        </p:nvSpPr>
        <p:spPr>
          <a:xfrm>
            <a:off x="3047419" y="2072697"/>
            <a:ext cx="60971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noProof="0" dirty="0"/>
              <a:t>                 User</a:t>
            </a:r>
          </a:p>
          <a:p>
            <a:r>
              <a:rPr lang="en-IN" noProof="0" dirty="0"/>
              <a:t>                  │</a:t>
            </a:r>
          </a:p>
          <a:p>
            <a:r>
              <a:rPr lang="en-IN" noProof="0" dirty="0"/>
              <a:t>                  ▼</a:t>
            </a:r>
          </a:p>
          <a:p>
            <a:r>
              <a:rPr lang="en-IN" noProof="0" dirty="0"/>
              <a:t>          Agent (Python)</a:t>
            </a:r>
          </a:p>
          <a:p>
            <a:r>
              <a:rPr lang="en-IN" noProof="0" dirty="0"/>
              <a:t>                  │</a:t>
            </a:r>
          </a:p>
          <a:p>
            <a:r>
              <a:rPr lang="en-IN" noProof="0" dirty="0"/>
              <a:t>      ┌───────────┼────────────┐</a:t>
            </a:r>
          </a:p>
          <a:p>
            <a:r>
              <a:rPr lang="en-IN" noProof="0" dirty="0"/>
              <a:t>      │           │                                         │</a:t>
            </a:r>
          </a:p>
          <a:p>
            <a:r>
              <a:rPr lang="en-IN" noProof="0" dirty="0"/>
              <a:t>      ▼        ▼                                       ▼</a:t>
            </a:r>
          </a:p>
          <a:p>
            <a:r>
              <a:rPr lang="en-IN" noProof="0" dirty="0"/>
              <a:t>    LLM      Memory/RAG                  Tools</a:t>
            </a:r>
          </a:p>
          <a:p>
            <a:r>
              <a:rPr lang="en-IN" noProof="0" dirty="0"/>
              <a:t>      │           │            │</a:t>
            </a:r>
          </a:p>
          <a:p>
            <a:r>
              <a:rPr lang="en-IN" noProof="0" dirty="0"/>
              <a:t>      └───────────┼────────────┘</a:t>
            </a:r>
          </a:p>
          <a:p>
            <a:r>
              <a:rPr lang="en-IN" noProof="0" dirty="0"/>
              <a:t>                  │</a:t>
            </a:r>
          </a:p>
          <a:p>
            <a:r>
              <a:rPr lang="en-IN" noProof="0" dirty="0"/>
              <a:t>             Final Response</a:t>
            </a:r>
          </a:p>
        </p:txBody>
      </p:sp>
    </p:spTree>
    <p:extLst>
      <p:ext uri="{BB962C8B-B14F-4D97-AF65-F5344CB8AC3E}">
        <p14:creationId xmlns:p14="http://schemas.microsoft.com/office/powerpoint/2010/main" val="49960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5400-FE33-685C-8EC3-06A073E5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783"/>
            <a:ext cx="10515600" cy="307125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Production Directory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EF0FD-5B04-6BE8-E653-B2A103837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333"/>
            <a:ext cx="10515600" cy="5590630"/>
          </a:xfrm>
        </p:spPr>
        <p:txBody>
          <a:bodyPr>
            <a:normAutofit fontScale="25000" lnSpcReduction="20000"/>
          </a:bodyPr>
          <a:lstStyle/>
          <a:p>
            <a:r>
              <a:rPr lang="en-IN" noProof="0" dirty="0"/>
              <a:t>ai-agent-app/</a:t>
            </a:r>
          </a:p>
          <a:p>
            <a:r>
              <a:rPr lang="en-IN" noProof="0" dirty="0"/>
              <a:t>│</a:t>
            </a:r>
          </a:p>
          <a:p>
            <a:r>
              <a:rPr lang="en-IN" noProof="0" dirty="0"/>
              <a:t>├── app/</a:t>
            </a:r>
          </a:p>
          <a:p>
            <a:r>
              <a:rPr lang="en-IN" noProof="0" dirty="0"/>
              <a:t>│   ├── agents/</a:t>
            </a:r>
          </a:p>
          <a:p>
            <a:r>
              <a:rPr lang="en-IN" noProof="0" dirty="0"/>
              <a:t>│   ├── tools/</a:t>
            </a:r>
          </a:p>
          <a:p>
            <a:r>
              <a:rPr lang="en-IN" noProof="0" dirty="0"/>
              <a:t>│   ├── prompts/</a:t>
            </a:r>
          </a:p>
          <a:p>
            <a:r>
              <a:rPr lang="en-IN" noProof="0" dirty="0"/>
              <a:t>│   ├── memory/</a:t>
            </a:r>
          </a:p>
          <a:p>
            <a:r>
              <a:rPr lang="en-IN" noProof="0" dirty="0"/>
              <a:t>│   ├── workflows/</a:t>
            </a:r>
          </a:p>
          <a:p>
            <a:r>
              <a:rPr lang="en-IN" noProof="0" dirty="0"/>
              <a:t>│   ├── models/</a:t>
            </a:r>
          </a:p>
          <a:p>
            <a:r>
              <a:rPr lang="en-IN" noProof="0" dirty="0"/>
              <a:t>│   ├── services/</a:t>
            </a:r>
          </a:p>
          <a:p>
            <a:r>
              <a:rPr lang="en-IN" noProof="0" dirty="0"/>
              <a:t>│   ├── </a:t>
            </a:r>
            <a:r>
              <a:rPr lang="en-IN" noProof="0" dirty="0" err="1"/>
              <a:t>api</a:t>
            </a:r>
            <a:r>
              <a:rPr lang="en-IN" noProof="0" dirty="0"/>
              <a:t>/</a:t>
            </a:r>
          </a:p>
          <a:p>
            <a:r>
              <a:rPr lang="en-IN" noProof="0" dirty="0"/>
              <a:t>│   └── main.py</a:t>
            </a:r>
          </a:p>
          <a:p>
            <a:r>
              <a:rPr lang="en-IN" noProof="0" dirty="0"/>
              <a:t>│</a:t>
            </a:r>
          </a:p>
          <a:p>
            <a:r>
              <a:rPr lang="en-IN" noProof="0" dirty="0"/>
              <a:t>├── tests/</a:t>
            </a:r>
          </a:p>
          <a:p>
            <a:r>
              <a:rPr lang="en-IN" noProof="0" dirty="0"/>
              <a:t>│</a:t>
            </a:r>
          </a:p>
          <a:p>
            <a:r>
              <a:rPr lang="en-IN" noProof="0" dirty="0"/>
              <a:t>├── data/</a:t>
            </a:r>
          </a:p>
          <a:p>
            <a:r>
              <a:rPr lang="en-IN" noProof="0" dirty="0"/>
              <a:t>│</a:t>
            </a:r>
          </a:p>
          <a:p>
            <a:r>
              <a:rPr lang="en-IN" noProof="0" dirty="0"/>
              <a:t>├── docs/</a:t>
            </a:r>
          </a:p>
          <a:p>
            <a:r>
              <a:rPr lang="en-IN" noProof="0" dirty="0"/>
              <a:t>│</a:t>
            </a:r>
          </a:p>
          <a:p>
            <a:r>
              <a:rPr lang="en-IN" noProof="0" dirty="0"/>
              <a:t>├── config/</a:t>
            </a:r>
          </a:p>
          <a:p>
            <a:r>
              <a:rPr lang="en-IN" noProof="0" dirty="0"/>
              <a:t>│</a:t>
            </a:r>
          </a:p>
          <a:p>
            <a:r>
              <a:rPr lang="en-IN" noProof="0" dirty="0"/>
              <a:t>├── scripts/</a:t>
            </a:r>
          </a:p>
          <a:p>
            <a:r>
              <a:rPr lang="en-IN" noProof="0" dirty="0"/>
              <a:t>│</a:t>
            </a:r>
          </a:p>
          <a:p>
            <a:r>
              <a:rPr lang="en-IN" noProof="0" dirty="0"/>
              <a:t>├── .env</a:t>
            </a:r>
          </a:p>
          <a:p>
            <a:r>
              <a:rPr lang="en-IN" noProof="0" dirty="0"/>
              <a:t>├── requirements.txt</a:t>
            </a:r>
          </a:p>
          <a:p>
            <a:r>
              <a:rPr lang="en-IN" noProof="0" dirty="0"/>
              <a:t>├── </a:t>
            </a:r>
            <a:r>
              <a:rPr lang="en-IN" noProof="0" dirty="0" err="1"/>
              <a:t>pyproject.toml</a:t>
            </a:r>
            <a:endParaRPr lang="en-IN" noProof="0" dirty="0"/>
          </a:p>
          <a:p>
            <a:r>
              <a:rPr lang="en-IN" noProof="0" dirty="0"/>
              <a:t>├── README.md</a:t>
            </a:r>
          </a:p>
          <a:p>
            <a:r>
              <a:rPr lang="en-IN" noProof="0" dirty="0"/>
              <a:t>└── .</a:t>
            </a:r>
            <a:r>
              <a:rPr lang="en-IN" noProof="0" dirty="0" err="1"/>
              <a:t>gitignore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236028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D7968-26B7-3C4E-31E3-9865F27F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Managing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1A9E3-0E01-30D1-20C1-9BFC1D01E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Package management options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2D98B2-491F-784A-4EA2-550B800B7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121694"/>
              </p:ext>
            </p:extLst>
          </p:nvPr>
        </p:nvGraphicFramePr>
        <p:xfrm>
          <a:off x="838200" y="2812574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433653">
                  <a:extLst>
                    <a:ext uri="{9D8B030D-6E8A-4147-A177-3AD203B41FA5}">
                      <a16:colId xmlns:a16="http://schemas.microsoft.com/office/drawing/2014/main" val="1377514917"/>
                    </a:ext>
                  </a:extLst>
                </a:gridCol>
                <a:gridCol w="7081947">
                  <a:extLst>
                    <a:ext uri="{9D8B030D-6E8A-4147-A177-3AD203B41FA5}">
                      <a16:colId xmlns:a16="http://schemas.microsoft.com/office/drawing/2014/main" val="1096907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652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pip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Install and manage Python packages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264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requirements.txt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Record project dependencies and versions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526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 err="1"/>
                        <a:t>venv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Create isolated Python environments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971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 err="1"/>
                        <a:t>uv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Fast Python package manager and project manager (drop-in replacement for pip, pip-tools, and </a:t>
                      </a:r>
                      <a:r>
                        <a:rPr lang="en-IN" noProof="0" dirty="0" err="1"/>
                        <a:t>virtualenv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345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031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9B52-4EF4-4C11-05BE-DF6C9008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Virtual Environment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59023-99C9-AB6E-08FC-B502CD2A5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noProof="0" dirty="0"/>
              <a:t>Virtual environment</a:t>
            </a:r>
            <a:r>
              <a:rPr lang="en-IN" noProof="0" dirty="0"/>
              <a:t>: An isolated Python environment that contains its own:</a:t>
            </a:r>
          </a:p>
          <a:p>
            <a:pPr lvl="1"/>
            <a:r>
              <a:rPr lang="en-IN" noProof="0" dirty="0"/>
              <a:t>Python interpreter </a:t>
            </a:r>
          </a:p>
          <a:p>
            <a:pPr lvl="1"/>
            <a:r>
              <a:rPr lang="en-IN" noProof="0" dirty="0"/>
              <a:t>Installed packages </a:t>
            </a:r>
          </a:p>
          <a:p>
            <a:pPr lvl="1"/>
            <a:r>
              <a:rPr lang="en-IN" noProof="0" dirty="0"/>
              <a:t>Package versions </a:t>
            </a:r>
          </a:p>
          <a:p>
            <a:r>
              <a:rPr lang="en-IN" noProof="0" dirty="0"/>
              <a:t>Each project can have its own dependencies without affecting other projects or the system Python</a:t>
            </a:r>
          </a:p>
          <a:p>
            <a:r>
              <a:rPr lang="en-IN" noProof="0" dirty="0"/>
              <a:t>Without a virtual environment:</a:t>
            </a:r>
          </a:p>
          <a:p>
            <a:pPr lvl="1"/>
            <a:r>
              <a:rPr lang="en-IN" noProof="0" dirty="0"/>
              <a:t>Different projects may require different package versions</a:t>
            </a:r>
          </a:p>
          <a:p>
            <a:pPr lvl="1"/>
            <a:r>
              <a:rPr lang="en-IN" noProof="0" dirty="0"/>
              <a:t>Installing or upgrading a package for one project can break another</a:t>
            </a:r>
          </a:p>
          <a:p>
            <a:pPr lvl="1"/>
            <a:r>
              <a:rPr lang="en-IN" noProof="0" dirty="0"/>
              <a:t>The system Python installation becomes cluttered</a:t>
            </a:r>
          </a:p>
          <a:p>
            <a:r>
              <a:rPr lang="en-IN" noProof="0" dirty="0"/>
              <a:t>With a virtual environment:</a:t>
            </a:r>
          </a:p>
          <a:p>
            <a:pPr lvl="1"/>
            <a:r>
              <a:rPr lang="en-IN" noProof="0" dirty="0"/>
              <a:t>Each project has its own isolated dependencies</a:t>
            </a:r>
          </a:p>
          <a:p>
            <a:pPr lvl="1"/>
            <a:r>
              <a:rPr lang="en-IN" noProof="0" dirty="0"/>
              <a:t>Projects can use different versions of the same library</a:t>
            </a:r>
          </a:p>
          <a:p>
            <a:pPr lvl="1"/>
            <a:r>
              <a:rPr lang="en-IN" noProof="0" dirty="0"/>
              <a:t>Development, testing, and deployment become more reliable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2156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F0F8-E921-808F-81D9-5DDA876C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How a Virtual Environment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57E64-60C4-DA85-7C90-EF11369CC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noProof="0" dirty="0"/>
              <a:t>			 System Python</a:t>
            </a:r>
          </a:p>
          <a:p>
            <a:pPr marL="0" indent="0">
              <a:buNone/>
            </a:pPr>
            <a:r>
              <a:rPr lang="en-IN" noProof="0" dirty="0"/>
              <a:t>                                               │</a:t>
            </a:r>
          </a:p>
          <a:p>
            <a:pPr marL="0" indent="0">
              <a:buNone/>
            </a:pPr>
            <a:r>
              <a:rPr lang="en-IN" noProof="0" dirty="0"/>
              <a:t>        ┌────────────────┼────────────────┐</a:t>
            </a:r>
          </a:p>
          <a:p>
            <a:pPr marL="0" indent="0">
              <a:buNone/>
            </a:pPr>
            <a:r>
              <a:rPr lang="en-IN" noProof="0" dirty="0"/>
              <a:t>        │                   │                                                      │</a:t>
            </a:r>
          </a:p>
          <a:p>
            <a:pPr marL="0" indent="0">
              <a:buNone/>
            </a:pPr>
            <a:r>
              <a:rPr lang="en-IN" noProof="0" dirty="0"/>
              <a:t>        ▼                ▼                                                    ▼</a:t>
            </a:r>
          </a:p>
          <a:p>
            <a:pPr marL="0" indent="0">
              <a:buNone/>
            </a:pPr>
            <a:r>
              <a:rPr lang="en-IN" noProof="0" dirty="0"/>
              <a:t>   Project A         Project B        		Project C</a:t>
            </a:r>
          </a:p>
          <a:p>
            <a:pPr marL="0" indent="0">
              <a:buNone/>
            </a:pPr>
            <a:r>
              <a:rPr lang="en-IN" noProof="0" dirty="0"/>
              <a:t>     .</a:t>
            </a:r>
            <a:r>
              <a:rPr lang="en-IN" noProof="0" dirty="0" err="1"/>
              <a:t>venv</a:t>
            </a:r>
            <a:r>
              <a:rPr lang="en-IN" noProof="0" dirty="0"/>
              <a:t>             .</a:t>
            </a:r>
            <a:r>
              <a:rPr lang="en-IN" noProof="0" dirty="0" err="1"/>
              <a:t>venv</a:t>
            </a:r>
            <a:r>
              <a:rPr lang="en-IN" noProof="0" dirty="0"/>
              <a:t>            			   .</a:t>
            </a:r>
            <a:r>
              <a:rPr lang="en-IN" noProof="0" dirty="0" err="1"/>
              <a:t>venv</a:t>
            </a: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        │                   │                                                 │</a:t>
            </a:r>
          </a:p>
          <a:p>
            <a:pPr marL="0" indent="0">
              <a:buNone/>
            </a:pPr>
            <a:r>
              <a:rPr lang="en-IN" noProof="0" dirty="0"/>
              <a:t>   </a:t>
            </a:r>
            <a:r>
              <a:rPr lang="en-IN" noProof="0" dirty="0" err="1"/>
              <a:t>openai</a:t>
            </a:r>
            <a:r>
              <a:rPr lang="en-IN" noProof="0" dirty="0"/>
              <a:t> 2.x      </a:t>
            </a:r>
            <a:r>
              <a:rPr lang="en-IN" noProof="0" dirty="0" err="1"/>
              <a:t>openai</a:t>
            </a:r>
            <a:r>
              <a:rPr lang="en-IN" noProof="0" dirty="0"/>
              <a:t> 1.x      		pandas 2.x</a:t>
            </a:r>
          </a:p>
          <a:p>
            <a:pPr marL="0" indent="0">
              <a:buNone/>
            </a:pPr>
            <a:r>
              <a:rPr lang="en-IN" noProof="0" dirty="0"/>
              <a:t>   requests         flask           			</a:t>
            </a:r>
            <a:r>
              <a:rPr lang="en-IN" noProof="0" dirty="0" err="1"/>
              <a:t>numpy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38254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5CCD-6D6C-288F-0373-766266A4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Managing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39975-9AD0-65FF-74F4-B7206E079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noProof="0" dirty="0"/>
              <a:t>pip</a:t>
            </a:r>
          </a:p>
          <a:p>
            <a:pPr lvl="1"/>
            <a:r>
              <a:rPr lang="en-IN" noProof="0" dirty="0"/>
              <a:t>Install a package: pip install </a:t>
            </a:r>
            <a:r>
              <a:rPr lang="en-IN" noProof="0" dirty="0" err="1"/>
              <a:t>openai</a:t>
            </a:r>
            <a:endParaRPr lang="en-IN" noProof="0" dirty="0"/>
          </a:p>
          <a:p>
            <a:pPr lvl="1"/>
            <a:r>
              <a:rPr lang="en-IN" noProof="0" dirty="0"/>
              <a:t>Install multiple packages: pip install </a:t>
            </a:r>
            <a:r>
              <a:rPr lang="en-IN" noProof="0" dirty="0" err="1"/>
              <a:t>openai</a:t>
            </a:r>
            <a:r>
              <a:rPr lang="en-IN" noProof="0" dirty="0"/>
              <a:t> requests python-</a:t>
            </a:r>
            <a:r>
              <a:rPr lang="en-IN" noProof="0" dirty="0" err="1"/>
              <a:t>dotenv</a:t>
            </a:r>
            <a:endParaRPr lang="en-IN" noProof="0" dirty="0"/>
          </a:p>
          <a:p>
            <a:pPr lvl="1"/>
            <a:r>
              <a:rPr lang="en-IN" noProof="0" dirty="0"/>
              <a:t>Upgrade a package: pip install --upgrade </a:t>
            </a:r>
            <a:r>
              <a:rPr lang="en-IN" noProof="0" dirty="0" err="1"/>
              <a:t>openai</a:t>
            </a:r>
            <a:endParaRPr lang="en-IN" noProof="0" dirty="0"/>
          </a:p>
          <a:p>
            <a:pPr lvl="1"/>
            <a:r>
              <a:rPr lang="en-IN" noProof="0" dirty="0"/>
              <a:t>Remove a package: pip uninstall </a:t>
            </a:r>
            <a:r>
              <a:rPr lang="en-IN" noProof="0" dirty="0" err="1"/>
              <a:t>openai</a:t>
            </a:r>
            <a:endParaRPr lang="en-IN" noProof="0" dirty="0"/>
          </a:p>
          <a:p>
            <a:r>
              <a:rPr lang="en-IN" noProof="0" dirty="0"/>
              <a:t>requirements.txt</a:t>
            </a:r>
          </a:p>
          <a:p>
            <a:pPr lvl="1"/>
            <a:r>
              <a:rPr lang="en-IN" noProof="0" dirty="0"/>
              <a:t>Lists all needed packages</a:t>
            </a:r>
          </a:p>
          <a:p>
            <a:pPr lvl="1"/>
            <a:r>
              <a:rPr lang="en-IN" noProof="0" dirty="0"/>
              <a:t>To install: pip install -r requirements.txt</a:t>
            </a:r>
          </a:p>
          <a:p>
            <a:r>
              <a:rPr lang="en-IN" noProof="0" dirty="0" err="1"/>
              <a:t>uv</a:t>
            </a:r>
            <a:endParaRPr lang="en-IN" noProof="0" dirty="0"/>
          </a:p>
          <a:p>
            <a:pPr lvl="1"/>
            <a:r>
              <a:rPr lang="en-IN" noProof="0" dirty="0"/>
              <a:t>Modern, fast package manager and virtual environment creation tool</a:t>
            </a:r>
          </a:p>
          <a:p>
            <a:pPr lvl="1"/>
            <a:r>
              <a:rPr lang="en-IN" noProof="0" dirty="0"/>
              <a:t>Install: </a:t>
            </a:r>
            <a:r>
              <a:rPr lang="en-IN" noProof="0" dirty="0" err="1"/>
              <a:t>powershell</a:t>
            </a:r>
            <a:r>
              <a:rPr lang="en-IN" noProof="0" dirty="0"/>
              <a:t> -</a:t>
            </a:r>
            <a:r>
              <a:rPr lang="en-IN" noProof="0" dirty="0" err="1"/>
              <a:t>ExecutionPolicy</a:t>
            </a:r>
            <a:r>
              <a:rPr lang="en-IN" noProof="0" dirty="0"/>
              <a:t> </a:t>
            </a:r>
            <a:r>
              <a:rPr lang="en-IN" noProof="0" dirty="0" err="1"/>
              <a:t>ByPass</a:t>
            </a:r>
            <a:r>
              <a:rPr lang="en-IN" noProof="0" dirty="0"/>
              <a:t> -c "</a:t>
            </a:r>
            <a:r>
              <a:rPr lang="en-IN" noProof="0" dirty="0" err="1"/>
              <a:t>irm</a:t>
            </a:r>
            <a:r>
              <a:rPr lang="en-IN" noProof="0" dirty="0"/>
              <a:t> https://astral.sh/uv/install.ps1 | </a:t>
            </a:r>
            <a:r>
              <a:rPr lang="en-IN" noProof="0" dirty="0" err="1"/>
              <a:t>iex</a:t>
            </a:r>
            <a:r>
              <a:rPr lang="en-IN" noProof="0" dirty="0"/>
              <a:t>“</a:t>
            </a:r>
          </a:p>
          <a:p>
            <a:pPr lvl="1"/>
            <a:r>
              <a:rPr lang="en-IN" noProof="0" dirty="0"/>
              <a:t>Create a virtual environment: </a:t>
            </a:r>
            <a:r>
              <a:rPr lang="en-IN" noProof="0" dirty="0" err="1"/>
              <a:t>uv</a:t>
            </a:r>
            <a:r>
              <a:rPr lang="en-IN" noProof="0" dirty="0"/>
              <a:t> </a:t>
            </a:r>
            <a:r>
              <a:rPr lang="en-IN" noProof="0" dirty="0" err="1"/>
              <a:t>venv</a:t>
            </a:r>
            <a:endParaRPr lang="en-IN" noProof="0" dirty="0"/>
          </a:p>
          <a:p>
            <a:pPr lvl="1"/>
            <a:r>
              <a:rPr lang="en-IN" noProof="0" dirty="0"/>
              <a:t>Activate it: .</a:t>
            </a:r>
            <a:r>
              <a:rPr lang="en-IN" noProof="0" dirty="0" err="1"/>
              <a:t>venv</a:t>
            </a:r>
            <a:r>
              <a:rPr lang="en-IN" noProof="0" dirty="0"/>
              <a:t>\Scripts\activate</a:t>
            </a:r>
          </a:p>
          <a:p>
            <a:pPr lvl="1"/>
            <a:r>
              <a:rPr lang="en-IN" noProof="0" dirty="0"/>
              <a:t>Install packages: </a:t>
            </a:r>
            <a:r>
              <a:rPr lang="en-IN" noProof="0" dirty="0" err="1"/>
              <a:t>uv</a:t>
            </a:r>
            <a:r>
              <a:rPr lang="en-IN" noProof="0" dirty="0"/>
              <a:t> pip install -r 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489477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105B-42E0-EAB4-2B15-7D49762C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Securely managing API keys using python-</a:t>
            </a:r>
            <a:r>
              <a:rPr lang="en-IN" noProof="0" dirty="0" err="1"/>
              <a:t>dotenv</a:t>
            </a:r>
            <a:r>
              <a:rPr lang="en-IN" noProof="0" dirty="0"/>
              <a:t> and .env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6A9CE-9842-2831-FA3F-B8E275326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noProof="0" dirty="0"/>
              <a:t>Many AI applications require API keys to access external services such as:</a:t>
            </a:r>
          </a:p>
          <a:p>
            <a:pPr lvl="1"/>
            <a:r>
              <a:rPr lang="en-IN" noProof="0" dirty="0"/>
              <a:t>OpenAI , Anthropic , Google AI , </a:t>
            </a:r>
            <a:r>
              <a:rPr lang="en-IN" noProof="0" dirty="0" err="1"/>
              <a:t>Tavily</a:t>
            </a:r>
            <a:r>
              <a:rPr lang="en-IN" noProof="0" dirty="0"/>
              <a:t> Search , GitHub , Pinecone, PostgreSQL </a:t>
            </a:r>
          </a:p>
          <a:p>
            <a:r>
              <a:rPr lang="en-IN" noProof="0" dirty="0"/>
              <a:t>Hardcoding API keys in source code is a major security risk</a:t>
            </a:r>
          </a:p>
          <a:p>
            <a:r>
              <a:rPr lang="en-IN" noProof="0" dirty="0"/>
              <a:t>Solution: Create a file named .env in the root/main directory</a:t>
            </a:r>
          </a:p>
          <a:p>
            <a:pPr lvl="1"/>
            <a:r>
              <a:rPr lang="en-IN" noProof="0" dirty="0"/>
              <a:t>OPENAI_API_KEY=</a:t>
            </a:r>
            <a:r>
              <a:rPr lang="en-IN" noProof="0" dirty="0" err="1"/>
              <a:t>sk-xxxxxxxxxxxxxxxx</a:t>
            </a:r>
            <a:endParaRPr lang="en-IN" noProof="0" dirty="0"/>
          </a:p>
          <a:p>
            <a:pPr lvl="1"/>
            <a:r>
              <a:rPr lang="en-IN" noProof="0" dirty="0"/>
              <a:t>TAVILY_API_KEY=</a:t>
            </a:r>
            <a:r>
              <a:rPr lang="en-IN" noProof="0" dirty="0" err="1"/>
              <a:t>tvly-xxxxxxxxxxxx</a:t>
            </a:r>
            <a:endParaRPr lang="en-IN" noProof="0" dirty="0"/>
          </a:p>
          <a:p>
            <a:pPr lvl="1"/>
            <a:r>
              <a:rPr lang="en-IN" noProof="0" dirty="0"/>
              <a:t>DATABASE_URL=postgresql://user:password@localhost/db</a:t>
            </a:r>
          </a:p>
          <a:p>
            <a:r>
              <a:rPr lang="en-IN" noProof="0" dirty="0"/>
              <a:t>Load in the code at run time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dotenv</a:t>
            </a:r>
            <a:r>
              <a:rPr lang="en-IN" noProof="0" dirty="0"/>
              <a:t> import </a:t>
            </a:r>
            <a:r>
              <a:rPr lang="en-IN" noProof="0" dirty="0" err="1"/>
              <a:t>load_dotenv</a:t>
            </a:r>
            <a:endParaRPr lang="en-IN" noProof="0" dirty="0"/>
          </a:p>
          <a:p>
            <a:pPr lvl="1"/>
            <a:r>
              <a:rPr lang="en-IN" noProof="0" dirty="0"/>
              <a:t>import </a:t>
            </a:r>
            <a:r>
              <a:rPr lang="en-IN" noProof="0" dirty="0" err="1"/>
              <a:t>os</a:t>
            </a:r>
            <a:endParaRPr lang="en-IN" noProof="0" dirty="0"/>
          </a:p>
          <a:p>
            <a:pPr lvl="1"/>
            <a:endParaRPr lang="en-IN" noProof="0" dirty="0"/>
          </a:p>
          <a:p>
            <a:pPr lvl="1"/>
            <a:r>
              <a:rPr lang="en-IN" noProof="0" dirty="0" err="1"/>
              <a:t>load_dotenv</a:t>
            </a:r>
            <a:r>
              <a:rPr lang="en-IN" noProof="0" dirty="0"/>
              <a:t>()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 err="1"/>
              <a:t>api_key</a:t>
            </a:r>
            <a:r>
              <a:rPr lang="en-IN" noProof="0" dirty="0"/>
              <a:t> = </a:t>
            </a:r>
            <a:r>
              <a:rPr lang="en-IN" noProof="0" dirty="0" err="1"/>
              <a:t>os.getenv</a:t>
            </a:r>
            <a:r>
              <a:rPr lang="en-IN" noProof="0" dirty="0"/>
              <a:t>("OPENAI_API_KEY")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print(</a:t>
            </a:r>
            <a:r>
              <a:rPr lang="en-IN" noProof="0" dirty="0" err="1"/>
              <a:t>api_key</a:t>
            </a:r>
            <a:r>
              <a:rPr lang="en-IN" noProof="0" dirty="0"/>
              <a:t>)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761662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F041-E212-1FD4-62F9-29EA8A8B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Introduction to Git: Initializing repos, branching, and committing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74FC-1416-7001-1183-22E20AC22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noProof="0" dirty="0"/>
              <a:t>Git</a:t>
            </a:r>
            <a:r>
              <a:rPr lang="en-IN" noProof="0" dirty="0"/>
              <a:t>: A distributed version control system that tracks changes to files and enables developers to collaborate efficiently</a:t>
            </a:r>
          </a:p>
          <a:p>
            <a:r>
              <a:rPr lang="en-IN" noProof="0" dirty="0"/>
              <a:t>It allows you to:</a:t>
            </a:r>
          </a:p>
          <a:p>
            <a:pPr lvl="1"/>
            <a:r>
              <a:rPr lang="en-IN" noProof="0" dirty="0"/>
              <a:t>Track code changes over time </a:t>
            </a:r>
          </a:p>
          <a:p>
            <a:pPr lvl="1"/>
            <a:r>
              <a:rPr lang="en-IN" noProof="0" dirty="0"/>
              <a:t>Restore previous versions </a:t>
            </a:r>
          </a:p>
          <a:p>
            <a:pPr lvl="1"/>
            <a:r>
              <a:rPr lang="en-IN" noProof="0" dirty="0"/>
              <a:t>Experiment without affecting the main code </a:t>
            </a:r>
          </a:p>
          <a:p>
            <a:pPr lvl="1"/>
            <a:r>
              <a:rPr lang="en-IN" noProof="0" dirty="0"/>
              <a:t>Collaborate with multiple developers </a:t>
            </a:r>
          </a:p>
          <a:p>
            <a:pPr lvl="1"/>
            <a:r>
              <a:rPr lang="en-IN" noProof="0" dirty="0"/>
              <a:t>Manage different features simultaneously</a:t>
            </a:r>
          </a:p>
          <a:p>
            <a:r>
              <a:rPr lang="en-IN" noProof="0" dirty="0"/>
              <a:t>Cloning an existing git repository</a:t>
            </a:r>
          </a:p>
          <a:p>
            <a:pPr lvl="1"/>
            <a:r>
              <a:rPr lang="en-IN" noProof="0" dirty="0"/>
              <a:t>cd  \</a:t>
            </a:r>
          </a:p>
          <a:p>
            <a:pPr lvl="1"/>
            <a:r>
              <a:rPr lang="en-IN" noProof="0" dirty="0"/>
              <a:t>git clone REPONAME (e.g. https://github.com/atulkahatecdac/agenticai.git)</a:t>
            </a:r>
          </a:p>
          <a:p>
            <a:pPr lvl="1"/>
            <a:r>
              <a:rPr lang="en-IN" noProof="0" dirty="0"/>
              <a:t>cd  </a:t>
            </a:r>
            <a:r>
              <a:rPr lang="en-IN" noProof="0" dirty="0" err="1"/>
              <a:t>agenticai</a:t>
            </a:r>
            <a:endParaRPr lang="en-IN" noProof="0" dirty="0"/>
          </a:p>
          <a:p>
            <a:r>
              <a:rPr lang="en-IN" noProof="0" dirty="0"/>
              <a:t>Create a .</a:t>
            </a:r>
            <a:r>
              <a:rPr lang="en-IN" noProof="0" dirty="0" err="1"/>
              <a:t>gitignore</a:t>
            </a:r>
            <a:r>
              <a:rPr lang="en-IN" noProof="0" dirty="0"/>
              <a:t> file to mention what should NOT be committed (e.g. API keys, virtual environments, cache files, temporary files, etc)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944390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0BD9-A54A-5B4C-C235-082F7B39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Writing asynchronous Python with </a:t>
            </a:r>
            <a:r>
              <a:rPr lang="en-IN" noProof="0" dirty="0" err="1"/>
              <a:t>asyncio</a:t>
            </a:r>
            <a:r>
              <a:rPr lang="en-IN" noProof="0" dirty="0"/>
              <a:t> for concurrent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7E23-B54D-2A17-9464-E97211760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AI applications often spend time waiting for external services such as:</a:t>
            </a:r>
          </a:p>
          <a:p>
            <a:pPr lvl="1"/>
            <a:r>
              <a:rPr lang="en-IN" noProof="0" dirty="0"/>
              <a:t>LLM API calls </a:t>
            </a:r>
          </a:p>
          <a:p>
            <a:pPr lvl="1"/>
            <a:r>
              <a:rPr lang="en-IN" noProof="0" dirty="0"/>
              <a:t>Web searches </a:t>
            </a:r>
          </a:p>
          <a:p>
            <a:pPr lvl="1"/>
            <a:r>
              <a:rPr lang="en-IN" noProof="0" dirty="0"/>
              <a:t>Database queries </a:t>
            </a:r>
          </a:p>
          <a:p>
            <a:pPr lvl="1"/>
            <a:r>
              <a:rPr lang="en-IN" noProof="0" dirty="0"/>
              <a:t>MCP tool invocations </a:t>
            </a:r>
          </a:p>
          <a:p>
            <a:pPr lvl="1"/>
            <a:r>
              <a:rPr lang="en-IN" noProof="0" dirty="0"/>
              <a:t>File uploads/downloads </a:t>
            </a:r>
          </a:p>
          <a:p>
            <a:r>
              <a:rPr lang="en-IN" noProof="0" dirty="0"/>
              <a:t>Instead of waiting for each operation to finish before starting the next, </a:t>
            </a:r>
            <a:r>
              <a:rPr lang="en-IN" b="1" noProof="0" dirty="0"/>
              <a:t>asynchronous programming </a:t>
            </a:r>
            <a:r>
              <a:rPr lang="en-IN" noProof="0" dirty="0"/>
              <a:t>allows multiple I/O-bound tasks to run concurrently, improving responsiveness and throughput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854256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537E-6D80-A7DC-3364-9B50BA42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Core </a:t>
            </a:r>
            <a:r>
              <a:rPr lang="en-IN" noProof="0" dirty="0" err="1"/>
              <a:t>asyncio</a:t>
            </a:r>
            <a:r>
              <a:rPr lang="en-IN" noProof="0" dirty="0"/>
              <a:t> Concepts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AEED90-33B9-C37A-FA71-5F64948C1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856073"/>
              </p:ext>
            </p:extLst>
          </p:nvPr>
        </p:nvGraphicFramePr>
        <p:xfrm>
          <a:off x="838200" y="1856991"/>
          <a:ext cx="10515600" cy="34747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3650038">
                  <a:extLst>
                    <a:ext uri="{9D8B030D-6E8A-4147-A177-3AD203B41FA5}">
                      <a16:colId xmlns:a16="http://schemas.microsoft.com/office/drawing/2014/main" val="1960489501"/>
                    </a:ext>
                  </a:extLst>
                </a:gridCol>
                <a:gridCol w="6865562">
                  <a:extLst>
                    <a:ext uri="{9D8B030D-6E8A-4147-A177-3AD203B41FA5}">
                      <a16:colId xmlns:a16="http://schemas.microsoft.com/office/drawing/2014/main" val="3495686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832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async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Define an asynchronous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215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await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Wait for an asynchronous operation without blocking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992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 err="1"/>
                        <a:t>asyncio.run</a:t>
                      </a:r>
                      <a:r>
                        <a:rPr lang="en-IN" sz="2400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Start the event 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37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 err="1"/>
                        <a:t>asyncio.gather</a:t>
                      </a:r>
                      <a:r>
                        <a:rPr lang="en-IN" sz="2400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Run multiple tasks concurrently</a:t>
                      </a:r>
                    </a:p>
                    <a:p>
                      <a:pPr>
                        <a:buNone/>
                      </a:pPr>
                      <a:r>
                        <a:rPr lang="en-IN" sz="2400" noProof="0" dirty="0"/>
                        <a:t>Wait until all responses are received, then return them as a list in the same order as the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488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 err="1"/>
                        <a:t>create_task</a:t>
                      </a:r>
                      <a:r>
                        <a:rPr lang="en-IN" sz="2400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Schedule a task to run in the background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234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93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0CD4-CC83-3735-B2DF-8351DF1B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Basic </a:t>
            </a:r>
            <a:r>
              <a:rPr lang="en-IN" noProof="0" dirty="0" err="1"/>
              <a:t>Asyncio</a:t>
            </a:r>
            <a:r>
              <a:rPr lang="en-IN" noProof="0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8D81F-5F1C-4AB8-CD93-37EC129F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noProof="0" dirty="0"/>
              <a:t>import </a:t>
            </a:r>
            <a:r>
              <a:rPr lang="en-IN" noProof="0" dirty="0" err="1"/>
              <a:t>asyncio</a:t>
            </a:r>
            <a:endParaRPr lang="en-IN" noProof="0" dirty="0"/>
          </a:p>
          <a:p>
            <a:r>
              <a:rPr lang="en-IN" noProof="0" dirty="0"/>
              <a:t>import time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Synchronous Version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def </a:t>
            </a:r>
            <a:r>
              <a:rPr lang="en-IN" noProof="0" dirty="0" err="1"/>
              <a:t>greet_sync</a:t>
            </a:r>
            <a:r>
              <a:rPr lang="en-IN" noProof="0" dirty="0"/>
              <a:t>(name):</a:t>
            </a:r>
          </a:p>
          <a:p>
            <a:r>
              <a:rPr lang="en-IN" noProof="0" dirty="0"/>
              <a:t>    print(f"{name}: Hello World")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time.sleep</a:t>
            </a:r>
            <a:r>
              <a:rPr lang="en-IN" noProof="0" dirty="0"/>
              <a:t>(5)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Asynchronous Version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async def </a:t>
            </a:r>
            <a:r>
              <a:rPr lang="en-IN" noProof="0" dirty="0" err="1"/>
              <a:t>greet_async</a:t>
            </a:r>
            <a:r>
              <a:rPr lang="en-IN" noProof="0" dirty="0"/>
              <a:t>(name):</a:t>
            </a:r>
          </a:p>
          <a:p>
            <a:r>
              <a:rPr lang="en-IN" noProof="0" dirty="0"/>
              <a:t>    print(f"{name}: Hello World")</a:t>
            </a:r>
          </a:p>
          <a:p>
            <a:r>
              <a:rPr lang="en-IN" noProof="0" dirty="0"/>
              <a:t>    await </a:t>
            </a:r>
            <a:r>
              <a:rPr lang="en-IN" noProof="0" dirty="0" err="1"/>
              <a:t>asyncio.sleep</a:t>
            </a:r>
            <a:r>
              <a:rPr lang="en-IN" noProof="0" dirty="0"/>
              <a:t>(5)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Run Synchronous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def </a:t>
            </a:r>
            <a:r>
              <a:rPr lang="en-IN" noProof="0" dirty="0" err="1"/>
              <a:t>run_sync</a:t>
            </a:r>
            <a:r>
              <a:rPr lang="en-IN" noProof="0" dirty="0"/>
              <a:t>():</a:t>
            </a:r>
          </a:p>
          <a:p>
            <a:r>
              <a:rPr lang="en-IN" noProof="0" dirty="0"/>
              <a:t>    print("=== Synchronous ===")</a:t>
            </a:r>
          </a:p>
          <a:p>
            <a:r>
              <a:rPr lang="en-IN" noProof="0" dirty="0"/>
              <a:t>    start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    </a:t>
            </a:r>
            <a:r>
              <a:rPr lang="en-IN" noProof="0" dirty="0" err="1"/>
              <a:t>greet_sync</a:t>
            </a:r>
            <a:r>
              <a:rPr lang="en-IN" noProof="0" dirty="0"/>
              <a:t>("Task 1")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greet_sync</a:t>
            </a:r>
            <a:r>
              <a:rPr lang="en-IN" noProof="0" dirty="0"/>
              <a:t>("Task 2")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greet_sync</a:t>
            </a:r>
            <a:r>
              <a:rPr lang="en-IN" noProof="0" dirty="0"/>
              <a:t>("Task 3")</a:t>
            </a:r>
          </a:p>
          <a:p>
            <a:endParaRPr lang="en-IN" noProof="0" dirty="0"/>
          </a:p>
          <a:p>
            <a:r>
              <a:rPr lang="en-IN" noProof="0" dirty="0"/>
              <a:t>    end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r>
              <a:rPr lang="en-IN" noProof="0" dirty="0"/>
              <a:t>    print(</a:t>
            </a:r>
            <a:r>
              <a:rPr lang="en-IN" noProof="0" dirty="0" err="1"/>
              <a:t>f"Time</a:t>
            </a:r>
            <a:r>
              <a:rPr lang="en-IN" noProof="0" dirty="0"/>
              <a:t> taken: {end - start:.2f} seconds\n")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Run Asynchronous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async def </a:t>
            </a:r>
            <a:r>
              <a:rPr lang="en-IN" noProof="0" dirty="0" err="1"/>
              <a:t>run_async</a:t>
            </a:r>
            <a:r>
              <a:rPr lang="en-IN" noProof="0" dirty="0"/>
              <a:t>():</a:t>
            </a:r>
          </a:p>
          <a:p>
            <a:r>
              <a:rPr lang="en-IN" noProof="0" dirty="0"/>
              <a:t>    print("=== Asynchronous ===")</a:t>
            </a:r>
          </a:p>
          <a:p>
            <a:r>
              <a:rPr lang="en-IN" noProof="0" dirty="0"/>
              <a:t>    start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    await </a:t>
            </a:r>
            <a:r>
              <a:rPr lang="en-IN" noProof="0" dirty="0" err="1"/>
              <a:t>asyncio.gather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greet_async</a:t>
            </a:r>
            <a:r>
              <a:rPr lang="en-IN" noProof="0" dirty="0"/>
              <a:t>("Task 1"),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greet_async</a:t>
            </a:r>
            <a:r>
              <a:rPr lang="en-IN" noProof="0" dirty="0"/>
              <a:t>("Task 2"),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greet_async</a:t>
            </a:r>
            <a:r>
              <a:rPr lang="en-IN" noProof="0" dirty="0"/>
              <a:t>("Task 3")</a:t>
            </a:r>
          </a:p>
          <a:p>
            <a:r>
              <a:rPr lang="en-IN" noProof="0" dirty="0"/>
              <a:t>    )</a:t>
            </a:r>
          </a:p>
          <a:p>
            <a:endParaRPr lang="en-IN" noProof="0" dirty="0"/>
          </a:p>
          <a:p>
            <a:r>
              <a:rPr lang="en-IN" noProof="0" dirty="0"/>
              <a:t>    end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r>
              <a:rPr lang="en-IN" noProof="0" dirty="0"/>
              <a:t>    print(</a:t>
            </a:r>
            <a:r>
              <a:rPr lang="en-IN" noProof="0" dirty="0" err="1"/>
              <a:t>f"Time</a:t>
            </a:r>
            <a:r>
              <a:rPr lang="en-IN" noProof="0" dirty="0"/>
              <a:t> taken: {end - start:.2f} seconds")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Main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 err="1"/>
              <a:t>run_sync</a:t>
            </a:r>
            <a:r>
              <a:rPr lang="en-IN" noProof="0" dirty="0"/>
              <a:t>()</a:t>
            </a:r>
          </a:p>
          <a:p>
            <a:r>
              <a:rPr lang="en-IN" noProof="0" dirty="0" err="1"/>
              <a:t>asyncio.run</a:t>
            </a:r>
            <a:r>
              <a:rPr lang="en-IN" noProof="0" dirty="0"/>
              <a:t>(</a:t>
            </a:r>
            <a:r>
              <a:rPr lang="en-IN" noProof="0" dirty="0" err="1"/>
              <a:t>run_async</a:t>
            </a:r>
            <a:r>
              <a:rPr lang="en-IN" noProof="0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897366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2F85-A233-E7A4-1EB5-8AA68CCC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Sequential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8D5E1-BA0A-BE03-9978-BC1B8F8EE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async def </a:t>
            </a:r>
            <a:r>
              <a:rPr lang="en-IN" noProof="0" dirty="0" err="1"/>
              <a:t>call_llm</a:t>
            </a:r>
            <a:r>
              <a:rPr lang="en-IN" noProof="0" dirty="0"/>
              <a:t>(prompt):</a:t>
            </a:r>
          </a:p>
          <a:p>
            <a:r>
              <a:rPr lang="en-IN" noProof="0" dirty="0"/>
              <a:t>    response = await </a:t>
            </a:r>
            <a:r>
              <a:rPr lang="en-IN" noProof="0" dirty="0" err="1"/>
              <a:t>client.responses.create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model="gpt-5",</a:t>
            </a:r>
          </a:p>
          <a:p>
            <a:r>
              <a:rPr lang="en-IN" noProof="0" dirty="0"/>
              <a:t>        input=prompt</a:t>
            </a:r>
          </a:p>
          <a:p>
            <a:r>
              <a:rPr lang="en-IN" noProof="0" dirty="0"/>
              <a:t>    )</a:t>
            </a:r>
          </a:p>
          <a:p>
            <a:r>
              <a:rPr lang="en-IN" noProof="0" dirty="0"/>
              <a:t>    return </a:t>
            </a:r>
            <a:r>
              <a:rPr lang="en-IN" noProof="0" dirty="0" err="1"/>
              <a:t>response.output_text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result1 = await </a:t>
            </a:r>
            <a:r>
              <a:rPr lang="en-IN" noProof="0" dirty="0" err="1"/>
              <a:t>call_llm</a:t>
            </a:r>
            <a:r>
              <a:rPr lang="en-IN" noProof="0" dirty="0"/>
              <a:t>("Summarize...")</a:t>
            </a:r>
          </a:p>
          <a:p>
            <a:r>
              <a:rPr lang="en-IN" noProof="0" dirty="0"/>
              <a:t>result2 = await </a:t>
            </a:r>
            <a:r>
              <a:rPr lang="en-IN" noProof="0" dirty="0" err="1"/>
              <a:t>call_llm</a:t>
            </a:r>
            <a:r>
              <a:rPr lang="en-IN" noProof="0" dirty="0"/>
              <a:t>("Translate...")</a:t>
            </a:r>
          </a:p>
          <a:p>
            <a:r>
              <a:rPr lang="en-IN" noProof="0" dirty="0"/>
              <a:t>result3 = await </a:t>
            </a:r>
            <a:r>
              <a:rPr lang="en-IN" noProof="0" dirty="0" err="1"/>
              <a:t>call_llm</a:t>
            </a:r>
            <a:r>
              <a:rPr lang="en-IN" noProof="0" dirty="0"/>
              <a:t>("Classify...")</a:t>
            </a:r>
          </a:p>
        </p:txBody>
      </p:sp>
    </p:spTree>
    <p:extLst>
      <p:ext uri="{BB962C8B-B14F-4D97-AF65-F5344CB8AC3E}">
        <p14:creationId xmlns:p14="http://schemas.microsoft.com/office/powerpoint/2010/main" val="2764035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18034-94D6-9340-F4D2-D39B53AB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D988-B655-74DB-CBF0-5A881962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Concurrent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6BBA0-BC71-9900-8588-853FC4C4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results = await </a:t>
            </a:r>
            <a:r>
              <a:rPr lang="en-IN" noProof="0" dirty="0" err="1"/>
              <a:t>asyncio.gather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call_llm</a:t>
            </a:r>
            <a:r>
              <a:rPr lang="en-IN" noProof="0" dirty="0"/>
              <a:t>("Summarize this article"),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call_llm</a:t>
            </a:r>
            <a:r>
              <a:rPr lang="en-IN" noProof="0" dirty="0"/>
              <a:t>("Translate to French"),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call_llm</a:t>
            </a:r>
            <a:r>
              <a:rPr lang="en-IN" noProof="0" dirty="0"/>
              <a:t>("Extract keywords")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print(results)</a:t>
            </a:r>
          </a:p>
        </p:txBody>
      </p:sp>
    </p:spTree>
    <p:extLst>
      <p:ext uri="{BB962C8B-B14F-4D97-AF65-F5344CB8AC3E}">
        <p14:creationId xmlns:p14="http://schemas.microsoft.com/office/powerpoint/2010/main" val="344823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0FE09-4ACD-46FD-E918-A6C01947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E1A3A5-86DE-35AD-8556-556E3398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02: </a:t>
            </a:r>
            <a:r>
              <a:rPr lang="en-IN" noProof="0" dirty="0" err="1"/>
              <a:t>FastAPI</a:t>
            </a:r>
            <a:r>
              <a:rPr lang="en-IN" noProof="0" dirty="0"/>
              <a:t>, </a:t>
            </a:r>
            <a:r>
              <a:rPr lang="en-IN" noProof="0" dirty="0" err="1"/>
              <a:t>Streamlit</a:t>
            </a:r>
            <a:r>
              <a:rPr lang="en-IN" noProof="0" dirty="0"/>
              <a:t> and </a:t>
            </a:r>
            <a:r>
              <a:rPr lang="en-IN" noProof="0" dirty="0" err="1"/>
              <a:t>Gradio</a:t>
            </a:r>
            <a:r>
              <a:rPr lang="en-IN" noProof="0" dirty="0"/>
              <a:t> for AI Apps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AFD1DC-B501-1163-F761-94BE9F007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074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7CAFB-5C44-7B12-F736-B8DC0599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8659CB-53D6-EF64-0CD0-82E3EA72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REST API fundamentals: HTTP methods, status codes, request/response lifecycle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217FFE-F4E1-DD32-25FE-058649084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REST (Representational State Transfer) API</a:t>
            </a:r>
            <a:r>
              <a:rPr lang="en-IN" noProof="0" dirty="0"/>
              <a:t>: A standard way for applications to communicate over HTTP</a:t>
            </a:r>
          </a:p>
          <a:p>
            <a:r>
              <a:rPr lang="en-IN" noProof="0" dirty="0"/>
              <a:t>AI applications use REST APIs to:</a:t>
            </a:r>
          </a:p>
          <a:p>
            <a:pPr lvl="1"/>
            <a:r>
              <a:rPr lang="en-IN" noProof="0" dirty="0"/>
              <a:t>Access LLM services (OpenAI, Anthropic, Gemini) </a:t>
            </a:r>
          </a:p>
          <a:p>
            <a:pPr lvl="1"/>
            <a:r>
              <a:rPr lang="en-IN" noProof="0" dirty="0"/>
              <a:t>Retrieve data from databases </a:t>
            </a:r>
          </a:p>
          <a:p>
            <a:pPr lvl="1"/>
            <a:r>
              <a:rPr lang="en-IN" noProof="0" dirty="0"/>
              <a:t>Perform web searches </a:t>
            </a:r>
          </a:p>
          <a:p>
            <a:pPr lvl="1"/>
            <a:r>
              <a:rPr lang="en-IN" noProof="0" dirty="0"/>
              <a:t>Send emails and notifications </a:t>
            </a:r>
          </a:p>
          <a:p>
            <a:pPr lvl="1"/>
            <a:r>
              <a:rPr lang="en-IN" noProof="0" dirty="0"/>
              <a:t>Invoke MCP gateways and business services</a:t>
            </a:r>
          </a:p>
          <a:p>
            <a:r>
              <a:rPr lang="en-IN" noProof="0" dirty="0"/>
              <a:t>REST API architecture</a:t>
            </a:r>
          </a:p>
          <a:p>
            <a:pPr lvl="1"/>
            <a:r>
              <a:rPr lang="en-IN" noProof="0" dirty="0"/>
              <a:t>AI Agent (Client) -&gt; HTTP Request -&gt; REST API Server</a:t>
            </a:r>
          </a:p>
          <a:p>
            <a:pPr lvl="1"/>
            <a:r>
              <a:rPr lang="en-IN" noProof="0" dirty="0"/>
              <a:t>REST API Server -&gt; HTTP Request -&gt; AI Agent (Client)</a:t>
            </a:r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146568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84066-6EDC-8CFA-EE0A-A14D27A8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Common HTTP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59646A-0E84-323F-9713-BEA1C3B75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021401"/>
              </p:ext>
            </p:extLst>
          </p:nvPr>
        </p:nvGraphicFramePr>
        <p:xfrm>
          <a:off x="782359" y="2017534"/>
          <a:ext cx="10515600" cy="21945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256987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676986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35981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87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GET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Retrieve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Get patient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153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POST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Create a new 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Submit an insurance claim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697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PUT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Replace an existing 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Update a patient record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5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PATCH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Partially update a 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Update patient's phone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474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DELETE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Remove a 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Delete an appointment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152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086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8838-3472-DAE3-972D-71CCD088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 AI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A069D-CCBD-0A1F-9325-B124CB942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Retrieve patient appointments: GET /patients/1001</a:t>
            </a:r>
          </a:p>
          <a:p>
            <a:r>
              <a:rPr lang="en-IN" noProof="0" dirty="0"/>
              <a:t>Create a new appointment: POST /appointments</a:t>
            </a:r>
          </a:p>
          <a:p>
            <a:r>
              <a:rPr lang="en-IN" noProof="0" dirty="0"/>
              <a:t>Update patient information: PUT /patients/1001</a:t>
            </a:r>
          </a:p>
          <a:p>
            <a:r>
              <a:rPr lang="en-IN" noProof="0" dirty="0"/>
              <a:t>Delete an appointment: DELETE /appointments/25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248730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E04D-4785-F899-42ED-AED9482B2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REST APIs in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03C23-A2CD-6A78-6C0E-63C0935C4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noProof="0" dirty="0"/>
              <a:t>A typical agent workflow</a:t>
            </a:r>
          </a:p>
          <a:p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User Query</a:t>
            </a:r>
          </a:p>
          <a:p>
            <a:pPr marL="0" indent="0">
              <a:buNone/>
            </a:pPr>
            <a:r>
              <a:rPr lang="en-IN" noProof="0" dirty="0"/>
              <a:t>      │</a:t>
            </a:r>
          </a:p>
          <a:p>
            <a:pPr marL="0" indent="0">
              <a:buNone/>
            </a:pPr>
            <a:r>
              <a:rPr lang="en-IN" noProof="0" dirty="0"/>
              <a:t>      ▼</a:t>
            </a:r>
          </a:p>
          <a:p>
            <a:pPr marL="0" indent="0">
              <a:buNone/>
            </a:pPr>
            <a:r>
              <a:rPr lang="en-IN" noProof="0" dirty="0"/>
              <a:t>AI Agent</a:t>
            </a:r>
          </a:p>
          <a:p>
            <a:pPr marL="0" indent="0">
              <a:buNone/>
            </a:pPr>
            <a:r>
              <a:rPr lang="en-IN" noProof="0" dirty="0"/>
              <a:t>      │</a:t>
            </a:r>
          </a:p>
          <a:p>
            <a:pPr marL="0" indent="0">
              <a:buNone/>
            </a:pPr>
            <a:r>
              <a:rPr lang="en-IN" noProof="0" dirty="0"/>
              <a:t>      ├── GET Patient Details</a:t>
            </a:r>
          </a:p>
          <a:p>
            <a:pPr marL="0" indent="0">
              <a:buNone/>
            </a:pPr>
            <a:r>
              <a:rPr lang="en-IN" noProof="0" dirty="0"/>
              <a:t>      ├── POST Insurance Claim</a:t>
            </a:r>
          </a:p>
          <a:p>
            <a:pPr marL="0" indent="0">
              <a:buNone/>
            </a:pPr>
            <a:r>
              <a:rPr lang="en-IN" noProof="0" dirty="0"/>
              <a:t>      ├── GET Treatment History</a:t>
            </a:r>
          </a:p>
          <a:p>
            <a:pPr marL="0" indent="0">
              <a:buNone/>
            </a:pPr>
            <a:r>
              <a:rPr lang="en-IN" noProof="0" dirty="0"/>
              <a:t>      ├── POST Email Notification</a:t>
            </a:r>
          </a:p>
          <a:p>
            <a:pPr marL="0" indent="0">
              <a:buNone/>
            </a:pPr>
            <a:r>
              <a:rPr lang="en-IN" noProof="0" dirty="0"/>
              <a:t>      ▼</a:t>
            </a:r>
          </a:p>
          <a:p>
            <a:pPr marL="0" indent="0">
              <a:buNone/>
            </a:pPr>
            <a:r>
              <a:rPr lang="en-IN" noProof="0" dirty="0"/>
              <a:t>Combine Results</a:t>
            </a:r>
          </a:p>
          <a:p>
            <a:pPr marL="0" indent="0">
              <a:buNone/>
            </a:pPr>
            <a:r>
              <a:rPr lang="en-IN" noProof="0" dirty="0"/>
              <a:t>      ▼</a:t>
            </a:r>
          </a:p>
          <a:p>
            <a:pPr marL="0" indent="0">
              <a:buNone/>
            </a:pPr>
            <a:r>
              <a:rPr lang="en-IN" noProof="0" dirty="0"/>
              <a:t>Final Response</a:t>
            </a:r>
          </a:p>
        </p:txBody>
      </p:sp>
    </p:spTree>
    <p:extLst>
      <p:ext uri="{BB962C8B-B14F-4D97-AF65-F5344CB8AC3E}">
        <p14:creationId xmlns:p14="http://schemas.microsoft.com/office/powerpoint/2010/main" val="3596633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D1F6-A4EB-D31C-EED0-D728824B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FastAPI</a:t>
            </a:r>
            <a:r>
              <a:rPr lang="en-IN" noProof="0" dirty="0"/>
              <a:t> Project Structure: Routers, Models, and Dependency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3F5F3-4FAE-9FEA-CBC4-FC334A97F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 err="1"/>
              <a:t>FastAPI</a:t>
            </a:r>
            <a:r>
              <a:rPr lang="en-IN" noProof="0" dirty="0"/>
              <a:t>: A modern Python framework for building high-performance REST APIs</a:t>
            </a:r>
          </a:p>
          <a:p>
            <a:r>
              <a:rPr lang="en-IN" noProof="0" dirty="0"/>
              <a:t>Widely used for AI applications because it provides:</a:t>
            </a:r>
          </a:p>
          <a:p>
            <a:pPr lvl="1"/>
            <a:r>
              <a:rPr lang="en-IN" noProof="0" dirty="0"/>
              <a:t>High performance with asynchronous support </a:t>
            </a:r>
          </a:p>
          <a:p>
            <a:pPr lvl="1"/>
            <a:r>
              <a:rPr lang="en-IN" noProof="0" dirty="0"/>
              <a:t>Automatic API documentation (Swagger UI) </a:t>
            </a:r>
          </a:p>
          <a:p>
            <a:pPr lvl="1"/>
            <a:r>
              <a:rPr lang="en-IN" noProof="0" dirty="0"/>
              <a:t>Request and response validation </a:t>
            </a:r>
          </a:p>
          <a:p>
            <a:pPr lvl="1"/>
            <a:r>
              <a:rPr lang="en-IN" noProof="0" dirty="0"/>
              <a:t>Dependency injection </a:t>
            </a:r>
          </a:p>
          <a:p>
            <a:pPr lvl="1"/>
            <a:r>
              <a:rPr lang="en-IN" noProof="0" dirty="0"/>
              <a:t>Easy integration with LLMs, databases, and AI agents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108507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1B80-C7A8-0554-E97E-B008AB5C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Typical </a:t>
            </a:r>
            <a:r>
              <a:rPr lang="en-IN" noProof="0" dirty="0" err="1"/>
              <a:t>FastAPI</a:t>
            </a:r>
            <a:r>
              <a:rPr lang="en-IN" noProof="0" dirty="0"/>
              <a:t> 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D90D5-7316-8A88-3162-8CD0E07F5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noProof="0" dirty="0"/>
              <a:t>ai-agent-</a:t>
            </a:r>
            <a:r>
              <a:rPr lang="en-IN" noProof="0" dirty="0" err="1"/>
              <a:t>api</a:t>
            </a:r>
            <a:r>
              <a:rPr lang="en-IN" noProof="0" dirty="0"/>
              <a:t>/</a:t>
            </a:r>
          </a:p>
          <a:p>
            <a:r>
              <a:rPr lang="en-IN" noProof="0" dirty="0"/>
              <a:t>│</a:t>
            </a:r>
          </a:p>
          <a:p>
            <a:r>
              <a:rPr lang="en-IN" noProof="0" dirty="0"/>
              <a:t>├── app/</a:t>
            </a:r>
          </a:p>
          <a:p>
            <a:r>
              <a:rPr lang="en-IN" noProof="0" dirty="0"/>
              <a:t>│   ├── main.py</a:t>
            </a:r>
          </a:p>
          <a:p>
            <a:r>
              <a:rPr lang="en-IN" noProof="0" dirty="0"/>
              <a:t>│   ├── routers/</a:t>
            </a:r>
          </a:p>
          <a:p>
            <a:r>
              <a:rPr lang="en-IN" noProof="0" dirty="0"/>
              <a:t>│   │     ├── patients.py</a:t>
            </a:r>
          </a:p>
          <a:p>
            <a:r>
              <a:rPr lang="en-IN" noProof="0" dirty="0"/>
              <a:t>│   │     ├── agents.py</a:t>
            </a:r>
          </a:p>
          <a:p>
            <a:r>
              <a:rPr lang="en-IN" noProof="0" dirty="0"/>
              <a:t>│   │     └── tools.py</a:t>
            </a:r>
          </a:p>
          <a:p>
            <a:r>
              <a:rPr lang="en-IN" noProof="0" dirty="0"/>
              <a:t>│   │</a:t>
            </a:r>
          </a:p>
          <a:p>
            <a:r>
              <a:rPr lang="en-IN" noProof="0" dirty="0"/>
              <a:t>│   ├── models/</a:t>
            </a:r>
          </a:p>
          <a:p>
            <a:r>
              <a:rPr lang="en-IN" noProof="0" dirty="0"/>
              <a:t>│   │     ├── patient.py</a:t>
            </a:r>
          </a:p>
          <a:p>
            <a:r>
              <a:rPr lang="en-IN" noProof="0" dirty="0"/>
              <a:t>│   │     └── appointment.py</a:t>
            </a:r>
          </a:p>
          <a:p>
            <a:r>
              <a:rPr lang="en-IN" noProof="0" dirty="0"/>
              <a:t>│   │</a:t>
            </a:r>
          </a:p>
          <a:p>
            <a:r>
              <a:rPr lang="en-IN" noProof="0" dirty="0"/>
              <a:t>│   ├── services/</a:t>
            </a:r>
          </a:p>
          <a:p>
            <a:r>
              <a:rPr lang="en-IN" noProof="0" dirty="0"/>
              <a:t>│   │     ├── patient_service.py</a:t>
            </a:r>
          </a:p>
          <a:p>
            <a:r>
              <a:rPr lang="en-IN" noProof="0" dirty="0"/>
              <a:t>│   │     └── llm_service.py</a:t>
            </a:r>
          </a:p>
          <a:p>
            <a:r>
              <a:rPr lang="en-IN" noProof="0" dirty="0"/>
              <a:t>│   │</a:t>
            </a:r>
          </a:p>
          <a:p>
            <a:r>
              <a:rPr lang="en-IN" noProof="0" dirty="0"/>
              <a:t>│   ├── dependencies.py</a:t>
            </a:r>
          </a:p>
          <a:p>
            <a:r>
              <a:rPr lang="en-IN" noProof="0" dirty="0"/>
              <a:t>│   ├── config.py</a:t>
            </a:r>
          </a:p>
          <a:p>
            <a:r>
              <a:rPr lang="en-IN" noProof="0" dirty="0"/>
              <a:t>│   └── database.py</a:t>
            </a:r>
          </a:p>
          <a:p>
            <a:r>
              <a:rPr lang="en-IN" noProof="0" dirty="0"/>
              <a:t>│</a:t>
            </a:r>
          </a:p>
          <a:p>
            <a:r>
              <a:rPr lang="en-IN" noProof="0" dirty="0"/>
              <a:t>├── tests/</a:t>
            </a:r>
          </a:p>
          <a:p>
            <a:r>
              <a:rPr lang="en-IN" noProof="0" dirty="0"/>
              <a:t>├── .env</a:t>
            </a:r>
          </a:p>
          <a:p>
            <a:r>
              <a:rPr lang="en-IN" noProof="0" dirty="0"/>
              <a:t>├── requirements.txt</a:t>
            </a:r>
          </a:p>
          <a:p>
            <a:r>
              <a:rPr lang="en-IN" noProof="0" dirty="0"/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990030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2922-4B40-0420-74A0-BEBDC396C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FastAPI</a:t>
            </a:r>
            <a:r>
              <a:rPr lang="en-IN" noProof="0" dirty="0"/>
              <a:t> – Main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FDA00C-3D4A-02C6-8E60-03FED05A06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312319"/>
              </p:ext>
            </p:extLst>
          </p:nvPr>
        </p:nvGraphicFramePr>
        <p:xfrm>
          <a:off x="838200" y="2401094"/>
          <a:ext cx="10515600" cy="29260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94197">
                  <a:extLst>
                    <a:ext uri="{9D8B030D-6E8A-4147-A177-3AD203B41FA5}">
                      <a16:colId xmlns:a16="http://schemas.microsoft.com/office/drawing/2014/main" val="4284940165"/>
                    </a:ext>
                  </a:extLst>
                </a:gridCol>
                <a:gridCol w="6921403">
                  <a:extLst>
                    <a:ext uri="{9D8B030D-6E8A-4147-A177-3AD203B41FA5}">
                      <a16:colId xmlns:a16="http://schemas.microsoft.com/office/drawing/2014/main" val="2835444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750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main.py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Application entry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744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routers/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API endpoints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912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models/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Request and response schemas (</a:t>
                      </a:r>
                      <a:r>
                        <a:rPr lang="en-IN" noProof="0" dirty="0" err="1"/>
                        <a:t>Pydantic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246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services/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Business logic and AI integrations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1572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dependencies.py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Shared dependencies (authentication, database, configuration)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10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database.py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Database connection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389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config.py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Application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558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59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EB3B-07EF-1DB2-3E7C-CB844EF8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Router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D5F0-5C9E-4BA0-F724-4AC75838B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Routers organize related API endpoints</a:t>
            </a:r>
          </a:p>
          <a:p>
            <a:r>
              <a:rPr lang="en-IN" noProof="0" dirty="0"/>
              <a:t>Example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fastapi</a:t>
            </a:r>
            <a:r>
              <a:rPr lang="en-IN" noProof="0" dirty="0"/>
              <a:t> import </a:t>
            </a:r>
            <a:r>
              <a:rPr lang="en-IN" noProof="0" dirty="0" err="1"/>
              <a:t>APIRouter</a:t>
            </a:r>
            <a:endParaRPr lang="en-IN" noProof="0" dirty="0"/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router = </a:t>
            </a:r>
            <a:r>
              <a:rPr lang="en-IN" noProof="0" dirty="0" err="1"/>
              <a:t>APIRouter</a:t>
            </a:r>
            <a:r>
              <a:rPr lang="en-IN" noProof="0" dirty="0"/>
              <a:t>()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@router.get("/patients/{patient_id}")</a:t>
            </a:r>
          </a:p>
          <a:p>
            <a:pPr lvl="1"/>
            <a:r>
              <a:rPr lang="en-IN" noProof="0" dirty="0"/>
              <a:t>def </a:t>
            </a:r>
            <a:r>
              <a:rPr lang="en-IN" noProof="0" dirty="0" err="1"/>
              <a:t>get_patient</a:t>
            </a:r>
            <a:r>
              <a:rPr lang="en-IN" noProof="0" dirty="0"/>
              <a:t>(</a:t>
            </a:r>
            <a:r>
              <a:rPr lang="en-IN" noProof="0" dirty="0" err="1"/>
              <a:t>patient_id</a:t>
            </a:r>
            <a:r>
              <a:rPr lang="en-IN" noProof="0" dirty="0"/>
              <a:t>: int):</a:t>
            </a:r>
          </a:p>
          <a:p>
            <a:pPr lvl="1"/>
            <a:r>
              <a:rPr lang="en-IN" noProof="0" dirty="0"/>
              <a:t>    ...</a:t>
            </a:r>
          </a:p>
        </p:txBody>
      </p:sp>
    </p:spTree>
    <p:extLst>
      <p:ext uri="{BB962C8B-B14F-4D97-AF65-F5344CB8AC3E}">
        <p14:creationId xmlns:p14="http://schemas.microsoft.com/office/powerpoint/2010/main" val="1936906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9B1EE-4273-14CB-C23C-255D2567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359A-9028-7EFA-FF1F-B42F952B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Models (</a:t>
            </a:r>
            <a:r>
              <a:rPr lang="en-IN" noProof="0" dirty="0" err="1"/>
              <a:t>Pydantic</a:t>
            </a:r>
            <a:r>
              <a:rPr lang="en-IN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91042-EC5F-A881-D85E-C072DD4DE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Models define and validate request and response data</a:t>
            </a:r>
          </a:p>
          <a:p>
            <a:r>
              <a:rPr lang="en-IN" noProof="0" dirty="0"/>
              <a:t>Example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pydantic</a:t>
            </a:r>
            <a:r>
              <a:rPr lang="en-IN" noProof="0" dirty="0"/>
              <a:t> import </a:t>
            </a:r>
            <a:r>
              <a:rPr lang="en-IN" noProof="0" dirty="0" err="1"/>
              <a:t>BaseModel</a:t>
            </a:r>
            <a:endParaRPr lang="en-IN" noProof="0" dirty="0"/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class Patient(</a:t>
            </a:r>
            <a:r>
              <a:rPr lang="en-IN" noProof="0" dirty="0" err="1"/>
              <a:t>BaseModel</a:t>
            </a:r>
            <a:r>
              <a:rPr lang="en-IN" noProof="0" dirty="0"/>
              <a:t>):</a:t>
            </a:r>
          </a:p>
          <a:p>
            <a:pPr lvl="1"/>
            <a:r>
              <a:rPr lang="en-IN" noProof="0" dirty="0"/>
              <a:t>    id: int</a:t>
            </a:r>
          </a:p>
          <a:p>
            <a:pPr lvl="1"/>
            <a:r>
              <a:rPr lang="en-IN" noProof="0" dirty="0"/>
              <a:t>    name: str</a:t>
            </a:r>
          </a:p>
          <a:p>
            <a:pPr lvl="1"/>
            <a:r>
              <a:rPr lang="en-IN" noProof="0" dirty="0"/>
              <a:t>    age: 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AA070-C5D7-7501-D95D-E4A9475FB361}"/>
              </a:ext>
            </a:extLst>
          </p:cNvPr>
          <p:cNvSpPr txBox="1"/>
          <p:nvPr/>
        </p:nvSpPr>
        <p:spPr>
          <a:xfrm>
            <a:off x="6212336" y="2708632"/>
            <a:ext cx="4229972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 err="1"/>
              <a:t>Pydantic</a:t>
            </a:r>
            <a:endParaRPr lang="en-IN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0" dirty="0"/>
              <a:t>A Python library used for data validation, parsing, and serialization using Python type hints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0" dirty="0"/>
              <a:t>Instead of manually checking whether data is valid, we define a model, and </a:t>
            </a:r>
            <a:r>
              <a:rPr lang="en-IN" noProof="0" dirty="0" err="1"/>
              <a:t>Pydantic</a:t>
            </a:r>
            <a:r>
              <a:rPr lang="en-IN" noProof="0" dirty="0"/>
              <a:t> validates the input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907655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4F5C-801F-7627-2540-226F2878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Service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8D212-C87C-4EBD-1739-2A34926BF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Service layer: Separates business logic from API endpoints</a:t>
            </a:r>
          </a:p>
          <a:p>
            <a:r>
              <a:rPr lang="en-IN" noProof="0" dirty="0"/>
              <a:t>API endpoint -&gt; Service layer -&gt; Database/LLM/MCP tool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837041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7BC9-B4D9-6FEC-CDEB-15B4BBF4F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Dependency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D16B9-75E8-480D-3375-CF5D40238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Dependencies: Provide shared resources to endpoints without creating them repeatedly</a:t>
            </a:r>
          </a:p>
          <a:p>
            <a:r>
              <a:rPr lang="en-IN" noProof="0" dirty="0"/>
              <a:t>Common dependencies: Database connections, Authentication, API clients, Configuration, Logging</a:t>
            </a:r>
          </a:p>
          <a:p>
            <a:r>
              <a:rPr lang="en-IN" noProof="0" dirty="0"/>
              <a:t>Example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fastapi</a:t>
            </a:r>
            <a:r>
              <a:rPr lang="en-IN" noProof="0" dirty="0"/>
              <a:t> import Depends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def </a:t>
            </a:r>
            <a:r>
              <a:rPr lang="en-IN" noProof="0" dirty="0" err="1"/>
              <a:t>get_database</a:t>
            </a:r>
            <a:r>
              <a:rPr lang="en-IN" noProof="0" dirty="0"/>
              <a:t>():</a:t>
            </a:r>
          </a:p>
          <a:p>
            <a:pPr lvl="1"/>
            <a:r>
              <a:rPr lang="en-IN" noProof="0" dirty="0"/>
              <a:t>    ...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@app.get("/patients")</a:t>
            </a:r>
          </a:p>
          <a:p>
            <a:pPr lvl="1"/>
            <a:r>
              <a:rPr lang="en-IN" noProof="0" dirty="0"/>
              <a:t>def </a:t>
            </a:r>
            <a:r>
              <a:rPr lang="en-IN" noProof="0" dirty="0" err="1"/>
              <a:t>list_patients</a:t>
            </a:r>
            <a:r>
              <a:rPr lang="en-IN" noProof="0" dirty="0"/>
              <a:t>(</a:t>
            </a:r>
            <a:r>
              <a:rPr lang="en-IN" noProof="0" dirty="0" err="1"/>
              <a:t>db</a:t>
            </a:r>
            <a:r>
              <a:rPr lang="en-IN" noProof="0" dirty="0"/>
              <a:t> = Depends(</a:t>
            </a:r>
            <a:r>
              <a:rPr lang="en-IN" noProof="0" dirty="0" err="1"/>
              <a:t>get_database</a:t>
            </a:r>
            <a:r>
              <a:rPr lang="en-IN" noProof="0" dirty="0"/>
              <a:t>)):</a:t>
            </a:r>
          </a:p>
          <a:p>
            <a:pPr lvl="1"/>
            <a:r>
              <a:rPr lang="en-IN" noProof="0" dirty="0"/>
              <a:t>    ...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375073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BA84C-93E4-0786-E671-8077B33CB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Overall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01914-D293-CF4C-9D2A-1BBF2FAB0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Client -&gt; Router -&gt; Dependency Injection -&gt; Service Layer -&gt; Database / LLM / External API -&gt; Response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4A500D-FC07-AE03-3A28-7EF72C595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393810"/>
              </p:ext>
            </p:extLst>
          </p:nvPr>
        </p:nvGraphicFramePr>
        <p:xfrm>
          <a:off x="977803" y="3056181"/>
          <a:ext cx="10515600" cy="256032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922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1409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Responsibility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785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Router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Handle HTTP requests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734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Validate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858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Business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83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Dependencies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Shared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574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Data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945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External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LLMs, MCP servers, third-party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25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945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5221-5711-990E-C4E9-25409880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FastAPI</a:t>
            </a:r>
            <a:r>
              <a:rPr lang="en-IN" noProof="0" dirty="0"/>
              <a:t> with </a:t>
            </a:r>
            <a:r>
              <a:rPr lang="en-IN" noProof="0" dirty="0" err="1"/>
              <a:t>AsyncIO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2C39-F955-06B5-E071-18E761022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noProof="0" dirty="0"/>
              <a:t>from </a:t>
            </a:r>
            <a:r>
              <a:rPr lang="en-IN" noProof="0" dirty="0" err="1"/>
              <a:t>fastapi</a:t>
            </a:r>
            <a:r>
              <a:rPr lang="en-IN" noProof="0" dirty="0"/>
              <a:t> import </a:t>
            </a:r>
            <a:r>
              <a:rPr lang="en-IN" noProof="0" dirty="0" err="1"/>
              <a:t>FastAPI</a:t>
            </a:r>
            <a:endParaRPr lang="en-IN" noProof="0" dirty="0"/>
          </a:p>
          <a:p>
            <a:r>
              <a:rPr lang="en-IN" noProof="0" dirty="0"/>
              <a:t>from </a:t>
            </a:r>
            <a:r>
              <a:rPr lang="en-IN" noProof="0" dirty="0" err="1"/>
              <a:t>openai</a:t>
            </a:r>
            <a:r>
              <a:rPr lang="en-IN" noProof="0" dirty="0"/>
              <a:t> import </a:t>
            </a:r>
            <a:r>
              <a:rPr lang="en-IN" noProof="0" dirty="0" err="1"/>
              <a:t>AsyncOpenAI</a:t>
            </a:r>
            <a:endParaRPr lang="en-IN" noProof="0" dirty="0"/>
          </a:p>
          <a:p>
            <a:r>
              <a:rPr lang="en-IN" noProof="0" dirty="0"/>
              <a:t>import </a:t>
            </a:r>
            <a:r>
              <a:rPr lang="en-IN" noProof="0" dirty="0" err="1"/>
              <a:t>asyncio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app = </a:t>
            </a:r>
            <a:r>
              <a:rPr lang="en-IN" noProof="0" dirty="0" err="1"/>
              <a:t>FastAPI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client = </a:t>
            </a:r>
            <a:r>
              <a:rPr lang="en-IN" noProof="0" dirty="0" err="1"/>
              <a:t>AsyncOpenAI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async def </a:t>
            </a:r>
            <a:r>
              <a:rPr lang="en-IN" noProof="0" dirty="0" err="1"/>
              <a:t>ask_llm</a:t>
            </a:r>
            <a:r>
              <a:rPr lang="en-IN" noProof="0" dirty="0"/>
              <a:t>(prompt: str):</a:t>
            </a:r>
          </a:p>
          <a:p>
            <a:r>
              <a:rPr lang="en-IN" noProof="0" dirty="0"/>
              <a:t>    response = await </a:t>
            </a:r>
            <a:r>
              <a:rPr lang="en-IN" noProof="0" dirty="0" err="1"/>
              <a:t>client.responses.create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model="gpt-5",</a:t>
            </a:r>
          </a:p>
          <a:p>
            <a:r>
              <a:rPr lang="en-IN" noProof="0" dirty="0"/>
              <a:t>        input=prompt</a:t>
            </a:r>
          </a:p>
          <a:p>
            <a:r>
              <a:rPr lang="en-IN" noProof="0" dirty="0"/>
              <a:t>    )</a:t>
            </a:r>
          </a:p>
          <a:p>
            <a:r>
              <a:rPr lang="en-IN" noProof="0" dirty="0"/>
              <a:t>    return </a:t>
            </a:r>
            <a:r>
              <a:rPr lang="en-IN" noProof="0" dirty="0" err="1"/>
              <a:t>response.output_text</a:t>
            </a:r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@app.post("/analyze")</a:t>
            </a:r>
          </a:p>
          <a:p>
            <a:r>
              <a:rPr lang="en-IN" noProof="0" dirty="0"/>
              <a:t>async def </a:t>
            </a:r>
            <a:r>
              <a:rPr lang="en-IN" noProof="0" dirty="0" err="1"/>
              <a:t>analyze</a:t>
            </a:r>
            <a:r>
              <a:rPr lang="en-IN" noProof="0" dirty="0"/>
              <a:t>(text: str):</a:t>
            </a:r>
          </a:p>
          <a:p>
            <a:endParaRPr lang="en-IN" noProof="0" dirty="0"/>
          </a:p>
          <a:p>
            <a:r>
              <a:rPr lang="en-IN" noProof="0" dirty="0"/>
              <a:t>    # Launch all LLM calls concurrently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summary_task</a:t>
            </a:r>
            <a:r>
              <a:rPr lang="en-IN" noProof="0" dirty="0"/>
              <a:t> = </a:t>
            </a:r>
            <a:r>
              <a:rPr lang="en-IN" noProof="0" dirty="0" err="1"/>
              <a:t>ask_llm</a:t>
            </a:r>
            <a:r>
              <a:rPr lang="en-IN" noProof="0" dirty="0"/>
              <a:t>(</a:t>
            </a:r>
            <a:r>
              <a:rPr lang="en-IN" noProof="0" dirty="0" err="1"/>
              <a:t>f"Summarize</a:t>
            </a:r>
            <a:r>
              <a:rPr lang="en-IN" noProof="0" dirty="0"/>
              <a:t>:\n{text}")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keywords_task</a:t>
            </a:r>
            <a:r>
              <a:rPr lang="en-IN" noProof="0" dirty="0"/>
              <a:t> = </a:t>
            </a:r>
            <a:r>
              <a:rPr lang="en-IN" noProof="0" dirty="0" err="1"/>
              <a:t>ask_llm</a:t>
            </a:r>
            <a:r>
              <a:rPr lang="en-IN" noProof="0" dirty="0"/>
              <a:t>(</a:t>
            </a:r>
            <a:r>
              <a:rPr lang="en-IN" noProof="0" dirty="0" err="1"/>
              <a:t>f"Extract</a:t>
            </a:r>
            <a:r>
              <a:rPr lang="en-IN" noProof="0" dirty="0"/>
              <a:t> five keywords:\n{text}")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sentiment_task</a:t>
            </a:r>
            <a:r>
              <a:rPr lang="en-IN" noProof="0" dirty="0"/>
              <a:t> = </a:t>
            </a:r>
            <a:r>
              <a:rPr lang="en-IN" noProof="0" dirty="0" err="1"/>
              <a:t>ask_llm</a:t>
            </a:r>
            <a:r>
              <a:rPr lang="en-IN" noProof="0" dirty="0"/>
              <a:t>(</a:t>
            </a:r>
            <a:r>
              <a:rPr lang="en-IN" noProof="0" dirty="0" err="1"/>
              <a:t>f"Determine</a:t>
            </a:r>
            <a:r>
              <a:rPr lang="en-IN" noProof="0" dirty="0"/>
              <a:t> the sentiment:\n{text}")</a:t>
            </a:r>
          </a:p>
          <a:p>
            <a:endParaRPr lang="en-IN" noProof="0" dirty="0"/>
          </a:p>
          <a:p>
            <a:r>
              <a:rPr lang="en-IN" noProof="0" dirty="0"/>
              <a:t>    # Wait for all three to complete</a:t>
            </a:r>
          </a:p>
          <a:p>
            <a:r>
              <a:rPr lang="en-IN" noProof="0" dirty="0"/>
              <a:t>    summary, keywords, sentiment = await </a:t>
            </a:r>
            <a:r>
              <a:rPr lang="en-IN" noProof="0" dirty="0" err="1"/>
              <a:t>asyncio.gather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summary_task</a:t>
            </a:r>
            <a:r>
              <a:rPr lang="en-IN" noProof="0" dirty="0"/>
              <a:t>,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keywords_task</a:t>
            </a:r>
            <a:r>
              <a:rPr lang="en-IN" noProof="0" dirty="0"/>
              <a:t>,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sentiment_task</a:t>
            </a:r>
            <a:endParaRPr lang="en-IN" noProof="0" dirty="0"/>
          </a:p>
          <a:p>
            <a:r>
              <a:rPr lang="en-IN" noProof="0" dirty="0"/>
              <a:t>    )</a:t>
            </a:r>
          </a:p>
          <a:p>
            <a:endParaRPr lang="en-IN" noProof="0" dirty="0"/>
          </a:p>
          <a:p>
            <a:r>
              <a:rPr lang="en-IN" noProof="0" dirty="0"/>
              <a:t>    return {</a:t>
            </a:r>
          </a:p>
          <a:p>
            <a:r>
              <a:rPr lang="en-IN" noProof="0" dirty="0"/>
              <a:t>        "summary": summary,</a:t>
            </a:r>
          </a:p>
          <a:p>
            <a:r>
              <a:rPr lang="en-IN" noProof="0" dirty="0"/>
              <a:t>        "keywords": keywords,</a:t>
            </a:r>
          </a:p>
          <a:p>
            <a:r>
              <a:rPr lang="en-IN" noProof="0" dirty="0"/>
              <a:t>        "sentiment": sentiment</a:t>
            </a:r>
          </a:p>
          <a:p>
            <a:r>
              <a:rPr lang="en-IN" noProof="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94838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982E-53EC-3233-7912-11BAEA06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Streaming LLM responses using Server-Sent Events (SSE)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6E9A7-436A-0322-0CDC-468B1CC12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Why </a:t>
            </a:r>
            <a:r>
              <a:rPr lang="en-IN" b="1" noProof="0" dirty="0"/>
              <a:t>streaming</a:t>
            </a:r>
            <a:r>
              <a:rPr lang="en-IN" noProof="0" dirty="0"/>
              <a:t>?</a:t>
            </a:r>
          </a:p>
          <a:p>
            <a:pPr lvl="1"/>
            <a:r>
              <a:rPr lang="en-IN" noProof="0" dirty="0"/>
              <a:t>Instead of waiting for the entire LLM response to be generated, streaming sends tokens to the client as they are produced</a:t>
            </a:r>
          </a:p>
          <a:p>
            <a:r>
              <a:rPr lang="en-IN" noProof="0" dirty="0"/>
              <a:t>Advantages: Faster perceived response time, Better user experience, Suitable for chat applications, Users can start reading immediately, Supports long-running AI responses</a:t>
            </a:r>
          </a:p>
          <a:p>
            <a:r>
              <a:rPr lang="en-IN" b="1" noProof="0" dirty="0"/>
              <a:t>Server-Sent Events (SSE)</a:t>
            </a:r>
            <a:r>
              <a:rPr lang="en-IN" noProof="0" dirty="0"/>
              <a:t>: An HTTP-based technology that allows a server to continuously send updates to a client over a single connection</a:t>
            </a:r>
          </a:p>
          <a:p>
            <a:pPr lvl="1"/>
            <a:r>
              <a:rPr lang="en-IN" noProof="0" dirty="0"/>
              <a:t>Characteristics: One-way communication (Server → Client), Built on standard HTTP, Lightweight and easy to implement, Ideal for streaming AI responses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17262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3C24-4F86-D08D-5D46-892381AEC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Streaming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94E92-AD37-70A8-A3A8-F9988D0B3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6664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noProof="0" dirty="0"/>
              <a:t>from </a:t>
            </a:r>
            <a:r>
              <a:rPr lang="en-IN" noProof="0" dirty="0" err="1"/>
              <a:t>openai</a:t>
            </a:r>
            <a:r>
              <a:rPr lang="en-IN" noProof="0" dirty="0"/>
              <a:t> import </a:t>
            </a:r>
            <a:r>
              <a:rPr lang="en-IN" noProof="0" dirty="0" err="1"/>
              <a:t>AsyncOpenAI</a:t>
            </a:r>
            <a:endParaRPr lang="en-IN" noProof="0" dirty="0"/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client = </a:t>
            </a:r>
            <a:r>
              <a:rPr lang="en-IN" noProof="0" dirty="0" err="1"/>
              <a:t>AsyncOpenAI</a:t>
            </a:r>
            <a:r>
              <a:rPr lang="en-IN" noProof="0" dirty="0"/>
              <a:t>()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async def </a:t>
            </a:r>
            <a:r>
              <a:rPr lang="en-IN" noProof="0" dirty="0" err="1"/>
              <a:t>stream_llm</a:t>
            </a:r>
            <a:r>
              <a:rPr lang="en-IN" noProof="0" dirty="0"/>
              <a:t>(prompt):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    stream = await </a:t>
            </a:r>
            <a:r>
              <a:rPr lang="en-IN" noProof="0" dirty="0" err="1"/>
              <a:t>client.responses.create</a:t>
            </a:r>
            <a:r>
              <a:rPr lang="en-IN" noProof="0" dirty="0"/>
              <a:t>(</a:t>
            </a:r>
          </a:p>
          <a:p>
            <a:pPr marL="0" indent="0">
              <a:buNone/>
            </a:pPr>
            <a:r>
              <a:rPr lang="en-IN" noProof="0" dirty="0"/>
              <a:t>        model="gpt-5",</a:t>
            </a:r>
          </a:p>
          <a:p>
            <a:pPr marL="0" indent="0">
              <a:buNone/>
            </a:pPr>
            <a:r>
              <a:rPr lang="en-IN" noProof="0" dirty="0"/>
              <a:t>        input=prompt,</a:t>
            </a:r>
          </a:p>
          <a:p>
            <a:pPr marL="0" indent="0">
              <a:buNone/>
            </a:pPr>
            <a:r>
              <a:rPr lang="en-IN" noProof="0" dirty="0"/>
              <a:t>        stream=True</a:t>
            </a:r>
          </a:p>
          <a:p>
            <a:pPr marL="0" indent="0">
              <a:buNone/>
            </a:pPr>
            <a:r>
              <a:rPr lang="en-IN" noProof="0" dirty="0"/>
              <a:t>    )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    async for event in stream:</a:t>
            </a:r>
          </a:p>
          <a:p>
            <a:pPr marL="0" indent="0">
              <a:buNone/>
            </a:pPr>
            <a:r>
              <a:rPr lang="en-IN" noProof="0" dirty="0"/>
              <a:t>        if </a:t>
            </a:r>
            <a:r>
              <a:rPr lang="en-IN" noProof="0" dirty="0" err="1"/>
              <a:t>event.type</a:t>
            </a:r>
            <a:r>
              <a:rPr lang="en-IN" noProof="0" dirty="0"/>
              <a:t> == "</a:t>
            </a:r>
            <a:r>
              <a:rPr lang="en-IN" noProof="0" dirty="0" err="1"/>
              <a:t>response.output_text.delta</a:t>
            </a:r>
            <a:r>
              <a:rPr lang="en-IN" noProof="0" dirty="0"/>
              <a:t>":</a:t>
            </a:r>
          </a:p>
          <a:p>
            <a:pPr marL="0" indent="0">
              <a:buNone/>
            </a:pPr>
            <a:r>
              <a:rPr lang="en-IN" noProof="0" dirty="0"/>
              <a:t>            yield </a:t>
            </a:r>
            <a:r>
              <a:rPr lang="en-IN" noProof="0" dirty="0" err="1"/>
              <a:t>f"data</a:t>
            </a:r>
            <a:r>
              <a:rPr lang="en-IN" noProof="0" dirty="0"/>
              <a:t>: {</a:t>
            </a:r>
            <a:r>
              <a:rPr lang="en-IN" noProof="0" dirty="0" err="1"/>
              <a:t>event.delta</a:t>
            </a:r>
            <a:r>
              <a:rPr lang="en-IN" noProof="0" dirty="0"/>
              <a:t>}\n\n"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82D43D-2BA5-76F6-0CBC-58D60B5EC7A0}"/>
              </a:ext>
            </a:extLst>
          </p:cNvPr>
          <p:cNvSpPr txBox="1">
            <a:spLocks/>
          </p:cNvSpPr>
          <p:nvPr/>
        </p:nvSpPr>
        <p:spPr>
          <a:xfrm>
            <a:off x="5437539" y="1825625"/>
            <a:ext cx="63868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noProof="0" dirty="0"/>
              <a:t>async def </a:t>
            </a:r>
            <a:r>
              <a:rPr lang="en-IN" noProof="0" dirty="0" err="1"/>
              <a:t>stream_llm</a:t>
            </a:r>
            <a:r>
              <a:rPr lang="en-IN" noProof="0" dirty="0"/>
              <a:t>(prompt):</a:t>
            </a:r>
          </a:p>
          <a:p>
            <a:pPr lvl="1"/>
            <a:r>
              <a:rPr lang="en-IN" noProof="0" dirty="0"/>
              <a:t>Defines an async function</a:t>
            </a:r>
          </a:p>
          <a:p>
            <a:r>
              <a:rPr lang="en-IN" noProof="0" dirty="0"/>
              <a:t>An async function must be called using</a:t>
            </a:r>
          </a:p>
          <a:p>
            <a:pPr lvl="1"/>
            <a:r>
              <a:rPr lang="en-IN" b="1" noProof="0" dirty="0"/>
              <a:t>await </a:t>
            </a:r>
            <a:r>
              <a:rPr lang="en-IN" noProof="0" dirty="0" err="1"/>
              <a:t>stream_llm</a:t>
            </a:r>
            <a:r>
              <a:rPr lang="en-IN" noProof="0" dirty="0"/>
              <a:t>()</a:t>
            </a:r>
          </a:p>
          <a:p>
            <a:r>
              <a:rPr lang="en-IN" noProof="0" dirty="0"/>
              <a:t>stream = await </a:t>
            </a:r>
            <a:r>
              <a:rPr lang="en-IN" noProof="0" dirty="0" err="1"/>
              <a:t>client.responses.create</a:t>
            </a:r>
            <a:r>
              <a:rPr lang="en-IN" noProof="0" dirty="0"/>
              <a:t>(</a:t>
            </a:r>
          </a:p>
          <a:p>
            <a:pPr lvl="1"/>
            <a:r>
              <a:rPr lang="en-IN" noProof="0" dirty="0"/>
              <a:t>Calls the OpenAI Responses API</a:t>
            </a:r>
          </a:p>
          <a:p>
            <a:pPr lvl="1"/>
            <a:r>
              <a:rPr lang="en-IN" noProof="0" dirty="0"/>
              <a:t>await indicates that while waiting for OpenAI to respond, python does not block</a:t>
            </a:r>
          </a:p>
          <a:p>
            <a:r>
              <a:rPr lang="en-IN" noProof="0" dirty="0"/>
              <a:t>stream = True</a:t>
            </a:r>
          </a:p>
          <a:p>
            <a:pPr lvl="1"/>
            <a:r>
              <a:rPr lang="en-IN" noProof="0" dirty="0"/>
              <a:t>OpenAI should start responding immediately</a:t>
            </a:r>
          </a:p>
          <a:p>
            <a:r>
              <a:rPr lang="en-IN" noProof="0" dirty="0"/>
              <a:t>yield </a:t>
            </a:r>
            <a:r>
              <a:rPr lang="en-IN" noProof="0" dirty="0" err="1"/>
              <a:t>f"data</a:t>
            </a:r>
            <a:r>
              <a:rPr lang="en-IN" noProof="0" dirty="0"/>
              <a:t>: {</a:t>
            </a:r>
            <a:r>
              <a:rPr lang="en-IN" noProof="0" dirty="0" err="1"/>
              <a:t>event.delta</a:t>
            </a:r>
            <a:r>
              <a:rPr lang="en-IN" noProof="0" dirty="0"/>
              <a:t>}\n\n“</a:t>
            </a:r>
          </a:p>
          <a:p>
            <a:pPr lvl="1"/>
            <a:r>
              <a:rPr lang="en-IN" noProof="0" dirty="0"/>
              <a:t>Do not use return, since it returns once and exits</a:t>
            </a:r>
          </a:p>
          <a:p>
            <a:pPr lvl="1"/>
            <a:r>
              <a:rPr lang="en-IN" noProof="0" dirty="0"/>
              <a:t>yield returns one value, pauses, and then resumes</a:t>
            </a:r>
          </a:p>
        </p:txBody>
      </p:sp>
    </p:spTree>
    <p:extLst>
      <p:ext uri="{BB962C8B-B14F-4D97-AF65-F5344CB8AC3E}">
        <p14:creationId xmlns:p14="http://schemas.microsoft.com/office/powerpoint/2010/main" val="3054930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4FAE-2095-743D-1077-36E13641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Running and testing </a:t>
            </a:r>
            <a:r>
              <a:rPr lang="en-IN" noProof="0" dirty="0" err="1"/>
              <a:t>FastAPI</a:t>
            </a:r>
            <a:r>
              <a:rPr lang="en-IN" noProof="0" dirty="0"/>
              <a:t> with </a:t>
            </a:r>
            <a:r>
              <a:rPr lang="en-IN" noProof="0" dirty="0" err="1"/>
              <a:t>Uvicorn</a:t>
            </a:r>
            <a:r>
              <a:rPr lang="en-IN" noProof="0" dirty="0"/>
              <a:t> and Swagger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CB61-238C-3A75-5BCD-96ADEB663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 err="1"/>
              <a:t>Uvicorn</a:t>
            </a:r>
            <a:r>
              <a:rPr lang="en-IN" noProof="0" dirty="0"/>
              <a:t>: A lightweight, high-performance </a:t>
            </a:r>
            <a:r>
              <a:rPr lang="en-IN" b="1" noProof="0" dirty="0"/>
              <a:t>ASGI (Asynchronous Server Gateway Interface)</a:t>
            </a:r>
            <a:r>
              <a:rPr lang="en-IN" noProof="0" dirty="0"/>
              <a:t> server used to run </a:t>
            </a:r>
            <a:r>
              <a:rPr lang="en-IN" noProof="0" dirty="0" err="1"/>
              <a:t>FastAPI</a:t>
            </a:r>
            <a:r>
              <a:rPr lang="en-IN" noProof="0" dirty="0"/>
              <a:t> applications</a:t>
            </a:r>
          </a:p>
          <a:p>
            <a:r>
              <a:rPr lang="en-IN" noProof="0" dirty="0"/>
              <a:t>Provides: Fast request handling, Asynchronous support, Automatic code reloading during development, Production-ready deployment capabilities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357197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FD28-918C-FC10-0A74-87915F73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E323-CD89-0B0D-C938-C2FCDD72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Running a </a:t>
            </a:r>
            <a:r>
              <a:rPr lang="en-IN" noProof="0" dirty="0" err="1"/>
              <a:t>FastAPI</a:t>
            </a:r>
            <a:r>
              <a:rPr lang="en-IN" noProof="0" dirty="0"/>
              <a:t>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B1CAB-5CE2-8212-09C2-5C8C1A36D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Project structure</a:t>
            </a:r>
          </a:p>
          <a:p>
            <a:pPr lvl="1"/>
            <a:r>
              <a:rPr lang="en-IN" noProof="0" dirty="0" err="1"/>
              <a:t>myapp</a:t>
            </a:r>
            <a:r>
              <a:rPr lang="en-IN" noProof="0" dirty="0"/>
              <a:t>/</a:t>
            </a:r>
          </a:p>
          <a:p>
            <a:pPr lvl="1"/>
            <a:r>
              <a:rPr lang="en-IN" noProof="0" dirty="0"/>
              <a:t>│</a:t>
            </a:r>
          </a:p>
          <a:p>
            <a:pPr lvl="1"/>
            <a:r>
              <a:rPr lang="en-IN" noProof="0" dirty="0"/>
              <a:t>├── main.py</a:t>
            </a:r>
          </a:p>
          <a:p>
            <a:pPr lvl="1"/>
            <a:r>
              <a:rPr lang="en-IN" noProof="0" dirty="0"/>
              <a:t>├── requirements.txt</a:t>
            </a:r>
          </a:p>
          <a:p>
            <a:pPr lvl="1"/>
            <a:r>
              <a:rPr lang="en-IN" noProof="0" dirty="0"/>
              <a:t>└── .env</a:t>
            </a:r>
          </a:p>
          <a:p>
            <a:r>
              <a:rPr lang="en-IN" noProof="0" dirty="0"/>
              <a:t>Start the server: </a:t>
            </a:r>
            <a:r>
              <a:rPr lang="en-IN" noProof="0" dirty="0" err="1"/>
              <a:t>uvicorn</a:t>
            </a:r>
            <a:r>
              <a:rPr lang="en-IN" noProof="0" dirty="0"/>
              <a:t> </a:t>
            </a:r>
            <a:r>
              <a:rPr lang="en-IN" noProof="0" dirty="0" err="1"/>
              <a:t>main:app</a:t>
            </a:r>
            <a:r>
              <a:rPr lang="en-IN" noProof="0" dirty="0"/>
              <a:t> –reload</a:t>
            </a:r>
          </a:p>
          <a:p>
            <a:pPr lvl="1"/>
            <a:r>
              <a:rPr lang="en-IN" noProof="0" dirty="0"/>
              <a:t>--reload → Automatically reloads the server when code changes</a:t>
            </a:r>
          </a:p>
          <a:p>
            <a:pPr marL="0" indent="0">
              <a:buNone/>
            </a:pP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83280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C7E7D-19D0-88A3-DDD2-DD945A4DF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00C6-E32C-3EC6-15B8-4D51E476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Sample </a:t>
            </a:r>
            <a:r>
              <a:rPr lang="en-IN" noProof="0" dirty="0" err="1"/>
              <a:t>FastAPI</a:t>
            </a:r>
            <a:r>
              <a:rPr lang="en-IN" noProof="0" dirty="0"/>
              <a:t>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E0869-B0D6-9861-0A90-B441198A2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from </a:t>
            </a:r>
            <a:r>
              <a:rPr lang="en-IN" noProof="0" dirty="0" err="1"/>
              <a:t>fastapi</a:t>
            </a:r>
            <a:r>
              <a:rPr lang="en-IN" noProof="0" dirty="0"/>
              <a:t> import </a:t>
            </a:r>
            <a:r>
              <a:rPr lang="en-IN" noProof="0" dirty="0" err="1"/>
              <a:t>FastAPI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app = </a:t>
            </a:r>
            <a:r>
              <a:rPr lang="en-IN" noProof="0" dirty="0" err="1"/>
              <a:t>FastAPI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@app.get("/")</a:t>
            </a:r>
          </a:p>
          <a:p>
            <a:r>
              <a:rPr lang="en-IN" noProof="0" dirty="0"/>
              <a:t>async def home():</a:t>
            </a:r>
          </a:p>
          <a:p>
            <a:r>
              <a:rPr lang="en-IN" noProof="0" dirty="0"/>
              <a:t>    return {"message": "Hello </a:t>
            </a:r>
            <a:r>
              <a:rPr lang="en-IN" noProof="0" dirty="0" err="1"/>
              <a:t>FastAPI</a:t>
            </a:r>
            <a:r>
              <a:rPr lang="en-IN" noProof="0" dirty="0"/>
              <a:t>!"}</a:t>
            </a:r>
          </a:p>
          <a:p>
            <a:endParaRPr lang="en-IN" noProof="0" dirty="0"/>
          </a:p>
          <a:p>
            <a:r>
              <a:rPr lang="en-IN" noProof="0" dirty="0"/>
              <a:t>Run: </a:t>
            </a:r>
            <a:r>
              <a:rPr lang="en-IN" noProof="0" dirty="0" err="1"/>
              <a:t>uvicorn</a:t>
            </a:r>
            <a:r>
              <a:rPr lang="en-IN" noProof="0" dirty="0"/>
              <a:t> </a:t>
            </a:r>
            <a:r>
              <a:rPr lang="en-IN" noProof="0" dirty="0" err="1"/>
              <a:t>main:app</a:t>
            </a:r>
            <a:r>
              <a:rPr lang="en-IN" noProof="0" dirty="0"/>
              <a:t> –reload</a:t>
            </a:r>
          </a:p>
          <a:p>
            <a:r>
              <a:rPr lang="en-IN" noProof="0" dirty="0"/>
              <a:t>Browser: http://127.0.0.1:8000</a:t>
            </a:r>
          </a:p>
        </p:txBody>
      </p:sp>
    </p:spTree>
    <p:extLst>
      <p:ext uri="{BB962C8B-B14F-4D97-AF65-F5344CB8AC3E}">
        <p14:creationId xmlns:p14="http://schemas.microsoft.com/office/powerpoint/2010/main" val="3873577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F5144-6C19-DB56-3D3D-3A848A3E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Interactive API Documentation Using Swagger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ED4C4-BCD9-2305-CA91-DF0E21547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Swagger UI: </a:t>
            </a:r>
            <a:r>
              <a:rPr lang="en-IN" noProof="0" dirty="0">
                <a:hlinkClick r:id="rId2"/>
              </a:rPr>
              <a:t>http://127.0.0.1:8000/doc</a:t>
            </a:r>
            <a:endParaRPr lang="en-IN" noProof="0" dirty="0"/>
          </a:p>
          <a:p>
            <a:r>
              <a:rPr lang="en-IN" noProof="0" dirty="0"/>
              <a:t>Swagger UI allows developers to View available endpoints, Enter request parameters, Upload files, Execute API calls, Inspect JSON responses, View HTTP status codes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2192713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02424-175B-EF38-14DA-C8576B21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Swagger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20B6C-C9E8-5E1A-AAE9-9F1F467FB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Create main.py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fastapi</a:t>
            </a:r>
            <a:r>
              <a:rPr lang="en-IN" noProof="0" dirty="0"/>
              <a:t> import </a:t>
            </a:r>
            <a:r>
              <a:rPr lang="en-IN" noProof="0" dirty="0" err="1"/>
              <a:t>FastAPI</a:t>
            </a:r>
            <a:endParaRPr lang="en-IN" noProof="0" dirty="0"/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app = </a:t>
            </a:r>
            <a:r>
              <a:rPr lang="en-IN" noProof="0" dirty="0" err="1"/>
              <a:t>FastAPI</a:t>
            </a:r>
            <a:r>
              <a:rPr lang="en-IN" noProof="0" dirty="0"/>
              <a:t>()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@app.get("/square/{number}")</a:t>
            </a:r>
          </a:p>
          <a:p>
            <a:pPr lvl="1"/>
            <a:r>
              <a:rPr lang="en-IN" noProof="0" dirty="0"/>
              <a:t>async def square(number: int):</a:t>
            </a:r>
          </a:p>
          <a:p>
            <a:pPr lvl="1"/>
            <a:r>
              <a:rPr lang="en-IN" noProof="0" dirty="0"/>
              <a:t>    return {"square": number * number}</a:t>
            </a:r>
          </a:p>
          <a:p>
            <a:r>
              <a:rPr lang="en-IN" noProof="0" dirty="0"/>
              <a:t>Run: </a:t>
            </a:r>
            <a:r>
              <a:rPr lang="en-IN" noProof="0" dirty="0" err="1"/>
              <a:t>uvicorn</a:t>
            </a:r>
            <a:r>
              <a:rPr lang="en-IN" noProof="0" dirty="0"/>
              <a:t> </a:t>
            </a:r>
            <a:r>
              <a:rPr lang="en-IN" noProof="0" dirty="0" err="1"/>
              <a:t>main:app</a:t>
            </a:r>
            <a:r>
              <a:rPr lang="en-IN" noProof="0" dirty="0"/>
              <a:t> –reload</a:t>
            </a:r>
          </a:p>
          <a:p>
            <a:r>
              <a:rPr lang="en-IN" noProof="0" dirty="0"/>
              <a:t>Browser: </a:t>
            </a:r>
            <a:r>
              <a:rPr lang="en-IN" noProof="0" dirty="0">
                <a:hlinkClick r:id="rId2"/>
              </a:rPr>
              <a:t>http://127.0.0.1:8000/docs</a:t>
            </a:r>
            <a:endParaRPr lang="en-IN" noProof="0" dirty="0"/>
          </a:p>
          <a:p>
            <a:r>
              <a:rPr lang="en-IN" noProof="0" dirty="0"/>
              <a:t>We will see an endpoint such as: GET /square/{number}</a:t>
            </a:r>
          </a:p>
          <a:p>
            <a:r>
              <a:rPr lang="en-IN" noProof="0" dirty="0"/>
              <a:t>Click ‘Try it out’, enter a number, and test</a:t>
            </a:r>
          </a:p>
        </p:txBody>
      </p:sp>
    </p:spTree>
    <p:extLst>
      <p:ext uri="{BB962C8B-B14F-4D97-AF65-F5344CB8AC3E}">
        <p14:creationId xmlns:p14="http://schemas.microsoft.com/office/powerpoint/2010/main" val="3576395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6F7A-5884-A875-68D1-632A19E1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Streamlit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C3C72-C6F3-4A4F-B06B-24502B4C9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 err="1"/>
              <a:t>Streamlit</a:t>
            </a:r>
            <a:r>
              <a:rPr lang="en-IN" noProof="0" dirty="0"/>
              <a:t>: An open-source Python framework for building interactive web applications with minimal code</a:t>
            </a:r>
          </a:p>
          <a:p>
            <a:r>
              <a:rPr lang="en-IN" noProof="0" dirty="0"/>
              <a:t>Widely used for: AI chatbots, LLM demos, RAG applications, Data dashboards, Machine learning prototypes, Internal AI tools</a:t>
            </a:r>
          </a:p>
          <a:p>
            <a:r>
              <a:rPr lang="en-IN" noProof="0" dirty="0"/>
              <a:t>Why </a:t>
            </a:r>
            <a:r>
              <a:rPr lang="en-IN" noProof="0" dirty="0" err="1"/>
              <a:t>Streamlit</a:t>
            </a:r>
            <a:r>
              <a:rPr lang="en-IN" noProof="0" dirty="0"/>
              <a:t>? Pure Python (no HTML, CSS, or JavaScript required),  Rapid UI development,  Built-in widgets, Easy integration with LLMs, Supports file uploads and streaming, Ideal for prototypes and proof-of-concepts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0436582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EF7D4-3D0F-273E-F965-1A62F997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563B-4602-1A6C-11E1-3DD20833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Basic </a:t>
            </a:r>
            <a:r>
              <a:rPr lang="en-IN" noProof="0" dirty="0" err="1"/>
              <a:t>Streamlit</a:t>
            </a:r>
            <a:r>
              <a:rPr lang="en-IN" noProof="0" dirty="0"/>
              <a:t>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113E7-0197-BE37-541A-AA2075917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noProof="0" dirty="0"/>
              <a:t>import </a:t>
            </a:r>
            <a:r>
              <a:rPr lang="en-IN" noProof="0" dirty="0" err="1"/>
              <a:t>streamlit</a:t>
            </a:r>
            <a:r>
              <a:rPr lang="en-IN" noProof="0" dirty="0"/>
              <a:t> as st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 err="1"/>
              <a:t>st.title</a:t>
            </a:r>
            <a:r>
              <a:rPr lang="en-IN" noProof="0" dirty="0"/>
              <a:t>("AI Assistant")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name = </a:t>
            </a:r>
            <a:r>
              <a:rPr lang="en-IN" noProof="0" dirty="0" err="1"/>
              <a:t>st.text_input</a:t>
            </a:r>
            <a:r>
              <a:rPr lang="en-IN" noProof="0" dirty="0"/>
              <a:t>("Enter your name")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if name: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st.write</a:t>
            </a:r>
            <a:r>
              <a:rPr lang="en-IN" noProof="0" dirty="0"/>
              <a:t>(</a:t>
            </a:r>
            <a:r>
              <a:rPr lang="en-IN" noProof="0" dirty="0" err="1"/>
              <a:t>f"Hello</a:t>
            </a:r>
            <a:r>
              <a:rPr lang="en-IN" noProof="0" dirty="0"/>
              <a:t>, {name}!")</a:t>
            </a:r>
          </a:p>
          <a:p>
            <a:endParaRPr lang="en-IN" noProof="0" dirty="0"/>
          </a:p>
          <a:p>
            <a:r>
              <a:rPr lang="en-IN" noProof="0" dirty="0"/>
              <a:t>To run: </a:t>
            </a:r>
            <a:r>
              <a:rPr lang="en-IN" noProof="0" dirty="0" err="1"/>
              <a:t>streamlit</a:t>
            </a:r>
            <a:r>
              <a:rPr lang="en-IN" noProof="0" dirty="0"/>
              <a:t> </a:t>
            </a:r>
            <a:r>
              <a:rPr lang="en-IN" dirty="0"/>
              <a:t>run </a:t>
            </a:r>
            <a:r>
              <a:rPr lang="en-IN" noProof="0" dirty="0"/>
              <a:t>app.py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6328402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F4A5-C9EF-3288-09EA-854D40C1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Streamlit</a:t>
            </a:r>
            <a:r>
              <a:rPr lang="en-IN" noProof="0" dirty="0"/>
              <a:t> Layout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03A27A-6335-849D-6A99-441E241E7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589110"/>
              </p:ext>
            </p:extLst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223947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79738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11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st.title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Page 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101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st.header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Section heading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80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st.subheader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Subsection heading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316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st.write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Display text, tables, and objects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180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st.markdown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Render Markdown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8246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st.sidebar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Sidebar 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624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st.columns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Multi-column layout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40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st.tabs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Organize content into tabs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735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st.expander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Expandable sections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547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8152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9C5D1-0527-4B59-5DD0-A31BA49C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5621-36CE-BBCF-2FE8-56443C6F3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Streamlit</a:t>
            </a:r>
            <a:r>
              <a:rPr lang="en-IN" noProof="0" dirty="0"/>
              <a:t> Widgets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C12126B-DE8D-D622-D084-6EEA5C2235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7505121"/>
              </p:ext>
            </p:extLst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646967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61724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Widget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817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st.text_input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Single-line text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359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st.text_area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Multi-line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74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st.button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Button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60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st.selectbox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Dropdown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684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st.radio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Radio buttons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924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st.checkbox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Checkbox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730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st.slider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Numeric slider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197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st.file_uploader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Upload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086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st.chat_input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Chat prompt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506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9164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46BC-1F12-19B0-D8C9-74C3F475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909F4-E039-FAA7-FB0C-B8486A59A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prompt = </a:t>
            </a:r>
            <a:r>
              <a:rPr lang="en-IN" noProof="0" dirty="0" err="1"/>
              <a:t>st.text_input</a:t>
            </a:r>
            <a:r>
              <a:rPr lang="en-IN" noProof="0" dirty="0"/>
              <a:t>("Ask a question")</a:t>
            </a:r>
          </a:p>
          <a:p>
            <a:endParaRPr lang="en-IN" noProof="0" dirty="0"/>
          </a:p>
          <a:p>
            <a:r>
              <a:rPr lang="en-IN" noProof="0" dirty="0"/>
              <a:t>if </a:t>
            </a:r>
            <a:r>
              <a:rPr lang="en-IN" noProof="0" dirty="0" err="1"/>
              <a:t>st.button</a:t>
            </a:r>
            <a:r>
              <a:rPr lang="en-IN" noProof="0" dirty="0"/>
              <a:t>("Submit"):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st.write</a:t>
            </a:r>
            <a:r>
              <a:rPr lang="en-IN" noProof="0" dirty="0"/>
              <a:t>(prompt)</a:t>
            </a:r>
          </a:p>
        </p:txBody>
      </p:sp>
    </p:spTree>
    <p:extLst>
      <p:ext uri="{BB962C8B-B14F-4D97-AF65-F5344CB8AC3E}">
        <p14:creationId xmlns:p14="http://schemas.microsoft.com/office/powerpoint/2010/main" val="41704210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4280-E355-EA02-21E9-6A0FA522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Session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0118D-F20F-2CB2-0227-4BD115B34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Stores information across user sessions</a:t>
            </a:r>
          </a:p>
          <a:p>
            <a:pPr marL="0" indent="0">
              <a:buNone/>
            </a:pPr>
            <a:r>
              <a:rPr lang="en-IN" noProof="0" dirty="0"/>
              <a:t>import </a:t>
            </a:r>
            <a:r>
              <a:rPr lang="en-IN" noProof="0" dirty="0" err="1"/>
              <a:t>streamlit</a:t>
            </a:r>
            <a:r>
              <a:rPr lang="en-IN" noProof="0" dirty="0"/>
              <a:t> as st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if "count" not in </a:t>
            </a:r>
            <a:r>
              <a:rPr lang="en-IN" noProof="0" dirty="0" err="1"/>
              <a:t>st.session_state</a:t>
            </a:r>
            <a:r>
              <a:rPr lang="en-IN" noProof="0" dirty="0"/>
              <a:t>: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st.session_state.count</a:t>
            </a:r>
            <a:r>
              <a:rPr lang="en-IN" noProof="0" dirty="0"/>
              <a:t> = 0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if </a:t>
            </a:r>
            <a:r>
              <a:rPr lang="en-IN" noProof="0" dirty="0" err="1"/>
              <a:t>st.button</a:t>
            </a:r>
            <a:r>
              <a:rPr lang="en-IN" noProof="0" dirty="0"/>
              <a:t>("Increment"):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st.session_state.count</a:t>
            </a:r>
            <a:r>
              <a:rPr lang="en-IN" noProof="0" dirty="0"/>
              <a:t> += 1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 err="1"/>
              <a:t>st.write</a:t>
            </a:r>
            <a:r>
              <a:rPr lang="en-IN" noProof="0" dirty="0"/>
              <a:t>(</a:t>
            </a:r>
            <a:r>
              <a:rPr lang="en-IN" noProof="0" dirty="0" err="1"/>
              <a:t>st.session_state.count</a:t>
            </a: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03907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0ABC8-4AD4-4196-2903-7EF1A6651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82D2-8331-7190-9438-F006D420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3CB0B-0602-887A-13BE-42AB60034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Avoids repeated expensive operations</a:t>
            </a:r>
          </a:p>
          <a:p>
            <a:pPr marL="0" indent="0">
              <a:buNone/>
            </a:pPr>
            <a:r>
              <a:rPr lang="en-IN" noProof="0" dirty="0"/>
              <a:t>import </a:t>
            </a:r>
            <a:r>
              <a:rPr lang="en-IN" noProof="0" dirty="0" err="1"/>
              <a:t>streamlit</a:t>
            </a:r>
            <a:r>
              <a:rPr lang="en-IN" noProof="0" dirty="0"/>
              <a:t> as st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@st.cache_data</a:t>
            </a:r>
          </a:p>
          <a:p>
            <a:pPr marL="0" indent="0">
              <a:buNone/>
            </a:pPr>
            <a:r>
              <a:rPr lang="en-IN" noProof="0" dirty="0"/>
              <a:t>def </a:t>
            </a:r>
            <a:r>
              <a:rPr lang="en-IN" noProof="0" dirty="0" err="1"/>
              <a:t>load_data</a:t>
            </a:r>
            <a:r>
              <a:rPr lang="en-IN" noProof="0" dirty="0"/>
              <a:t>():</a:t>
            </a:r>
          </a:p>
          <a:p>
            <a:pPr marL="0" indent="0">
              <a:buNone/>
            </a:pPr>
            <a:r>
              <a:rPr lang="en-IN" noProof="0" dirty="0"/>
              <a:t>    return </a:t>
            </a:r>
            <a:r>
              <a:rPr lang="en-IN" noProof="0" dirty="0" err="1"/>
              <a:t>expensive_database_query</a:t>
            </a:r>
            <a:r>
              <a:rPr lang="en-IN" noProof="0" dirty="0"/>
              <a:t>()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data = </a:t>
            </a:r>
            <a:r>
              <a:rPr lang="en-IN" noProof="0" dirty="0" err="1"/>
              <a:t>load_data</a:t>
            </a:r>
            <a:r>
              <a:rPr lang="en-IN" noProof="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681340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F463-C4B3-C9B1-F527-A1481F559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Building a real-time streaming chat UI in </a:t>
            </a:r>
            <a:r>
              <a:rPr lang="en-IN" noProof="0" dirty="0" err="1"/>
              <a:t>Streamlit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E42BD-99F3-E676-B84A-E708EDCD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noProof="0" dirty="0"/>
              <a:t>Flow: User -&gt; </a:t>
            </a:r>
            <a:r>
              <a:rPr lang="en-IN" noProof="0" dirty="0" err="1"/>
              <a:t>st.chat_input</a:t>
            </a:r>
            <a:r>
              <a:rPr lang="en-IN" noProof="0" dirty="0"/>
              <a:t>() -&gt; </a:t>
            </a:r>
            <a:r>
              <a:rPr lang="en-IN" noProof="0" dirty="0" err="1"/>
              <a:t>Streamlit</a:t>
            </a:r>
            <a:r>
              <a:rPr lang="en-IN" noProof="0" dirty="0"/>
              <a:t> Application -&gt; OpenAI Streaming API -&gt; Token 1 → Token 2 → Token 3 ... -&gt; </a:t>
            </a:r>
            <a:r>
              <a:rPr lang="en-IN" noProof="0" dirty="0" err="1"/>
              <a:t>st.write_stream</a:t>
            </a:r>
            <a:r>
              <a:rPr lang="en-IN" noProof="0" dirty="0"/>
              <a:t>() -&gt; Live Chat Response</a:t>
            </a:r>
          </a:p>
          <a:p>
            <a:r>
              <a:rPr lang="en-IN" noProof="0" dirty="0"/>
              <a:t>Basic chat UI</a:t>
            </a:r>
          </a:p>
          <a:p>
            <a:pPr lvl="1"/>
            <a:r>
              <a:rPr lang="en-IN" noProof="0" dirty="0"/>
              <a:t>import </a:t>
            </a:r>
            <a:r>
              <a:rPr lang="en-IN" noProof="0" dirty="0" err="1"/>
              <a:t>streamlit</a:t>
            </a:r>
            <a:r>
              <a:rPr lang="en-IN" noProof="0" dirty="0"/>
              <a:t> as st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 err="1"/>
              <a:t>st.title</a:t>
            </a:r>
            <a:r>
              <a:rPr lang="en-IN" noProof="0" dirty="0"/>
              <a:t>("AI Chat Assistant")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prompt = </a:t>
            </a:r>
            <a:r>
              <a:rPr lang="en-IN" noProof="0" dirty="0" err="1"/>
              <a:t>st.chat_input</a:t>
            </a:r>
            <a:r>
              <a:rPr lang="en-IN" noProof="0" dirty="0"/>
              <a:t>("Ask something...")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if prompt:</a:t>
            </a:r>
          </a:p>
          <a:p>
            <a:pPr lvl="1"/>
            <a:r>
              <a:rPr lang="en-IN" noProof="0" dirty="0"/>
              <a:t>    </a:t>
            </a:r>
            <a:r>
              <a:rPr lang="en-IN" noProof="0" dirty="0" err="1"/>
              <a:t>st.chat_message</a:t>
            </a:r>
            <a:r>
              <a:rPr lang="en-IN" noProof="0" dirty="0"/>
              <a:t>("user").write(prompt)</a:t>
            </a:r>
          </a:p>
        </p:txBody>
      </p:sp>
    </p:spTree>
    <p:extLst>
      <p:ext uri="{BB962C8B-B14F-4D97-AF65-F5344CB8AC3E}">
        <p14:creationId xmlns:p14="http://schemas.microsoft.com/office/powerpoint/2010/main" val="3090978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83F24-1257-5EF5-B30F-43F5E7D89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983C8-D639-2012-F8AB-A40AF4B01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Building a real-time streaming chat UI in </a:t>
            </a:r>
            <a:r>
              <a:rPr lang="en-IN" noProof="0" dirty="0" err="1"/>
              <a:t>Streamlit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FB6C-1CC5-174A-4334-5FE096308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noProof="0" dirty="0"/>
              <a:t>Streaming from an LLM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openai</a:t>
            </a:r>
            <a:r>
              <a:rPr lang="en-IN" noProof="0" dirty="0"/>
              <a:t> import OpenAI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client = OpenAI()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def </a:t>
            </a:r>
            <a:r>
              <a:rPr lang="en-IN" noProof="0" dirty="0" err="1"/>
              <a:t>stream_response</a:t>
            </a:r>
            <a:r>
              <a:rPr lang="en-IN" noProof="0" dirty="0"/>
              <a:t>(prompt):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    stream = </a:t>
            </a:r>
            <a:r>
              <a:rPr lang="en-IN" noProof="0" dirty="0" err="1"/>
              <a:t>client.responses.create</a:t>
            </a:r>
            <a:r>
              <a:rPr lang="en-IN" noProof="0" dirty="0"/>
              <a:t>(</a:t>
            </a:r>
          </a:p>
          <a:p>
            <a:pPr lvl="1"/>
            <a:r>
              <a:rPr lang="en-IN" noProof="0" dirty="0"/>
              <a:t>        model="gpt-5",</a:t>
            </a:r>
          </a:p>
          <a:p>
            <a:pPr lvl="1"/>
            <a:r>
              <a:rPr lang="en-IN" noProof="0" dirty="0"/>
              <a:t>        input=prompt,</a:t>
            </a:r>
          </a:p>
          <a:p>
            <a:pPr lvl="1"/>
            <a:r>
              <a:rPr lang="en-IN" noProof="0" dirty="0"/>
              <a:t>        stream=True</a:t>
            </a:r>
          </a:p>
          <a:p>
            <a:pPr lvl="1"/>
            <a:r>
              <a:rPr lang="en-IN" noProof="0" dirty="0"/>
              <a:t>    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    for event in stream:</a:t>
            </a:r>
          </a:p>
          <a:p>
            <a:pPr lvl="1"/>
            <a:r>
              <a:rPr lang="en-IN" noProof="0" dirty="0"/>
              <a:t>        if </a:t>
            </a:r>
            <a:r>
              <a:rPr lang="en-IN" noProof="0" dirty="0" err="1"/>
              <a:t>event.type</a:t>
            </a:r>
            <a:r>
              <a:rPr lang="en-IN" noProof="0" dirty="0"/>
              <a:t> == "</a:t>
            </a:r>
            <a:r>
              <a:rPr lang="en-IN" noProof="0" dirty="0" err="1"/>
              <a:t>response.output_text.delta</a:t>
            </a:r>
            <a:r>
              <a:rPr lang="en-IN" noProof="0" dirty="0"/>
              <a:t>":</a:t>
            </a:r>
          </a:p>
          <a:p>
            <a:pPr lvl="1"/>
            <a:r>
              <a:rPr lang="en-IN" noProof="0" dirty="0"/>
              <a:t>            yield </a:t>
            </a:r>
            <a:r>
              <a:rPr lang="en-IN" noProof="0" dirty="0" err="1"/>
              <a:t>event.delta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1182251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1244D-D377-A3D5-6A02-909DC4F16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A438-5258-E591-2AD8-91A6487F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Building a real-time streaming chat UI in </a:t>
            </a:r>
            <a:r>
              <a:rPr lang="en-IN" noProof="0" dirty="0" err="1"/>
              <a:t>Streamlit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D532-0C06-6829-6EE0-DC774F911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Display streaming output</a:t>
            </a:r>
          </a:p>
          <a:p>
            <a:pPr lvl="1"/>
            <a:r>
              <a:rPr lang="en-IN" noProof="0" dirty="0"/>
              <a:t>if prompt: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    </a:t>
            </a:r>
            <a:r>
              <a:rPr lang="en-IN" noProof="0" dirty="0" err="1"/>
              <a:t>st.chat_message</a:t>
            </a:r>
            <a:r>
              <a:rPr lang="en-IN" noProof="0" dirty="0"/>
              <a:t>("user").write(prompt)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    with </a:t>
            </a:r>
            <a:r>
              <a:rPr lang="en-IN" noProof="0" dirty="0" err="1"/>
              <a:t>st.chat_message</a:t>
            </a:r>
            <a:r>
              <a:rPr lang="en-IN" noProof="0" dirty="0"/>
              <a:t>("assistant"):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        </a:t>
            </a:r>
            <a:r>
              <a:rPr lang="en-IN" noProof="0" dirty="0" err="1"/>
              <a:t>st.write_stream</a:t>
            </a:r>
            <a:r>
              <a:rPr lang="en-IN" noProof="0" dirty="0"/>
              <a:t>(</a:t>
            </a:r>
          </a:p>
          <a:p>
            <a:pPr lvl="1"/>
            <a:r>
              <a:rPr lang="en-IN" noProof="0" dirty="0"/>
              <a:t>            </a:t>
            </a:r>
            <a:r>
              <a:rPr lang="en-IN" noProof="0" dirty="0" err="1"/>
              <a:t>stream_response</a:t>
            </a:r>
            <a:r>
              <a:rPr lang="en-IN" noProof="0" dirty="0"/>
              <a:t>(prompt)</a:t>
            </a:r>
          </a:p>
          <a:p>
            <a:pPr lvl="1"/>
            <a:r>
              <a:rPr lang="en-IN" noProof="0" dirty="0"/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2599471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5E95-A796-6A0C-9854-70165F64E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Full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44BE1-68E0-CEA7-F46D-031E59A0B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Project structure</a:t>
            </a:r>
          </a:p>
          <a:p>
            <a:pPr marL="457200" lvl="1" indent="0">
              <a:buNone/>
            </a:pPr>
            <a:r>
              <a:rPr lang="en-IN" noProof="0" dirty="0"/>
              <a:t>chat-app/</a:t>
            </a:r>
          </a:p>
          <a:p>
            <a:pPr marL="457200" lvl="1" indent="0">
              <a:buNone/>
            </a:pPr>
            <a:r>
              <a:rPr lang="en-IN" noProof="0" dirty="0"/>
              <a:t>│</a:t>
            </a:r>
          </a:p>
          <a:p>
            <a:pPr marL="457200" lvl="1" indent="0">
              <a:buNone/>
            </a:pPr>
            <a:r>
              <a:rPr lang="en-IN" noProof="0" dirty="0"/>
              <a:t>├── app.py</a:t>
            </a:r>
          </a:p>
          <a:p>
            <a:pPr marL="457200" lvl="1" indent="0">
              <a:buNone/>
            </a:pPr>
            <a:r>
              <a:rPr lang="en-IN" noProof="0" dirty="0"/>
              <a:t>├── .env</a:t>
            </a:r>
          </a:p>
          <a:p>
            <a:pPr marL="457200" lvl="1" indent="0">
              <a:buNone/>
            </a:pPr>
            <a:r>
              <a:rPr lang="en-IN" noProof="0" dirty="0"/>
              <a:t>└── requirements.txt</a:t>
            </a:r>
          </a:p>
          <a:p>
            <a:r>
              <a:rPr lang="en-IN" noProof="0" dirty="0"/>
              <a:t>requirements.txt</a:t>
            </a:r>
          </a:p>
          <a:p>
            <a:pPr lvl="1"/>
            <a:r>
              <a:rPr lang="en-IN" noProof="0" dirty="0" err="1"/>
              <a:t>streamlit</a:t>
            </a:r>
            <a:endParaRPr lang="en-IN" noProof="0" dirty="0"/>
          </a:p>
          <a:p>
            <a:pPr lvl="1"/>
            <a:r>
              <a:rPr lang="en-IN" noProof="0" dirty="0" err="1"/>
              <a:t>openai</a:t>
            </a:r>
            <a:endParaRPr lang="en-IN" noProof="0" dirty="0"/>
          </a:p>
          <a:p>
            <a:pPr lvl="1"/>
            <a:r>
              <a:rPr lang="en-IN" noProof="0" dirty="0"/>
              <a:t>python-</a:t>
            </a:r>
            <a:r>
              <a:rPr lang="en-IN" noProof="0" dirty="0" err="1"/>
              <a:t>dotenv</a:t>
            </a:r>
            <a:endParaRPr lang="en-IN" noProof="0" dirty="0"/>
          </a:p>
          <a:p>
            <a:r>
              <a:rPr lang="en-IN" noProof="0" dirty="0"/>
              <a:t>Install: pip install -r requirements.txt</a:t>
            </a:r>
          </a:p>
          <a:p>
            <a:r>
              <a:rPr lang="en-IN" noProof="0" dirty="0"/>
              <a:t>.env: OPENAI_API_KEY=</a:t>
            </a:r>
            <a:r>
              <a:rPr lang="en-IN" noProof="0" dirty="0" err="1"/>
              <a:t>your_openai_api_key_here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0874395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0251-DC8E-6D55-D9ED-F7E45A9E3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2A02-24ED-CC3A-0F8A-8CA0B150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Full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91AC-D19E-3098-2913-78B41A189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noProof="0" dirty="0"/>
              <a:t>app.py</a:t>
            </a:r>
          </a:p>
          <a:p>
            <a:r>
              <a:rPr lang="en-IN" noProof="0" dirty="0"/>
              <a:t>import </a:t>
            </a:r>
            <a:r>
              <a:rPr lang="en-IN" noProof="0" dirty="0" err="1"/>
              <a:t>os</a:t>
            </a:r>
            <a:endParaRPr lang="en-IN" noProof="0" dirty="0"/>
          </a:p>
          <a:p>
            <a:r>
              <a:rPr lang="en-IN" noProof="0" dirty="0"/>
              <a:t>from </a:t>
            </a:r>
            <a:r>
              <a:rPr lang="en-IN" noProof="0" dirty="0" err="1"/>
              <a:t>dotenv</a:t>
            </a:r>
            <a:r>
              <a:rPr lang="en-IN" noProof="0" dirty="0"/>
              <a:t> import </a:t>
            </a:r>
            <a:r>
              <a:rPr lang="en-IN" noProof="0" dirty="0" err="1"/>
              <a:t>load_dotenv</a:t>
            </a:r>
            <a:endParaRPr lang="en-IN" noProof="0" dirty="0"/>
          </a:p>
          <a:p>
            <a:r>
              <a:rPr lang="en-IN" noProof="0" dirty="0"/>
              <a:t>from </a:t>
            </a:r>
            <a:r>
              <a:rPr lang="en-IN" noProof="0" dirty="0" err="1"/>
              <a:t>openai</a:t>
            </a:r>
            <a:r>
              <a:rPr lang="en-IN" noProof="0" dirty="0"/>
              <a:t> import OpenAI</a:t>
            </a:r>
          </a:p>
          <a:p>
            <a:r>
              <a:rPr lang="en-IN" noProof="0" dirty="0"/>
              <a:t>import </a:t>
            </a:r>
            <a:r>
              <a:rPr lang="en-IN" noProof="0" dirty="0" err="1"/>
              <a:t>streamlit</a:t>
            </a:r>
            <a:r>
              <a:rPr lang="en-IN" noProof="0" dirty="0"/>
              <a:t> as st</a:t>
            </a:r>
          </a:p>
          <a:p>
            <a:endParaRPr lang="en-IN" noProof="0" dirty="0"/>
          </a:p>
          <a:p>
            <a:r>
              <a:rPr lang="en-IN" noProof="0" dirty="0"/>
              <a:t># Load environment variables</a:t>
            </a:r>
          </a:p>
          <a:p>
            <a:r>
              <a:rPr lang="en-IN" noProof="0" dirty="0" err="1"/>
              <a:t>load_dotenv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# Create OpenAI client</a:t>
            </a:r>
          </a:p>
          <a:p>
            <a:r>
              <a:rPr lang="en-IN" noProof="0" dirty="0"/>
              <a:t>client = OpenAI(</a:t>
            </a:r>
            <a:r>
              <a:rPr lang="en-IN" noProof="0" dirty="0" err="1"/>
              <a:t>api_key</a:t>
            </a:r>
            <a:r>
              <a:rPr lang="en-IN" noProof="0" dirty="0"/>
              <a:t>=</a:t>
            </a:r>
            <a:r>
              <a:rPr lang="en-IN" noProof="0" dirty="0" err="1"/>
              <a:t>os.getenv</a:t>
            </a:r>
            <a:r>
              <a:rPr lang="en-IN" noProof="0" dirty="0"/>
              <a:t>("OPENAI_API_KEY"))</a:t>
            </a:r>
          </a:p>
          <a:p>
            <a:endParaRPr lang="en-IN" noProof="0" dirty="0"/>
          </a:p>
          <a:p>
            <a:r>
              <a:rPr lang="en-IN" noProof="0" dirty="0" err="1"/>
              <a:t>st.set_page_config</a:t>
            </a:r>
            <a:r>
              <a:rPr lang="en-IN" noProof="0" dirty="0"/>
              <a:t>(</a:t>
            </a:r>
            <a:r>
              <a:rPr lang="en-IN" noProof="0" dirty="0" err="1"/>
              <a:t>page_title</a:t>
            </a:r>
            <a:r>
              <a:rPr lang="en-IN" noProof="0" dirty="0"/>
              <a:t>="Streaming Chat", </a:t>
            </a:r>
            <a:r>
              <a:rPr lang="en-IN" noProof="0" dirty="0" err="1"/>
              <a:t>page_icon</a:t>
            </a:r>
            <a:r>
              <a:rPr lang="en-IN" noProof="0" dirty="0"/>
              <a:t>="🤖")</a:t>
            </a:r>
          </a:p>
          <a:p>
            <a:endParaRPr lang="en-IN" noProof="0" dirty="0"/>
          </a:p>
          <a:p>
            <a:r>
              <a:rPr lang="en-IN" noProof="0" dirty="0" err="1"/>
              <a:t>st.title</a:t>
            </a:r>
            <a:r>
              <a:rPr lang="en-IN" noProof="0" dirty="0"/>
              <a:t>("🤖 AI Chat Assistant")</a:t>
            </a:r>
          </a:p>
          <a:p>
            <a:endParaRPr lang="en-IN" noProof="0" dirty="0"/>
          </a:p>
          <a:p>
            <a:r>
              <a:rPr lang="en-IN" noProof="0" dirty="0"/>
              <a:t># Initialize chat history</a:t>
            </a:r>
          </a:p>
          <a:p>
            <a:r>
              <a:rPr lang="en-IN" noProof="0" dirty="0"/>
              <a:t>if "messages" not in </a:t>
            </a:r>
            <a:r>
              <a:rPr lang="en-IN" noProof="0" dirty="0" err="1"/>
              <a:t>st.session_state</a:t>
            </a:r>
            <a:r>
              <a:rPr lang="en-IN" noProof="0" dirty="0"/>
              <a:t>: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st.session_state.messages</a:t>
            </a:r>
            <a:r>
              <a:rPr lang="en-IN" noProof="0" dirty="0"/>
              <a:t> = []</a:t>
            </a:r>
          </a:p>
          <a:p>
            <a:endParaRPr lang="en-IN" noProof="0" dirty="0"/>
          </a:p>
          <a:p>
            <a:r>
              <a:rPr lang="en-IN" noProof="0" dirty="0"/>
              <a:t># Display previous messages</a:t>
            </a:r>
          </a:p>
          <a:p>
            <a:r>
              <a:rPr lang="en-IN" noProof="0" dirty="0"/>
              <a:t>for message in </a:t>
            </a:r>
            <a:r>
              <a:rPr lang="en-IN" noProof="0" dirty="0" err="1"/>
              <a:t>st.session_state.messages</a:t>
            </a:r>
            <a:r>
              <a:rPr lang="en-IN" noProof="0" dirty="0"/>
              <a:t>:</a:t>
            </a:r>
          </a:p>
          <a:p>
            <a:r>
              <a:rPr lang="en-IN" noProof="0" dirty="0"/>
              <a:t>    with </a:t>
            </a:r>
            <a:r>
              <a:rPr lang="en-IN" noProof="0" dirty="0" err="1"/>
              <a:t>st.chat_message</a:t>
            </a:r>
            <a:r>
              <a:rPr lang="en-IN" noProof="0" dirty="0"/>
              <a:t>(message["role"]):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st.markdown</a:t>
            </a:r>
            <a:r>
              <a:rPr lang="en-IN" noProof="0" dirty="0"/>
              <a:t>(message["content"])</a:t>
            </a:r>
          </a:p>
          <a:p>
            <a:endParaRPr lang="en-IN" noProof="0" dirty="0"/>
          </a:p>
          <a:p>
            <a:r>
              <a:rPr lang="en-IN" noProof="0" dirty="0"/>
              <a:t># Accept user input</a:t>
            </a:r>
          </a:p>
          <a:p>
            <a:r>
              <a:rPr lang="en-IN" noProof="0" dirty="0"/>
              <a:t>prompt = </a:t>
            </a:r>
            <a:r>
              <a:rPr lang="en-IN" noProof="0" dirty="0" err="1"/>
              <a:t>st.chat_input</a:t>
            </a:r>
            <a:r>
              <a:rPr lang="en-IN" noProof="0" dirty="0"/>
              <a:t>("Ask me anything...")</a:t>
            </a:r>
          </a:p>
          <a:p>
            <a:endParaRPr lang="en-IN" noProof="0" dirty="0"/>
          </a:p>
          <a:p>
            <a:r>
              <a:rPr lang="en-IN" noProof="0" dirty="0"/>
              <a:t>if prompt:</a:t>
            </a:r>
          </a:p>
          <a:p>
            <a:endParaRPr lang="en-IN" noProof="0" dirty="0"/>
          </a:p>
          <a:p>
            <a:r>
              <a:rPr lang="en-IN" noProof="0" dirty="0"/>
              <a:t>    # Save user message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st.session_state.messages.append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{</a:t>
            </a:r>
          </a:p>
          <a:p>
            <a:r>
              <a:rPr lang="en-IN" noProof="0" dirty="0"/>
              <a:t>            "role": "user",</a:t>
            </a:r>
          </a:p>
          <a:p>
            <a:r>
              <a:rPr lang="en-IN" noProof="0" dirty="0"/>
              <a:t>            "content": prompt</a:t>
            </a:r>
          </a:p>
          <a:p>
            <a:r>
              <a:rPr lang="en-IN" noProof="0" dirty="0"/>
              <a:t>        }</a:t>
            </a:r>
          </a:p>
          <a:p>
            <a:r>
              <a:rPr lang="en-IN" noProof="0" dirty="0"/>
              <a:t>    )</a:t>
            </a:r>
          </a:p>
          <a:p>
            <a:endParaRPr lang="en-IN" noProof="0" dirty="0"/>
          </a:p>
          <a:p>
            <a:r>
              <a:rPr lang="en-IN" noProof="0" dirty="0"/>
              <a:t>    # Display user message</a:t>
            </a:r>
          </a:p>
          <a:p>
            <a:r>
              <a:rPr lang="en-IN" noProof="0" dirty="0"/>
              <a:t>    with </a:t>
            </a:r>
            <a:r>
              <a:rPr lang="en-IN" noProof="0" dirty="0" err="1"/>
              <a:t>st.chat_message</a:t>
            </a:r>
            <a:r>
              <a:rPr lang="en-IN" noProof="0" dirty="0"/>
              <a:t>("user"):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st.markdown</a:t>
            </a:r>
            <a:r>
              <a:rPr lang="en-IN" noProof="0" dirty="0"/>
              <a:t>(prompt)</a:t>
            </a:r>
          </a:p>
          <a:p>
            <a:endParaRPr lang="en-IN" noProof="0" dirty="0"/>
          </a:p>
          <a:p>
            <a:r>
              <a:rPr lang="en-IN" noProof="0" dirty="0"/>
              <a:t>    # Assistant response</a:t>
            </a:r>
          </a:p>
          <a:p>
            <a:r>
              <a:rPr lang="en-IN" noProof="0" dirty="0"/>
              <a:t>    with </a:t>
            </a:r>
            <a:r>
              <a:rPr lang="en-IN" noProof="0" dirty="0" err="1"/>
              <a:t>st.chat_message</a:t>
            </a:r>
            <a:r>
              <a:rPr lang="en-IN" noProof="0" dirty="0"/>
              <a:t>("assistant"):</a:t>
            </a:r>
          </a:p>
          <a:p>
            <a:endParaRPr lang="en-IN" noProof="0" dirty="0"/>
          </a:p>
          <a:p>
            <a:r>
              <a:rPr lang="en-IN" noProof="0" dirty="0"/>
              <a:t>        response = </a:t>
            </a:r>
            <a:r>
              <a:rPr lang="en-IN" noProof="0" dirty="0" err="1"/>
              <a:t>st.write_stream</a:t>
            </a:r>
            <a:r>
              <a:rPr lang="en-IN" noProof="0" dirty="0"/>
              <a:t>(</a:t>
            </a:r>
          </a:p>
          <a:p>
            <a:endParaRPr lang="en-IN" noProof="0" dirty="0"/>
          </a:p>
          <a:p>
            <a:r>
              <a:rPr lang="en-IN" noProof="0" dirty="0"/>
              <a:t>            </a:t>
            </a:r>
            <a:r>
              <a:rPr lang="en-IN" noProof="0" dirty="0" err="1"/>
              <a:t>client.responses.stream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        model="gpt-5",</a:t>
            </a:r>
          </a:p>
          <a:p>
            <a:r>
              <a:rPr lang="en-IN" noProof="0" dirty="0"/>
              <a:t>                input=prompt</a:t>
            </a:r>
          </a:p>
          <a:p>
            <a:r>
              <a:rPr lang="en-IN" noProof="0" dirty="0"/>
              <a:t>            )</a:t>
            </a:r>
          </a:p>
          <a:p>
            <a:r>
              <a:rPr lang="en-IN" noProof="0" dirty="0"/>
              <a:t>        )</a:t>
            </a:r>
          </a:p>
          <a:p>
            <a:endParaRPr lang="en-IN" noProof="0" dirty="0"/>
          </a:p>
          <a:p>
            <a:r>
              <a:rPr lang="en-IN" noProof="0" dirty="0"/>
              <a:t>    # Save assistant response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st.session_state.messages.append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{</a:t>
            </a:r>
          </a:p>
          <a:p>
            <a:r>
              <a:rPr lang="en-IN" noProof="0" dirty="0"/>
              <a:t>            "role": "assistant",</a:t>
            </a:r>
          </a:p>
          <a:p>
            <a:r>
              <a:rPr lang="en-IN" noProof="0" dirty="0"/>
              <a:t>            "content": response</a:t>
            </a:r>
          </a:p>
          <a:p>
            <a:r>
              <a:rPr lang="en-IN" noProof="0" dirty="0"/>
              <a:t>        }</a:t>
            </a:r>
          </a:p>
          <a:p>
            <a:r>
              <a:rPr lang="en-IN" noProof="0" dirty="0"/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3336961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60A29-0A6A-D974-F12D-B256CFA6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A5E5-B234-5D2D-85A2-4829F89FC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167A6-4108-BD24-17D6-875D1D355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Run: </a:t>
            </a:r>
            <a:r>
              <a:rPr lang="en-IN" noProof="0" dirty="0" err="1"/>
              <a:t>streamlit</a:t>
            </a:r>
            <a:r>
              <a:rPr lang="en-IN" noProof="0" dirty="0"/>
              <a:t> run app.py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1B2708-E52D-21C8-F6F4-CD673E85B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056957"/>
              </p:ext>
            </p:extLst>
          </p:nvPr>
        </p:nvGraphicFramePr>
        <p:xfrm>
          <a:off x="949883" y="2806292"/>
          <a:ext cx="10515600" cy="21945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472414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92523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895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st.chat_input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Accept user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417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st.chat_message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Display chat bubbles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50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st.write_stream</a:t>
                      </a:r>
                      <a:r>
                        <a:rPr lang="en-IN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Stream tokens as they arrive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715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st.session_state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Preserve conversation 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707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OpenAI Streaming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Generate responses incrementally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533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6052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C509-C08C-05DD-AA54-DA730686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Gradio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8FAE6-5A84-6A56-D934-EBAE85BF4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 err="1"/>
              <a:t>Gradio</a:t>
            </a:r>
            <a:r>
              <a:rPr lang="en-IN" noProof="0" dirty="0"/>
              <a:t>: Python framework for building web interfaces for AI and machine learning applications with just a few lines of code</a:t>
            </a:r>
          </a:p>
          <a:p>
            <a:r>
              <a:rPr lang="en-IN" noProof="0" dirty="0"/>
              <a:t>Common use cases: AI chatbots, Image classification, Document summarization, Speech recognition, Computer vision demos, LLM applications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299587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9D202-7FAD-01EC-2C8D-EF04D96F7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Gradio</a:t>
            </a:r>
            <a:r>
              <a:rPr lang="en-IN" noProof="0" dirty="0"/>
              <a:t>: Input and Output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C7161E-018F-F70B-ADF0-C4940FA2FD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182973"/>
              </p:ext>
            </p:extLst>
          </p:nvPr>
        </p:nvGraphicFramePr>
        <p:xfrm>
          <a:off x="733497" y="1908644"/>
          <a:ext cx="5257800" cy="32918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672364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52364922"/>
                    </a:ext>
                  </a:extLst>
                </a:gridCol>
              </a:tblGrid>
              <a:tr h="30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937408"/>
                  </a:ext>
                </a:extLst>
              </a:tr>
              <a:tr h="30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gr.Textbox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Text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535977"/>
                  </a:ext>
                </a:extLst>
              </a:tr>
              <a:tr h="30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gr.File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Upload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330652"/>
                  </a:ext>
                </a:extLst>
              </a:tr>
              <a:tr h="30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gr.Image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Upload or capture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078248"/>
                  </a:ext>
                </a:extLst>
              </a:tr>
              <a:tr h="30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gr.Audio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Record/upload audio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460968"/>
                  </a:ext>
                </a:extLst>
              </a:tr>
              <a:tr h="30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gr.Video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Upload videos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454315"/>
                  </a:ext>
                </a:extLst>
              </a:tr>
              <a:tr h="30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gr.Checkbox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Boolean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614615"/>
                  </a:ext>
                </a:extLst>
              </a:tr>
              <a:tr h="30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gr.Dropdown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Select options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577424"/>
                  </a:ext>
                </a:extLst>
              </a:tr>
              <a:tr h="30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gr.Slider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Numeric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4409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2D5CB0-922C-3AF3-A7C4-8849D96B3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525183"/>
              </p:ext>
            </p:extLst>
          </p:nvPr>
        </p:nvGraphicFramePr>
        <p:xfrm>
          <a:off x="6095999" y="1908644"/>
          <a:ext cx="5774334" cy="256032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887167">
                  <a:extLst>
                    <a:ext uri="{9D8B030D-6E8A-4147-A177-3AD203B41FA5}">
                      <a16:colId xmlns:a16="http://schemas.microsoft.com/office/drawing/2014/main" val="1759892106"/>
                    </a:ext>
                  </a:extLst>
                </a:gridCol>
                <a:gridCol w="2887167">
                  <a:extLst>
                    <a:ext uri="{9D8B030D-6E8A-4147-A177-3AD203B41FA5}">
                      <a16:colId xmlns:a16="http://schemas.microsoft.com/office/drawing/2014/main" val="38927647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371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gr.Markdown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Display formatted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55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gr.Textbox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Show text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583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gr.Image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Display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82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gr.Audio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Play generated audio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445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gr.JSON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Display structured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18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gr.Dataframe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Display tabular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665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3255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A39D-536A-CA63-97B3-FA443A2C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Text Input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B95D-AC49-AF4C-CF8E-FD201C351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import </a:t>
            </a:r>
            <a:r>
              <a:rPr lang="en-IN" noProof="0" dirty="0" err="1"/>
              <a:t>gradio</a:t>
            </a:r>
            <a:r>
              <a:rPr lang="en-IN" noProof="0" dirty="0"/>
              <a:t> as gr</a:t>
            </a:r>
          </a:p>
          <a:p>
            <a:endParaRPr lang="en-IN" noProof="0" dirty="0"/>
          </a:p>
          <a:p>
            <a:r>
              <a:rPr lang="en-IN" noProof="0" dirty="0"/>
              <a:t>def greet(name):</a:t>
            </a:r>
          </a:p>
          <a:p>
            <a:r>
              <a:rPr lang="en-IN" noProof="0" dirty="0"/>
              <a:t>    return </a:t>
            </a:r>
            <a:r>
              <a:rPr lang="en-IN" noProof="0" dirty="0" err="1"/>
              <a:t>f"Hello</a:t>
            </a:r>
            <a:r>
              <a:rPr lang="en-IN" noProof="0" dirty="0"/>
              <a:t> {name}!"</a:t>
            </a:r>
          </a:p>
          <a:p>
            <a:endParaRPr lang="en-IN" noProof="0" dirty="0"/>
          </a:p>
          <a:p>
            <a:r>
              <a:rPr lang="en-IN" noProof="0" dirty="0"/>
              <a:t>demo = </a:t>
            </a:r>
            <a:r>
              <a:rPr lang="en-IN" noProof="0" dirty="0" err="1"/>
              <a:t>gr.Interface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fn</a:t>
            </a:r>
            <a:r>
              <a:rPr lang="en-IN" noProof="0" dirty="0"/>
              <a:t>=greet,</a:t>
            </a:r>
          </a:p>
          <a:p>
            <a:r>
              <a:rPr lang="en-IN" noProof="0" dirty="0"/>
              <a:t>    inputs=</a:t>
            </a:r>
            <a:r>
              <a:rPr lang="en-IN" noProof="0" dirty="0" err="1"/>
              <a:t>gr.Textbox</a:t>
            </a:r>
            <a:r>
              <a:rPr lang="en-IN" noProof="0" dirty="0"/>
              <a:t>(label="Name"),</a:t>
            </a:r>
          </a:p>
          <a:p>
            <a:r>
              <a:rPr lang="en-IN" noProof="0" dirty="0"/>
              <a:t>    outputs=</a:t>
            </a:r>
            <a:r>
              <a:rPr lang="en-IN" noProof="0" dirty="0" err="1"/>
              <a:t>gr.Markdown</a:t>
            </a:r>
            <a:r>
              <a:rPr lang="en-IN" noProof="0" dirty="0"/>
              <a:t>(),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allow_flagging</a:t>
            </a:r>
            <a:r>
              <a:rPr lang="en-IN" noProof="0" dirty="0"/>
              <a:t>="never“  # otherwise </a:t>
            </a:r>
            <a:r>
              <a:rPr lang="en-IN" noProof="0" dirty="0" err="1"/>
              <a:t>gradio</a:t>
            </a:r>
            <a:r>
              <a:rPr lang="en-IN" noProof="0" dirty="0"/>
              <a:t> adds a button called ‘flag’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 err="1"/>
              <a:t>demo.launch</a:t>
            </a:r>
            <a:r>
              <a:rPr lang="en-IN" noProof="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097152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C9169-1506-DAD8-B6FC-DC6F5CC1E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E945D-CE8D-0693-3F21-05CE6713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File Input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277B-9808-CAE8-B6B9-6897B8646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import </a:t>
            </a:r>
            <a:r>
              <a:rPr lang="en-IN" noProof="0" dirty="0" err="1"/>
              <a:t>gradio</a:t>
            </a:r>
            <a:r>
              <a:rPr lang="en-IN" noProof="0" dirty="0"/>
              <a:t> as gr</a:t>
            </a:r>
          </a:p>
          <a:p>
            <a:endParaRPr lang="en-IN" noProof="0" dirty="0"/>
          </a:p>
          <a:p>
            <a:r>
              <a:rPr lang="en-IN" noProof="0" dirty="0"/>
              <a:t>def </a:t>
            </a:r>
            <a:r>
              <a:rPr lang="en-IN" noProof="0" dirty="0" err="1"/>
              <a:t>file_info</a:t>
            </a:r>
            <a:r>
              <a:rPr lang="en-IN" noProof="0" dirty="0"/>
              <a:t>(file):</a:t>
            </a:r>
          </a:p>
          <a:p>
            <a:r>
              <a:rPr lang="en-IN" noProof="0" dirty="0"/>
              <a:t>    return </a:t>
            </a:r>
            <a:r>
              <a:rPr lang="en-IN" noProof="0" dirty="0" err="1"/>
              <a:t>f"Uploaded</a:t>
            </a:r>
            <a:r>
              <a:rPr lang="en-IN" noProof="0" dirty="0"/>
              <a:t> file: {file.name}"</a:t>
            </a:r>
          </a:p>
          <a:p>
            <a:endParaRPr lang="en-IN" noProof="0" dirty="0"/>
          </a:p>
          <a:p>
            <a:r>
              <a:rPr lang="en-IN" noProof="0" dirty="0"/>
              <a:t>demo = </a:t>
            </a:r>
            <a:r>
              <a:rPr lang="en-IN" noProof="0" dirty="0" err="1"/>
              <a:t>gr.Interface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fn</a:t>
            </a:r>
            <a:r>
              <a:rPr lang="en-IN" noProof="0" dirty="0"/>
              <a:t>=</a:t>
            </a:r>
            <a:r>
              <a:rPr lang="en-IN" noProof="0" dirty="0" err="1"/>
              <a:t>file_info</a:t>
            </a:r>
            <a:r>
              <a:rPr lang="en-IN" noProof="0" dirty="0"/>
              <a:t>,</a:t>
            </a:r>
          </a:p>
          <a:p>
            <a:r>
              <a:rPr lang="en-IN" noProof="0" dirty="0"/>
              <a:t>    inputs=</a:t>
            </a:r>
            <a:r>
              <a:rPr lang="en-IN" noProof="0" dirty="0" err="1"/>
              <a:t>gr.File</a:t>
            </a:r>
            <a:r>
              <a:rPr lang="en-IN" noProof="0" dirty="0"/>
              <a:t>(label="Upload a File"),</a:t>
            </a:r>
          </a:p>
          <a:p>
            <a:r>
              <a:rPr lang="en-IN" noProof="0" dirty="0"/>
              <a:t>    outputs=</a:t>
            </a:r>
            <a:r>
              <a:rPr lang="en-IN" noProof="0" dirty="0" err="1"/>
              <a:t>gr.Markdown</a:t>
            </a:r>
            <a:r>
              <a:rPr lang="en-IN" noProof="0" dirty="0"/>
              <a:t>(),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allow_flagging</a:t>
            </a:r>
            <a:r>
              <a:rPr lang="en-IN" noProof="0" dirty="0"/>
              <a:t>=never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 err="1"/>
              <a:t>demo.launch</a:t>
            </a:r>
            <a:r>
              <a:rPr lang="en-IN" noProof="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341748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8D2AF-6CB5-C6AE-E01F-FCF226F71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606F-7621-F68D-1FFB-EFAA897F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Image Input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72A37-01A9-6F8E-FAD4-908DC8606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import </a:t>
            </a:r>
            <a:r>
              <a:rPr lang="en-IN" noProof="0" dirty="0" err="1"/>
              <a:t>gradio</a:t>
            </a:r>
            <a:r>
              <a:rPr lang="en-IN" noProof="0" dirty="0"/>
              <a:t> as gr</a:t>
            </a:r>
          </a:p>
          <a:p>
            <a:endParaRPr lang="en-IN" noProof="0" dirty="0"/>
          </a:p>
          <a:p>
            <a:r>
              <a:rPr lang="en-IN" noProof="0" dirty="0"/>
              <a:t>def </a:t>
            </a:r>
            <a:r>
              <a:rPr lang="en-IN" noProof="0" dirty="0" err="1"/>
              <a:t>image_details</a:t>
            </a:r>
            <a:r>
              <a:rPr lang="en-IN" noProof="0" dirty="0"/>
              <a:t>(image):</a:t>
            </a:r>
          </a:p>
          <a:p>
            <a:r>
              <a:rPr lang="en-IN" noProof="0" dirty="0"/>
              <a:t>    return </a:t>
            </a:r>
            <a:r>
              <a:rPr lang="en-IN" noProof="0" dirty="0" err="1"/>
              <a:t>f"Image</a:t>
            </a:r>
            <a:r>
              <a:rPr lang="en-IN" noProof="0" dirty="0"/>
              <a:t> size: {</a:t>
            </a:r>
            <a:r>
              <a:rPr lang="en-IN" noProof="0" dirty="0" err="1"/>
              <a:t>image.size</a:t>
            </a:r>
            <a:r>
              <a:rPr lang="en-IN" noProof="0" dirty="0"/>
              <a:t>}"</a:t>
            </a:r>
          </a:p>
          <a:p>
            <a:endParaRPr lang="en-IN" noProof="0" dirty="0"/>
          </a:p>
          <a:p>
            <a:r>
              <a:rPr lang="en-IN" noProof="0" dirty="0"/>
              <a:t>demo = </a:t>
            </a:r>
            <a:r>
              <a:rPr lang="en-IN" noProof="0" dirty="0" err="1"/>
              <a:t>gr.Interface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fn</a:t>
            </a:r>
            <a:r>
              <a:rPr lang="en-IN" noProof="0" dirty="0"/>
              <a:t>=</a:t>
            </a:r>
            <a:r>
              <a:rPr lang="en-IN" noProof="0" dirty="0" err="1"/>
              <a:t>image_details</a:t>
            </a:r>
            <a:r>
              <a:rPr lang="en-IN" noProof="0" dirty="0"/>
              <a:t>,</a:t>
            </a:r>
          </a:p>
          <a:p>
            <a:r>
              <a:rPr lang="en-IN" noProof="0" dirty="0"/>
              <a:t>    inputs=</a:t>
            </a:r>
            <a:r>
              <a:rPr lang="en-IN" noProof="0" dirty="0" err="1"/>
              <a:t>gr.Image</a:t>
            </a:r>
            <a:r>
              <a:rPr lang="en-IN" noProof="0" dirty="0"/>
              <a:t>(type="</a:t>
            </a:r>
            <a:r>
              <a:rPr lang="en-IN" noProof="0" dirty="0" err="1"/>
              <a:t>pil</a:t>
            </a:r>
            <a:r>
              <a:rPr lang="en-IN" noProof="0" dirty="0"/>
              <a:t>"),</a:t>
            </a:r>
          </a:p>
          <a:p>
            <a:r>
              <a:rPr lang="en-IN" noProof="0" dirty="0"/>
              <a:t>    outputs=</a:t>
            </a:r>
            <a:r>
              <a:rPr lang="en-IN" noProof="0" dirty="0" err="1"/>
              <a:t>gr.Markdown</a:t>
            </a:r>
            <a:r>
              <a:rPr lang="en-IN" noProof="0" dirty="0"/>
              <a:t>(),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allow_flagging</a:t>
            </a:r>
            <a:r>
              <a:rPr lang="en-IN" noProof="0" dirty="0"/>
              <a:t>=never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 err="1"/>
              <a:t>demo.launch</a:t>
            </a:r>
            <a:r>
              <a:rPr lang="en-IN" noProof="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30419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6C15-343B-6AEA-62E4-1937A6A5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Creating shareable </a:t>
            </a:r>
            <a:r>
              <a:rPr lang="en-IN" noProof="0" dirty="0" err="1"/>
              <a:t>Gradio</a:t>
            </a:r>
            <a:r>
              <a:rPr lang="en-IN" noProof="0" dirty="0"/>
              <a:t> demos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FB0D-DFDA-8DA0-70FA-D603E9B16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Why deploy a </a:t>
            </a:r>
            <a:r>
              <a:rPr lang="en-IN" noProof="0" dirty="0" err="1"/>
              <a:t>gradio</a:t>
            </a:r>
            <a:r>
              <a:rPr lang="en-IN" noProof="0" dirty="0"/>
              <a:t> app?</a:t>
            </a:r>
          </a:p>
          <a:p>
            <a:pPr lvl="1"/>
            <a:r>
              <a:rPr lang="en-IN" noProof="0" dirty="0"/>
              <a:t>Makes it accessible through a web browser without requiring users to install Python or dependencies</a:t>
            </a:r>
          </a:p>
          <a:p>
            <a:r>
              <a:rPr lang="en-IN" noProof="0" dirty="0"/>
              <a:t>Benefits:</a:t>
            </a:r>
          </a:p>
          <a:p>
            <a:pPr lvl="1"/>
            <a:r>
              <a:rPr lang="en-IN" noProof="0" dirty="0"/>
              <a:t>Share demos with anyone using a URL </a:t>
            </a:r>
          </a:p>
          <a:p>
            <a:pPr lvl="1"/>
            <a:r>
              <a:rPr lang="en-IN" noProof="0" dirty="0"/>
              <a:t>Showcase AI projects </a:t>
            </a:r>
          </a:p>
          <a:p>
            <a:pPr lvl="1"/>
            <a:r>
              <a:rPr lang="en-IN" noProof="0" dirty="0"/>
              <a:t>Collect user feedback </a:t>
            </a:r>
          </a:p>
          <a:p>
            <a:pPr lvl="1"/>
            <a:r>
              <a:rPr lang="en-IN" noProof="0" dirty="0"/>
              <a:t>Deploy without managing servers </a:t>
            </a:r>
          </a:p>
          <a:p>
            <a:pPr lvl="1"/>
            <a:r>
              <a:rPr lang="en-IN" noProof="0" dirty="0"/>
              <a:t>Free hosting for public applications</a:t>
            </a:r>
          </a:p>
          <a:p>
            <a:r>
              <a:rPr lang="en-IN" noProof="0" dirty="0" err="1"/>
              <a:t>Gradio</a:t>
            </a:r>
            <a:r>
              <a:rPr lang="en-IN" noProof="0" dirty="0"/>
              <a:t> can share a temporary public URL if we are on the cloud: </a:t>
            </a:r>
            <a:r>
              <a:rPr lang="en-IN" noProof="0" dirty="0" err="1"/>
              <a:t>demo.launch</a:t>
            </a:r>
            <a:r>
              <a:rPr lang="en-IN" noProof="0" dirty="0"/>
              <a:t>(</a:t>
            </a:r>
            <a:r>
              <a:rPr lang="en-IN" noProof="0" dirty="0">
                <a:solidFill>
                  <a:srgbClr val="FF0000"/>
                </a:solidFill>
              </a:rPr>
              <a:t>share=True</a:t>
            </a: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36311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3570-5F95-EEB1-6183-4379CACA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Gradio</a:t>
            </a:r>
            <a:r>
              <a:rPr lang="en-IN" noProof="0" dirty="0"/>
              <a:t> Deployment on </a:t>
            </a:r>
            <a:r>
              <a:rPr lang="en-IN" noProof="0" dirty="0" err="1"/>
              <a:t>HuggingFace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0876-4745-0A05-FA4C-842E7D65A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Create an account on hugging face website</a:t>
            </a:r>
          </a:p>
          <a:p>
            <a:r>
              <a:rPr lang="en-IN" noProof="0" dirty="0"/>
              <a:t>Spaces -&gt; New space -&gt; Space name: </a:t>
            </a:r>
            <a:r>
              <a:rPr lang="en-IN" noProof="0" dirty="0" err="1"/>
              <a:t>agenticai</a:t>
            </a:r>
            <a:r>
              <a:rPr lang="en-IN" noProof="0" dirty="0"/>
              <a:t> -&gt; Spaces SDK: </a:t>
            </a:r>
            <a:r>
              <a:rPr lang="en-IN" noProof="0" dirty="0" err="1"/>
              <a:t>Gradio</a:t>
            </a:r>
            <a:r>
              <a:rPr lang="en-IN" noProof="0" dirty="0"/>
              <a:t> -&gt; Rest leave the default options as they are -&gt; Create</a:t>
            </a:r>
          </a:p>
          <a:p>
            <a:r>
              <a:rPr lang="en-IN" noProof="0" dirty="0"/>
              <a:t>Local machine -&gt; Clone repo: git clone </a:t>
            </a:r>
            <a:r>
              <a:rPr lang="en-IN" noProof="0" dirty="0">
                <a:hlinkClick r:id="rId2"/>
              </a:rPr>
              <a:t>https://huggingface.co/spaces/&lt;username&gt;/&lt;space-name</a:t>
            </a:r>
            <a:r>
              <a:rPr lang="en-IN" noProof="0" dirty="0"/>
              <a:t>&gt;</a:t>
            </a:r>
          </a:p>
          <a:p>
            <a:r>
              <a:rPr lang="en-IN" noProof="0" dirty="0"/>
              <a:t>Copy app.py file in the created directory</a:t>
            </a:r>
          </a:p>
          <a:p>
            <a:r>
              <a:rPr lang="en-IN" noProof="0" dirty="0"/>
              <a:t>git add .</a:t>
            </a:r>
          </a:p>
          <a:p>
            <a:r>
              <a:rPr lang="en-IN" noProof="0" dirty="0"/>
              <a:t>git commit -m "Initial </a:t>
            </a:r>
            <a:r>
              <a:rPr lang="en-IN" noProof="0" dirty="0" err="1"/>
              <a:t>Gradio</a:t>
            </a:r>
            <a:r>
              <a:rPr lang="en-IN" noProof="0" dirty="0"/>
              <a:t> app"</a:t>
            </a:r>
          </a:p>
          <a:p>
            <a:r>
              <a:rPr lang="en-IN" noProof="0" dirty="0"/>
              <a:t>git push</a:t>
            </a:r>
          </a:p>
          <a:p>
            <a:r>
              <a:rPr lang="en-IN" noProof="0" dirty="0"/>
              <a:t>Within a minute, try: https://huggingface.co/spaces/&lt;username&gt;/&lt;space-name&gt;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0694621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025E-5DD7-079A-D430-BF54ABF8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Wiring a </a:t>
            </a:r>
            <a:r>
              <a:rPr lang="en-IN" noProof="0" dirty="0" err="1"/>
              <a:t>Streamlit</a:t>
            </a:r>
            <a:r>
              <a:rPr lang="en-IN" noProof="0" dirty="0"/>
              <a:t> front-end to a </a:t>
            </a:r>
            <a:r>
              <a:rPr lang="en-IN" noProof="0" dirty="0" err="1"/>
              <a:t>FastAPI</a:t>
            </a:r>
            <a:r>
              <a:rPr lang="en-IN" noProof="0" dirty="0"/>
              <a:t>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F35EA-283A-F045-F159-80217DA47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Common architecture: User -&gt; </a:t>
            </a:r>
            <a:r>
              <a:rPr lang="en-IN" noProof="0" dirty="0" err="1"/>
              <a:t>Streamlit</a:t>
            </a:r>
            <a:r>
              <a:rPr lang="en-IN" noProof="0" dirty="0"/>
              <a:t>/</a:t>
            </a:r>
            <a:r>
              <a:rPr lang="en-IN" noProof="0" dirty="0" err="1"/>
              <a:t>Gradio</a:t>
            </a:r>
            <a:r>
              <a:rPr lang="en-IN" noProof="0" dirty="0"/>
              <a:t> front-end -&gt; HTTP request -&gt; </a:t>
            </a:r>
            <a:r>
              <a:rPr lang="en-IN" noProof="0" dirty="0" err="1"/>
              <a:t>FastAPI</a:t>
            </a:r>
            <a:r>
              <a:rPr lang="en-IN" noProof="0" dirty="0"/>
              <a:t> back-end -&gt; LLM + Business Logic + Database + Files</a:t>
            </a:r>
          </a:p>
          <a:p>
            <a:r>
              <a:rPr lang="en-IN" noProof="0" dirty="0"/>
              <a:t>Example: C:\code\agenticai\14_advanced\02_streamlit_fastapi</a:t>
            </a:r>
          </a:p>
          <a:p>
            <a:r>
              <a:rPr lang="en-IN" noProof="0" dirty="0"/>
              <a:t>First run backend: </a:t>
            </a:r>
            <a:r>
              <a:rPr lang="en-IN" noProof="0" dirty="0" err="1"/>
              <a:t>uvicorn</a:t>
            </a:r>
            <a:r>
              <a:rPr lang="en-IN" noProof="0" dirty="0"/>
              <a:t> </a:t>
            </a:r>
            <a:r>
              <a:rPr lang="en-IN" noProof="0" dirty="0" err="1"/>
              <a:t>backend:app</a:t>
            </a:r>
            <a:r>
              <a:rPr lang="en-IN" noProof="0" dirty="0"/>
              <a:t> –reload</a:t>
            </a:r>
          </a:p>
          <a:p>
            <a:pPr lvl="1"/>
            <a:r>
              <a:rPr lang="en-IN" noProof="0" dirty="0"/>
              <a:t>If we want to check: </a:t>
            </a:r>
            <a:r>
              <a:rPr lang="en-IN" noProof="0" dirty="0">
                <a:hlinkClick r:id="rId2"/>
              </a:rPr>
              <a:t>http://127.0.0.1:8000</a:t>
            </a:r>
            <a:endParaRPr lang="en-IN" noProof="0" dirty="0"/>
          </a:p>
          <a:p>
            <a:r>
              <a:rPr lang="en-IN" noProof="0" dirty="0"/>
              <a:t>Now run frontend: </a:t>
            </a:r>
            <a:r>
              <a:rPr lang="en-IN" noProof="0" dirty="0" err="1"/>
              <a:t>streamlit</a:t>
            </a:r>
            <a:r>
              <a:rPr lang="en-IN" noProof="0" dirty="0"/>
              <a:t> run frontend.py</a:t>
            </a:r>
          </a:p>
          <a:p>
            <a:r>
              <a:rPr lang="en-IN" noProof="0" dirty="0"/>
              <a:t>Ask a question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1397345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6E741-2006-7741-6787-BD7B776A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D4D20-B727-2ADF-C9B4-14BA11C6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Now </a:t>
            </a:r>
            <a:r>
              <a:rPr lang="en-IN" noProof="0" dirty="0" err="1"/>
              <a:t>Gradio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42D63-361C-54A4-BD79-34AA39827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Example: C:\code\agenticai\14_advanced\02_gradio_fastapi</a:t>
            </a:r>
          </a:p>
          <a:p>
            <a:r>
              <a:rPr lang="en-IN" noProof="0" dirty="0"/>
              <a:t>First run backend: </a:t>
            </a:r>
            <a:r>
              <a:rPr lang="en-IN" noProof="0" dirty="0" err="1"/>
              <a:t>uvicorn</a:t>
            </a:r>
            <a:r>
              <a:rPr lang="en-IN" noProof="0" dirty="0"/>
              <a:t> </a:t>
            </a:r>
            <a:r>
              <a:rPr lang="en-IN" noProof="0" dirty="0" err="1"/>
              <a:t>backend:app</a:t>
            </a:r>
            <a:r>
              <a:rPr lang="en-IN" noProof="0" dirty="0"/>
              <a:t> –reload</a:t>
            </a:r>
          </a:p>
          <a:p>
            <a:pPr lvl="1"/>
            <a:r>
              <a:rPr lang="en-IN" noProof="0" dirty="0"/>
              <a:t>If we want to check: </a:t>
            </a:r>
            <a:r>
              <a:rPr lang="en-IN" noProof="0" dirty="0">
                <a:hlinkClick r:id="rId2"/>
              </a:rPr>
              <a:t>http://127.0.0.1:8000</a:t>
            </a:r>
            <a:endParaRPr lang="en-IN" noProof="0" dirty="0"/>
          </a:p>
          <a:p>
            <a:r>
              <a:rPr lang="en-IN" noProof="0" dirty="0"/>
              <a:t>Now run frontend: </a:t>
            </a:r>
            <a:r>
              <a:rPr lang="en-IN" noProof="0" dirty="0" err="1"/>
              <a:t>streamlit</a:t>
            </a:r>
            <a:r>
              <a:rPr lang="en-IN" noProof="0" dirty="0"/>
              <a:t> run frontend.py</a:t>
            </a:r>
          </a:p>
          <a:p>
            <a:r>
              <a:rPr lang="en-IN" noProof="0" dirty="0"/>
              <a:t>Ask a question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8865350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4401-F830-8E71-74A6-12B365D1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Streamlit-Gradio</a:t>
            </a:r>
            <a:r>
              <a:rPr lang="en-IN" noProof="0" dirty="0"/>
              <a:t>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EABA32-D569-98CF-002B-CCC4E7D43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9470081"/>
              </p:ext>
            </p:extLst>
          </p:nvPr>
        </p:nvGraphicFramePr>
        <p:xfrm>
          <a:off x="1091961" y="1825625"/>
          <a:ext cx="10008078" cy="4351337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336026">
                  <a:extLst>
                    <a:ext uri="{9D8B030D-6E8A-4147-A177-3AD203B41FA5}">
                      <a16:colId xmlns:a16="http://schemas.microsoft.com/office/drawing/2014/main" val="3437431264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1728842170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3447912060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Feature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 err="1"/>
                        <a:t>Streamlit</a:t>
                      </a:r>
                      <a:endParaRPr lang="en-IN" sz="1700" noProof="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 err="1"/>
                        <a:t>Gradio</a:t>
                      </a:r>
                      <a:endParaRPr lang="en-IN" sz="1700" noProof="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3828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Primary Purpose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Build data apps and dashboards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Build AI/ML demos and chat interfaces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078428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Learning Curve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Easy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Very Easy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300050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Layout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Highly customizable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Simple and predefined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265366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Best For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Dashboards, analytics, business apps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LLMs, image generation, speech, ML models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34821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Chat Interface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Available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Excellent (built-in support)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94878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Data Visualization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Excellent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Basic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367071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Widgets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Large collection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Focused on AI applications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851124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File Upload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Yes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Yes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52243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Deployment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 err="1"/>
                        <a:t>Streamlit</a:t>
                      </a:r>
                      <a:r>
                        <a:rPr lang="en-IN" sz="1700" noProof="0" dirty="0"/>
                        <a:t> Cloud, Docker, etc.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Hugging Face Spaces, Docker, etc.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43209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Target Users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Data scientists, analysts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AI/ML engineers and researchers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329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855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A47B-27A6-727E-F278-3B703C6D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A18F669-2A83-E0B9-BCAB-280E035E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03: LLM Fundamentals, Context, and Prompt Engineering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F533D5-E0F8-6FDF-B1E2-0C7A4CEC3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011657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FB4E-A02C-1E03-B11F-ECEF0A0F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How LLM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B5F88-3928-B817-5661-D9B21F507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88" y="1762804"/>
            <a:ext cx="3042765" cy="43513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noProof="0" dirty="0"/>
              <a:t>Trained on massive amounts of text </a:t>
            </a:r>
          </a:p>
          <a:p>
            <a:pPr marL="514350" indent="-514350">
              <a:buFont typeface="+mj-lt"/>
              <a:buAutoNum type="arabicPeriod"/>
            </a:pPr>
            <a:r>
              <a:rPr lang="en-IN" noProof="0" dirty="0"/>
              <a:t>Converts text into </a:t>
            </a:r>
            <a:r>
              <a:rPr lang="en-IN" b="1" noProof="0" dirty="0"/>
              <a:t>tokens </a:t>
            </a:r>
          </a:p>
          <a:p>
            <a:pPr marL="514350" indent="-514350">
              <a:buFont typeface="+mj-lt"/>
              <a:buAutoNum type="arabicPeriod"/>
            </a:pPr>
            <a:r>
              <a:rPr lang="en-IN" noProof="0" dirty="0"/>
              <a:t>Converts tokens into </a:t>
            </a:r>
            <a:r>
              <a:rPr lang="en-IN" b="1" noProof="0" dirty="0"/>
              <a:t>numerical embeddings 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noProof="0" dirty="0"/>
              <a:t>Transformer</a:t>
            </a:r>
            <a:r>
              <a:rPr lang="en-IN" noProof="0" dirty="0"/>
              <a:t> uses attention to understand context </a:t>
            </a:r>
          </a:p>
          <a:p>
            <a:pPr marL="514350" indent="-514350">
              <a:buFont typeface="+mj-lt"/>
              <a:buAutoNum type="arabicPeriod"/>
            </a:pPr>
            <a:r>
              <a:rPr lang="en-IN" noProof="0" dirty="0"/>
              <a:t>Predicts one token at a time and combines predicted tokens into the final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C5B954-91B4-3CF3-6B96-BD26CCC0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791" y="1546025"/>
            <a:ext cx="7177343" cy="478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927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A5A9-5BDD-E875-9370-5E27D42D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1. LLM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227B6-F60F-1D0F-0532-2B7956431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12420" cy="4351338"/>
          </a:xfrm>
        </p:spPr>
        <p:txBody>
          <a:bodyPr/>
          <a:lstStyle/>
          <a:p>
            <a:r>
              <a:rPr lang="en-IN" noProof="0" dirty="0"/>
              <a:t>Model is trained on enormous amounts of text</a:t>
            </a:r>
          </a:p>
          <a:p>
            <a:pPr lvl="1"/>
            <a:r>
              <a:rPr lang="en-IN" noProof="0" dirty="0"/>
              <a:t>Books </a:t>
            </a:r>
          </a:p>
          <a:p>
            <a:pPr lvl="1"/>
            <a:r>
              <a:rPr lang="en-IN" noProof="0" dirty="0"/>
              <a:t>Websites </a:t>
            </a:r>
          </a:p>
          <a:p>
            <a:pPr lvl="1"/>
            <a:r>
              <a:rPr lang="en-IN" noProof="0" dirty="0"/>
              <a:t>Articles </a:t>
            </a:r>
          </a:p>
          <a:p>
            <a:pPr lvl="1"/>
            <a:r>
              <a:rPr lang="en-IN" noProof="0" dirty="0"/>
              <a:t>Wikipedia </a:t>
            </a:r>
          </a:p>
          <a:p>
            <a:pPr lvl="1"/>
            <a:r>
              <a:rPr lang="en-IN" noProof="0" dirty="0"/>
              <a:t>Programming code </a:t>
            </a:r>
          </a:p>
          <a:p>
            <a:pPr lvl="1"/>
            <a:r>
              <a:rPr lang="en-IN" noProof="0" dirty="0"/>
              <a:t>Research papers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4092D-1319-05AD-C422-CB0427869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936" y="1825624"/>
            <a:ext cx="7548563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593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9EFB-F166-391F-2E99-8658108CA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FEFB-A493-B8D2-83C6-6059E8B4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2. LLM –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C23F-F2D5-410B-648F-2D9C1196D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Input sentence is split into small pieces called </a:t>
            </a:r>
            <a:r>
              <a:rPr lang="en-IN" b="1" noProof="0" dirty="0"/>
              <a:t>tokens</a:t>
            </a:r>
          </a:p>
          <a:p>
            <a:pPr lvl="1"/>
            <a:r>
              <a:rPr lang="en-GB" dirty="0"/>
              <a:t>LLMs process tokens, not characters or words</a:t>
            </a:r>
          </a:p>
          <a:p>
            <a:pPr lvl="1"/>
            <a:r>
              <a:rPr lang="en-GB" dirty="0"/>
              <a:t>API usage and pricing are based on the number of tokens</a:t>
            </a:r>
          </a:p>
          <a:p>
            <a:pPr lvl="1"/>
            <a:r>
              <a:rPr lang="en-GB" dirty="0"/>
              <a:t>Every model has a maximum context window measured in tokens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Example: ChatGPT is amazing.</a:t>
            </a:r>
          </a:p>
          <a:p>
            <a:r>
              <a:rPr lang="en-IN" noProof="0" dirty="0"/>
              <a:t>May become: ["Chat", "G", "PT", " is", " amazing", "."]</a:t>
            </a:r>
          </a:p>
          <a:p>
            <a:endParaRPr lang="en-IN" noProof="0" dirty="0"/>
          </a:p>
          <a:p>
            <a:r>
              <a:rPr lang="en-IN" noProof="0" dirty="0"/>
              <a:t>Try: https://platform.openai.com/tokenizer</a:t>
            </a:r>
          </a:p>
        </p:txBody>
      </p:sp>
    </p:spTree>
    <p:extLst>
      <p:ext uri="{BB962C8B-B14F-4D97-AF65-F5344CB8AC3E}">
        <p14:creationId xmlns:p14="http://schemas.microsoft.com/office/powerpoint/2010/main" val="23890114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1E70-11E9-8D53-BE37-58D93546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1D9D-8A8E-98F8-27A3-F780BDDA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3. LLM –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1FBF2-24FB-5567-E312-7054AEC1A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7326" y="1825624"/>
            <a:ext cx="3727401" cy="4868341"/>
          </a:xfrm>
        </p:spPr>
        <p:txBody>
          <a:bodyPr>
            <a:normAutofit/>
          </a:bodyPr>
          <a:lstStyle/>
          <a:p>
            <a:r>
              <a:rPr lang="en-IN" noProof="0" dirty="0"/>
              <a:t>Computers only understand numbers, not words; so convert</a:t>
            </a:r>
          </a:p>
          <a:p>
            <a:pPr lvl="1"/>
            <a:r>
              <a:rPr lang="en-IN" dirty="0"/>
              <a:t>Dog -&gt; [0.13, …]</a:t>
            </a:r>
          </a:p>
          <a:p>
            <a:pPr lvl="1"/>
            <a:r>
              <a:rPr lang="en-IN" noProof="0" dirty="0"/>
              <a:t>Cat </a:t>
            </a:r>
            <a:r>
              <a:rPr lang="en-IN" dirty="0"/>
              <a:t>-&gt; [0.12, …]</a:t>
            </a:r>
          </a:p>
          <a:p>
            <a:pPr lvl="1"/>
            <a:r>
              <a:rPr lang="en-IN" noProof="0" dirty="0"/>
              <a:t>Car -&gt; [0.81, …]</a:t>
            </a:r>
          </a:p>
          <a:p>
            <a:r>
              <a:rPr lang="en-IN" noProof="0" dirty="0"/>
              <a:t>Nearby = Similar meaning</a:t>
            </a:r>
          </a:p>
          <a:p>
            <a:r>
              <a:rPr lang="en-IN" dirty="0"/>
              <a:t>Distance between points represents similarity of meaning</a:t>
            </a:r>
            <a:endParaRPr lang="en-IN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393C68-AD37-C6E7-4F9D-CC233753D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714" y="1312268"/>
            <a:ext cx="8182484" cy="545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8487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87D6AE-D9AE-AD21-E37D-7107D4D9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4. LLM – Transformers and Attention Mechanism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BE09A-53C5-E79F-196E-44A0ECAC4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2967037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The Transformer figures out which words are important to each other</a:t>
            </a:r>
          </a:p>
          <a:p>
            <a:pPr lvl="1"/>
            <a:r>
              <a:rPr lang="en-GB" dirty="0"/>
              <a:t>Every word can "look at" every other word.</a:t>
            </a:r>
          </a:p>
          <a:p>
            <a:pPr lvl="1"/>
            <a:r>
              <a:rPr lang="en-GB" dirty="0"/>
              <a:t>More important words receive </a:t>
            </a:r>
            <a:r>
              <a:rPr lang="en-GB" b="1" dirty="0"/>
              <a:t>more attention</a:t>
            </a:r>
            <a:endParaRPr lang="en-GB" dirty="0"/>
          </a:p>
          <a:p>
            <a:pPr lvl="1"/>
            <a:r>
              <a:rPr lang="en-GB" dirty="0"/>
              <a:t>Less relevant words receive </a:t>
            </a:r>
            <a:r>
              <a:rPr lang="en-GB" b="1" dirty="0"/>
              <a:t>less attention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This helps the model understand the meaning of the entire sentence</a:t>
            </a:r>
          </a:p>
          <a:p>
            <a:pPr lvl="1"/>
            <a:endParaRPr lang="en-IN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A5B27-1C3D-4D47-279C-C88B19F08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237" y="1460500"/>
            <a:ext cx="7548563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626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C588-CE8C-C3E7-5A08-F0779EF7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5. LLM – Predicts One Token at a Time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680382-141E-0D94-B5EF-ACB6D4AB4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60" y="1346535"/>
            <a:ext cx="9668926" cy="544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038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06EC2-D25F-CFB8-7A79-48B0FC91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CDE9F-2429-B074-0A5A-122AFC75B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Context window</a:t>
            </a:r>
            <a:r>
              <a:rPr lang="en-IN" noProof="0" dirty="0"/>
              <a:t>: The maximum amount of information (text, images, code, etc.) that an LLM can consider at one time while generating a response</a:t>
            </a:r>
          </a:p>
          <a:p>
            <a:r>
              <a:rPr lang="en-IN" noProof="0" dirty="0"/>
              <a:t>Think of it as the model's </a:t>
            </a:r>
            <a:r>
              <a:rPr lang="en-IN" b="1" noProof="0" dirty="0"/>
              <a:t>working memory</a:t>
            </a:r>
            <a:r>
              <a:rPr lang="en-IN" noProof="0" dirty="0"/>
              <a:t> during a conversation</a:t>
            </a:r>
          </a:p>
          <a:p>
            <a:r>
              <a:rPr lang="en-IN" noProof="0" dirty="0"/>
              <a:t>Measurement</a:t>
            </a:r>
          </a:p>
          <a:p>
            <a:pPr lvl="1"/>
            <a:r>
              <a:rPr lang="en-IN" noProof="0" dirty="0"/>
              <a:t>1 token ≈ 0.75 words (roughly) </a:t>
            </a:r>
          </a:p>
          <a:p>
            <a:pPr lvl="1"/>
            <a:r>
              <a:rPr lang="en-IN" noProof="0" dirty="0"/>
              <a:t>1,000 tokens ≈ 750 words</a:t>
            </a:r>
          </a:p>
          <a:p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430F7F-D1E1-1780-7C4D-F0668ABF0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247498"/>
              </p:ext>
            </p:extLst>
          </p:nvPr>
        </p:nvGraphicFramePr>
        <p:xfrm>
          <a:off x="5772585" y="3596095"/>
          <a:ext cx="5797600" cy="31089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898800">
                  <a:extLst>
                    <a:ext uri="{9D8B030D-6E8A-4147-A177-3AD203B41FA5}">
                      <a16:colId xmlns:a16="http://schemas.microsoft.com/office/drawing/2014/main" val="2246984316"/>
                    </a:ext>
                  </a:extLst>
                </a:gridCol>
                <a:gridCol w="2898800">
                  <a:extLst>
                    <a:ext uri="{9D8B030D-6E8A-4147-A177-3AD203B41FA5}">
                      <a16:colId xmlns:a16="http://schemas.microsoft.com/office/drawing/2014/main" val="4218934645"/>
                    </a:ext>
                  </a:extLst>
                </a:gridCol>
              </a:tblGrid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Model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noProof="0" dirty="0"/>
                        <a:t>Context Window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754868"/>
                  </a:ext>
                </a:extLst>
              </a:tr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GPT-5.5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400K tokens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812991"/>
                  </a:ext>
                </a:extLst>
              </a:tr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Claude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200K tokens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483387"/>
                  </a:ext>
                </a:extLst>
              </a:tr>
              <a:tr h="602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Gemini 2.5 Pro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1M tokens</a:t>
                      </a:r>
                      <a:r>
                        <a:rPr lang="en-IN" noProof="0" dirty="0"/>
                        <a:t> (2M in some preview/experimental modes)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02019"/>
                  </a:ext>
                </a:extLst>
              </a:tr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Llama 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128K tokens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488639"/>
                  </a:ext>
                </a:extLst>
              </a:tr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Mistral 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128K tokens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851348"/>
                  </a:ext>
                </a:extLst>
              </a:tr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DeepSeek-V3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128K tokens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71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6977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A9E021-29B2-320C-3B7D-EA6289C2E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290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68CB1-533E-A5D2-2CAA-9EDAB676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Useful Links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43D46-28EF-48A1-CD10-6A92F22FB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Visual view: </a:t>
            </a:r>
            <a:r>
              <a:rPr lang="en-GB" dirty="0">
                <a:hlinkClick r:id="rId2"/>
              </a:rPr>
              <a:t>https://poloclub.github.io/transformer-explainer/</a:t>
            </a:r>
            <a:endParaRPr lang="en-GB" dirty="0"/>
          </a:p>
          <a:p>
            <a:endParaRPr lang="en-GB" dirty="0"/>
          </a:p>
          <a:p>
            <a:r>
              <a:rPr lang="en-GB" dirty="0"/>
              <a:t>Model comparisons</a:t>
            </a:r>
          </a:p>
          <a:p>
            <a:pPr lvl="1"/>
            <a:r>
              <a:rPr lang="en-GB" dirty="0">
                <a:hlinkClick r:id="rId3"/>
              </a:rPr>
              <a:t>https://artificialanalysis.ai/</a:t>
            </a:r>
            <a:endParaRPr lang="en-GB" dirty="0"/>
          </a:p>
          <a:p>
            <a:pPr lvl="1"/>
            <a:r>
              <a:rPr lang="en-GB" dirty="0">
                <a:hlinkClick r:id="rId4"/>
              </a:rPr>
              <a:t>https://livebench.ai/</a:t>
            </a:r>
            <a:endParaRPr lang="en-GB" dirty="0"/>
          </a:p>
          <a:p>
            <a:pPr lvl="1"/>
            <a:r>
              <a:rPr lang="en-GB" dirty="0"/>
              <a:t>arena.ai (First go through </a:t>
            </a:r>
            <a:r>
              <a:rPr lang="en-GB" dirty="0">
                <a:hlinkClick r:id="rId5"/>
              </a:rPr>
              <a:t>https://arena.ai/how-it-works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hlinkClick r:id="rId6"/>
              </a:rPr>
              <a:t>https://openrouter.ai/models</a:t>
            </a:r>
            <a:endParaRPr lang="en-GB" dirty="0"/>
          </a:p>
          <a:p>
            <a:pPr lvl="1"/>
            <a:r>
              <a:rPr lang="en-GB" dirty="0"/>
              <a:t>opengpt.com</a:t>
            </a:r>
          </a:p>
          <a:p>
            <a:pPr lvl="1"/>
            <a:r>
              <a:rPr lang="en-GB" dirty="0"/>
              <a:t>For open weight models: https://www.vellum.ai/open-llm-leaderboard</a:t>
            </a:r>
          </a:p>
        </p:txBody>
      </p:sp>
    </p:spTree>
    <p:extLst>
      <p:ext uri="{BB962C8B-B14F-4D97-AF65-F5344CB8AC3E}">
        <p14:creationId xmlns:p14="http://schemas.microsoft.com/office/powerpoint/2010/main" val="18641409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ECD5-0DC9-EF52-0049-4C412566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The OpenAI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0070A-DA2E-C03D-5251-C7A2578BD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1079" cy="4351338"/>
          </a:xfrm>
        </p:spPr>
        <p:txBody>
          <a:bodyPr>
            <a:normAutofit/>
          </a:bodyPr>
          <a:lstStyle/>
          <a:p>
            <a:r>
              <a:rPr lang="en-IN" noProof="0" dirty="0"/>
              <a:t>Allows Python program to send prompts to an AI model (such as GPT-5) and receive generated responses</a:t>
            </a:r>
          </a:p>
          <a:p>
            <a:r>
              <a:rPr lang="en-IN" noProof="0" dirty="0"/>
              <a:t>Flow: Python Program -&gt; OpenAI API -&gt; HTTPS request -&gt; GPT-5 Model -&gt; Generated API Response -&gt; Python program</a:t>
            </a:r>
          </a:p>
          <a:p>
            <a:r>
              <a:rPr lang="en-IN" noProof="0" dirty="0"/>
              <a:t>What is needed?</a:t>
            </a:r>
          </a:p>
          <a:p>
            <a:pPr lvl="1"/>
            <a:r>
              <a:rPr lang="en-IN" dirty="0"/>
              <a:t>Authentication: API key</a:t>
            </a:r>
          </a:p>
          <a:p>
            <a:pPr lvl="1"/>
            <a:r>
              <a:rPr lang="en-IN" noProof="0" dirty="0"/>
              <a:t>Format</a:t>
            </a:r>
            <a:r>
              <a:rPr lang="en-IN" dirty="0"/>
              <a:t>: JSON over HTTPS</a:t>
            </a:r>
          </a:p>
          <a:p>
            <a:pPr lvl="1"/>
            <a:r>
              <a:rPr lang="en-IN" noProof="0" dirty="0"/>
              <a:t>Cost: Billed per token</a:t>
            </a:r>
          </a:p>
          <a:p>
            <a:r>
              <a:rPr lang="en-IN" dirty="0"/>
              <a:t>C:\code\agenticai\14_advanced\03_llm_examples\openai_example.py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7866065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DAE8-BD04-D315-4A49-C79888570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676EE-C163-6BBE-4A3A-E1B07179A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OpenAI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8A63-8066-165E-655A-1B01CBAC6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 lnSpcReduction="10000"/>
          </a:bodyPr>
          <a:lstStyle/>
          <a:p>
            <a:r>
              <a:rPr lang="en-IN" noProof="0" dirty="0"/>
              <a:t>Request parameters</a:t>
            </a:r>
          </a:p>
          <a:p>
            <a:endParaRPr lang="en-IN" dirty="0"/>
          </a:p>
          <a:p>
            <a:endParaRPr lang="en-IN" noProof="0" dirty="0"/>
          </a:p>
          <a:p>
            <a:endParaRPr lang="en-IN" dirty="0"/>
          </a:p>
          <a:p>
            <a:endParaRPr lang="en-IN" noProof="0" dirty="0"/>
          </a:p>
          <a:p>
            <a:r>
              <a:rPr lang="en-IN" dirty="0"/>
              <a:t>What is returned in the response?</a:t>
            </a:r>
          </a:p>
          <a:p>
            <a:pPr lvl="1"/>
            <a:r>
              <a:rPr lang="en-GB" dirty="0"/>
              <a:t>id — unique identifier for this response</a:t>
            </a:r>
          </a:p>
          <a:p>
            <a:pPr lvl="1"/>
            <a:r>
              <a:rPr lang="en-GB" dirty="0"/>
              <a:t>model — the model that generated it (e.g., gpt-5)</a:t>
            </a:r>
          </a:p>
          <a:p>
            <a:pPr lvl="1"/>
            <a:r>
              <a:rPr lang="en-GB" dirty="0" err="1"/>
              <a:t>created_at</a:t>
            </a:r>
            <a:r>
              <a:rPr lang="en-GB" dirty="0"/>
              <a:t> — Unix timestamp of creation</a:t>
            </a:r>
          </a:p>
          <a:p>
            <a:pPr lvl="1"/>
            <a:r>
              <a:rPr lang="en-GB" dirty="0"/>
              <a:t>status — completed, </a:t>
            </a:r>
            <a:r>
              <a:rPr lang="en-GB" dirty="0" err="1"/>
              <a:t>in_progress</a:t>
            </a:r>
            <a:r>
              <a:rPr lang="en-GB" dirty="0"/>
              <a:t>, or incomplete</a:t>
            </a:r>
          </a:p>
          <a:p>
            <a:pPr lvl="1"/>
            <a:r>
              <a:rPr lang="en-GB" dirty="0"/>
              <a:t>output — array of generated items (messages, tool calls, reasoning)</a:t>
            </a:r>
          </a:p>
          <a:p>
            <a:pPr lvl="1"/>
            <a:r>
              <a:rPr lang="en-GB" dirty="0" err="1"/>
              <a:t>output_text</a:t>
            </a:r>
            <a:r>
              <a:rPr lang="en-GB" dirty="0"/>
              <a:t> </a:t>
            </a:r>
            <a:r>
              <a:rPr lang="en-GB" i="1" dirty="0"/>
              <a:t>(SDK helper only)</a:t>
            </a:r>
            <a:r>
              <a:rPr lang="en-GB" dirty="0"/>
              <a:t> — flattens all text from output into one string for convenience</a:t>
            </a:r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36AC8B-B066-9EAE-FA12-76CD5780E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58537"/>
              </p:ext>
            </p:extLst>
          </p:nvPr>
        </p:nvGraphicFramePr>
        <p:xfrm>
          <a:off x="1138347" y="1072074"/>
          <a:ext cx="10515600" cy="18288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107424">
                  <a:extLst>
                    <a:ext uri="{9D8B030D-6E8A-4147-A177-3AD203B41FA5}">
                      <a16:colId xmlns:a16="http://schemas.microsoft.com/office/drawing/2014/main" val="504361312"/>
                    </a:ext>
                  </a:extLst>
                </a:gridCol>
                <a:gridCol w="8408176">
                  <a:extLst>
                    <a:ext uri="{9D8B030D-6E8A-4147-A177-3AD203B41FA5}">
                      <a16:colId xmlns:a16="http://schemas.microsoft.com/office/drawing/2014/main" val="1603447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0908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Specifies which LLM to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249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Defines the AI's role or </a:t>
                      </a: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 (system prompt)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081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User's prompt or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2460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Controls randomness and creativity (0 = deterministic, 2 = more creative)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1806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5735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1B7E-2179-4C24-4391-0798A609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Models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99BFFFA-5E77-8264-606C-D875A54A4F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983680"/>
              </p:ext>
            </p:extLst>
          </p:nvPr>
        </p:nvGraphicFramePr>
        <p:xfrm>
          <a:off x="838200" y="2035334"/>
          <a:ext cx="10515600" cy="420624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402429">
                  <a:extLst>
                    <a:ext uri="{9D8B030D-6E8A-4147-A177-3AD203B41FA5}">
                      <a16:colId xmlns:a16="http://schemas.microsoft.com/office/drawing/2014/main" val="2948642736"/>
                    </a:ext>
                  </a:extLst>
                </a:gridCol>
                <a:gridCol w="1856721">
                  <a:extLst>
                    <a:ext uri="{9D8B030D-6E8A-4147-A177-3AD203B41FA5}">
                      <a16:colId xmlns:a16="http://schemas.microsoft.com/office/drawing/2014/main" val="1482570432"/>
                    </a:ext>
                  </a:extLst>
                </a:gridCol>
                <a:gridCol w="1998650">
                  <a:extLst>
                    <a:ext uri="{9D8B030D-6E8A-4147-A177-3AD203B41FA5}">
                      <a16:colId xmlns:a16="http://schemas.microsoft.com/office/drawing/2014/main" val="3467805571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889843348"/>
                    </a:ext>
                  </a:extLst>
                </a:gridCol>
                <a:gridCol w="1835780">
                  <a:extLst>
                    <a:ext uri="{9D8B030D-6E8A-4147-A177-3AD203B41FA5}">
                      <a16:colId xmlns:a16="http://schemas.microsoft.com/office/drawing/2014/main" val="3806149511"/>
                    </a:ext>
                  </a:extLst>
                </a:gridCol>
                <a:gridCol w="1532725">
                  <a:extLst>
                    <a:ext uri="{9D8B030D-6E8A-4147-A177-3AD203B41FA5}">
                      <a16:colId xmlns:a16="http://schemas.microsoft.com/office/drawing/2014/main" val="3257795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Typical API Price (Input / Output per 1M Tokens)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7312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GPT-5 nano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b="1"/>
                        <a:t>$0.05 / $0.40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Classification, Extraction, High-volume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Cheapest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62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GPT-5 mini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b="1"/>
                        <a:t>$0.25 / $2.00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Chatbots, Education, RAG, AI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value for most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235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GPT-5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b="1"/>
                        <a:t>$1.25 / $10.00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Coding, Agentic AI, Research, Production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Flagship model for most professional use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71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2169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B977-051F-BCBE-E448-19DEE195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The Anthropic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B2B9-0915-D852-0131-A8179DAAC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noProof="0" dirty="0"/>
              <a:t>Uses the messages API</a:t>
            </a:r>
          </a:p>
          <a:p>
            <a:r>
              <a:rPr lang="en-IN" noProof="0" dirty="0"/>
              <a:t>Basic example: C:\code\agenticai\14_advanced\03_llm_examples\claude_example.py</a:t>
            </a:r>
          </a:p>
          <a:p>
            <a:pPr marL="457200" lvl="1" indent="0">
              <a:buNone/>
            </a:pPr>
            <a:r>
              <a:rPr lang="en-IN" noProof="0" dirty="0"/>
              <a:t>from anthropic import Anthropic</a:t>
            </a:r>
          </a:p>
          <a:p>
            <a:pPr marL="457200" lvl="1" indent="0">
              <a:buNone/>
            </a:pPr>
            <a:r>
              <a:rPr lang="en-IN" noProof="0" dirty="0"/>
              <a:t>from </a:t>
            </a:r>
            <a:r>
              <a:rPr lang="en-IN" noProof="0" dirty="0" err="1"/>
              <a:t>dotenv</a:t>
            </a:r>
            <a:r>
              <a:rPr lang="en-IN" noProof="0" dirty="0"/>
              <a:t> import </a:t>
            </a:r>
            <a:r>
              <a:rPr lang="en-IN" noProof="0" dirty="0" err="1"/>
              <a:t>load_dotenv</a:t>
            </a:r>
            <a:endParaRPr lang="en-IN" noProof="0" dirty="0"/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 err="1"/>
              <a:t>load_dotenv</a:t>
            </a:r>
            <a:r>
              <a:rPr lang="en-IN" noProof="0" dirty="0"/>
              <a:t>()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client = Anthropic()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response = </a:t>
            </a:r>
            <a:r>
              <a:rPr lang="en-IN" noProof="0" dirty="0" err="1"/>
              <a:t>client.messages.create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model="claude-haiku-4-5-20251001",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max_tokens</a:t>
            </a:r>
            <a:r>
              <a:rPr lang="en-IN" noProof="0" dirty="0"/>
              <a:t>=200,</a:t>
            </a:r>
          </a:p>
          <a:p>
            <a:pPr marL="457200" lvl="1" indent="0">
              <a:buNone/>
            </a:pPr>
            <a:r>
              <a:rPr lang="en-IN" noProof="0" dirty="0"/>
              <a:t>    messages=[</a:t>
            </a:r>
          </a:p>
          <a:p>
            <a:pPr marL="457200" lvl="1" indent="0">
              <a:buNone/>
            </a:pPr>
            <a:r>
              <a:rPr lang="en-IN" noProof="0" dirty="0"/>
              <a:t>        {</a:t>
            </a:r>
          </a:p>
          <a:p>
            <a:pPr marL="457200" lvl="1" indent="0">
              <a:buNone/>
            </a:pPr>
            <a:r>
              <a:rPr lang="en-IN" noProof="0" dirty="0"/>
              <a:t>            "role": "user",</a:t>
            </a:r>
          </a:p>
          <a:p>
            <a:pPr marL="457200" lvl="1" indent="0">
              <a:buNone/>
            </a:pPr>
            <a:r>
              <a:rPr lang="en-IN" noProof="0" dirty="0"/>
              <a:t>            "content": "Explain Artificial Intelligence."</a:t>
            </a:r>
          </a:p>
          <a:p>
            <a:pPr marL="457200" lvl="1" indent="0">
              <a:buNone/>
            </a:pPr>
            <a:r>
              <a:rPr lang="en-IN" noProof="0" dirty="0"/>
              <a:t>        }</a:t>
            </a:r>
          </a:p>
          <a:p>
            <a:pPr marL="457200" lvl="1" indent="0">
              <a:buNone/>
            </a:pPr>
            <a:r>
              <a:rPr lang="en-IN" noProof="0" dirty="0"/>
              <a:t>    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print(</a:t>
            </a:r>
            <a:r>
              <a:rPr lang="en-IN" noProof="0" dirty="0" err="1"/>
              <a:t>response.content</a:t>
            </a:r>
            <a:r>
              <a:rPr lang="en-IN" noProof="0" dirty="0"/>
              <a:t>[0].text)</a:t>
            </a:r>
          </a:p>
        </p:txBody>
      </p:sp>
    </p:spTree>
    <p:extLst>
      <p:ext uri="{BB962C8B-B14F-4D97-AF65-F5344CB8AC3E}">
        <p14:creationId xmlns:p14="http://schemas.microsoft.com/office/powerpoint/2010/main" val="32587619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780D-ABE5-F328-096E-C65F195E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Anthropic API –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BC8E8-4770-5DA7-B977-77952D019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noProof="0" dirty="0"/>
              <a:t>Conversation is sent as a list of messages</a:t>
            </a:r>
          </a:p>
          <a:p>
            <a:pPr lvl="1"/>
            <a:r>
              <a:rPr lang="en-IN" noProof="0" dirty="0"/>
              <a:t>messages=[</a:t>
            </a:r>
          </a:p>
          <a:p>
            <a:pPr lvl="1"/>
            <a:r>
              <a:rPr lang="en-IN" noProof="0" dirty="0"/>
              <a:t>    {</a:t>
            </a:r>
          </a:p>
          <a:p>
            <a:pPr lvl="1"/>
            <a:r>
              <a:rPr lang="en-IN" noProof="0" dirty="0"/>
              <a:t>        "role": "user",</a:t>
            </a:r>
          </a:p>
          <a:p>
            <a:pPr lvl="1"/>
            <a:r>
              <a:rPr lang="en-IN" noProof="0" dirty="0"/>
              <a:t>        "content": "Hello Claude"</a:t>
            </a:r>
          </a:p>
          <a:p>
            <a:pPr lvl="1"/>
            <a:r>
              <a:rPr lang="en-IN" noProof="0" dirty="0"/>
              <a:t>    }</a:t>
            </a:r>
          </a:p>
          <a:p>
            <a:pPr lvl="1"/>
            <a:r>
              <a:rPr lang="en-IN" noProof="0" dirty="0"/>
              <a:t>]</a:t>
            </a:r>
          </a:p>
          <a:p>
            <a:r>
              <a:rPr lang="en-IN" noProof="0" dirty="0"/>
              <a:t>System prompt: Unlike many chat APIs, the Anthropic Messages API uses a top-level system parameter rather than a "system" role in the initial messages list</a:t>
            </a:r>
          </a:p>
          <a:p>
            <a:pPr lvl="1"/>
            <a:r>
              <a:rPr lang="en-IN" noProof="0" dirty="0"/>
              <a:t>response = </a:t>
            </a:r>
            <a:r>
              <a:rPr lang="en-IN" noProof="0" dirty="0" err="1"/>
              <a:t>client.messages.create</a:t>
            </a:r>
            <a:r>
              <a:rPr lang="en-IN" noProof="0" dirty="0"/>
              <a:t>(</a:t>
            </a:r>
          </a:p>
          <a:p>
            <a:pPr lvl="1"/>
            <a:r>
              <a:rPr lang="en-IN" noProof="0" dirty="0"/>
              <a:t>    model="claude-sonnet-4-6",</a:t>
            </a:r>
          </a:p>
          <a:p>
            <a:pPr lvl="1"/>
            <a:r>
              <a:rPr lang="en-IN" noProof="0" dirty="0"/>
              <a:t>    system="You are a friendly Python instructor.",</a:t>
            </a:r>
          </a:p>
          <a:p>
            <a:pPr lvl="1"/>
            <a:r>
              <a:rPr lang="en-IN" noProof="0" dirty="0"/>
              <a:t>    </a:t>
            </a:r>
            <a:r>
              <a:rPr lang="en-IN" noProof="0" dirty="0" err="1"/>
              <a:t>max_tokens</a:t>
            </a:r>
            <a:r>
              <a:rPr lang="en-IN" noProof="0" dirty="0"/>
              <a:t>=200,</a:t>
            </a:r>
          </a:p>
          <a:p>
            <a:pPr lvl="1"/>
            <a:r>
              <a:rPr lang="en-IN" noProof="0" dirty="0"/>
              <a:t>    messages=[</a:t>
            </a:r>
          </a:p>
          <a:p>
            <a:pPr lvl="1"/>
            <a:r>
              <a:rPr lang="en-IN" noProof="0" dirty="0"/>
              <a:t>        {</a:t>
            </a:r>
          </a:p>
          <a:p>
            <a:pPr lvl="1"/>
            <a:r>
              <a:rPr lang="en-IN" noProof="0" dirty="0"/>
              <a:t>            "role": "user",</a:t>
            </a:r>
          </a:p>
          <a:p>
            <a:pPr lvl="1"/>
            <a:r>
              <a:rPr lang="en-IN" noProof="0" dirty="0"/>
              <a:t>            "content": "Explain loops."</a:t>
            </a:r>
          </a:p>
          <a:p>
            <a:pPr lvl="1"/>
            <a:r>
              <a:rPr lang="en-IN" noProof="0" dirty="0"/>
              <a:t>        }</a:t>
            </a:r>
          </a:p>
          <a:p>
            <a:pPr lvl="1"/>
            <a:r>
              <a:rPr lang="en-IN" noProof="0" dirty="0"/>
              <a:t>    ]</a:t>
            </a:r>
          </a:p>
          <a:p>
            <a:pPr lvl="1"/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09109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06D5-1CE0-3009-758F-EBD4E08FC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Anthropic Models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B057580-C9F6-D7CF-4A81-05E13223B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4432015"/>
              </p:ext>
            </p:extLst>
          </p:nvPr>
        </p:nvGraphicFramePr>
        <p:xfrm>
          <a:off x="838200" y="2309654"/>
          <a:ext cx="10515600" cy="31089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451290">
                  <a:extLst>
                    <a:ext uri="{9D8B030D-6E8A-4147-A177-3AD203B41FA5}">
                      <a16:colId xmlns:a16="http://schemas.microsoft.com/office/drawing/2014/main" val="2936656123"/>
                    </a:ext>
                  </a:extLst>
                </a:gridCol>
                <a:gridCol w="2338351">
                  <a:extLst>
                    <a:ext uri="{9D8B030D-6E8A-4147-A177-3AD203B41FA5}">
                      <a16:colId xmlns:a16="http://schemas.microsoft.com/office/drawing/2014/main" val="2054860231"/>
                    </a:ext>
                  </a:extLst>
                </a:gridCol>
                <a:gridCol w="2519719">
                  <a:extLst>
                    <a:ext uri="{9D8B030D-6E8A-4147-A177-3AD203B41FA5}">
                      <a16:colId xmlns:a16="http://schemas.microsoft.com/office/drawing/2014/main" val="1102292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770416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1257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Approx. Price (Input / Output per Million Tokens)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652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Haiku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Chatbots, Classification,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634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Sonnet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General AI, Coding, RAG,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607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Opus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Research, Complex Reasoning, Enterprise Coding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52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9616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A252-B36F-7284-8C9E-2772DA13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Ollama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FAE6F-593F-57B3-C7EB-A215A2A6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Open-source framework for running Large Language Models (LLMs) locally </a:t>
            </a:r>
          </a:p>
          <a:p>
            <a:pPr lvl="0"/>
            <a:r>
              <a:rPr lang="en-GB" dirty="0"/>
              <a:t>Runs models on your own computer (Windows, Linux, macOS) </a:t>
            </a:r>
          </a:p>
          <a:p>
            <a:pPr lvl="0"/>
            <a:r>
              <a:rPr lang="en-GB" dirty="0"/>
              <a:t>No internet connection required after the model is downloaded </a:t>
            </a:r>
          </a:p>
          <a:p>
            <a:pPr lvl="0"/>
            <a:r>
              <a:rPr lang="en-GB" dirty="0"/>
              <a:t>Supports many popular open-weight models </a:t>
            </a:r>
          </a:p>
          <a:p>
            <a:pPr lvl="0"/>
            <a:r>
              <a:rPr lang="en-GB" dirty="0"/>
              <a:t>Provides a simple command-line interface and REST API </a:t>
            </a:r>
          </a:p>
          <a:p>
            <a:pPr lvl="0"/>
            <a:r>
              <a:rPr lang="en-GB" dirty="0"/>
              <a:t>Compatible with </a:t>
            </a:r>
            <a:r>
              <a:rPr lang="en-GB" dirty="0" err="1"/>
              <a:t>LangChain</a:t>
            </a:r>
            <a:r>
              <a:rPr lang="en-GB" dirty="0"/>
              <a:t>, </a:t>
            </a:r>
            <a:r>
              <a:rPr lang="en-GB" dirty="0" err="1"/>
              <a:t>LangGraph</a:t>
            </a:r>
            <a:r>
              <a:rPr lang="en-GB" dirty="0"/>
              <a:t>, n8n, Open </a:t>
            </a:r>
            <a:r>
              <a:rPr lang="en-GB" dirty="0" err="1"/>
              <a:t>WebUI</a:t>
            </a:r>
            <a:r>
              <a:rPr lang="en-GB" dirty="0"/>
              <a:t>, and many AI frameworks</a:t>
            </a:r>
          </a:p>
          <a:p>
            <a:pPr lvl="0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04070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FD1C-DBCC-799A-40FA-CC7F1161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Popular Open Weight Models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24837A-DDF6-52EA-B4F8-4E964A660B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912250"/>
              </p:ext>
            </p:extLst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4082808">
                  <a:extLst>
                    <a:ext uri="{9D8B030D-6E8A-4147-A177-3AD203B41FA5}">
                      <a16:colId xmlns:a16="http://schemas.microsoft.com/office/drawing/2014/main" val="3164542266"/>
                    </a:ext>
                  </a:extLst>
                </a:gridCol>
                <a:gridCol w="6432792">
                  <a:extLst>
                    <a:ext uri="{9D8B030D-6E8A-4147-A177-3AD203B41FA5}">
                      <a16:colId xmlns:a16="http://schemas.microsoft.com/office/drawing/2014/main" val="1049326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66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Qwen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General-purpose AI, RAG,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898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Gemma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Vision, Chatbots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792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Llama 3.x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General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913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DeepSeek 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394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Qwen3-Coder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Programming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58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Mistral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Lightweight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20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Small, fast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180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5243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0876-6165-9659-F3CB-FF858FFE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</a:t>
            </a:r>
            <a:r>
              <a:rPr lang="en-IN" dirty="0" err="1"/>
              <a:t>Ollama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1B0AB-5451-731A-95B2-79E2F2F4B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Download from here and install: </a:t>
            </a:r>
            <a:r>
              <a:rPr lang="en-IN" dirty="0">
                <a:hlinkClick r:id="rId2"/>
              </a:rPr>
              <a:t>https://ollama.com/</a:t>
            </a:r>
            <a:endParaRPr lang="en-IN" dirty="0"/>
          </a:p>
          <a:p>
            <a:r>
              <a:rPr lang="en-IN" dirty="0"/>
              <a:t>Verify: </a:t>
            </a:r>
            <a:r>
              <a:rPr lang="en-IN" b="1" dirty="0" err="1"/>
              <a:t>ollama</a:t>
            </a:r>
            <a:r>
              <a:rPr lang="en-IN" b="1" dirty="0"/>
              <a:t> --version</a:t>
            </a:r>
          </a:p>
          <a:p>
            <a:r>
              <a:rPr lang="en-GB" dirty="0"/>
              <a:t>Download a model: </a:t>
            </a:r>
            <a:r>
              <a:rPr lang="en-GB" b="1" dirty="0" err="1"/>
              <a:t>ollama</a:t>
            </a:r>
            <a:r>
              <a:rPr lang="en-GB" b="1" dirty="0"/>
              <a:t> pull qwen3:8b</a:t>
            </a:r>
          </a:p>
          <a:p>
            <a:r>
              <a:rPr lang="en-GB" dirty="0"/>
              <a:t>Run a model: </a:t>
            </a:r>
            <a:r>
              <a:rPr lang="en-GB" b="1" dirty="0" err="1"/>
              <a:t>ollama</a:t>
            </a:r>
            <a:r>
              <a:rPr lang="en-GB" b="1" dirty="0"/>
              <a:t> run qwen3:8b</a:t>
            </a:r>
          </a:p>
          <a:p>
            <a:r>
              <a:rPr lang="en-GB" dirty="0"/>
              <a:t>Show downloaded models: </a:t>
            </a:r>
            <a:r>
              <a:rPr lang="en-GB" b="1" dirty="0" err="1"/>
              <a:t>ollama</a:t>
            </a:r>
            <a:r>
              <a:rPr lang="en-GB" b="1" dirty="0"/>
              <a:t> list</a:t>
            </a:r>
          </a:p>
          <a:p>
            <a:r>
              <a:rPr lang="en-GB" dirty="0"/>
              <a:t>Delete a model: </a:t>
            </a:r>
            <a:r>
              <a:rPr lang="en-GB" b="1" dirty="0" err="1"/>
              <a:t>ollama</a:t>
            </a:r>
            <a:r>
              <a:rPr lang="en-GB" b="1" dirty="0"/>
              <a:t> rm qwen3:8b</a:t>
            </a:r>
          </a:p>
          <a:p>
            <a:r>
              <a:rPr lang="en-GB" dirty="0"/>
              <a:t>Examples</a:t>
            </a:r>
          </a:p>
          <a:p>
            <a:pPr lvl="1"/>
            <a:r>
              <a:rPr lang="en-GB" sz="2000" dirty="0"/>
              <a:t>C:\code\agenticai\14_advanced\03_llm_examples\ollama_example.py</a:t>
            </a:r>
          </a:p>
          <a:p>
            <a:pPr lvl="1"/>
            <a:r>
              <a:rPr lang="en-US" dirty="0"/>
              <a:t>14_advanced\03_llm_examples\ollama_chatbot.py</a:t>
            </a:r>
          </a:p>
          <a:p>
            <a:pPr lvl="1"/>
            <a:r>
              <a:rPr lang="en-US"/>
              <a:t>14_advanced\03_llm_examples\ollama_chatbot_streamlit.py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7299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88A2-5774-1001-4FC4-2E9E8690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Structuring System Prompts for Domain-Expert 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F1A7A-4966-971F-2CB6-09147E01B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System prompt</a:t>
            </a:r>
            <a:r>
              <a:rPr lang="en-IN" noProof="0" dirty="0"/>
              <a:t>: Defines the AI assistant's role, expertise, </a:t>
            </a:r>
            <a:r>
              <a:rPr lang="en-IN" noProof="0" dirty="0" err="1"/>
              <a:t>behavior</a:t>
            </a:r>
            <a:r>
              <a:rPr lang="en-IN" noProof="0" dirty="0"/>
              <a:t>, constraints, and response style before any user interaction</a:t>
            </a:r>
          </a:p>
          <a:p>
            <a:r>
              <a:rPr lang="en-IN" noProof="0" dirty="0"/>
              <a:t>Helps produce consistent, domain-specific, and reliable responses</a:t>
            </a:r>
          </a:p>
          <a:p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1BFC51-EB8A-3083-E3C2-337BBDB4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37858"/>
              </p:ext>
            </p:extLst>
          </p:nvPr>
        </p:nvGraphicFramePr>
        <p:xfrm>
          <a:off x="956862" y="3333991"/>
          <a:ext cx="10515600" cy="29260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061868">
                  <a:extLst>
                    <a:ext uri="{9D8B030D-6E8A-4147-A177-3AD203B41FA5}">
                      <a16:colId xmlns:a16="http://schemas.microsoft.com/office/drawing/2014/main" val="2211020382"/>
                    </a:ext>
                  </a:extLst>
                </a:gridCol>
                <a:gridCol w="6453732">
                  <a:extLst>
                    <a:ext uri="{9D8B030D-6E8A-4147-A177-3AD203B41FA5}">
                      <a16:colId xmlns:a16="http://schemas.microsoft.com/office/drawing/2014/main" val="4183869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02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the assistant's expertise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932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Specify the primary 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6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Knowledge 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State the domain or information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23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Describe how responses should be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77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Specify what the model should avoid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123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Output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the desired response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588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Formal, friendly, technical,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58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489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66CD-FC8E-B4F9-E2EE-E0D89C8A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System Prompt Template and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4B561-14D1-2862-B083-E06B466AB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648200" cy="43513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noProof="0" dirty="0"/>
              <a:t>You are an expert &lt;ROLE&gt;.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Your goal is to &lt;OBJECTIVE&gt;.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Use your expertise in &lt;DOMAIN&gt;.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When answering:</a:t>
            </a:r>
          </a:p>
          <a:p>
            <a:pPr marL="0" indent="0">
              <a:buNone/>
            </a:pPr>
            <a:r>
              <a:rPr lang="en-IN" noProof="0" dirty="0"/>
              <a:t>- Explain concepts clearly.</a:t>
            </a:r>
          </a:p>
          <a:p>
            <a:pPr marL="0" indent="0">
              <a:buNone/>
            </a:pPr>
            <a:r>
              <a:rPr lang="en-IN" noProof="0" dirty="0"/>
              <a:t>- Ask clarifying questions if information is missing.</a:t>
            </a:r>
          </a:p>
          <a:p>
            <a:pPr marL="0" indent="0">
              <a:buNone/>
            </a:pPr>
            <a:r>
              <a:rPr lang="en-IN" noProof="0" dirty="0"/>
              <a:t>- Do not make up facts.</a:t>
            </a:r>
          </a:p>
          <a:p>
            <a:pPr marL="0" indent="0">
              <a:buNone/>
            </a:pPr>
            <a:r>
              <a:rPr lang="en-IN" noProof="0" dirty="0"/>
              <a:t>- If uncertain, say so.</a:t>
            </a:r>
          </a:p>
          <a:p>
            <a:pPr marL="0" indent="0">
              <a:buNone/>
            </a:pPr>
            <a:r>
              <a:rPr lang="en-IN" noProof="0" dirty="0"/>
              <a:t>- Use bullet points where appropriate.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Respond in a professional and concise manner.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9F8061-F6CC-CE30-8186-63E5E760ED9C}"/>
              </a:ext>
            </a:extLst>
          </p:cNvPr>
          <p:cNvSpPr txBox="1">
            <a:spLocks/>
          </p:cNvSpPr>
          <p:nvPr/>
        </p:nvSpPr>
        <p:spPr>
          <a:xfrm>
            <a:off x="6155914" y="1825625"/>
            <a:ext cx="4648200" cy="43513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noProof="0" dirty="0"/>
              <a:t>You are an experienced physician specializing in internal medicine.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Answer questions using evidence-based medical knowledge.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Always:</a:t>
            </a:r>
          </a:p>
          <a:p>
            <a:pPr marL="0" indent="0">
              <a:buNone/>
            </a:pPr>
            <a:r>
              <a:rPr lang="en-IN" noProof="0" dirty="0"/>
              <a:t>- Explain medical terminology simply.</a:t>
            </a:r>
          </a:p>
          <a:p>
            <a:pPr marL="0" indent="0">
              <a:buNone/>
            </a:pPr>
            <a:r>
              <a:rPr lang="en-IN" noProof="0" dirty="0"/>
              <a:t>- Recommend consulting a healthcare professional for emergencies.</a:t>
            </a:r>
          </a:p>
          <a:p>
            <a:pPr marL="0" indent="0">
              <a:buNone/>
            </a:pPr>
            <a:r>
              <a:rPr lang="en-IN" noProof="0" dirty="0"/>
              <a:t>- Do not diagnose with certainty from limited information.</a:t>
            </a:r>
          </a:p>
          <a:p>
            <a:pPr marL="0" indent="0">
              <a:buNone/>
            </a:pPr>
            <a:r>
              <a:rPr lang="en-IN" noProof="0" dirty="0"/>
              <a:t>- Clearly distinguish facts from assumptions.</a:t>
            </a:r>
          </a:p>
        </p:txBody>
      </p:sp>
    </p:spTree>
    <p:extLst>
      <p:ext uri="{BB962C8B-B14F-4D97-AF65-F5344CB8AC3E}">
        <p14:creationId xmlns:p14="http://schemas.microsoft.com/office/powerpoint/2010/main" val="10511140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AA16-A549-9DB0-A6DA-00D6BB40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537470"/>
          </a:xfrm>
        </p:spPr>
        <p:txBody>
          <a:bodyPr>
            <a:normAutofit fontScale="90000"/>
          </a:bodyPr>
          <a:lstStyle/>
          <a:p>
            <a:r>
              <a:rPr lang="en-IN" sz="3600" noProof="0" dirty="0"/>
              <a:t>Zero-shot, one-shot, and few-shot prompting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BD12C1-5376-60B5-C4E1-143AAD136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063625"/>
              </p:ext>
            </p:extLst>
          </p:nvPr>
        </p:nvGraphicFramePr>
        <p:xfrm>
          <a:off x="319922" y="698008"/>
          <a:ext cx="11552156" cy="5150235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62295">
                  <a:extLst>
                    <a:ext uri="{9D8B030D-6E8A-4147-A177-3AD203B41FA5}">
                      <a16:colId xmlns:a16="http://schemas.microsoft.com/office/drawing/2014/main" val="3353472813"/>
                    </a:ext>
                  </a:extLst>
                </a:gridCol>
                <a:gridCol w="1012122">
                  <a:extLst>
                    <a:ext uri="{9D8B030D-6E8A-4147-A177-3AD203B41FA5}">
                      <a16:colId xmlns:a16="http://schemas.microsoft.com/office/drawing/2014/main" val="318577303"/>
                    </a:ext>
                  </a:extLst>
                </a:gridCol>
                <a:gridCol w="1361130">
                  <a:extLst>
                    <a:ext uri="{9D8B030D-6E8A-4147-A177-3AD203B41FA5}">
                      <a16:colId xmlns:a16="http://schemas.microsoft.com/office/drawing/2014/main" val="3222287752"/>
                    </a:ext>
                  </a:extLst>
                </a:gridCol>
                <a:gridCol w="2865685">
                  <a:extLst>
                    <a:ext uri="{9D8B030D-6E8A-4147-A177-3AD203B41FA5}">
                      <a16:colId xmlns:a16="http://schemas.microsoft.com/office/drawing/2014/main" val="3243655979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3118482980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2039853928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3533064233"/>
                    </a:ext>
                  </a:extLst>
                </a:gridCol>
              </a:tblGrid>
              <a:tr h="31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Prompting Pattern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Number of Examples in Prompt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Structure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Example Prompt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Best Use Cases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Advantages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Limitations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401319"/>
                  </a:ext>
                </a:extLst>
              </a:tr>
              <a:tr h="895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Zero-shot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0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Instruction only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"Classify the sentiment of this review: The product arrived on time and works perfectly."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General question answering, summarization, translation, simple classification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Simple, fast, minimal prompt engineering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May produce inconsistent results for complex tasks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000293"/>
                  </a:ext>
                </a:extLst>
              </a:tr>
              <a:tr h="1279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One-shot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1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One example followed by the task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Example:</a:t>
                      </a:r>
                      <a:r>
                        <a:rPr lang="en-IN" sz="1200" noProof="0" dirty="0"/>
                        <a:t> Review: This phone is terrible. → Sentiment: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endParaRPr lang="en-IN" sz="1200" b="1" noProof="0" dirty="0"/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Review: The product arrived on time and works perfectly. → Sentiment: ?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Teaching the desired format or style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Helps the model understand the expected output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One example may not cover all cases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399780"/>
                  </a:ext>
                </a:extLst>
              </a:tr>
              <a:tr h="185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Few-shot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2–10 examples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Multiple examples followed by the task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 err="1"/>
                        <a:t>Examples:</a:t>
                      </a:r>
                      <a:r>
                        <a:rPr lang="en-IN" sz="1200" noProof="0" dirty="0" err="1"/>
                        <a:t>Review</a:t>
                      </a:r>
                      <a:r>
                        <a:rPr lang="en-IN" sz="1200" noProof="0" dirty="0"/>
                        <a:t>: Excellent service. → </a:t>
                      </a:r>
                      <a:r>
                        <a:rPr lang="en-IN" sz="1200" b="1" noProof="0" dirty="0"/>
                        <a:t>Positive</a:t>
                      </a:r>
                    </a:p>
                    <a:p>
                      <a:pPr>
                        <a:buNone/>
                      </a:pPr>
                      <a:r>
                        <a:rPr lang="en-IN" sz="1200" noProof="0" dirty="0"/>
                        <a:t>Review: Very slow delivery. →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r>
                        <a:rPr lang="en-IN" sz="1200" noProof="0" dirty="0"/>
                        <a:t>Review: Packaging was damaged. →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endParaRPr lang="en-IN" sz="1200" b="1" noProof="0" dirty="0"/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Review: The product arrived on time and works perfectly. → Sentiment: ?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Complex classification, information extraction, structured output generation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Usually improves consistency and accuracy without retraining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Longer prompts consume more tokens and increase latency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999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4631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3F90-6DA4-20F6-37FC-65F9F736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Chain-of-Thought (</a:t>
            </a:r>
            <a:r>
              <a:rPr lang="en-IN" noProof="0" dirty="0" err="1"/>
              <a:t>CoT</a:t>
            </a:r>
            <a:r>
              <a:rPr lang="en-IN" noProof="0" dirty="0"/>
              <a:t>)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8974C-DF33-5F4F-78B5-68C193835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Chain-of-Thought (</a:t>
            </a:r>
            <a:r>
              <a:rPr lang="en-IN" b="1" noProof="0" dirty="0" err="1"/>
              <a:t>CoT</a:t>
            </a:r>
            <a:r>
              <a:rPr lang="en-IN" b="1" noProof="0" dirty="0"/>
              <a:t>) prompting</a:t>
            </a:r>
            <a:r>
              <a:rPr lang="en-IN" noProof="0" dirty="0"/>
              <a:t>: Encourages an LLM to break down a complex problem into a sequence of intermediate reasoning steps before producing the final answer</a:t>
            </a:r>
          </a:p>
          <a:p>
            <a:r>
              <a:rPr lang="en-IN" noProof="0" dirty="0"/>
              <a:t>Particularly useful for tasks that require logical reasoning, planning, multi-step calculations, or decision-making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704316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D486F-357B-376C-37EE-BF19C436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2ED8-259B-46AF-9FAE-68FE2F81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Chain-of-Thought (</a:t>
            </a:r>
            <a:r>
              <a:rPr lang="en-IN" noProof="0" dirty="0" err="1"/>
              <a:t>CoT</a:t>
            </a:r>
            <a:r>
              <a:rPr lang="en-IN" noProof="0" dirty="0"/>
              <a:t>)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E7BC-CA3A-3E98-29BB-5398A4FFF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82" y="1797704"/>
            <a:ext cx="3643058" cy="4351338"/>
          </a:xfrm>
          <a:solidFill>
            <a:schemeClr val="bg2"/>
          </a:solidFill>
        </p:spPr>
        <p:txBody>
          <a:bodyPr>
            <a:normAutofit fontScale="85000" lnSpcReduction="20000"/>
          </a:bodyPr>
          <a:lstStyle/>
          <a:p>
            <a:r>
              <a:rPr lang="en-IN" noProof="0" dirty="0"/>
              <a:t>Without </a:t>
            </a:r>
            <a:r>
              <a:rPr lang="en-IN" noProof="0" dirty="0" err="1"/>
              <a:t>CoT</a:t>
            </a:r>
            <a:endParaRPr lang="en-IN" noProof="0" dirty="0"/>
          </a:p>
          <a:p>
            <a:r>
              <a:rPr lang="en-IN" noProof="0" dirty="0"/>
              <a:t>Prompt</a:t>
            </a:r>
          </a:p>
          <a:p>
            <a:pPr lvl="1"/>
            <a:r>
              <a:rPr lang="en-IN" noProof="0" dirty="0"/>
              <a:t>A customer has a budget of $1,200 and needs a laptop for programming, machine learning, and occasional gaming.</a:t>
            </a:r>
          </a:p>
          <a:p>
            <a:pPr lvl="1"/>
            <a:r>
              <a:rPr lang="en-IN" noProof="0" dirty="0"/>
              <a:t>Recommend the best option.</a:t>
            </a:r>
          </a:p>
          <a:p>
            <a:endParaRPr lang="en-IN" noProof="0" dirty="0"/>
          </a:p>
          <a:p>
            <a:r>
              <a:rPr lang="en-IN" noProof="0" dirty="0"/>
              <a:t>Response</a:t>
            </a:r>
          </a:p>
          <a:p>
            <a:pPr lvl="1"/>
            <a:r>
              <a:rPr lang="en-IN" noProof="0" dirty="0"/>
              <a:t>I recommend Laptop B because it offers the best balance of CPU, GPU, memory, and price for your requirements.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B31C97-F206-51AF-4EA3-BCB41F306F66}"/>
              </a:ext>
            </a:extLst>
          </p:cNvPr>
          <p:cNvSpPr txBox="1">
            <a:spLocks/>
          </p:cNvSpPr>
          <p:nvPr/>
        </p:nvSpPr>
        <p:spPr>
          <a:xfrm>
            <a:off x="4481259" y="1479792"/>
            <a:ext cx="7329159" cy="52002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noProof="0" dirty="0"/>
              <a:t>Using </a:t>
            </a:r>
            <a:r>
              <a:rPr lang="en-IN" noProof="0" dirty="0" err="1"/>
              <a:t>CoT</a:t>
            </a:r>
            <a:endParaRPr lang="en-IN" noProof="0" dirty="0"/>
          </a:p>
          <a:p>
            <a:r>
              <a:rPr lang="en-IN" noProof="0" dirty="0"/>
              <a:t>Prompt</a:t>
            </a:r>
          </a:p>
          <a:p>
            <a:pPr lvl="1"/>
            <a:r>
              <a:rPr lang="en-IN" noProof="0" dirty="0"/>
              <a:t>A customer has a budget of $1,200 and needs a laptop for programming, machine learning, and occasional gaming.</a:t>
            </a:r>
          </a:p>
          <a:p>
            <a:pPr lvl="1"/>
            <a:r>
              <a:rPr lang="en-IN" noProof="0" dirty="0"/>
              <a:t>Reason through the problem step by step before giving the final recommendation.</a:t>
            </a:r>
          </a:p>
          <a:p>
            <a:endParaRPr lang="en-IN" noProof="0" dirty="0"/>
          </a:p>
          <a:p>
            <a:r>
              <a:rPr lang="en-IN" noProof="0" dirty="0"/>
              <a:t>Response</a:t>
            </a:r>
          </a:p>
          <a:p>
            <a:pPr lvl="1"/>
            <a:r>
              <a:rPr lang="en-IN" noProof="0" dirty="0"/>
              <a:t>1. Budget limit is $1,200.</a:t>
            </a:r>
          </a:p>
          <a:p>
            <a:pPr lvl="1"/>
            <a:r>
              <a:rPr lang="en-IN" noProof="0" dirty="0"/>
              <a:t>2. Programming benefits from a fast CPU and at least 16 GB RAM.</a:t>
            </a:r>
          </a:p>
          <a:p>
            <a:pPr lvl="1"/>
            <a:r>
              <a:rPr lang="en-IN" noProof="0" dirty="0"/>
              <a:t>3. Machine learning benefits from a dedicated GPU.</a:t>
            </a:r>
          </a:p>
          <a:p>
            <a:pPr lvl="1"/>
            <a:r>
              <a:rPr lang="en-IN" noProof="0" dirty="0"/>
              <a:t>4. Occasional gaming also requires a capable GPU.</a:t>
            </a:r>
          </a:p>
          <a:p>
            <a:pPr lvl="1"/>
            <a:r>
              <a:rPr lang="en-IN" noProof="0" dirty="0"/>
              <a:t>5. Compare available laptops within the budget.</a:t>
            </a:r>
          </a:p>
          <a:p>
            <a:pPr lvl="1"/>
            <a:r>
              <a:rPr lang="en-IN" noProof="0" dirty="0"/>
              <a:t>6. Laptop B offers:</a:t>
            </a:r>
          </a:p>
          <a:p>
            <a:pPr lvl="2"/>
            <a:r>
              <a:rPr lang="en-IN" noProof="0" dirty="0"/>
              <a:t>Intel Core i7 processor</a:t>
            </a:r>
          </a:p>
          <a:p>
            <a:pPr lvl="2"/>
            <a:r>
              <a:rPr lang="en-IN" noProof="0" dirty="0"/>
              <a:t>16 GB RAM</a:t>
            </a:r>
          </a:p>
          <a:p>
            <a:pPr lvl="2"/>
            <a:r>
              <a:rPr lang="en-IN" noProof="0" dirty="0"/>
              <a:t>NVIDIA RTX 4060 GPU</a:t>
            </a:r>
          </a:p>
          <a:p>
            <a:pPr lvl="2"/>
            <a:r>
              <a:rPr lang="en-IN" noProof="0" dirty="0"/>
              <a:t>1 TB SSD</a:t>
            </a:r>
          </a:p>
          <a:p>
            <a:pPr lvl="2"/>
            <a:r>
              <a:rPr lang="en-IN" noProof="0" dirty="0"/>
              <a:t>Price: $1,180</a:t>
            </a:r>
          </a:p>
          <a:p>
            <a:pPr lvl="1"/>
            <a:r>
              <a:rPr lang="en-IN" noProof="0" dirty="0"/>
              <a:t>Final Recommendation:</a:t>
            </a:r>
          </a:p>
          <a:p>
            <a:pPr lvl="2"/>
            <a:r>
              <a:rPr lang="en-IN" noProof="0" dirty="0"/>
              <a:t>Laptop B best satisfies the user's performance requirements while staying within budget.</a:t>
            </a:r>
          </a:p>
        </p:txBody>
      </p:sp>
    </p:spTree>
    <p:extLst>
      <p:ext uri="{BB962C8B-B14F-4D97-AF65-F5344CB8AC3E}">
        <p14:creationId xmlns:p14="http://schemas.microsoft.com/office/powerpoint/2010/main" val="12691560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BA65-E46D-7879-1E08-4B6D9223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Tree-of-Thought (</a:t>
            </a:r>
            <a:r>
              <a:rPr lang="en-IN" noProof="0" dirty="0" err="1"/>
              <a:t>ToT</a:t>
            </a:r>
            <a:r>
              <a:rPr lang="en-IN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1445-C0D3-B8CF-4771-7AC860385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Tree-of-Thought (</a:t>
            </a:r>
            <a:r>
              <a:rPr lang="en-IN" b="1" noProof="0" dirty="0" err="1"/>
              <a:t>ToT</a:t>
            </a:r>
            <a:r>
              <a:rPr lang="en-IN" b="1" noProof="0" dirty="0"/>
              <a:t>)</a:t>
            </a:r>
            <a:r>
              <a:rPr lang="en-IN" noProof="0" dirty="0"/>
              <a:t>: Extends Chain-of-Thought by allowing the model to explore multiple possible reasoning paths, evaluate them, discard weaker options, and choose the most promising solution</a:t>
            </a:r>
          </a:p>
          <a:p>
            <a:r>
              <a:rPr lang="en-IN" noProof="0" dirty="0"/>
              <a:t>Instead of following a single line of reasoning, </a:t>
            </a:r>
            <a:r>
              <a:rPr lang="en-IN" noProof="0" dirty="0" err="1"/>
              <a:t>ToT</a:t>
            </a:r>
            <a:r>
              <a:rPr lang="en-IN" noProof="0" dirty="0"/>
              <a:t> builds a tree of alternative approaches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1140912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6D83F-3A24-2DDC-4E6B-506D9F8C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67DB46-F417-E0CB-418F-650960251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86" y="83762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808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BDFD-2665-D8C8-6110-0225C47B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ABB3E-CFF0-200A-22F2-795303FA3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 err="1"/>
              <a:t>ReAct</a:t>
            </a:r>
            <a:r>
              <a:rPr lang="en-IN" b="1" noProof="0" dirty="0"/>
              <a:t> (Reason + Act)</a:t>
            </a:r>
            <a:r>
              <a:rPr lang="en-IN" noProof="0" dirty="0"/>
              <a:t>: A prompting technique where an AI model alternates between reasoning about the problem and taking actions such as calling tools, searching documents, querying databases, or invoking APIs</a:t>
            </a:r>
          </a:p>
          <a:p>
            <a:r>
              <a:rPr lang="en-IN" noProof="0" dirty="0"/>
              <a:t>Instead of relying only on its internal knowledge, the model thinks, acts, observes the result, and continues reasoning until it reaches an answer</a:t>
            </a:r>
          </a:p>
          <a:p>
            <a:r>
              <a:rPr lang="en-IN" noProof="0" dirty="0"/>
              <a:t>Workflow:  User Question -&gt; Thought ("What information do I need?") -&gt; Action (Call a tool / Search / API) -&gt; Observation -&gt; (Receive tool result) -&gt; Thought (Updated) -&gt; Final Answer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51540384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9C6E-AD6D-3DCF-EE51-5DAFC68F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287F-94C6-DB99-5B72-145406157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User query: I have ₹10 lakh to invest for the next 10 years. Should I invest in an equity mutual fund, a fixed deposit, or a balanced fund?</a:t>
            </a:r>
          </a:p>
          <a:p>
            <a:r>
              <a:rPr lang="en-IN" noProof="0" dirty="0" err="1"/>
              <a:t>ReAct</a:t>
            </a:r>
            <a:r>
              <a:rPr lang="en-IN" noProof="0" dirty="0"/>
              <a:t> execution</a:t>
            </a:r>
          </a:p>
          <a:p>
            <a:pPr lvl="1"/>
            <a:r>
              <a:rPr lang="en-IN" noProof="0" dirty="0"/>
              <a:t>Thought: To recommend an investment, I need the user's risk profile.</a:t>
            </a:r>
          </a:p>
          <a:p>
            <a:pPr lvl="1"/>
            <a:r>
              <a:rPr lang="en-IN" noProof="0" dirty="0" err="1"/>
              <a:t>Action:Call</a:t>
            </a:r>
            <a:r>
              <a:rPr lang="en-IN" noProof="0" dirty="0"/>
              <a:t> </a:t>
            </a:r>
            <a:r>
              <a:rPr lang="en-IN" noProof="0" dirty="0" err="1"/>
              <a:t>getCustomerProfile</a:t>
            </a:r>
            <a:r>
              <a:rPr lang="en-IN" noProof="0" dirty="0"/>
              <a:t>(</a:t>
            </a:r>
            <a:r>
              <a:rPr lang="en-IN" noProof="0" dirty="0" err="1"/>
              <a:t>customer_id</a:t>
            </a:r>
            <a:r>
              <a:rPr lang="en-IN" noProof="0" dirty="0"/>
              <a:t>)</a:t>
            </a:r>
          </a:p>
          <a:p>
            <a:pPr lvl="1"/>
            <a:r>
              <a:rPr lang="en-IN" noProof="0" dirty="0"/>
              <a:t>Observation: Age: 38, Risk Appetite: Moderate, Investment Horizon: 10 years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Thought: Now I should compare the expected returns and risk of the available investment options.</a:t>
            </a:r>
          </a:p>
          <a:p>
            <a:pPr lvl="1"/>
            <a:r>
              <a:rPr lang="en-IN" noProof="0" dirty="0"/>
              <a:t>Action: Call </a:t>
            </a:r>
            <a:r>
              <a:rPr lang="en-IN" noProof="0" dirty="0" err="1"/>
              <a:t>getInvestmentOptions</a:t>
            </a:r>
            <a:r>
              <a:rPr lang="en-IN" noProof="0" dirty="0"/>
              <a:t>(["Equity Mutual Fund",      "Fixed Deposit",      "Balanced Fund"])</a:t>
            </a:r>
          </a:p>
          <a:p>
            <a:pPr lvl="1"/>
            <a:r>
              <a:rPr lang="en-IN" noProof="0" dirty="0"/>
              <a:t>Observation: Equity Mutual Fund: Expected Return: 12%  Risk: High; Fixed Deposit: Expected Return: 7% Risk: Low; Balanced Fund: Expected Return: 10% Risk: Medium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Thought: The customer has a moderate risk appetite and a long investment horizon. A balanced fund provides a good balance between growth and risk.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Final Answer: Based on your moderate risk profile and 10-year investment horizon, a Balanced Fund is the most suitable option. It offers better growth potential than a Fixed Deposit while exposing you to less risk than an Equity Mutual Fund.</a:t>
            </a:r>
          </a:p>
          <a:p>
            <a:pPr lvl="1"/>
            <a:endParaRPr lang="en-IN" dirty="0"/>
          </a:p>
          <a:p>
            <a:r>
              <a:rPr lang="en-US" dirty="0"/>
              <a:t>Code example: 14_advanced\03_llm_examples\prompting_techniques.py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49888791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1F70-522D-09C9-B739-DC4E3766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Structured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5A7C1-9D70-8C9D-ACAD-3529E8421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LLMs often generate free-form text, which can be difficult for applications to parse reliably</a:t>
            </a:r>
          </a:p>
          <a:p>
            <a:r>
              <a:rPr lang="en-IN" b="1" noProof="0" dirty="0"/>
              <a:t>Structured outputs</a:t>
            </a:r>
            <a:r>
              <a:rPr lang="en-IN" noProof="0" dirty="0"/>
              <a:t>: Ensure that responses follow a predefined format (such as JSON), making them easier to integrate with applications, databases, APIs, and workflows</a:t>
            </a:r>
          </a:p>
          <a:p>
            <a:r>
              <a:rPr lang="en-IN" noProof="0" dirty="0"/>
              <a:t>Benefits:</a:t>
            </a:r>
          </a:p>
          <a:p>
            <a:pPr lvl="1"/>
            <a:r>
              <a:rPr lang="en-IN" noProof="0" dirty="0"/>
              <a:t>Consistent responses </a:t>
            </a:r>
          </a:p>
          <a:p>
            <a:pPr lvl="1"/>
            <a:r>
              <a:rPr lang="en-IN" noProof="0" dirty="0"/>
              <a:t>Easy machine parsing </a:t>
            </a:r>
          </a:p>
          <a:p>
            <a:pPr lvl="1"/>
            <a:r>
              <a:rPr lang="en-IN" noProof="0" dirty="0"/>
              <a:t>Reduced post-processing </a:t>
            </a:r>
          </a:p>
          <a:p>
            <a:pPr lvl="1"/>
            <a:r>
              <a:rPr lang="en-IN" noProof="0" dirty="0"/>
              <a:t>Reliable API integration </a:t>
            </a:r>
          </a:p>
          <a:p>
            <a:pPr lvl="1"/>
            <a:r>
              <a:rPr lang="en-IN" noProof="0" dirty="0"/>
              <a:t>Better validation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60805601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71AE4-EA0B-3B63-5A2D-911F2A92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E2D2-6BB3-DB11-9364-B2F8B12E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Structured Output Example (Code: </a:t>
            </a:r>
            <a:r>
              <a:rPr lang="en-US" dirty="0"/>
              <a:t>structured_output_investment_advisor.py)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1753B-77C9-4ACA-80BF-5FBBC812E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64292" cy="4351338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IN" noProof="0" dirty="0"/>
              <a:t>Free form</a:t>
            </a:r>
          </a:p>
          <a:p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The customer's risk profile is Moderate.</a:t>
            </a:r>
          </a:p>
          <a:p>
            <a:pPr marL="0" indent="0">
              <a:buNone/>
            </a:pPr>
            <a:r>
              <a:rPr lang="en-IN" noProof="0" dirty="0"/>
              <a:t>A balanced fund is recommended because it offers good long-term growth with moderate risk.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A2D29A-A1B1-5F3E-17F7-89E47B3C7905}"/>
              </a:ext>
            </a:extLst>
          </p:cNvPr>
          <p:cNvSpPr txBox="1">
            <a:spLocks/>
          </p:cNvSpPr>
          <p:nvPr/>
        </p:nvSpPr>
        <p:spPr>
          <a:xfrm>
            <a:off x="5256055" y="1825625"/>
            <a:ext cx="6693966" cy="43513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noProof="0" dirty="0"/>
              <a:t>Structured output (JSON)</a:t>
            </a:r>
          </a:p>
          <a:p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{</a:t>
            </a:r>
          </a:p>
          <a:p>
            <a:pPr marL="0" indent="0">
              <a:buNone/>
            </a:pPr>
            <a:r>
              <a:rPr lang="en-IN" noProof="0" dirty="0"/>
              <a:t>  "</a:t>
            </a:r>
            <a:r>
              <a:rPr lang="en-IN" noProof="0" dirty="0" err="1"/>
              <a:t>risk_profile</a:t>
            </a:r>
            <a:r>
              <a:rPr lang="en-IN" noProof="0" dirty="0"/>
              <a:t>": "Moderate",</a:t>
            </a:r>
          </a:p>
          <a:p>
            <a:pPr marL="0" indent="0">
              <a:buNone/>
            </a:pPr>
            <a:r>
              <a:rPr lang="en-IN" noProof="0" dirty="0"/>
              <a:t>  "</a:t>
            </a:r>
            <a:r>
              <a:rPr lang="en-IN" noProof="0" dirty="0" err="1"/>
              <a:t>recommended_product</a:t>
            </a:r>
            <a:r>
              <a:rPr lang="en-IN" noProof="0" dirty="0"/>
              <a:t>": "Balanced Fund",</a:t>
            </a:r>
          </a:p>
          <a:p>
            <a:pPr marL="0" indent="0">
              <a:buNone/>
            </a:pPr>
            <a:r>
              <a:rPr lang="en-IN" noProof="0" dirty="0"/>
              <a:t>  "</a:t>
            </a:r>
            <a:r>
              <a:rPr lang="en-IN" noProof="0" dirty="0" err="1"/>
              <a:t>investment_horizon_years</a:t>
            </a:r>
            <a:r>
              <a:rPr lang="en-IN" noProof="0" dirty="0"/>
              <a:t>": 10,</a:t>
            </a:r>
          </a:p>
          <a:p>
            <a:pPr marL="0" indent="0">
              <a:buNone/>
            </a:pPr>
            <a:r>
              <a:rPr lang="en-IN" noProof="0" dirty="0"/>
              <a:t>  "reason": "Provides balanced growth with moderate risk."</a:t>
            </a:r>
          </a:p>
          <a:p>
            <a:pPr marL="0" indent="0">
              <a:buNone/>
            </a:pPr>
            <a:r>
              <a:rPr lang="en-IN" noProof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568852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6BA8-D6F2-3346-8270-816CDCE2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028D-6BCE-3B29-C088-1C419B1C8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Function calling enables an LLM to decide when to invoke external functions (</a:t>
            </a:r>
            <a:r>
              <a:rPr lang="en-IN" b="1" noProof="0" dirty="0"/>
              <a:t>tools</a:t>
            </a:r>
            <a:r>
              <a:rPr lang="en-IN" noProof="0" dirty="0"/>
              <a:t>) instead of generating an answer directly</a:t>
            </a:r>
          </a:p>
          <a:p>
            <a:r>
              <a:rPr lang="en-IN" noProof="0" dirty="0"/>
              <a:t>Typical workflow: User query -&gt; Understand intent -&gt; Select appropriate tool -&gt; Generate function arguments -&gt; Execute function -&gt; Receive tool response -&gt; Generate final answer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2685698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7649-1ABC-0B92-148C-1194BDA4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Calling Example (Agents API)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6EB7E-F405-2222-E609-5DFF867FF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noProof="0" dirty="0"/>
              <a:t>First run DB creation code: "C:\code\agenticai\14_advanced\03_llm_examples\create_sales_db.py“</a:t>
            </a:r>
          </a:p>
          <a:p>
            <a:r>
              <a:rPr lang="en-IN" noProof="0" dirty="0"/>
              <a:t>Then run agent: "C:\code\agenticai\14_advanced\03_llm_examples\sales_db_agent.py“</a:t>
            </a:r>
          </a:p>
          <a:p>
            <a:r>
              <a:rPr lang="en-IN" noProof="0" dirty="0"/>
              <a:t>Other queries</a:t>
            </a:r>
          </a:p>
          <a:p>
            <a:pPr lvl="1"/>
            <a:r>
              <a:rPr lang="en-IN" noProof="0" dirty="0"/>
              <a:t>What is the total revenue for Laptop? </a:t>
            </a:r>
          </a:p>
          <a:p>
            <a:pPr lvl="1"/>
            <a:r>
              <a:rPr lang="en-IN" noProof="0" dirty="0"/>
              <a:t>Which product sold the highest quantity? </a:t>
            </a:r>
          </a:p>
          <a:p>
            <a:pPr lvl="1"/>
            <a:r>
              <a:rPr lang="en-IN" noProof="0" dirty="0"/>
              <a:t>Show the top three products by revenue. </a:t>
            </a:r>
          </a:p>
          <a:p>
            <a:pPr lvl="1"/>
            <a:r>
              <a:rPr lang="en-IN" noProof="0" dirty="0"/>
              <a:t>What was the total revenue in March 2026? </a:t>
            </a:r>
          </a:p>
          <a:p>
            <a:pPr lvl="1"/>
            <a:r>
              <a:rPr lang="en-IN" noProof="0" dirty="0"/>
              <a:t>Which products generated more than ₹200,000 in revenue? </a:t>
            </a:r>
          </a:p>
          <a:p>
            <a:pPr lvl="1"/>
            <a:r>
              <a:rPr lang="en-IN" noProof="0" dirty="0"/>
              <a:t>What is the average revenue per sale?</a:t>
            </a:r>
          </a:p>
        </p:txBody>
      </p:sp>
    </p:spTree>
    <p:extLst>
      <p:ext uri="{BB962C8B-B14F-4D97-AF65-F5344CB8AC3E}">
        <p14:creationId xmlns:p14="http://schemas.microsoft.com/office/powerpoint/2010/main" val="257121647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1B37-BBDB-BC26-D24B-8C4D1C46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Measuring and Optimising Token Usage with </a:t>
            </a:r>
            <a:r>
              <a:rPr lang="en-IN" noProof="0" dirty="0" err="1"/>
              <a:t>tiktoken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A8B1-B512-E24F-2FA8-F36CDE82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noProof="0" dirty="0"/>
              <a:t>LLMs charge based on the number of input and output tokens</a:t>
            </a:r>
          </a:p>
          <a:p>
            <a:r>
              <a:rPr lang="en-IN" noProof="0" dirty="0"/>
              <a:t>Measuring token usage helps:</a:t>
            </a:r>
          </a:p>
          <a:p>
            <a:pPr lvl="1"/>
            <a:r>
              <a:rPr lang="en-IN" noProof="0" dirty="0"/>
              <a:t>Estimate API cost </a:t>
            </a:r>
          </a:p>
          <a:p>
            <a:pPr lvl="1"/>
            <a:r>
              <a:rPr lang="en-IN" noProof="0" dirty="0"/>
              <a:t>Stay within context limits </a:t>
            </a:r>
          </a:p>
          <a:p>
            <a:pPr lvl="1"/>
            <a:r>
              <a:rPr lang="en-IN" noProof="0" dirty="0"/>
              <a:t>Reduce latency </a:t>
            </a:r>
          </a:p>
          <a:p>
            <a:pPr lvl="1"/>
            <a:r>
              <a:rPr lang="en-IN" noProof="0" dirty="0"/>
              <a:t>Improve application performance</a:t>
            </a:r>
          </a:p>
          <a:p>
            <a:r>
              <a:rPr lang="en-IN" noProof="0" dirty="0" err="1"/>
              <a:t>tiktoken</a:t>
            </a:r>
            <a:r>
              <a:rPr lang="en-IN" noProof="0" dirty="0"/>
              <a:t>: OpenAI's fast tokenizer library that lets us estimate the number of tokens before sending a request to the model (See next slide)</a:t>
            </a:r>
          </a:p>
          <a:p>
            <a:r>
              <a:rPr lang="en-IN" noProof="0" dirty="0"/>
              <a:t>Another option: </a:t>
            </a:r>
            <a:r>
              <a:rPr lang="en-IN" noProof="0" dirty="0">
                <a:hlinkClick r:id="rId2"/>
              </a:rPr>
              <a:t>https://platform.openai.com/tokenizer</a:t>
            </a:r>
            <a:endParaRPr lang="en-IN" noProof="0" dirty="0"/>
          </a:p>
          <a:p>
            <a:r>
              <a:rPr lang="en-IN" dirty="0"/>
              <a:t>Code: </a:t>
            </a:r>
            <a:r>
              <a:rPr lang="en-US" dirty="0"/>
              <a:t>14_advanced\03_llm_examples\tiktoken_tokenization_example.py</a:t>
            </a:r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61130015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AF096-2F48-4D3B-685F-73C96B40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Evaluating and benchmarking LLM output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A0603-DAA2-1C0C-D40F-7CA7ACF73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Problem: Unlike traditional software, LLMs can produce different outputs for the same input</a:t>
            </a:r>
          </a:p>
          <a:p>
            <a:r>
              <a:rPr lang="en-IN" noProof="0" dirty="0"/>
              <a:t>Evaluation helps determine whether responses are:</a:t>
            </a:r>
          </a:p>
          <a:p>
            <a:pPr lvl="1"/>
            <a:r>
              <a:rPr lang="en-IN" noProof="0" dirty="0"/>
              <a:t>Correct </a:t>
            </a:r>
          </a:p>
          <a:p>
            <a:pPr lvl="1"/>
            <a:r>
              <a:rPr lang="en-IN" noProof="0" dirty="0"/>
              <a:t>Relevant </a:t>
            </a:r>
          </a:p>
          <a:p>
            <a:pPr lvl="1"/>
            <a:r>
              <a:rPr lang="en-IN" noProof="0" dirty="0"/>
              <a:t>Complete </a:t>
            </a:r>
          </a:p>
          <a:p>
            <a:pPr lvl="1"/>
            <a:r>
              <a:rPr lang="en-IN" noProof="0" dirty="0"/>
              <a:t>Safe </a:t>
            </a:r>
          </a:p>
          <a:p>
            <a:pPr lvl="1"/>
            <a:r>
              <a:rPr lang="en-IN" noProof="0" dirty="0"/>
              <a:t>Consistent </a:t>
            </a:r>
          </a:p>
          <a:p>
            <a:r>
              <a:rPr lang="en-IN" noProof="0" dirty="0"/>
              <a:t>Systematic evaluation is essential before deploying LLM-powered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40379558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B4F1-3D6D-903C-576B-D1A87D75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What Should be Measured?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ACB50D-7F9D-F1AB-1DEE-7159284C11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4061180"/>
              </p:ext>
            </p:extLst>
          </p:nvPr>
        </p:nvGraphicFramePr>
        <p:xfrm>
          <a:off x="838200" y="2263934"/>
          <a:ext cx="10515600" cy="292608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058563">
                  <a:extLst>
                    <a:ext uri="{9D8B030D-6E8A-4147-A177-3AD203B41FA5}">
                      <a16:colId xmlns:a16="http://schemas.microsoft.com/office/drawing/2014/main" val="51788477"/>
                    </a:ext>
                  </a:extLst>
                </a:gridCol>
                <a:gridCol w="4404477">
                  <a:extLst>
                    <a:ext uri="{9D8B030D-6E8A-4147-A177-3AD203B41FA5}">
                      <a16:colId xmlns:a16="http://schemas.microsoft.com/office/drawing/2014/main" val="2425566453"/>
                    </a:ext>
                  </a:extLst>
                </a:gridCol>
                <a:gridCol w="4052560">
                  <a:extLst>
                    <a:ext uri="{9D8B030D-6E8A-4147-A177-3AD203B41FA5}">
                      <a16:colId xmlns:a16="http://schemas.microsoft.com/office/drawing/2014/main" val="574127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Example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243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Is the answer factually correct?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Is the investment advice correct?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301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Relevance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Does it answer the user's question?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Did it answer the actual query?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95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Completeness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Are all required points covered?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Were all symptoms addressed?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85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Consistency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Are similar questions answered similarly?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 repeated queries give similar advice?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468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Safety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Does it avoid harmful or biased content?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Does it refuse unsafe requests?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125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How quickly does it respond?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Is the response time acceptable?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865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How many tokens are consumed?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Is the application economical?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206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79142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6D909B-2849-D039-A817-1443717E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04: Embeddings, Vector Databases and Semantic 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AF933D-3A68-1B5C-D115-B7A8B4D0B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85784214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A212A-11C4-FFF9-66BB-EE2F75AD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9240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8B101-FD34-816A-C583-A75C4F50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FA7F8D-3905-B259-0C35-26A51C6A4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" y="0"/>
            <a:ext cx="12103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0417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CB09-B91C-5451-C798-78CB8DDB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E9B6A-9D11-0C0F-22D4-FD5070DE0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178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144E-D103-B822-0E2B-3C5EF110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62F8B-BF29-FB00-0468-355F54A48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2193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0B84-177A-6DD9-162A-D0D2B1FC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495C16-BBB9-4250-1779-820FDCDC8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4794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F346-F079-A88A-56EA-44457E9D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AC1B1-2992-A5B7-C895-3BEEDB0A4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4235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F1C6-AE6D-7AD9-7CB8-DCADA8B1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1CAC3A-BE67-8D4B-4A51-349D9AC5A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6694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C76F-89B2-2CFA-D82B-4DD158E3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9FE05-6E93-FE9D-0880-A33E19991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2881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833D-4454-2706-1D32-4B30D854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33621-B124-8D44-4EF3-68B5ECF87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398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20EA-6F36-B2F4-2E82-A3981EBD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84A7E-8258-EC7F-ACB3-7FA4B29C3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6934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BB6B-7D86-1187-A9BD-2DF3F59D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D4FEA-289D-5F46-4E67-1AFE93F7C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Creating documents</a:t>
            </a:r>
          </a:p>
          <a:p>
            <a:pPr marL="457200" lvl="1" indent="0">
              <a:buNone/>
            </a:pPr>
            <a:r>
              <a:rPr lang="en-IN" noProof="0" dirty="0"/>
              <a:t>import </a:t>
            </a:r>
            <a:r>
              <a:rPr lang="en-IN" noProof="0" dirty="0" err="1"/>
              <a:t>chromadb</a:t>
            </a:r>
            <a:endParaRPr lang="en-IN" noProof="0" dirty="0"/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client = </a:t>
            </a:r>
            <a:r>
              <a:rPr lang="en-IN" noProof="0" dirty="0" err="1"/>
              <a:t>chromadb.PersistentClient</a:t>
            </a:r>
            <a:r>
              <a:rPr lang="en-IN" noProof="0" dirty="0"/>
              <a:t>(path="./</a:t>
            </a:r>
            <a:r>
              <a:rPr lang="en-IN" noProof="0" dirty="0" err="1"/>
              <a:t>chroma_db</a:t>
            </a:r>
            <a:r>
              <a:rPr lang="en-IN" noProof="0" dirty="0"/>
              <a:t>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collection = </a:t>
            </a:r>
            <a:r>
              <a:rPr lang="en-IN" noProof="0" dirty="0" err="1"/>
              <a:t>client.get_or_create_collection</a:t>
            </a:r>
            <a:r>
              <a:rPr lang="en-IN" noProof="0" dirty="0"/>
              <a:t>("employees")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 err="1"/>
              <a:t>collection.add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ids=["1", "2"],</a:t>
            </a:r>
          </a:p>
          <a:p>
            <a:pPr marL="457200" lvl="1" indent="0">
              <a:buNone/>
            </a:pPr>
            <a:r>
              <a:rPr lang="en-IN" noProof="0" dirty="0"/>
              <a:t>    documents=[</a:t>
            </a:r>
          </a:p>
          <a:p>
            <a:pPr marL="457200" lvl="1" indent="0">
              <a:buNone/>
            </a:pPr>
            <a:r>
              <a:rPr lang="en-IN" noProof="0" dirty="0"/>
              <a:t>        "Alice works in Finance.",</a:t>
            </a:r>
          </a:p>
          <a:p>
            <a:pPr marL="457200" lvl="1" indent="0">
              <a:buNone/>
            </a:pPr>
            <a:r>
              <a:rPr lang="en-IN" noProof="0" dirty="0"/>
              <a:t>        "Bob works in HR."</a:t>
            </a:r>
          </a:p>
          <a:p>
            <a:pPr marL="457200" lvl="1" indent="0">
              <a:buNone/>
            </a:pPr>
            <a:r>
              <a:rPr lang="en-IN" noProof="0" dirty="0"/>
              <a:t>    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</a:t>
            </a:r>
          </a:p>
          <a:p>
            <a:pPr marL="457200" lvl="1" indent="0">
              <a:buNone/>
            </a:pPr>
            <a:r>
              <a:rPr lang="en-IN" noProof="0" dirty="0"/>
              <a:t>        {"department": "Finance"},</a:t>
            </a:r>
          </a:p>
          <a:p>
            <a:pPr marL="457200" lvl="1" indent="0">
              <a:buNone/>
            </a:pPr>
            <a:r>
              <a:rPr lang="en-IN" noProof="0" dirty="0"/>
              <a:t>        {"department": "HR"}</a:t>
            </a:r>
          </a:p>
          <a:p>
            <a:pPr marL="457200" lvl="1" indent="0">
              <a:buNone/>
            </a:pPr>
            <a:r>
              <a:rPr lang="en-IN" noProof="0" dirty="0"/>
              <a:t>    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477090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E774-363C-D3C3-096F-DFC435D8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B90A-7AC9-6D14-4369-B1B39531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922F-DECB-F1EC-0029-2227FE4AC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Reading documents</a:t>
            </a:r>
          </a:p>
          <a:p>
            <a:pPr marL="457200" lvl="1" indent="0">
              <a:buNone/>
            </a:pPr>
            <a:r>
              <a:rPr lang="en-IN" noProof="0" dirty="0"/>
              <a:t>result = </a:t>
            </a:r>
            <a:r>
              <a:rPr lang="en-IN" noProof="0" dirty="0" err="1"/>
              <a:t>collection.get</a:t>
            </a:r>
            <a:r>
              <a:rPr lang="en-IN" noProof="0" dirty="0"/>
              <a:t>(ids=["1"])</a:t>
            </a:r>
          </a:p>
          <a:p>
            <a:pPr marL="457200" lvl="1" indent="0">
              <a:buNone/>
            </a:pPr>
            <a:r>
              <a:rPr lang="en-IN" noProof="0" dirty="0"/>
              <a:t>print(result["documents"])</a:t>
            </a:r>
          </a:p>
          <a:p>
            <a:r>
              <a:rPr lang="en-IN" noProof="0" dirty="0"/>
              <a:t>Updating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collection.update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ids=["1"],</a:t>
            </a:r>
          </a:p>
          <a:p>
            <a:pPr marL="457200" lvl="1" indent="0">
              <a:buNone/>
            </a:pPr>
            <a:r>
              <a:rPr lang="en-IN" noProof="0" dirty="0"/>
              <a:t>    documents=["Alice is now the Finance Manager."],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=[{"department": "Finance"}]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  <a:p>
            <a:r>
              <a:rPr lang="en-IN" noProof="0" dirty="0"/>
              <a:t>Deleting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collection.delete</a:t>
            </a:r>
            <a:r>
              <a:rPr lang="en-IN" noProof="0" dirty="0"/>
              <a:t>(ids=["2"])</a:t>
            </a:r>
          </a:p>
        </p:txBody>
      </p:sp>
    </p:spTree>
    <p:extLst>
      <p:ext uri="{BB962C8B-B14F-4D97-AF65-F5344CB8AC3E}">
        <p14:creationId xmlns:p14="http://schemas.microsoft.com/office/powerpoint/2010/main" val="26298784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966F-0FE0-01C6-66F2-31148993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r>
              <a:rPr lang="en-IN" noProof="0" dirty="0"/>
              <a:t> -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03AA-B45B-00B3-502A-FEDF7017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noProof="0" dirty="0"/>
              <a:t>results = </a:t>
            </a:r>
            <a:r>
              <a:rPr lang="en-IN" noProof="0" dirty="0" err="1"/>
              <a:t>collection.query</a:t>
            </a:r>
            <a:r>
              <a:rPr lang="en-IN" noProof="0" dirty="0"/>
              <a:t>(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query_texts</a:t>
            </a:r>
            <a:r>
              <a:rPr lang="en-IN" noProof="0" dirty="0"/>
              <a:t>=["budget"],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n_results</a:t>
            </a:r>
            <a:r>
              <a:rPr lang="en-IN" noProof="0" dirty="0"/>
              <a:t>=5,</a:t>
            </a:r>
          </a:p>
          <a:p>
            <a:pPr marL="0" indent="0">
              <a:buNone/>
            </a:pPr>
            <a:r>
              <a:rPr lang="en-IN" noProof="0" dirty="0"/>
              <a:t>    where={"department": "Finance"}</a:t>
            </a:r>
          </a:p>
          <a:p>
            <a:pPr marL="0" indent="0">
              <a:buNone/>
            </a:pPr>
            <a:r>
              <a:rPr lang="en-IN" noProof="0" dirty="0"/>
              <a:t>)</a:t>
            </a:r>
          </a:p>
          <a:p>
            <a:pPr marL="0" indent="0">
              <a:buNone/>
            </a:pPr>
            <a:endParaRPr lang="en-IN" noProof="0" dirty="0"/>
          </a:p>
          <a:p>
            <a:r>
              <a:rPr lang="en-IN" noProof="0" dirty="0"/>
              <a:t>Code: C:\code\agenticai\14_advanced\04_rag\chromadb_search.py and chromadb_crud.py</a:t>
            </a:r>
          </a:p>
          <a:p>
            <a:pPr marL="0" indent="0">
              <a:buNone/>
            </a:pP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51629335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A3CF-8697-37A6-D92D-40430B68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FAISS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0687-13EE-CEB0-0403-E78720C6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FAISS (Facebook AI Similarity Search)</a:t>
            </a:r>
            <a:r>
              <a:rPr lang="en-IN" noProof="0" dirty="0"/>
              <a:t>: An open-source library developed by Meta for efficient similarity search and clustering of dense vectors (embeddings)</a:t>
            </a:r>
          </a:p>
          <a:p>
            <a:r>
              <a:rPr lang="en-IN" noProof="0" dirty="0"/>
              <a:t>Uses index for very fast search</a:t>
            </a:r>
          </a:p>
          <a:p>
            <a:r>
              <a:rPr lang="en-IN" noProof="0" dirty="0"/>
              <a:t>Why needed?</a:t>
            </a:r>
          </a:p>
          <a:p>
            <a:pPr lvl="1"/>
            <a:r>
              <a:rPr lang="en-IN" noProof="0" dirty="0"/>
              <a:t>Suppose we have 1 million documents and user asks </a:t>
            </a:r>
            <a:r>
              <a:rPr lang="en-IN" i="1" noProof="0" dirty="0"/>
              <a:t>What is machine learning?</a:t>
            </a:r>
            <a:endParaRPr lang="en-IN" noProof="0" dirty="0"/>
          </a:p>
          <a:p>
            <a:pPr lvl="1"/>
            <a:r>
              <a:rPr lang="en-IN" noProof="0" dirty="0"/>
              <a:t>Without FAISS: Query embedding -&gt; Compare with document 1 -&gt; Compare with document 2 -&gt; … -&gt; Compare with document 1000000 (Linear search)</a:t>
            </a:r>
          </a:p>
          <a:p>
            <a:pPr lvl="1"/>
            <a:r>
              <a:rPr lang="en-IN" noProof="0" dirty="0"/>
              <a:t>With FAISS: Query embedding -&gt; FAISS index -&gt; Top 5 results</a:t>
            </a:r>
          </a:p>
        </p:txBody>
      </p:sp>
    </p:spTree>
    <p:extLst>
      <p:ext uri="{BB962C8B-B14F-4D97-AF65-F5344CB8AC3E}">
        <p14:creationId xmlns:p14="http://schemas.microsoft.com/office/powerpoint/2010/main" val="426527262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DD85B-12B1-96CE-C010-7823E5B7B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3959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6B79-DFBB-6496-E5DC-34CDB86F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9C0F-0636-DF97-5A4D-C7972190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285"/>
            <a:ext cx="10515600" cy="732489"/>
          </a:xfrm>
        </p:spPr>
        <p:txBody>
          <a:bodyPr/>
          <a:lstStyle/>
          <a:p>
            <a:r>
              <a:rPr lang="en-IN" noProof="0" dirty="0"/>
              <a:t>FAISS Index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B52E4-7639-1146-672A-86EE44190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003"/>
            <a:ext cx="10515600" cy="5122960"/>
          </a:xfrm>
        </p:spPr>
        <p:txBody>
          <a:bodyPr>
            <a:normAutofit/>
          </a:bodyPr>
          <a:lstStyle/>
          <a:p>
            <a:r>
              <a:rPr lang="en-IN" noProof="0" dirty="0"/>
              <a:t>FAISS provides multiple indexing algorithms because different applications have different requirements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8C29E-14D8-EEA6-D473-AD27892C5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032620"/>
              </p:ext>
            </p:extLst>
          </p:nvPr>
        </p:nvGraphicFramePr>
        <p:xfrm>
          <a:off x="761418" y="1949512"/>
          <a:ext cx="10515600" cy="457200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050898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630694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800608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9090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Flat L2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IVF (Inverted File)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HNSW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121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Search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Approximate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Approximate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22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030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Search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874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Memory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219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Training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80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Small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Real-time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258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How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Stores all vectors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Computes distance between query vector and every vector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Returns nearest neighbours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Clusters vectors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Finds the closest cluster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Searches only inside the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Builds a graph where every vector connects to nearby vectors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Instead of scanning vectors, the search navigates through the 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917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58719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DA7CF3-D240-C115-2CA0-B40EA49C3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1424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35E7-62C4-1D46-3086-64A91449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683"/>
            <a:ext cx="10515600" cy="376928"/>
          </a:xfrm>
        </p:spPr>
        <p:txBody>
          <a:bodyPr>
            <a:noAutofit/>
          </a:bodyPr>
          <a:lstStyle/>
          <a:p>
            <a:r>
              <a:rPr lang="en-IN" sz="2000" dirty="0"/>
              <a:t>14_advanced\04_rag\faiss_search.py</a:t>
            </a:r>
            <a:endParaRPr lang="en-GB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4E7D11-B2BF-2041-DDD7-BD384BBB2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5019" y="788988"/>
            <a:ext cx="8081962" cy="538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4371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B8FA-124E-AEF6-EB4C-5C79F37D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Nearest-neighbour retrieval: understanding similarity metrics (cosine, L2, dot product)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CF9F-7696-4EBE-F3FC-51B871099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Common similarity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375B3D-D8B8-C579-BDD5-C95A5E669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63462"/>
              </p:ext>
            </p:extLst>
          </p:nvPr>
        </p:nvGraphicFramePr>
        <p:xfrm>
          <a:off x="949882" y="2446116"/>
          <a:ext cx="10515600" cy="14630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220997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2630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4104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841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Angle between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758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L2 Distance (Euclidean)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Straight-line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Smaller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33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Dot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Alignment and magnitude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097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74543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C3F1-82DD-6BCA-B5E1-B064A8F9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12AB4-DC12-E2E2-8E57-C9855EE99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b="1" noProof="0" dirty="0"/>
                  <a:t>Cosine similarity</a:t>
                </a:r>
                <a:r>
                  <a:rPr lang="en-IN" noProof="0" dirty="0"/>
                  <a:t>: Compares the angle between two vectors, ignoring their lengths</a:t>
                </a:r>
              </a:p>
              <a:p>
                <a:r>
                  <a:rPr lang="en-IN" noProof="0" dirty="0"/>
                  <a:t>Cosine Similarity=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0" noProof="0" smtClean="0"/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0" noProof="0" smtClean="0"/>
                          <m:t>A⋅B​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i="0" noProof="0" smtClean="0"/>
                          <m:t>∥A∥∥B∥</m:t>
                        </m:r>
                      </m:den>
                    </m:f>
                  </m:oMath>
                </a14:m>
                <a:endParaRPr lang="en-IN" noProof="0" dirty="0"/>
              </a:p>
              <a:p>
                <a:endParaRPr lang="en-IN" noProof="0" dirty="0"/>
              </a:p>
              <a:p>
                <a:r>
                  <a:rPr lang="en-IN" b="1" noProof="0" dirty="0"/>
                  <a:t>L2 distance (Euclidean distance)</a:t>
                </a:r>
                <a:r>
                  <a:rPr lang="en-IN" noProof="0" dirty="0"/>
                  <a:t>: Straight-line distance between two vectors</a:t>
                </a:r>
              </a:p>
              <a:p>
                <a:r>
                  <a:rPr lang="en-IN" noProof="0" dirty="0"/>
                  <a:t>L2 distance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subHide m:val="on"/>
                            <m:supHide m:val="on"/>
                            <m:ctrlPr>
                              <a:rPr lang="en-IN" i="1" noProof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i="0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noProof="0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i="0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IN" noProof="0" dirty="0"/>
                  <a:t> for all </a:t>
                </a:r>
                <a:r>
                  <a:rPr lang="en-IN" noProof="0" dirty="0" err="1"/>
                  <a:t>i</a:t>
                </a:r>
                <a:endParaRPr lang="en-IN" noProof="0" dirty="0"/>
              </a:p>
              <a:p>
                <a:endParaRPr lang="en-IN" noProof="0" dirty="0"/>
              </a:p>
              <a:p>
                <a:r>
                  <a:rPr lang="en-IN" b="1" noProof="0" dirty="0"/>
                  <a:t>Dot product</a:t>
                </a:r>
                <a:r>
                  <a:rPr lang="en-IN" noProof="0" dirty="0"/>
                  <a:t>:​ How two vectors align, while also considering their magnitude</a:t>
                </a:r>
              </a:p>
              <a:p>
                <a:r>
                  <a:rPr lang="en-IN" noProof="0" dirty="0"/>
                  <a:t>Dot product = A.B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bHide m:val="on"/>
                        <m:supHide m:val="on"/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"/>
                            <m:endChr m:val=""/>
                            <m:ctrlPr>
                              <a:rPr lang="en-IN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IN" noProof="0" dirty="0"/>
                  <a:t> for all </a:t>
                </a:r>
                <a:r>
                  <a:rPr lang="en-IN" noProof="0" dirty="0" err="1"/>
                  <a:t>i</a:t>
                </a:r>
                <a:endParaRPr lang="en-IN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12AB4-DC12-E2E2-8E57-C9855EE99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406" b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38031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9FE7-8EFE-9D41-6865-2B536D4D3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r>
              <a:rPr lang="en-IN" noProof="0" dirty="0"/>
              <a:t> versus FAISS – Benchmarking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06CC5C-05A6-3E51-5326-C6153E74B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5058563"/>
              </p:ext>
            </p:extLst>
          </p:nvPr>
        </p:nvGraphicFramePr>
        <p:xfrm>
          <a:off x="838200" y="2004970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412765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732088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8169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Number of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ChromaDB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FAISS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740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5–10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2–5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710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20–50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5–15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664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 Million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100–500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20–80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508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 Million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Seconds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&lt;200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280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18873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4A3F-F8C2-9973-22A5-79F7E76D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RAG - Chunking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57F23-98DF-A1B5-A9D5-2E7F7D9F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Why can we not send an entire document to LLM?</a:t>
            </a:r>
          </a:p>
          <a:p>
            <a:pPr marL="971550" lvl="1" indent="-514350">
              <a:buAutoNum type="arabicPeriod"/>
            </a:pPr>
            <a:r>
              <a:rPr lang="en-IN" dirty="0"/>
              <a:t>Limited context window</a:t>
            </a:r>
          </a:p>
          <a:p>
            <a:pPr marL="971550" lvl="1" indent="-514350">
              <a:buAutoNum type="arabicPeriod"/>
            </a:pPr>
            <a:r>
              <a:rPr lang="en-IN" noProof="0" dirty="0"/>
              <a:t>Faster responses</a:t>
            </a:r>
          </a:p>
          <a:p>
            <a:pPr marL="971550" lvl="1" indent="-514350">
              <a:buAutoNum type="arabicPeriod"/>
            </a:pPr>
            <a:r>
              <a:rPr lang="en-IN" dirty="0"/>
              <a:t>Embedding model have lower context windows</a:t>
            </a:r>
          </a:p>
          <a:p>
            <a:pPr marL="971550" lvl="1" indent="-514350">
              <a:buAutoNum type="arabicPeriod"/>
            </a:pPr>
            <a:r>
              <a:rPr lang="en-IN" noProof="0" dirty="0"/>
              <a:t>Better retrieval quality</a:t>
            </a:r>
          </a:p>
          <a:p>
            <a:r>
              <a:rPr lang="en-IN" noProof="0" dirty="0"/>
              <a:t>Basic RAG using </a:t>
            </a:r>
            <a:r>
              <a:rPr lang="en-IN" noProof="0" dirty="0" err="1"/>
              <a:t>LangChain</a:t>
            </a:r>
            <a:r>
              <a:rPr lang="en-IN" noProof="0" dirty="0"/>
              <a:t>: 3_1_langchain_rag.py</a:t>
            </a:r>
          </a:p>
        </p:txBody>
      </p:sp>
    </p:spTree>
    <p:extLst>
      <p:ext uri="{BB962C8B-B14F-4D97-AF65-F5344CB8AC3E}">
        <p14:creationId xmlns:p14="http://schemas.microsoft.com/office/powerpoint/2010/main" val="335311100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F47A-C9DC-733C-BF1B-D2300A03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5431-88D7-9405-E826-69F47CAA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2"/>
            <a:ext cx="10515600" cy="558412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Chunking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6ED7-CF50-8744-CEF3-ED557EADB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065" y="760836"/>
            <a:ext cx="5346215" cy="589124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Fixed-size chunking</a:t>
            </a:r>
          </a:p>
          <a:p>
            <a:pPr lvl="1"/>
            <a:r>
              <a:rPr lang="en-US" dirty="0"/>
              <a:t>Split text into chunks of a fixed number of characters or tokens</a:t>
            </a:r>
          </a:p>
          <a:p>
            <a:pPr lvl="1"/>
            <a:r>
              <a:rPr lang="en-US" dirty="0"/>
              <a:t>Simple, but may split sentences or ideas</a:t>
            </a:r>
          </a:p>
          <a:p>
            <a:pPr lvl="1"/>
            <a:r>
              <a:rPr lang="en-US" dirty="0"/>
              <a:t>Solution: Use overlapping chunks</a:t>
            </a:r>
          </a:p>
          <a:p>
            <a:r>
              <a:rPr lang="en-US" dirty="0"/>
              <a:t>Sentence / Paragraph chunking</a:t>
            </a:r>
          </a:p>
          <a:p>
            <a:pPr lvl="1"/>
            <a:r>
              <a:rPr lang="en-US" dirty="0"/>
              <a:t>Split at natural boundaries such as sentences or paragraphs</a:t>
            </a:r>
          </a:p>
          <a:p>
            <a:pPr lvl="1"/>
            <a:r>
              <a:rPr lang="en-US" dirty="0"/>
              <a:t>Preserves readability and context</a:t>
            </a:r>
          </a:p>
          <a:p>
            <a:r>
              <a:rPr lang="en-US" dirty="0"/>
              <a:t>Recursive chunking</a:t>
            </a:r>
          </a:p>
          <a:p>
            <a:pPr lvl="1"/>
            <a:r>
              <a:rPr lang="en-US" dirty="0"/>
              <a:t>Split using progressively smaller units: Paragraph → Sentence → Clause</a:t>
            </a:r>
          </a:p>
          <a:p>
            <a:pPr lvl="1"/>
            <a:r>
              <a:rPr lang="en-US" dirty="0"/>
              <a:t>Maintains structure while meeting the desired chunk size.</a:t>
            </a:r>
          </a:p>
          <a:p>
            <a:r>
              <a:rPr lang="en-US" dirty="0"/>
              <a:t>Document-structure chunking</a:t>
            </a:r>
          </a:p>
          <a:p>
            <a:pPr lvl="1"/>
            <a:r>
              <a:rPr lang="en-US" dirty="0"/>
              <a:t>Use document structure such as headings, sections, or Markdown (#, ##, ###)</a:t>
            </a:r>
          </a:p>
          <a:p>
            <a:pPr lvl="1"/>
            <a:r>
              <a:rPr lang="en-US" dirty="0"/>
              <a:t>Keeps related content together</a:t>
            </a:r>
          </a:p>
          <a:p>
            <a:r>
              <a:rPr lang="en-US" dirty="0"/>
              <a:t>Semantic chunking</a:t>
            </a:r>
          </a:p>
          <a:p>
            <a:pPr lvl="1"/>
            <a:r>
              <a:rPr lang="en-US" dirty="0"/>
              <a:t>Group text based on meaning or topic instead of size</a:t>
            </a:r>
          </a:p>
          <a:p>
            <a:pPr lvl="1"/>
            <a:r>
              <a:rPr lang="en-US" dirty="0"/>
              <a:t>Produces the most meaningful chunks but is computationally more expensive</a:t>
            </a:r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E41781-85A8-959A-3351-3F8FA7C5B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43741"/>
              </p:ext>
            </p:extLst>
          </p:nvPr>
        </p:nvGraphicFramePr>
        <p:xfrm>
          <a:off x="5646944" y="1863970"/>
          <a:ext cx="6488633" cy="21945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706887">
                  <a:extLst>
                    <a:ext uri="{9D8B030D-6E8A-4147-A177-3AD203B41FA5}">
                      <a16:colId xmlns:a16="http://schemas.microsoft.com/office/drawing/2014/main" val="3960344284"/>
                    </a:ext>
                  </a:extLst>
                </a:gridCol>
                <a:gridCol w="3781746">
                  <a:extLst>
                    <a:ext uri="{9D8B030D-6E8A-4147-A177-3AD203B41FA5}">
                      <a16:colId xmlns:a16="http://schemas.microsoft.com/office/drawing/2014/main" val="2190642293"/>
                    </a:ext>
                  </a:extLst>
                </a:gridCol>
              </a:tblGrid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283050"/>
                  </a:ext>
                </a:extLst>
              </a:tr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Fixed-size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 text, quick prototyping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437358"/>
                  </a:ext>
                </a:extLst>
              </a:tr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Sentence / Paragraph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Articles,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22379"/>
                  </a:ext>
                </a:extLst>
              </a:tr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Recursive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General-purpose RAG (most common)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189340"/>
                  </a:ext>
                </a:extLst>
              </a:tr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Document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Markdown, manuals,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2079627"/>
                  </a:ext>
                </a:extLst>
              </a:tr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Semantic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High-quality enterprise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278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79381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63A0-878C-061A-F72A-096E2951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Retrieval – Two Stage Retrieval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9D3CA-387A-27B9-A36A-C791D36D1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Why?</a:t>
            </a:r>
          </a:p>
          <a:p>
            <a:pPr lvl="1"/>
            <a:r>
              <a:rPr lang="en-GB" dirty="0"/>
              <a:t>Retrieve more relevant documents before sending them to the LLM</a:t>
            </a:r>
          </a:p>
          <a:p>
            <a:r>
              <a:rPr lang="en-GB" b="1" dirty="0"/>
              <a:t>Stage 1: Candidate Generation</a:t>
            </a:r>
          </a:p>
          <a:p>
            <a:pPr lvl="1"/>
            <a:r>
              <a:rPr lang="en-GB" dirty="0"/>
              <a:t>Retrieve a set of potentially relevant chunks</a:t>
            </a:r>
          </a:p>
          <a:p>
            <a:pPr lvl="1"/>
            <a:r>
              <a:rPr lang="en-GB" dirty="0"/>
              <a:t>Goal: High </a:t>
            </a:r>
            <a:r>
              <a:rPr lang="en-GB" b="1" dirty="0"/>
              <a:t>recall </a:t>
            </a:r>
            <a:r>
              <a:rPr lang="en-GB" dirty="0"/>
              <a:t>(do not miss useful information)</a:t>
            </a:r>
          </a:p>
          <a:p>
            <a:r>
              <a:rPr lang="en-GB" b="1" dirty="0"/>
              <a:t>Stage 2: Reranking</a:t>
            </a:r>
          </a:p>
          <a:p>
            <a:pPr lvl="1"/>
            <a:r>
              <a:rPr lang="en-GB" dirty="0"/>
              <a:t>Reorder the retrieved chunks using a more accurate model</a:t>
            </a:r>
          </a:p>
          <a:p>
            <a:pPr lvl="1"/>
            <a:r>
              <a:rPr lang="en-GB" dirty="0"/>
              <a:t>Goal: High </a:t>
            </a:r>
            <a:r>
              <a:rPr lang="en-GB" b="1" dirty="0"/>
              <a:t>precision</a:t>
            </a:r>
            <a:r>
              <a:rPr lang="en-GB" dirty="0"/>
              <a:t> (best chunks first)</a:t>
            </a:r>
          </a:p>
          <a:p>
            <a:pPr lvl="1"/>
            <a:r>
              <a:rPr lang="en-GB" dirty="0"/>
              <a:t>Types of reranking</a:t>
            </a:r>
          </a:p>
          <a:p>
            <a:pPr lvl="2"/>
            <a:r>
              <a:rPr lang="en-GB" b="1" dirty="0"/>
              <a:t>Relevance reranking </a:t>
            </a:r>
          </a:p>
          <a:p>
            <a:pPr lvl="2"/>
            <a:r>
              <a:rPr lang="en-GB" b="1" dirty="0"/>
              <a:t>Maximum Marginal Relevance (MMR) </a:t>
            </a:r>
          </a:p>
          <a:p>
            <a:pPr lvl="2"/>
            <a:r>
              <a:rPr lang="en-GB" b="1" dirty="0"/>
              <a:t>Custom reranking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73497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C6FA-02F1-8E02-0A4D-12FBD4AD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Relevance Reranking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1D431-44A1-045D-19A3-F49712518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Query: </a:t>
            </a:r>
            <a:r>
              <a:rPr lang="en-GB" dirty="0"/>
              <a:t>How do I reset my Windows password?</a:t>
            </a:r>
          </a:p>
          <a:p>
            <a:pPr lvl="1"/>
            <a:r>
              <a:rPr lang="en-GB" dirty="0"/>
              <a:t>Initial Vector Search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Change Windows password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Reset forgotten Windows password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Windows login troubleshooting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Password manager </a:t>
            </a:r>
          </a:p>
          <a:p>
            <a:pPr lvl="1"/>
            <a:r>
              <a:rPr lang="en-GB" dirty="0"/>
              <a:t>After Reranking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Reset forgotten Windows password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Change Windows password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Windows login troubleshooting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Password manager </a:t>
            </a:r>
          </a:p>
          <a:p>
            <a:r>
              <a:rPr lang="en-GB" dirty="0"/>
              <a:t>Key Idea</a:t>
            </a:r>
          </a:p>
          <a:p>
            <a:pPr lvl="1"/>
            <a:r>
              <a:rPr lang="en-GB" dirty="0"/>
              <a:t>Vector search finds </a:t>
            </a:r>
            <a:r>
              <a:rPr lang="en-GB" u="sng" dirty="0"/>
              <a:t>similar</a:t>
            </a:r>
            <a:r>
              <a:rPr lang="en-GB" dirty="0"/>
              <a:t> documents</a:t>
            </a:r>
          </a:p>
          <a:p>
            <a:pPr lvl="1"/>
            <a:r>
              <a:rPr lang="en-GB" dirty="0"/>
              <a:t>Reranking finds the </a:t>
            </a:r>
            <a:r>
              <a:rPr lang="en-GB" u="sng" dirty="0"/>
              <a:t>most relevant</a:t>
            </a:r>
            <a:r>
              <a:rPr lang="en-GB" dirty="0"/>
              <a:t> documents</a:t>
            </a:r>
          </a:p>
        </p:txBody>
      </p:sp>
    </p:spTree>
    <p:extLst>
      <p:ext uri="{BB962C8B-B14F-4D97-AF65-F5344CB8AC3E}">
        <p14:creationId xmlns:p14="http://schemas.microsoft.com/office/powerpoint/2010/main" val="428699158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897E-CE67-AEE6-2AAA-6C5C32E0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F36F2-1BE2-1C67-E188-7B8921C3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Combine Two Search Methods</a:t>
            </a:r>
          </a:p>
          <a:p>
            <a:r>
              <a:rPr lang="en-GB" b="1" dirty="0"/>
              <a:t>Keyword Search</a:t>
            </a:r>
            <a:endParaRPr lang="en-GB" dirty="0"/>
          </a:p>
          <a:p>
            <a:pPr lvl="1"/>
            <a:r>
              <a:rPr lang="en-GB" dirty="0"/>
              <a:t>Finds exact words </a:t>
            </a:r>
          </a:p>
          <a:p>
            <a:pPr lvl="1"/>
            <a:r>
              <a:rPr lang="en-GB" dirty="0"/>
              <a:t>Good for error codes, names, acronyms </a:t>
            </a:r>
          </a:p>
          <a:p>
            <a:r>
              <a:rPr lang="en-GB" b="1" dirty="0"/>
              <a:t>Semantic Search</a:t>
            </a:r>
            <a:endParaRPr lang="en-GB" dirty="0"/>
          </a:p>
          <a:p>
            <a:pPr lvl="1"/>
            <a:r>
              <a:rPr lang="en-GB" dirty="0"/>
              <a:t>Finds meaning </a:t>
            </a:r>
          </a:p>
          <a:p>
            <a:pPr lvl="1"/>
            <a:r>
              <a:rPr lang="en-GB" dirty="0"/>
              <a:t>Good for paraphrases and natural language </a:t>
            </a:r>
          </a:p>
          <a:p>
            <a:r>
              <a:rPr lang="en-GB" b="1" dirty="0"/>
              <a:t>Hybrid Search = Keyword + Semantic</a:t>
            </a:r>
            <a:endParaRPr lang="en-GB" dirty="0"/>
          </a:p>
          <a:p>
            <a:r>
              <a:rPr lang="en-GB" dirty="0"/>
              <a:t>Best of both worlds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133212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E1D0-91AD-8E4D-142D-0A8BCB29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Hybrid Search?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907F9-F9BE-1E6D-5CF2-BB6A25190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Technical support </a:t>
            </a:r>
          </a:p>
          <a:p>
            <a:pPr lvl="0"/>
            <a:r>
              <a:rPr lang="en-GB" dirty="0"/>
              <a:t>Legal documents </a:t>
            </a:r>
          </a:p>
          <a:p>
            <a:pPr lvl="0"/>
            <a:r>
              <a:rPr lang="en-GB" dirty="0"/>
              <a:t>Medical information </a:t>
            </a:r>
          </a:p>
          <a:p>
            <a:pPr lvl="0"/>
            <a:r>
              <a:rPr lang="en-GB" dirty="0"/>
              <a:t>E-commerce search </a:t>
            </a:r>
          </a:p>
          <a:p>
            <a:r>
              <a:rPr lang="en-GB" dirty="0"/>
              <a:t>Example</a:t>
            </a:r>
          </a:p>
          <a:p>
            <a:pPr lvl="1"/>
            <a:r>
              <a:rPr lang="en-GB" dirty="0"/>
              <a:t>Query: My computer shows error 0x800181</a:t>
            </a:r>
          </a:p>
          <a:p>
            <a:pPr lvl="1"/>
            <a:r>
              <a:rPr lang="en-GB" b="1" dirty="0"/>
              <a:t>Keyword search</a:t>
            </a:r>
            <a:r>
              <a:rPr lang="en-GB" dirty="0"/>
              <a:t> finds the exact error code</a:t>
            </a:r>
          </a:p>
          <a:p>
            <a:pPr lvl="1"/>
            <a:r>
              <a:rPr lang="en-GB" b="1" dirty="0"/>
              <a:t>Semantic search</a:t>
            </a:r>
            <a:r>
              <a:rPr lang="en-GB" dirty="0"/>
              <a:t> understands "computer is slow" </a:t>
            </a:r>
          </a:p>
          <a:p>
            <a:r>
              <a:rPr lang="en-GB" dirty="0"/>
              <a:t>Combining both gives better results</a:t>
            </a:r>
          </a:p>
        </p:txBody>
      </p:sp>
    </p:spTree>
    <p:extLst>
      <p:ext uri="{BB962C8B-B14F-4D97-AF65-F5344CB8AC3E}">
        <p14:creationId xmlns:p14="http://schemas.microsoft.com/office/powerpoint/2010/main" val="228891801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8CD2-2150-DE12-0F9B-9E909413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Search: Combing Results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CECA9-92CE-7858-E90F-7A0B2BE71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Method 1: Weighted Average</a:t>
            </a:r>
          </a:p>
          <a:p>
            <a:pPr lvl="1"/>
            <a:r>
              <a:rPr lang="en-GB" dirty="0"/>
              <a:t>Normalize both scores</a:t>
            </a:r>
          </a:p>
          <a:p>
            <a:pPr lvl="1"/>
            <a:r>
              <a:rPr lang="en-GB" dirty="0"/>
              <a:t>Combine using predefined weights</a:t>
            </a:r>
          </a:p>
          <a:p>
            <a:pPr lvl="1"/>
            <a:r>
              <a:rPr lang="en-GB" dirty="0"/>
              <a:t>Simple and </a:t>
            </a:r>
            <a:r>
              <a:rPr lang="en-GB" dirty="0" err="1"/>
              <a:t>tunable</a:t>
            </a:r>
            <a:endParaRPr lang="en-GB" dirty="0"/>
          </a:p>
          <a:p>
            <a:r>
              <a:rPr lang="en-GB" b="1" dirty="0"/>
              <a:t>Method 2: Reciprocal Rank Fusion (RRF)</a:t>
            </a:r>
          </a:p>
          <a:p>
            <a:pPr lvl="1"/>
            <a:r>
              <a:rPr lang="en-GB" dirty="0"/>
              <a:t>Uses the </a:t>
            </a:r>
            <a:r>
              <a:rPr lang="en-GB" b="1" dirty="0"/>
              <a:t>rank</a:t>
            </a:r>
            <a:r>
              <a:rPr lang="en-GB" dirty="0"/>
              <a:t> of each result instead of raw scores</a:t>
            </a:r>
          </a:p>
          <a:p>
            <a:pPr lvl="1"/>
            <a:r>
              <a:rPr lang="en-GB" dirty="0"/>
              <a:t>Documents ranked highly by both searches move to the top</a:t>
            </a:r>
          </a:p>
        </p:txBody>
      </p:sp>
    </p:spTree>
    <p:extLst>
      <p:ext uri="{BB962C8B-B14F-4D97-AF65-F5344CB8AC3E}">
        <p14:creationId xmlns:p14="http://schemas.microsoft.com/office/powerpoint/2010/main" val="237757719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A4B285-23FD-ED11-2968-1D80BA66D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904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827E-F732-293E-C262-14ED4919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Hybrid Search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EBEA7-BFC8-36B7-7159-A52A95959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952"/>
            <a:ext cx="10515600" cy="5339816"/>
          </a:xfrm>
        </p:spPr>
        <p:txBody>
          <a:bodyPr>
            <a:normAutofit fontScale="92500" lnSpcReduction="10000"/>
          </a:bodyPr>
          <a:lstStyle/>
          <a:p>
            <a:r>
              <a:rPr lang="en-IN" sz="2000" noProof="0" dirty="0"/>
              <a:t>C:\code\agenticai\14_advanced\04_rag\hybrid_search.py</a:t>
            </a:r>
          </a:p>
          <a:p>
            <a:r>
              <a:rPr lang="en-IN" sz="2000" noProof="0" dirty="0"/>
              <a:t>Load documents — Read documents.csv (100 short docs across categories like Finance, Sports, Tech)</a:t>
            </a:r>
          </a:p>
          <a:p>
            <a:r>
              <a:rPr lang="en-IN" sz="2000" noProof="0" dirty="0"/>
              <a:t>Keyword search (TF-IDF) — Vectorize all documents by word overlap; score a query by cosine similarity against that matrix. Good at exact terms, acronyms, names (e.g. "ELSS").</a:t>
            </a:r>
          </a:p>
          <a:p>
            <a:r>
              <a:rPr lang="en-IN" sz="2000" noProof="0" dirty="0"/>
              <a:t>Semantic search (embeddings) — Encode documents with a sentence-transformer model into meaning vectors; score a query by cosine similarity in that space. Good at paraphrases with no shared words (e.g. "put money away for old age" → retirement).</a:t>
            </a:r>
          </a:p>
          <a:p>
            <a:r>
              <a:rPr lang="en-IN" sz="2000" noProof="0" dirty="0"/>
              <a:t>Why not just add the raw scores? — TF-IDF cosine and embedding cosine live on different, incomparable scales. Combining them directly lets one signal dominate.</a:t>
            </a:r>
          </a:p>
          <a:p>
            <a:r>
              <a:rPr lang="en-IN" sz="2000" noProof="0" dirty="0"/>
              <a:t>Fusion method 1 — Weighted Average — Normalize both score sets to 0-1, then blend: alpha * semantic + (1-alpha) * keyword. </a:t>
            </a:r>
            <a:r>
              <a:rPr lang="en-IN" sz="2000" noProof="0" dirty="0" err="1"/>
              <a:t>Tunable</a:t>
            </a:r>
            <a:r>
              <a:rPr lang="en-IN" sz="2000" noProof="0" dirty="0"/>
              <a:t> dial between the two signals.</a:t>
            </a:r>
          </a:p>
          <a:p>
            <a:r>
              <a:rPr lang="en-IN" sz="2000" noProof="0" dirty="0"/>
              <a:t>Fusion method 2 — Reciprocal Rank Fusion (RRF) — Ignore raw scores; use each result's </a:t>
            </a:r>
            <a:r>
              <a:rPr lang="en-IN" sz="2000" i="1" noProof="0" dirty="0"/>
              <a:t>rank</a:t>
            </a:r>
            <a:r>
              <a:rPr lang="en-IN" sz="2000" noProof="0" dirty="0"/>
              <a:t> in its own list instead: 1/(</a:t>
            </a:r>
            <a:r>
              <a:rPr lang="en-IN" sz="2000" noProof="0" dirty="0" err="1"/>
              <a:t>k+rank</a:t>
            </a:r>
            <a:r>
              <a:rPr lang="en-IN" sz="2000" noProof="0" dirty="0"/>
              <a:t>), summed across both lists. Rewards documents that rank well in </a:t>
            </a:r>
            <a:r>
              <a:rPr lang="en-IN" sz="2000" i="1" noProof="0" dirty="0"/>
              <a:t>both</a:t>
            </a:r>
            <a:r>
              <a:rPr lang="en-IN" sz="2000" noProof="0" dirty="0"/>
              <a:t> searches, not just one.</a:t>
            </a:r>
          </a:p>
          <a:p>
            <a:r>
              <a:rPr lang="en-IN" sz="2000" noProof="0" dirty="0"/>
              <a:t>Demo queries — show each method's </a:t>
            </a:r>
            <a:r>
              <a:rPr lang="en-IN" sz="2000" noProof="0" dirty="0" err="1"/>
              <a:t>behavior</a:t>
            </a:r>
            <a:r>
              <a:rPr lang="en-IN" sz="2000" noProof="0" dirty="0"/>
              <a:t>: a balanced query, a "zero word overlap" query (semantic wins), and an acronym query (keyword wins) — to make the </a:t>
            </a:r>
            <a:r>
              <a:rPr lang="en-IN" sz="2000" noProof="0" dirty="0" err="1"/>
              <a:t>tradeoff</a:t>
            </a:r>
            <a:r>
              <a:rPr lang="en-IN" sz="2000" noProof="0" dirty="0"/>
              <a:t> visible side by side.</a:t>
            </a:r>
          </a:p>
          <a:p>
            <a:r>
              <a:rPr lang="en-IN" sz="2000" noProof="0" dirty="0"/>
              <a:t>Summary: Keyword search catches exact terms; semantic search catches meaning; hybrid fusion gets both.</a:t>
            </a:r>
          </a:p>
          <a:p>
            <a:endParaRPr lang="en-IN" sz="2000" noProof="0" dirty="0"/>
          </a:p>
        </p:txBody>
      </p:sp>
    </p:spTree>
    <p:extLst>
      <p:ext uri="{BB962C8B-B14F-4D97-AF65-F5344CB8AC3E}">
        <p14:creationId xmlns:p14="http://schemas.microsoft.com/office/powerpoint/2010/main" val="295859122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EFBD-50D7-5FC7-7CCA-2C86FDB8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UMAP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9F1FB-11BA-CFB3-BD7F-862C8F1E1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noProof="0" dirty="0"/>
              <a:t>UMAP (Uniform Manifold Approximation and Projection)</a:t>
            </a:r>
            <a:r>
              <a:rPr lang="en-IN" noProof="0" dirty="0"/>
              <a:t>: Visualizes high-dimensional text embeddings</a:t>
            </a:r>
          </a:p>
          <a:p>
            <a:r>
              <a:rPr lang="en-IN" noProof="0" dirty="0"/>
              <a:t>Helps generate semantic clusters, outliers, overlaps, etc</a:t>
            </a:r>
          </a:p>
          <a:p>
            <a:r>
              <a:rPr lang="en-IN" noProof="0" dirty="0"/>
              <a:t>Why needed? Modern embedding models generate vectors with hundreds or thousands of dimensions</a:t>
            </a:r>
          </a:p>
          <a:p>
            <a:pPr lvl="1"/>
            <a:r>
              <a:rPr lang="en-IN" noProof="0" dirty="0"/>
              <a:t>Example: Sentence -&gt; "I want to invest in mutual funds.“ -&gt; Embedding -&gt; [0.132, -0.564, 0.771, ..., 0.212]</a:t>
            </a:r>
          </a:p>
          <a:p>
            <a:r>
              <a:rPr lang="en-IN" noProof="0" dirty="0"/>
              <a:t>Humans cannot visualize them directly</a:t>
            </a:r>
          </a:p>
          <a:p>
            <a:r>
              <a:rPr lang="en-IN" noProof="0" dirty="0"/>
              <a:t>UMAP projects these into 2D/3D, while preserving their </a:t>
            </a:r>
            <a:r>
              <a:rPr lang="en-IN" noProof="0" dirty="0" err="1"/>
              <a:t>neighborhood</a:t>
            </a:r>
            <a:r>
              <a:rPr lang="en-IN" noProof="0" dirty="0"/>
              <a:t> relationships as much as possible</a:t>
            </a:r>
          </a:p>
          <a:p>
            <a:r>
              <a:rPr lang="en-IN" noProof="0" dirty="0"/>
              <a:t>Documents -&gt; Embedding Model -&gt; 384-dimensional vectors -&gt; UMAP -&gt; 2D coordinates -&gt; Scatter Plot</a:t>
            </a:r>
          </a:p>
          <a:p>
            <a:r>
              <a:rPr lang="en-IN" noProof="0" dirty="0"/>
              <a:t>Code: C:\code\agenticai\14_advanced\04_rag\umap_visualization.py</a:t>
            </a:r>
          </a:p>
        </p:txBody>
      </p:sp>
    </p:spTree>
    <p:extLst>
      <p:ext uri="{BB962C8B-B14F-4D97-AF65-F5344CB8AC3E}">
        <p14:creationId xmlns:p14="http://schemas.microsoft.com/office/powerpoint/2010/main" val="253511338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8EBBE-1A5E-A0EB-4C44-AFA84012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47EFF6-9062-B6D1-33FE-1D1496E4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05: </a:t>
            </a:r>
            <a:r>
              <a:rPr lang="en-IN" noProof="0" dirty="0" err="1"/>
              <a:t>LangChain</a:t>
            </a:r>
            <a:r>
              <a:rPr lang="en-IN" noProof="0" dirty="0"/>
              <a:t> Core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64690A-DC0C-AAB9-DD95-94667825F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89936209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E331-2BEA-2CB1-57E8-FFC67F38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LangChain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4FEF-BD01-E243-65F6-B4D81D4C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An open-source framework designed to help developers build applications using large language models (LLMs)</a:t>
            </a:r>
          </a:p>
          <a:p>
            <a:r>
              <a:rPr lang="en-IN" noProof="0" dirty="0" err="1"/>
              <a:t>LangChain</a:t>
            </a:r>
            <a:r>
              <a:rPr lang="en-IN" noProof="0" dirty="0"/>
              <a:t> evolution 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35A9AF-F6BB-A14C-E823-16E219C81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228565"/>
              </p:ext>
            </p:extLst>
          </p:nvPr>
        </p:nvGraphicFramePr>
        <p:xfrm>
          <a:off x="935922" y="3289319"/>
          <a:ext cx="10515600" cy="1828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136844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939818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1881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48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Early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LLMChain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91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Intermediate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SequentialChain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63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Modern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LCEL (Runnable Architecture)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Recommended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27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Agentic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LangGraph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Current for 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577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5448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CBCB-2010-7566-570F-D7110B38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LCEL, Runnable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5C07-00CF-E474-2C20-595C5EFF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LCEL (</a:t>
            </a:r>
            <a:r>
              <a:rPr lang="en-IN" b="1" noProof="0" dirty="0" err="1"/>
              <a:t>LangChain</a:t>
            </a:r>
            <a:r>
              <a:rPr lang="en-IN" b="1" noProof="0" dirty="0"/>
              <a:t> Expression Language)</a:t>
            </a:r>
            <a:r>
              <a:rPr lang="en-IN" noProof="0" dirty="0"/>
              <a:t>: A declarative way to compose AI applications</a:t>
            </a:r>
          </a:p>
          <a:p>
            <a:r>
              <a:rPr lang="en-IN" noProof="0" dirty="0"/>
              <a:t>Instead of creating many chain objects, you connect </a:t>
            </a:r>
            <a:r>
              <a:rPr lang="en-IN" b="1" noProof="0" dirty="0" err="1"/>
              <a:t>Runnables</a:t>
            </a:r>
            <a:r>
              <a:rPr lang="en-IN" noProof="0" dirty="0"/>
              <a:t> together</a:t>
            </a:r>
          </a:p>
          <a:p>
            <a:r>
              <a:rPr lang="en-IN" noProof="0" dirty="0"/>
              <a:t>Everything in modern </a:t>
            </a:r>
            <a:r>
              <a:rPr lang="en-IN" noProof="0" dirty="0" err="1"/>
              <a:t>LangChain</a:t>
            </a:r>
            <a:r>
              <a:rPr lang="en-IN" noProof="0" dirty="0"/>
              <a:t> is a Runnable</a:t>
            </a:r>
          </a:p>
          <a:p>
            <a:pPr lvl="1"/>
            <a:r>
              <a:rPr lang="en-IN" noProof="0" dirty="0"/>
              <a:t>Prompt </a:t>
            </a:r>
          </a:p>
          <a:p>
            <a:pPr lvl="1"/>
            <a:r>
              <a:rPr lang="en-IN" noProof="0" dirty="0"/>
              <a:t>LLM Output </a:t>
            </a:r>
          </a:p>
          <a:p>
            <a:pPr lvl="1"/>
            <a:r>
              <a:rPr lang="en-IN" noProof="0" dirty="0"/>
              <a:t>Parser </a:t>
            </a:r>
          </a:p>
          <a:p>
            <a:pPr lvl="1"/>
            <a:r>
              <a:rPr lang="en-IN" noProof="0" dirty="0"/>
              <a:t>Retriever </a:t>
            </a:r>
          </a:p>
          <a:p>
            <a:pPr lvl="1"/>
            <a:r>
              <a:rPr lang="en-IN" noProof="0" dirty="0"/>
              <a:t>Lambda Function </a:t>
            </a:r>
          </a:p>
          <a:p>
            <a:pPr lvl="1"/>
            <a:r>
              <a:rPr lang="en-IN" noProof="0" dirty="0"/>
              <a:t>…</a:t>
            </a:r>
          </a:p>
          <a:p>
            <a:r>
              <a:rPr lang="en-IN" noProof="0" dirty="0"/>
              <a:t>Pipe operator (|) connects </a:t>
            </a:r>
            <a:r>
              <a:rPr lang="en-IN" noProof="0" dirty="0" err="1"/>
              <a:t>Runnables</a:t>
            </a:r>
            <a:endParaRPr lang="en-IN" noProof="0" dirty="0"/>
          </a:p>
          <a:p>
            <a:pPr lvl="1"/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r>
              <a:rPr lang="en-IN" noProof="0" dirty="0"/>
              <a:t> | parser</a:t>
            </a:r>
          </a:p>
        </p:txBody>
      </p:sp>
    </p:spTree>
    <p:extLst>
      <p:ext uri="{BB962C8B-B14F-4D97-AF65-F5344CB8AC3E}">
        <p14:creationId xmlns:p14="http://schemas.microsoft.com/office/powerpoint/2010/main" val="275716495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3144-D333-48DB-AD80-259E05C0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Example: Prompt |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5E51-A467-2B0E-88B6-4F2C470B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noProof="0" dirty="0"/>
              <a:t>from </a:t>
            </a:r>
            <a:r>
              <a:rPr lang="en-IN" noProof="0" dirty="0" err="1"/>
              <a:t>langchain_core.prompts</a:t>
            </a:r>
            <a:r>
              <a:rPr lang="en-IN" noProof="0" dirty="0"/>
              <a:t> import </a:t>
            </a:r>
            <a:r>
              <a:rPr lang="en-IN" noProof="0" dirty="0" err="1"/>
              <a:t>ChatPromptTemplate</a:t>
            </a:r>
            <a:endParaRPr lang="en-IN" noProof="0" dirty="0"/>
          </a:p>
          <a:p>
            <a:r>
              <a:rPr lang="en-IN" noProof="0" dirty="0"/>
              <a:t>from </a:t>
            </a:r>
            <a:r>
              <a:rPr lang="en-IN" noProof="0" dirty="0" err="1"/>
              <a:t>langchain_ollama</a:t>
            </a:r>
            <a:r>
              <a:rPr lang="en-IN" noProof="0" dirty="0"/>
              <a:t> import </a:t>
            </a:r>
            <a:r>
              <a:rPr lang="en-IN" noProof="0" dirty="0" err="1"/>
              <a:t>ChatOllama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prompt = </a:t>
            </a:r>
            <a:r>
              <a:rPr lang="en-IN" noProof="0" dirty="0" err="1"/>
              <a:t>ChatPromptTemplate.from_template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"Explain {topic} in simple terms."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 err="1"/>
              <a:t>llm</a:t>
            </a:r>
            <a:r>
              <a:rPr lang="en-IN" noProof="0" dirty="0"/>
              <a:t> = </a:t>
            </a:r>
            <a:r>
              <a:rPr lang="en-IN" noProof="0" dirty="0" err="1"/>
              <a:t>ChatOllama</a:t>
            </a:r>
            <a:r>
              <a:rPr lang="en-IN" noProof="0" dirty="0"/>
              <a:t>(model="llama3.2")</a:t>
            </a:r>
          </a:p>
          <a:p>
            <a:endParaRPr lang="en-IN" noProof="0" dirty="0"/>
          </a:p>
          <a:p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response = </a:t>
            </a:r>
            <a:r>
              <a:rPr lang="en-IN" noProof="0" dirty="0" err="1"/>
              <a:t>chain.invoke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{"</a:t>
            </a:r>
            <a:r>
              <a:rPr lang="en-IN" noProof="0" dirty="0" err="1"/>
              <a:t>topic":"embeddings</a:t>
            </a:r>
            <a:r>
              <a:rPr lang="en-IN" noProof="0" dirty="0"/>
              <a:t>"}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print(</a:t>
            </a:r>
            <a:r>
              <a:rPr lang="en-IN" noProof="0" dirty="0" err="1"/>
              <a:t>response.content</a:t>
            </a: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503308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6AC5-83D2-8F3C-F545-BD10AE38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F0BC-500C-7F17-4DBC-A4A6B153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Output Parsers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C0B5-EF42-4425-BB9F-77E78958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Without a parser: Prompt -&gt; LLM -&gt; </a:t>
            </a:r>
            <a:r>
              <a:rPr lang="en-IN" noProof="0" dirty="0" err="1"/>
              <a:t>AIMessage</a:t>
            </a:r>
            <a:endParaRPr lang="en-IN" noProof="0" dirty="0"/>
          </a:p>
          <a:p>
            <a:r>
              <a:rPr lang="en-IN" noProof="0" dirty="0"/>
              <a:t>Many applications want plain text, JSON, or structured output</a:t>
            </a:r>
          </a:p>
          <a:p>
            <a:pPr lvl="1"/>
            <a:r>
              <a:rPr lang="en-IN" noProof="0" dirty="0"/>
              <a:t>Prompt -&gt; LLM -&gt; </a:t>
            </a:r>
            <a:r>
              <a:rPr lang="en-IN" noProof="0" dirty="0" err="1"/>
              <a:t>AIMessage</a:t>
            </a:r>
            <a:r>
              <a:rPr lang="en-IN" noProof="0" dirty="0"/>
              <a:t> -&gt; Parser</a:t>
            </a:r>
          </a:p>
          <a:p>
            <a:r>
              <a:rPr lang="en-IN" noProof="0" dirty="0"/>
              <a:t>Code: C:\code\agenticai\14_advanced\05_langchain\output_parsers.py</a:t>
            </a:r>
          </a:p>
        </p:txBody>
      </p:sp>
    </p:spTree>
    <p:extLst>
      <p:ext uri="{BB962C8B-B14F-4D97-AF65-F5344CB8AC3E}">
        <p14:creationId xmlns:p14="http://schemas.microsoft.com/office/powerpoint/2010/main" val="197082847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8F0F-4ECE-5A5B-5E57-587B2B06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7DE5-4045-CFBC-54B7-EDF091CA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Prompt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0656-8718-04F7-2E1D-3765A6789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Prompt template: Reusable prompt with placeholders (variables) that are filled at runtime</a:t>
            </a:r>
          </a:p>
          <a:p>
            <a:r>
              <a:rPr lang="en-IN" noProof="0" dirty="0"/>
              <a:t>Example: Instead of </a:t>
            </a:r>
          </a:p>
          <a:p>
            <a:pPr lvl="1"/>
            <a:r>
              <a:rPr lang="en-IN" noProof="0" dirty="0"/>
              <a:t>Explain Artificial Intelligence</a:t>
            </a:r>
          </a:p>
          <a:p>
            <a:pPr lvl="1"/>
            <a:r>
              <a:rPr lang="en-IN" noProof="0" dirty="0"/>
              <a:t>Explain {topic}</a:t>
            </a:r>
          </a:p>
          <a:p>
            <a:r>
              <a:rPr lang="en-IN" noProof="0" dirty="0"/>
              <a:t>C:\code\agenticai\14_advanced\05_langchain\prompt_templates.py</a:t>
            </a:r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89195418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E463-EFBE-E87F-E689-AEAD68980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62" y="41883"/>
            <a:ext cx="5325856" cy="590294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Session Memory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3DE94-C396-7079-BBF6-955A9CD67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967" y="3280672"/>
            <a:ext cx="5004189" cy="3155029"/>
          </a:xfrm>
        </p:spPr>
        <p:txBody>
          <a:bodyPr>
            <a:normAutofit/>
          </a:bodyPr>
          <a:lstStyle/>
          <a:p>
            <a:r>
              <a:rPr lang="en-IN" sz="1600" noProof="0" dirty="0"/>
              <a:t>Sample conversation</a:t>
            </a:r>
          </a:p>
          <a:p>
            <a:pPr lvl="1"/>
            <a:r>
              <a:rPr lang="en-US" sz="1600" dirty="0"/>
              <a:t>Turn 1: Customer says they bought a laptop</a:t>
            </a:r>
          </a:p>
          <a:p>
            <a:pPr lvl="1"/>
            <a:r>
              <a:rPr lang="en-US" sz="1600" dirty="0"/>
              <a:t>Turn 2: Customer asks about the return policy</a:t>
            </a:r>
          </a:p>
          <a:p>
            <a:pPr lvl="1"/>
            <a:r>
              <a:rPr lang="en-US" sz="1600" dirty="0"/>
              <a:t>Turn 3: Customer says the laptop battery is not working</a:t>
            </a:r>
          </a:p>
          <a:p>
            <a:pPr lvl="1"/>
            <a:r>
              <a:rPr lang="en-US" sz="1600" dirty="0"/>
              <a:t>Turn 4: Customer asks about delivery charges</a:t>
            </a:r>
          </a:p>
          <a:p>
            <a:pPr lvl="1"/>
            <a:r>
              <a:rPr lang="en-US" sz="1600" dirty="0"/>
              <a:t>Turn 5: Customer says they want to replace the laptop</a:t>
            </a:r>
          </a:p>
          <a:p>
            <a:pPr lvl="1"/>
            <a:r>
              <a:rPr lang="en-US" sz="1600" dirty="0"/>
              <a:t>Turn 6: Customer asks how to contact customer support</a:t>
            </a:r>
            <a:endParaRPr lang="en-IN" sz="16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6D633B-9D71-3BEA-FC1B-947BF8928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030823"/>
              </p:ext>
            </p:extLst>
          </p:nvPr>
        </p:nvGraphicFramePr>
        <p:xfrm>
          <a:off x="216967" y="665951"/>
          <a:ext cx="5004189" cy="2399057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993903">
                  <a:extLst>
                    <a:ext uri="{9D8B030D-6E8A-4147-A177-3AD203B41FA5}">
                      <a16:colId xmlns:a16="http://schemas.microsoft.com/office/drawing/2014/main" val="1060707316"/>
                    </a:ext>
                  </a:extLst>
                </a:gridCol>
                <a:gridCol w="2010286">
                  <a:extLst>
                    <a:ext uri="{9D8B030D-6E8A-4147-A177-3AD203B41FA5}">
                      <a16:colId xmlns:a16="http://schemas.microsoft.com/office/drawing/2014/main" val="2959655956"/>
                    </a:ext>
                  </a:extLst>
                </a:gridCol>
              </a:tblGrid>
              <a:tr h="287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586572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 err="1"/>
                        <a:t>BufferMemory</a:t>
                      </a:r>
                      <a:endParaRPr lang="en-IN" sz="16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Entire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131669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 err="1"/>
                        <a:t>ConversationSummaryMemory</a:t>
                      </a:r>
                      <a:endParaRPr lang="en-IN" sz="16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Conversation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069670"/>
                  </a:ext>
                </a:extLst>
              </a:tr>
              <a:tr h="1149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 err="1"/>
                        <a:t>VectorStoreMemory</a:t>
                      </a:r>
                      <a:endParaRPr lang="en-IN" sz="16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Semantic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613693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4FB5E3-BDE8-61ED-7076-87B2012F12C9}"/>
              </a:ext>
            </a:extLst>
          </p:cNvPr>
          <p:cNvSpPr txBox="1">
            <a:spLocks/>
          </p:cNvSpPr>
          <p:nvPr/>
        </p:nvSpPr>
        <p:spPr>
          <a:xfrm>
            <a:off x="5751646" y="90743"/>
            <a:ext cx="6223387" cy="66765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Buffer Memory</a:t>
            </a:r>
          </a:p>
          <a:p>
            <a:pPr lvl="1"/>
            <a:r>
              <a:rPr lang="en-IN" sz="2000" dirty="0"/>
              <a:t>Stores everything and sends the entire conversation to the LLM</a:t>
            </a:r>
          </a:p>
          <a:p>
            <a:pPr lvl="2"/>
            <a:r>
              <a:rPr lang="en-US" sz="1400" dirty="0"/>
              <a:t>Turn 1</a:t>
            </a:r>
          </a:p>
          <a:p>
            <a:pPr lvl="2"/>
            <a:r>
              <a:rPr lang="en-US" sz="1400" dirty="0"/>
              <a:t>Turn 2</a:t>
            </a:r>
          </a:p>
          <a:p>
            <a:pPr lvl="2"/>
            <a:r>
              <a:rPr lang="en-US" sz="1400" dirty="0"/>
              <a:t>Turn 3</a:t>
            </a:r>
          </a:p>
          <a:p>
            <a:pPr lvl="2"/>
            <a:r>
              <a:rPr lang="en-US" sz="1400" dirty="0"/>
              <a:t>Turn 4</a:t>
            </a:r>
          </a:p>
          <a:p>
            <a:pPr lvl="2"/>
            <a:r>
              <a:rPr lang="en-US" sz="1400" dirty="0"/>
              <a:t>Turn 5</a:t>
            </a:r>
          </a:p>
          <a:p>
            <a:pPr lvl="2"/>
            <a:r>
              <a:rPr lang="en-US" sz="1400" dirty="0"/>
              <a:t>Turn 6</a:t>
            </a:r>
          </a:p>
          <a:p>
            <a:r>
              <a:rPr lang="en-IN" dirty="0"/>
              <a:t>Conversation Summary Memory</a:t>
            </a:r>
          </a:p>
          <a:p>
            <a:pPr lvl="1"/>
            <a:r>
              <a:rPr lang="en-IN" sz="2000" dirty="0"/>
              <a:t>Instead of keeping every turn, keeps a summary of the conversation</a:t>
            </a:r>
          </a:p>
          <a:p>
            <a:pPr lvl="2"/>
            <a:r>
              <a:rPr lang="en-US" sz="1400" dirty="0"/>
              <a:t>Customer purchased a laptop and is experiencing a battery problem. They have asked about the return policy and delivery charges and now want to replace the laptop and contact support.</a:t>
            </a:r>
          </a:p>
          <a:p>
            <a:r>
              <a:rPr lang="en-US" dirty="0"/>
              <a:t>Vector Store Memory</a:t>
            </a:r>
          </a:p>
          <a:p>
            <a:pPr lvl="1"/>
            <a:r>
              <a:rPr lang="en-GB" dirty="0"/>
              <a:t>Stores the individual turns as embeddings and retrieves the turns most relevant to the current question</a:t>
            </a:r>
          </a:p>
          <a:p>
            <a:pPr lvl="2"/>
            <a:r>
              <a:rPr lang="en-GB" sz="1400" dirty="0"/>
              <a:t>Example: Suppose the customer asks: “I want to replace my laptop. What is the process?“</a:t>
            </a:r>
          </a:p>
          <a:p>
            <a:pPr lvl="2"/>
            <a:r>
              <a:rPr lang="en-GB" sz="1400" dirty="0"/>
              <a:t>It might retrieve</a:t>
            </a:r>
          </a:p>
          <a:p>
            <a:pPr lvl="3"/>
            <a:r>
              <a:rPr lang="en-US" sz="1050" dirty="0"/>
              <a:t>Turn 5: Customer wants to replace the laptop.</a:t>
            </a:r>
          </a:p>
          <a:p>
            <a:pPr lvl="3"/>
            <a:r>
              <a:rPr lang="en-US" sz="1050" dirty="0"/>
              <a:t>Turn 2: Customer asks about the return policy.</a:t>
            </a:r>
          </a:p>
          <a:p>
            <a:pPr lvl="3"/>
            <a:r>
              <a:rPr lang="en-US" sz="1050" dirty="0"/>
              <a:t>Turn 3: Laptop battery is not working.</a:t>
            </a:r>
          </a:p>
          <a:p>
            <a:pPr lvl="2"/>
            <a:r>
              <a:rPr lang="en-GB" sz="1400" dirty="0"/>
              <a:t>Does not necessarily retrieve the most recent turns. It retrieves the turns that are semantically most relevant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9317164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0512-69D2-C8E9-3FCC-C82C0939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Persistent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F8A11-6E0C-FA6E-1C02-27ADC693E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Multi-turn conversation</a:t>
            </a:r>
            <a:r>
              <a:rPr lang="en-IN" noProof="0" dirty="0"/>
              <a:t>: Consists of multiple exchanges between a user and an AI assistant</a:t>
            </a:r>
          </a:p>
          <a:p>
            <a:r>
              <a:rPr lang="en-IN" b="1" noProof="0" dirty="0"/>
              <a:t>Session-based </a:t>
            </a:r>
            <a:r>
              <a:rPr lang="en-IN" noProof="0" dirty="0"/>
              <a:t>memory exists only till the time the application is running - </a:t>
            </a:r>
            <a:r>
              <a:rPr lang="en-IN" b="1" noProof="0" dirty="0"/>
              <a:t>Persistent </a:t>
            </a:r>
            <a:r>
              <a:rPr lang="en-IN" noProof="0" dirty="0"/>
              <a:t>memory survives application restarts</a:t>
            </a:r>
          </a:p>
          <a:p>
            <a:r>
              <a:rPr lang="en-IN" noProof="0" dirty="0"/>
              <a:t>C:\code\agenticai\14_advanced\05_langchain\persistent_chatbot.py</a:t>
            </a:r>
          </a:p>
          <a:p>
            <a:r>
              <a:rPr lang="en-IN" dirty="0"/>
              <a:t>We send to LLM, 3 things: System instruction + Previous conversation + Current user question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68767201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DF8A-3CE2-ACC3-C528-76A15C9E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Document Loaders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A2E5-28A2-97A1-6F16-231F523FD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Document Loader</a:t>
            </a:r>
            <a:r>
              <a:rPr lang="en-IN" noProof="0" dirty="0"/>
              <a:t>: Responsible for reading data from a source and converting it into </a:t>
            </a:r>
            <a:r>
              <a:rPr lang="en-IN" noProof="0" dirty="0" err="1"/>
              <a:t>LangChain</a:t>
            </a:r>
            <a:r>
              <a:rPr lang="en-IN" noProof="0" dirty="0"/>
              <a:t> </a:t>
            </a:r>
            <a:r>
              <a:rPr lang="en-IN" i="1" noProof="0" dirty="0"/>
              <a:t>Document </a:t>
            </a:r>
            <a:r>
              <a:rPr lang="en-IN" noProof="0" dirty="0"/>
              <a:t>objects</a:t>
            </a:r>
          </a:p>
          <a:p>
            <a:r>
              <a:rPr lang="en-IN" noProof="0" dirty="0"/>
              <a:t>Every RAG application has this</a:t>
            </a:r>
          </a:p>
          <a:p>
            <a:pPr lvl="1"/>
            <a:r>
              <a:rPr lang="en-IN" noProof="0" dirty="0"/>
              <a:t>Data Source -&gt; Document Loader -&gt; Document Objects -&gt; Text Splitter -&gt; Embeddings -&gt; Vector Database -&gt; Retriever -&gt; LLM</a:t>
            </a:r>
          </a:p>
          <a:p>
            <a:r>
              <a:rPr lang="en-IN" noProof="0" dirty="0"/>
              <a:t>Real world applications use PDF, MS-Word, HTML, CSV, Excel, etc</a:t>
            </a:r>
          </a:p>
          <a:p>
            <a:r>
              <a:rPr lang="en-IN" noProof="0" dirty="0"/>
              <a:t>One format = One loader</a:t>
            </a:r>
          </a:p>
          <a:p>
            <a:r>
              <a:rPr lang="en-IN" noProof="0" dirty="0"/>
              <a:t>Example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langchain_community.document_loaders</a:t>
            </a:r>
            <a:r>
              <a:rPr lang="en-IN" noProof="0" dirty="0"/>
              <a:t> import </a:t>
            </a:r>
            <a:r>
              <a:rPr lang="en-IN" noProof="0" dirty="0" err="1"/>
              <a:t>PyPDFLoader</a:t>
            </a:r>
            <a:endParaRPr lang="en-IN" noProof="0" dirty="0"/>
          </a:p>
          <a:p>
            <a:pPr lvl="1"/>
            <a:r>
              <a:rPr lang="en-IN" noProof="0" dirty="0"/>
              <a:t>loader = </a:t>
            </a:r>
            <a:r>
              <a:rPr lang="en-IN" noProof="0" dirty="0" err="1"/>
              <a:t>PyPDFLoader</a:t>
            </a:r>
            <a:r>
              <a:rPr lang="en-IN" noProof="0" dirty="0"/>
              <a:t>("banking.pdf")</a:t>
            </a:r>
          </a:p>
          <a:p>
            <a:pPr lvl="1"/>
            <a:r>
              <a:rPr lang="en-IN" noProof="0" dirty="0"/>
              <a:t>documents = </a:t>
            </a:r>
            <a:r>
              <a:rPr lang="en-IN" noProof="0" dirty="0" err="1"/>
              <a:t>loader.load</a:t>
            </a:r>
            <a:r>
              <a:rPr lang="en-IN" noProof="0" dirty="0"/>
              <a:t>()</a:t>
            </a:r>
          </a:p>
          <a:p>
            <a:r>
              <a:rPr lang="en-IN" noProof="0" dirty="0"/>
              <a:t>Each page = One document</a:t>
            </a:r>
          </a:p>
        </p:txBody>
      </p:sp>
    </p:spTree>
    <p:extLst>
      <p:ext uri="{BB962C8B-B14F-4D97-AF65-F5344CB8AC3E}">
        <p14:creationId xmlns:p14="http://schemas.microsoft.com/office/powerpoint/2010/main" val="355569383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7425-5C78-90DB-BD74-12944695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Text Splitters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F13D-11FA-CEA1-2CE6-8075233AB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noProof="0" dirty="0"/>
              <a:t>Splitting documents before embedding them into a vector database for RAG</a:t>
            </a:r>
          </a:p>
          <a:p>
            <a:r>
              <a:rPr lang="en-IN" noProof="0" dirty="0" err="1"/>
              <a:t>RecursiveCharacterTextSplitter</a:t>
            </a:r>
            <a:r>
              <a:rPr lang="en-IN" noProof="0" dirty="0"/>
              <a:t>: Instead of cutting every N characters, it tries to split intelligently in this order</a:t>
            </a:r>
          </a:p>
          <a:p>
            <a:pPr lvl="1"/>
            <a:r>
              <a:rPr lang="en-IN" noProof="0" dirty="0"/>
              <a:t>Paragraph -&gt; New line -&gt; Sentence -&gt; Space -&gt; Character</a:t>
            </a:r>
          </a:p>
          <a:p>
            <a:pPr lvl="1"/>
            <a:r>
              <a:rPr lang="en-IN" noProof="0" dirty="0"/>
              <a:t>Example text</a:t>
            </a:r>
          </a:p>
          <a:p>
            <a:pPr lvl="2"/>
            <a:r>
              <a:rPr lang="en-IN" noProof="0" dirty="0"/>
              <a:t>Artificial Intelligence is changing the world.</a:t>
            </a:r>
          </a:p>
          <a:p>
            <a:pPr lvl="2"/>
            <a:r>
              <a:rPr lang="en-IN" noProof="0" dirty="0"/>
              <a:t>Machine Learning is one branch of AI.</a:t>
            </a:r>
          </a:p>
          <a:p>
            <a:pPr lvl="2"/>
            <a:r>
              <a:rPr lang="en-IN" noProof="0" dirty="0"/>
              <a:t>Deep Learning is a subset of Machine Learning.</a:t>
            </a:r>
          </a:p>
          <a:p>
            <a:pPr lvl="2"/>
            <a:r>
              <a:rPr lang="en-IN" noProof="0" dirty="0"/>
              <a:t>Neural Networks are inspired by the human brain.</a:t>
            </a:r>
          </a:p>
          <a:p>
            <a:pPr lvl="1"/>
            <a:r>
              <a:rPr lang="en-IN" noProof="0" dirty="0"/>
              <a:t>Suppose chunk size = 80</a:t>
            </a:r>
          </a:p>
          <a:p>
            <a:pPr lvl="1"/>
            <a:r>
              <a:rPr lang="en-IN" noProof="0" dirty="0"/>
              <a:t>First attempt: Paragraph separator – Too large</a:t>
            </a:r>
          </a:p>
          <a:p>
            <a:pPr lvl="1"/>
            <a:r>
              <a:rPr lang="en-IN" noProof="0" dirty="0"/>
              <a:t>Second attempt: New line separator – Result: 4 chunks – Preserves complete sentences</a:t>
            </a:r>
          </a:p>
          <a:p>
            <a:r>
              <a:rPr lang="en-IN" noProof="0" dirty="0" err="1"/>
              <a:t>SemanticChunker</a:t>
            </a:r>
            <a:r>
              <a:rPr lang="en-IN" noProof="0" dirty="0"/>
              <a:t>: Uses meaning</a:t>
            </a:r>
          </a:p>
          <a:p>
            <a:pPr lvl="1"/>
            <a:r>
              <a:rPr lang="en-IN" noProof="0" dirty="0"/>
              <a:t>Instead of </a:t>
            </a:r>
            <a:r>
              <a:rPr lang="en-IN" i="1" noProof="0" dirty="0"/>
              <a:t>How many characters</a:t>
            </a:r>
            <a:r>
              <a:rPr lang="en-IN" noProof="0" dirty="0"/>
              <a:t>, asks </a:t>
            </a:r>
            <a:r>
              <a:rPr lang="en-IN" i="1" noProof="0" dirty="0"/>
              <a:t>Does the topic change here?</a:t>
            </a:r>
            <a:endParaRPr lang="en-IN" noProof="0" dirty="0"/>
          </a:p>
          <a:p>
            <a:pPr lvl="1"/>
            <a:r>
              <a:rPr lang="en-IN" noProof="0" dirty="0"/>
              <a:t>Computes embeddings and decides</a:t>
            </a:r>
          </a:p>
          <a:p>
            <a:r>
              <a:rPr lang="en-IN" noProof="0" dirty="0"/>
              <a:t>C:\code\agenticai\14_advanced\05_langchain\text_splitters.py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33101218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FB8D-6DE1-DCF3-DCE3-89EB30A9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Building a 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7EDE1-7973-64EB-8CB5-432683A9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Documents (PDF, Word, Web, CSV, Database) → Document Loader → Raw Document Objects → Text Splitter → Small Text Chunks → Embedding Model → Embeddings (Vector Representations) → Vector Database (Chroma / FAISS / Pinecone) ← User Question → Question Embedding → Retriever (Similarity Search) → Top-K Relevant Chunks → Prompt (Context + User Question) → LLM / Generator → Final Answer</a:t>
            </a:r>
          </a:p>
          <a:p>
            <a:r>
              <a:rPr lang="en-IN" noProof="0" dirty="0"/>
              <a:t>C:\code\agenticai\14_advanced\05_langchain\rag_pipeline.py</a:t>
            </a:r>
          </a:p>
        </p:txBody>
      </p:sp>
    </p:spTree>
    <p:extLst>
      <p:ext uri="{BB962C8B-B14F-4D97-AF65-F5344CB8AC3E}">
        <p14:creationId xmlns:p14="http://schemas.microsoft.com/office/powerpoint/2010/main" val="315986033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D506-5293-71EB-A58D-4016E2C7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Retrievers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E061-4676-F28D-7767-31359B24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noProof="0" dirty="0"/>
              <a:t>Retriever</a:t>
            </a:r>
            <a:r>
              <a:rPr lang="en-IN" noProof="0" dirty="0"/>
              <a:t>: Responsible for finding the most relevant documents for a user's query</a:t>
            </a:r>
          </a:p>
          <a:p>
            <a:r>
              <a:rPr lang="en-IN" noProof="0" dirty="0"/>
              <a:t>Instead of sending every document to the LLM, the retriever selects only the most relevant ones</a:t>
            </a:r>
          </a:p>
          <a:p>
            <a:r>
              <a:rPr lang="en-IN" noProof="0" dirty="0"/>
              <a:t>Knowledge Base → Document Loader → Text Splitter → Embedding Model → Vector Database ← User Question → Question Embedding → </a:t>
            </a:r>
            <a:r>
              <a:rPr lang="en-IN" noProof="0" dirty="0">
                <a:solidFill>
                  <a:srgbClr val="FF0000"/>
                </a:solidFill>
              </a:rPr>
              <a:t>Retriever</a:t>
            </a:r>
            <a:r>
              <a:rPr lang="en-IN" noProof="0" dirty="0"/>
              <a:t> → Relevant Chunks → Prompt (Context + Question) → LLM → Final Answer</a:t>
            </a:r>
          </a:p>
          <a:p>
            <a:r>
              <a:rPr lang="en-IN" noProof="0" dirty="0"/>
              <a:t>Bridge between the vector database and the LLM</a:t>
            </a:r>
          </a:p>
          <a:p>
            <a:r>
              <a:rPr lang="en-IN" noProof="0" dirty="0"/>
              <a:t>Instead of sending all documents, the retriever selects only the relevant chunks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8881953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05689-A6A2-D4D5-8DA9-626A8D97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D7C7-8598-B920-BAF9-27C775379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noProof="0" dirty="0"/>
              <a:t>Retriever Types (C:\code\</a:t>
            </a:r>
            <a:r>
              <a:rPr lang="en-IN" sz="3200" noProof="0" dirty="0" err="1"/>
              <a:t>agenticai</a:t>
            </a:r>
            <a:r>
              <a:rPr lang="en-IN" sz="3200" noProof="0" dirty="0"/>
              <a:t>\14_advanced\05_langchain\retrievers.py)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DACFFA-2340-19CE-6675-B391A1EB6B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874802"/>
              </p:ext>
            </p:extLst>
          </p:nvPr>
        </p:nvGraphicFramePr>
        <p:xfrm>
          <a:off x="838200" y="2538254"/>
          <a:ext cx="10515600" cy="316992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318807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4713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Retriever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589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VectorStoreRetriever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Basic similarity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447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MultiQueryRetriever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Multiple query reformulations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92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ContextualCompressionRetriever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Reduce irrelevant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152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SelfQueryRetriever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Uses metadata filters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687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ParentDocumentRetriever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Retrieve larger parent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18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MultiVectorRetriever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Multiple embeddings per document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9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EnsembleRetriever</a:t>
                      </a:r>
                      <a:endParaRPr lang="en-IN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Combine multiple retrieval methods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98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49880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B963-F6CC-D7CD-B353-797825D4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Callbacks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B059D-16E8-E06D-CE7D-69CF7119D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noProof="0" dirty="0"/>
              <a:t>When building an LLM application, we often need to know:</a:t>
            </a:r>
          </a:p>
          <a:p>
            <a:pPr lvl="1"/>
            <a:r>
              <a:rPr lang="en-IN" noProof="0" dirty="0"/>
              <a:t>What prompt was sent? </a:t>
            </a:r>
          </a:p>
          <a:p>
            <a:pPr lvl="1"/>
            <a:r>
              <a:rPr lang="en-IN" noProof="0" dirty="0"/>
              <a:t>Which documents were retrieved? </a:t>
            </a:r>
          </a:p>
          <a:p>
            <a:pPr lvl="1"/>
            <a:r>
              <a:rPr lang="en-IN" noProof="0" dirty="0"/>
              <a:t>How many tokens were used? </a:t>
            </a:r>
          </a:p>
          <a:p>
            <a:pPr lvl="1"/>
            <a:r>
              <a:rPr lang="en-IN" noProof="0" dirty="0"/>
              <a:t>How long did the LLM take? </a:t>
            </a:r>
          </a:p>
          <a:p>
            <a:pPr lvl="1"/>
            <a:r>
              <a:rPr lang="en-IN" noProof="0" dirty="0"/>
              <a:t>Which tool was called? </a:t>
            </a:r>
          </a:p>
          <a:p>
            <a:pPr lvl="1"/>
            <a:r>
              <a:rPr lang="en-IN" noProof="0" dirty="0"/>
              <a:t>Did an error occur? </a:t>
            </a:r>
          </a:p>
          <a:p>
            <a:r>
              <a:rPr lang="en-IN" noProof="0" dirty="0"/>
              <a:t>Callbacks provide visibility into every stage of execution</a:t>
            </a:r>
          </a:p>
          <a:p>
            <a:r>
              <a:rPr lang="en-IN" b="1" noProof="0" dirty="0"/>
              <a:t>Callback</a:t>
            </a:r>
            <a:r>
              <a:rPr lang="en-IN" noProof="0" dirty="0"/>
              <a:t>: A function that automatically executes when a particular event occurs</a:t>
            </a:r>
          </a:p>
          <a:p>
            <a:r>
              <a:rPr lang="en-IN" noProof="0" dirty="0"/>
              <a:t>Example events:</a:t>
            </a:r>
          </a:p>
          <a:p>
            <a:pPr lvl="1"/>
            <a:r>
              <a:rPr lang="en-IN" noProof="0" dirty="0"/>
              <a:t>LLM starts </a:t>
            </a:r>
          </a:p>
          <a:p>
            <a:pPr lvl="1"/>
            <a:r>
              <a:rPr lang="en-IN" noProof="0" dirty="0"/>
              <a:t>LLM finishes </a:t>
            </a:r>
          </a:p>
          <a:p>
            <a:pPr lvl="1"/>
            <a:r>
              <a:rPr lang="en-IN" noProof="0" dirty="0"/>
              <a:t>Retriever starts </a:t>
            </a:r>
          </a:p>
          <a:p>
            <a:pPr lvl="1"/>
            <a:r>
              <a:rPr lang="en-IN" noProof="0" dirty="0"/>
              <a:t>Retriever finishes </a:t>
            </a:r>
          </a:p>
          <a:p>
            <a:pPr lvl="1"/>
            <a:r>
              <a:rPr lang="en-IN" noProof="0" dirty="0"/>
              <a:t>Tool executes </a:t>
            </a:r>
          </a:p>
          <a:p>
            <a:pPr lvl="1"/>
            <a:r>
              <a:rPr lang="en-IN" noProof="0" dirty="0"/>
              <a:t>Chain starts </a:t>
            </a:r>
          </a:p>
          <a:p>
            <a:pPr lvl="1"/>
            <a:r>
              <a:rPr lang="en-IN" noProof="0" dirty="0"/>
              <a:t>Chain ends </a:t>
            </a:r>
          </a:p>
          <a:p>
            <a:pPr lvl="1"/>
            <a:r>
              <a:rPr lang="en-IN" noProof="0" dirty="0"/>
              <a:t>Error occurs</a:t>
            </a:r>
          </a:p>
          <a:p>
            <a:r>
              <a:rPr lang="en-IN" noProof="0" dirty="0"/>
              <a:t>14_advanced\05_langchain\retrievers.py and 14_advanced\05_langchain\langsmith_tracing.py</a:t>
            </a:r>
          </a:p>
        </p:txBody>
      </p:sp>
    </p:spTree>
    <p:extLst>
      <p:ext uri="{BB962C8B-B14F-4D97-AF65-F5344CB8AC3E}">
        <p14:creationId xmlns:p14="http://schemas.microsoft.com/office/powerpoint/2010/main" val="49850819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D7A59-358F-FBDF-F265-3217A07C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Chaining Multiple Retrievers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5F12-0816-ADD2-984C-21B82A81F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noProof="0" dirty="0"/>
              <a:t>Suppose your organization stores knowledge in multiple locations</a:t>
            </a:r>
          </a:p>
          <a:p>
            <a:pPr lvl="1"/>
            <a:r>
              <a:rPr lang="en-IN" noProof="0" dirty="0"/>
              <a:t>PDF manuals </a:t>
            </a:r>
          </a:p>
          <a:p>
            <a:pPr lvl="1"/>
            <a:r>
              <a:rPr lang="en-IN" noProof="0" dirty="0"/>
              <a:t>Company website </a:t>
            </a:r>
          </a:p>
          <a:p>
            <a:pPr lvl="1"/>
            <a:r>
              <a:rPr lang="en-IN" noProof="0" dirty="0"/>
              <a:t>Notion </a:t>
            </a:r>
          </a:p>
          <a:p>
            <a:pPr lvl="1"/>
            <a:r>
              <a:rPr lang="en-IN" noProof="0" dirty="0"/>
              <a:t>SQL database </a:t>
            </a:r>
          </a:p>
          <a:p>
            <a:pPr lvl="1"/>
            <a:r>
              <a:rPr lang="en-IN" noProof="0" dirty="0"/>
              <a:t>FAQ documents</a:t>
            </a:r>
          </a:p>
          <a:p>
            <a:r>
              <a:rPr lang="en-IN" noProof="0" dirty="0"/>
              <a:t>A single retriever searches only one knowledge source</a:t>
            </a:r>
          </a:p>
          <a:p>
            <a:r>
              <a:rPr lang="en-IN" noProof="0" dirty="0"/>
              <a:t>Multiple retrievers allow searching all sources simultaneously</a:t>
            </a:r>
          </a:p>
          <a:p>
            <a:endParaRPr lang="en-IN" noProof="0" dirty="0"/>
          </a:p>
          <a:p>
            <a:r>
              <a:rPr lang="en-IN" noProof="0" dirty="0"/>
              <a:t>C:\code\agenticai\14_advanced\05_langchain\combining_retrievers.py</a:t>
            </a:r>
          </a:p>
        </p:txBody>
      </p:sp>
    </p:spTree>
    <p:extLst>
      <p:ext uri="{BB962C8B-B14F-4D97-AF65-F5344CB8AC3E}">
        <p14:creationId xmlns:p14="http://schemas.microsoft.com/office/powerpoint/2010/main" val="181848286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31F7-408D-BF8D-0468-0CF982BC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8A0931-DD6C-AD11-27ED-82FA13F0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06: </a:t>
            </a:r>
            <a:r>
              <a:rPr lang="en-IN" noProof="0" dirty="0" err="1"/>
              <a:t>LangChain</a:t>
            </a:r>
            <a:r>
              <a:rPr lang="en-IN" noProof="0" dirty="0"/>
              <a:t> Agents and Tool Use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6A63A-F673-D0E4-B47B-CF624CA46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18492848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2E93-9E57-5979-7C84-E745478D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A64CD-8059-0E30-E160-785B1F205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AI Agent</a:t>
            </a:r>
            <a:r>
              <a:rPr lang="en-IN" noProof="0" dirty="0"/>
              <a:t>: An AI system that can</a:t>
            </a:r>
          </a:p>
          <a:p>
            <a:pPr lvl="1"/>
            <a:r>
              <a:rPr lang="en-IN" noProof="0" dirty="0"/>
              <a:t>Perceive its environment </a:t>
            </a:r>
          </a:p>
          <a:p>
            <a:pPr lvl="1"/>
            <a:r>
              <a:rPr lang="en-IN" noProof="0" dirty="0"/>
              <a:t>Reason about a problem </a:t>
            </a:r>
          </a:p>
          <a:p>
            <a:pPr lvl="1"/>
            <a:r>
              <a:rPr lang="en-IN" noProof="0" dirty="0"/>
              <a:t>Decide what action to take </a:t>
            </a:r>
          </a:p>
          <a:p>
            <a:pPr lvl="1"/>
            <a:r>
              <a:rPr lang="en-IN" noProof="0" dirty="0"/>
              <a:t>Execute actions using tools </a:t>
            </a:r>
          </a:p>
          <a:p>
            <a:pPr lvl="1"/>
            <a:r>
              <a:rPr lang="en-IN" noProof="0" dirty="0"/>
              <a:t>Observe the results </a:t>
            </a:r>
          </a:p>
          <a:p>
            <a:pPr lvl="1"/>
            <a:r>
              <a:rPr lang="en-IN" noProof="0" dirty="0"/>
              <a:t>Continue until the goal is achieved </a:t>
            </a:r>
          </a:p>
          <a:p>
            <a:r>
              <a:rPr lang="en-IN" noProof="0" dirty="0"/>
              <a:t>Unlike a traditional chatbot, an AI agent can make decisions and perform tasks autonomously</a:t>
            </a:r>
          </a:p>
        </p:txBody>
      </p:sp>
    </p:spTree>
    <p:extLst>
      <p:ext uri="{BB962C8B-B14F-4D97-AF65-F5344CB8AC3E}">
        <p14:creationId xmlns:p14="http://schemas.microsoft.com/office/powerpoint/2010/main" val="108604992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8AFED-7390-5FC0-E3C7-713EC8C2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AI Agent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650A-D9BF-6EC9-2673-A87B1FDA6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IN" b="1" noProof="0" dirty="0"/>
              <a:t>Perception</a:t>
            </a:r>
            <a:r>
              <a:rPr lang="en-IN" noProof="0" dirty="0"/>
              <a:t>: Gathering information through User requests, Documents, Database records, Images, Audio, Sensor data, API responses, Tool outputs</a:t>
            </a:r>
          </a:p>
          <a:p>
            <a:r>
              <a:rPr lang="en-IN" b="1" noProof="0" dirty="0"/>
              <a:t>Reasoning</a:t>
            </a:r>
            <a:r>
              <a:rPr lang="en-IN" noProof="0" dirty="0"/>
              <a:t>: Deciding what to do next</a:t>
            </a:r>
          </a:p>
          <a:p>
            <a:pPr lvl="1"/>
            <a:r>
              <a:rPr lang="en-IN" noProof="0" dirty="0"/>
              <a:t>What is the user's objective? </a:t>
            </a:r>
          </a:p>
          <a:p>
            <a:pPr lvl="1"/>
            <a:r>
              <a:rPr lang="en-IN" noProof="0" dirty="0"/>
              <a:t>Which tools should I use? </a:t>
            </a:r>
          </a:p>
          <a:p>
            <a:pPr lvl="1"/>
            <a:r>
              <a:rPr lang="en-IN" noProof="0" dirty="0"/>
              <a:t>Do I have enough information? </a:t>
            </a:r>
          </a:p>
          <a:p>
            <a:pPr lvl="1"/>
            <a:r>
              <a:rPr lang="en-IN" noProof="0" dirty="0"/>
              <a:t>What should happen first? </a:t>
            </a:r>
          </a:p>
          <a:p>
            <a:pPr lvl="1"/>
            <a:r>
              <a:rPr lang="en-IN" noProof="0" dirty="0"/>
              <a:t>What is the best plan?</a:t>
            </a:r>
          </a:p>
          <a:p>
            <a:r>
              <a:rPr lang="en-IN" b="1" noProof="0" dirty="0"/>
              <a:t>Action</a:t>
            </a:r>
            <a:r>
              <a:rPr lang="en-IN" noProof="0" dirty="0"/>
              <a:t>: Executing one or more actions, such as Search the web, Query a database, Send an email, Execute Python code, Call an API</a:t>
            </a:r>
          </a:p>
          <a:p>
            <a:r>
              <a:rPr lang="en-IN" b="1" noProof="0" dirty="0"/>
              <a:t>Observation</a:t>
            </a:r>
            <a:r>
              <a:rPr lang="en-IN" noProof="0" dirty="0"/>
              <a:t>: Examining the outcome after acting</a:t>
            </a:r>
          </a:p>
          <a:p>
            <a:pPr lvl="1"/>
            <a:r>
              <a:rPr lang="en-IN" noProof="0" dirty="0"/>
              <a:t>Did the action succeed? </a:t>
            </a:r>
          </a:p>
          <a:p>
            <a:pPr lvl="1"/>
            <a:r>
              <a:rPr lang="en-IN" noProof="0" dirty="0"/>
              <a:t>Was the information useful? </a:t>
            </a:r>
          </a:p>
          <a:p>
            <a:pPr lvl="1"/>
            <a:r>
              <a:rPr lang="en-IN" noProof="0" dirty="0"/>
              <a:t>Do I need another tool? </a:t>
            </a:r>
          </a:p>
          <a:p>
            <a:pPr lvl="1"/>
            <a:r>
              <a:rPr lang="en-IN" noProof="0" dirty="0"/>
              <a:t>Is the goal complete?</a:t>
            </a:r>
          </a:p>
        </p:txBody>
      </p:sp>
    </p:spTree>
    <p:extLst>
      <p:ext uri="{BB962C8B-B14F-4D97-AF65-F5344CB8AC3E}">
        <p14:creationId xmlns:p14="http://schemas.microsoft.com/office/powerpoint/2010/main" val="254950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66B5-58B1-8C67-3DF1-D44A85C7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D366-BF25-2EEE-46E5-0EB4E7376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ReAct</a:t>
            </a:r>
            <a:r>
              <a:rPr lang="en-IN" noProof="0" dirty="0"/>
              <a:t> -&gt; </a:t>
            </a:r>
            <a:r>
              <a:rPr lang="en-IN" b="1" noProof="0" dirty="0"/>
              <a:t>Re</a:t>
            </a:r>
            <a:r>
              <a:rPr lang="en-IN" noProof="0" dirty="0"/>
              <a:t> = Reasoning, </a:t>
            </a:r>
            <a:r>
              <a:rPr lang="en-IN" b="1" noProof="0" dirty="0"/>
              <a:t>Act</a:t>
            </a:r>
            <a:r>
              <a:rPr lang="en-IN" noProof="0" dirty="0"/>
              <a:t> = Acting </a:t>
            </a:r>
          </a:p>
          <a:p>
            <a:r>
              <a:rPr lang="en-IN" noProof="0" dirty="0"/>
              <a:t>Instead of immediately answering a question, the AI agent:</a:t>
            </a:r>
          </a:p>
          <a:p>
            <a:pPr lvl="1"/>
            <a:r>
              <a:rPr lang="en-IN" noProof="0" dirty="0"/>
              <a:t>Thinks about the problem </a:t>
            </a:r>
          </a:p>
          <a:p>
            <a:pPr lvl="1"/>
            <a:r>
              <a:rPr lang="en-IN" noProof="0" dirty="0"/>
              <a:t>Decides which tool to use </a:t>
            </a:r>
          </a:p>
          <a:p>
            <a:pPr lvl="1"/>
            <a:r>
              <a:rPr lang="en-IN" noProof="0" dirty="0"/>
              <a:t>Executes the tool </a:t>
            </a:r>
          </a:p>
          <a:p>
            <a:pPr lvl="1"/>
            <a:r>
              <a:rPr lang="en-IN" noProof="0" dirty="0"/>
              <a:t>Observes the result </a:t>
            </a:r>
          </a:p>
          <a:p>
            <a:pPr lvl="1"/>
            <a:r>
              <a:rPr lang="en-IN" noProof="0" dirty="0"/>
              <a:t>Thinks again </a:t>
            </a:r>
          </a:p>
          <a:p>
            <a:pPr lvl="1"/>
            <a:r>
              <a:rPr lang="en-IN" noProof="0" dirty="0"/>
              <a:t>Repeats until the goal is achieved</a:t>
            </a:r>
          </a:p>
          <a:p>
            <a:r>
              <a:rPr lang="en-IN" noProof="0" dirty="0"/>
              <a:t>The </a:t>
            </a:r>
            <a:r>
              <a:rPr lang="en-IN" noProof="0" dirty="0" err="1"/>
              <a:t>ReAct</a:t>
            </a:r>
            <a:r>
              <a:rPr lang="en-IN" noProof="0" dirty="0"/>
              <a:t> Loop: Thought → Action → Observation → Thought → Action → Observation → Answer</a:t>
            </a:r>
          </a:p>
          <a:p>
            <a:r>
              <a:rPr lang="en-IN" noProof="0" dirty="0"/>
              <a:t>C:\code\agenticai\14_advanced\06_langchain_agents\react_agent_web_search_python_repl.py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9768604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D020-9DC4-F1D1-9665-1A8569FD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CA68-587D-4820-2F3E-59AB1936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Plan-and-Execute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F3F1-B644-7202-FF18-3800AF423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Plan-and-Execute</a:t>
            </a:r>
            <a:r>
              <a:rPr lang="en-IN" noProof="0" dirty="0"/>
              <a:t>: Separates an AI agent's work into two distinct phases</a:t>
            </a:r>
          </a:p>
          <a:p>
            <a:pPr lvl="1"/>
            <a:r>
              <a:rPr lang="en-IN" b="1" noProof="0" dirty="0"/>
              <a:t>Planning</a:t>
            </a:r>
            <a:r>
              <a:rPr lang="en-IN" noProof="0" dirty="0"/>
              <a:t> – Create a complete plan to achieve the goal</a:t>
            </a:r>
          </a:p>
          <a:p>
            <a:pPr lvl="1"/>
            <a:r>
              <a:rPr lang="en-IN" b="1" noProof="0" dirty="0"/>
              <a:t>Execution</a:t>
            </a:r>
            <a:r>
              <a:rPr lang="en-IN" noProof="0" dirty="0"/>
              <a:t> – Carry out each step in the plan</a:t>
            </a:r>
          </a:p>
          <a:p>
            <a:r>
              <a:rPr lang="en-IN" noProof="0" dirty="0"/>
              <a:t>Instead of deciding the next action after every observation (as in </a:t>
            </a:r>
            <a:r>
              <a:rPr lang="en-IN" noProof="0" dirty="0" err="1"/>
              <a:t>ReAct</a:t>
            </a:r>
            <a:r>
              <a:rPr lang="en-IN" noProof="0" dirty="0"/>
              <a:t>), the agent first develops an overall strategy</a:t>
            </a:r>
          </a:p>
          <a:p>
            <a:r>
              <a:rPr lang="en-IN" noProof="0" dirty="0"/>
              <a:t>Goal → Planner → Execution Plan → Executor → Step 1 → Step 2 → Step 3 → Final Answer</a:t>
            </a:r>
          </a:p>
          <a:p>
            <a:r>
              <a:rPr lang="en-IN" noProof="0" dirty="0"/>
              <a:t>Each step itself is a </a:t>
            </a:r>
            <a:r>
              <a:rPr lang="en-IN" noProof="0" dirty="0" err="1"/>
              <a:t>ReAct</a:t>
            </a:r>
            <a:r>
              <a:rPr lang="en-IN" noProof="0" dirty="0"/>
              <a:t> loop internally</a:t>
            </a:r>
          </a:p>
          <a:p>
            <a:r>
              <a:rPr lang="en-IN" noProof="0" dirty="0"/>
              <a:t>14_advanced\06_langchain_agents\plan_and_execute_agent.py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0848065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88B8-C8FA-1766-C89B-31390380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Creating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DD739-B82F-219A-6C0D-AC489A424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Tool</a:t>
            </a:r>
            <a:r>
              <a:rPr lang="en-IN" noProof="0" dirty="0"/>
              <a:t>: A Python function that an AI agent can call to perform a specific task</a:t>
            </a:r>
          </a:p>
          <a:p>
            <a:pPr lvl="1"/>
            <a:r>
              <a:rPr lang="en-IN" noProof="0" dirty="0"/>
              <a:t>Search the web </a:t>
            </a:r>
          </a:p>
          <a:p>
            <a:pPr lvl="1"/>
            <a:r>
              <a:rPr lang="en-IN" noProof="0" dirty="0"/>
              <a:t>Perform calculations </a:t>
            </a:r>
          </a:p>
          <a:p>
            <a:pPr lvl="1"/>
            <a:r>
              <a:rPr lang="en-IN" noProof="0" dirty="0"/>
              <a:t>Read files </a:t>
            </a:r>
          </a:p>
          <a:p>
            <a:pPr lvl="1"/>
            <a:r>
              <a:rPr lang="en-IN" noProof="0" dirty="0"/>
              <a:t>Query databases </a:t>
            </a:r>
          </a:p>
          <a:p>
            <a:pPr lvl="1"/>
            <a:r>
              <a:rPr lang="en-IN" noProof="0" dirty="0"/>
              <a:t>Call REST APIs </a:t>
            </a:r>
          </a:p>
          <a:p>
            <a:pPr lvl="1"/>
            <a:r>
              <a:rPr lang="en-IN" noProof="0" dirty="0"/>
              <a:t>Send emails </a:t>
            </a:r>
          </a:p>
          <a:p>
            <a:pPr lvl="1"/>
            <a:r>
              <a:rPr lang="en-IN" noProof="0" dirty="0"/>
              <a:t>Execute Python code</a:t>
            </a:r>
          </a:p>
          <a:p>
            <a:r>
              <a:rPr lang="en-IN" noProof="0" dirty="0"/>
              <a:t>from </a:t>
            </a:r>
            <a:r>
              <a:rPr lang="en-IN" noProof="0" dirty="0" err="1"/>
              <a:t>langchain_core.tools</a:t>
            </a:r>
            <a:r>
              <a:rPr lang="en-IN" noProof="0" dirty="0"/>
              <a:t> import tool</a:t>
            </a:r>
          </a:p>
          <a:p>
            <a:r>
              <a:rPr lang="en-IN" noProof="0" dirty="0"/>
              <a:t>@tool def square(number: int) -&gt; int:</a:t>
            </a:r>
          </a:p>
        </p:txBody>
      </p:sp>
    </p:spTree>
    <p:extLst>
      <p:ext uri="{BB962C8B-B14F-4D97-AF65-F5344CB8AC3E}">
        <p14:creationId xmlns:p14="http://schemas.microsoft.com/office/powerpoint/2010/main" val="231076287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A33F-8B79-850F-95E2-F7CF92A9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6AE9-24F6-03DE-F976-D247596B3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noProof="0" dirty="0"/>
              <a:t>Tool input schema can be defined using </a:t>
            </a:r>
            <a:r>
              <a:rPr lang="en-IN" noProof="0" dirty="0" err="1"/>
              <a:t>Pydantic</a:t>
            </a:r>
            <a:r>
              <a:rPr lang="en-IN" noProof="0" dirty="0"/>
              <a:t> for safe structured arguments</a:t>
            </a:r>
          </a:p>
          <a:p>
            <a:pPr marL="0" indent="0">
              <a:buNone/>
            </a:pPr>
            <a:r>
              <a:rPr lang="en-IN" noProof="0" dirty="0"/>
              <a:t>from </a:t>
            </a:r>
            <a:r>
              <a:rPr lang="en-IN" noProof="0" dirty="0" err="1"/>
              <a:t>pydantic</a:t>
            </a:r>
            <a:r>
              <a:rPr lang="en-IN" noProof="0" dirty="0"/>
              <a:t> import </a:t>
            </a:r>
            <a:r>
              <a:rPr lang="en-IN" noProof="0" dirty="0" err="1"/>
              <a:t>BaseModel</a:t>
            </a: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class </a:t>
            </a:r>
            <a:r>
              <a:rPr lang="en-IN" noProof="0" dirty="0" err="1"/>
              <a:t>LoanInput</a:t>
            </a:r>
            <a:r>
              <a:rPr lang="en-IN" noProof="0" dirty="0"/>
              <a:t>(</a:t>
            </a:r>
            <a:r>
              <a:rPr lang="en-IN" noProof="0" dirty="0" err="1"/>
              <a:t>BaseModel</a:t>
            </a:r>
            <a:r>
              <a:rPr lang="en-IN" noProof="0" dirty="0"/>
              <a:t>):</a:t>
            </a:r>
          </a:p>
          <a:p>
            <a:pPr marL="0" indent="0">
              <a:buNone/>
            </a:pPr>
            <a:r>
              <a:rPr lang="en-IN" noProof="0" dirty="0"/>
              <a:t>    amount: float</a:t>
            </a:r>
          </a:p>
          <a:p>
            <a:pPr marL="0" indent="0">
              <a:buNone/>
            </a:pPr>
            <a:r>
              <a:rPr lang="en-IN" noProof="0" dirty="0"/>
              <a:t>    years: int</a:t>
            </a:r>
          </a:p>
          <a:p>
            <a:pPr marL="0" indent="0">
              <a:buNone/>
            </a:pPr>
            <a:r>
              <a:rPr lang="en-IN" noProof="0" dirty="0"/>
              <a:t>    rate: float</a:t>
            </a:r>
          </a:p>
          <a:p>
            <a:pPr marL="0" indent="0">
              <a:buNone/>
            </a:pPr>
            <a:r>
              <a:rPr lang="en-IN" noProof="0" dirty="0"/>
              <a:t>def </a:t>
            </a:r>
            <a:r>
              <a:rPr lang="en-IN" noProof="0" dirty="0" err="1"/>
              <a:t>emi</a:t>
            </a:r>
            <a:r>
              <a:rPr lang="en-IN" noProof="0" dirty="0"/>
              <a:t>(amount, years, rate):</a:t>
            </a:r>
          </a:p>
          <a:p>
            <a:pPr marL="0" indent="0">
              <a:buNone/>
            </a:pPr>
            <a:r>
              <a:rPr lang="en-IN" noProof="0" dirty="0"/>
              <a:t>    ...</a:t>
            </a:r>
          </a:p>
          <a:p>
            <a:pPr marL="0" indent="0">
              <a:buNone/>
            </a:pPr>
            <a:r>
              <a:rPr lang="en-IN" noProof="0" dirty="0"/>
              <a:t>tool = </a:t>
            </a:r>
            <a:r>
              <a:rPr lang="en-IN" noProof="0" dirty="0" err="1"/>
              <a:t>StructuredTool.from_function</a:t>
            </a:r>
            <a:r>
              <a:rPr lang="en-IN" noProof="0" dirty="0"/>
              <a:t>(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func</a:t>
            </a:r>
            <a:r>
              <a:rPr lang="en-IN" noProof="0" dirty="0"/>
              <a:t>=</a:t>
            </a:r>
            <a:r>
              <a:rPr lang="en-IN" noProof="0" dirty="0" err="1"/>
              <a:t>emi</a:t>
            </a:r>
            <a:r>
              <a:rPr lang="en-IN" noProof="0" dirty="0"/>
              <a:t>,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args_schema</a:t>
            </a:r>
            <a:r>
              <a:rPr lang="en-IN" noProof="0" dirty="0"/>
              <a:t>=</a:t>
            </a:r>
            <a:r>
              <a:rPr lang="en-IN" noProof="0" dirty="0" err="1"/>
              <a:t>LoanInput</a:t>
            </a: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309828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BAAB-AB7B-639B-D024-0D67C74C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AgentExecutor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3C59-86C1-449B-57B2-216C0CC0A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noProof="0" dirty="0" err="1"/>
              <a:t>AgentExecutor</a:t>
            </a:r>
            <a:r>
              <a:rPr lang="en-IN" noProof="0" dirty="0"/>
              <a:t>: Runtime engine that manages an AI agent</a:t>
            </a:r>
          </a:p>
          <a:p>
            <a:r>
              <a:rPr lang="en-IN" noProof="0" dirty="0"/>
              <a:t>It is responsible for</a:t>
            </a:r>
          </a:p>
          <a:p>
            <a:pPr lvl="1"/>
            <a:r>
              <a:rPr lang="en-IN" noProof="0" dirty="0"/>
              <a:t>Executing the agent </a:t>
            </a:r>
          </a:p>
          <a:p>
            <a:pPr lvl="1"/>
            <a:r>
              <a:rPr lang="en-IN" noProof="0" dirty="0"/>
              <a:t>Running the reasoning loop </a:t>
            </a:r>
          </a:p>
          <a:p>
            <a:pPr lvl="1"/>
            <a:r>
              <a:rPr lang="en-IN" noProof="0" dirty="0"/>
              <a:t>Calling tools </a:t>
            </a:r>
          </a:p>
          <a:p>
            <a:pPr lvl="1"/>
            <a:r>
              <a:rPr lang="en-IN" noProof="0" dirty="0"/>
              <a:t>Tracking observations </a:t>
            </a:r>
          </a:p>
          <a:p>
            <a:pPr lvl="1"/>
            <a:r>
              <a:rPr lang="en-IN" noProof="0" dirty="0"/>
              <a:t>Deciding when to stop </a:t>
            </a:r>
          </a:p>
          <a:p>
            <a:pPr lvl="1"/>
            <a:r>
              <a:rPr lang="en-IN" noProof="0" dirty="0"/>
              <a:t>Returning the final answer </a:t>
            </a:r>
          </a:p>
          <a:p>
            <a:r>
              <a:rPr lang="en-IN" noProof="0" dirty="0"/>
              <a:t>Think of it as the </a:t>
            </a:r>
            <a:r>
              <a:rPr lang="en-IN" b="1" noProof="0" dirty="0"/>
              <a:t>orchestrator</a:t>
            </a:r>
            <a:r>
              <a:rPr lang="en-IN" noProof="0" dirty="0"/>
              <a:t> that coordinates all agent activities</a:t>
            </a:r>
          </a:p>
          <a:p>
            <a:pPr marL="0" indent="0">
              <a:buNone/>
            </a:pPr>
            <a:r>
              <a:rPr lang="en-IN" noProof="0" dirty="0" err="1"/>
              <a:t>agent_executor</a:t>
            </a:r>
            <a:r>
              <a:rPr lang="en-IN" noProof="0" dirty="0"/>
              <a:t> = </a:t>
            </a:r>
            <a:r>
              <a:rPr lang="en-IN" noProof="0" dirty="0" err="1"/>
              <a:t>AgentExecutor</a:t>
            </a:r>
            <a:r>
              <a:rPr lang="en-IN" noProof="0" dirty="0"/>
              <a:t>(</a:t>
            </a:r>
          </a:p>
          <a:p>
            <a:pPr marL="0" indent="0">
              <a:buNone/>
            </a:pPr>
            <a:r>
              <a:rPr lang="en-IN" noProof="0" dirty="0"/>
              <a:t>    agent=agent,</a:t>
            </a:r>
          </a:p>
          <a:p>
            <a:pPr marL="0" indent="0">
              <a:buNone/>
            </a:pPr>
            <a:r>
              <a:rPr lang="en-IN" noProof="0" dirty="0"/>
              <a:t>    tools=tools,</a:t>
            </a:r>
          </a:p>
          <a:p>
            <a:pPr marL="0" indent="0">
              <a:buNone/>
            </a:pPr>
            <a:r>
              <a:rPr lang="en-IN" noProof="0" dirty="0"/>
              <a:t>    verbose=True,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max_iterations</a:t>
            </a:r>
            <a:r>
              <a:rPr lang="en-IN" noProof="0" dirty="0"/>
              <a:t>=5,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early_stopping_method</a:t>
            </a:r>
            <a:r>
              <a:rPr lang="en-IN" noProof="0" dirty="0"/>
              <a:t>="force"</a:t>
            </a:r>
          </a:p>
          <a:p>
            <a:pPr marL="0" indent="0">
              <a:buNone/>
            </a:pP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94748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7F49-65E5-ABF5-AC66-C4E5C7AA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SQLDatabaseToolkit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A22-28AC-47AC-20E9-B5919408E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 err="1"/>
              <a:t>SQLDatabaseToolkit</a:t>
            </a:r>
            <a:r>
              <a:rPr lang="en-IN" noProof="0" dirty="0"/>
              <a:t>: A </a:t>
            </a:r>
            <a:r>
              <a:rPr lang="en-IN" noProof="0" dirty="0" err="1"/>
              <a:t>LangChain</a:t>
            </a:r>
            <a:r>
              <a:rPr lang="en-IN" noProof="0" dirty="0"/>
              <a:t> toolkit that supplies tools for interacting with SQL databases</a:t>
            </a:r>
          </a:p>
          <a:p>
            <a:r>
              <a:rPr lang="en-IN" noProof="0" dirty="0"/>
              <a:t>It enables an agent to: Inspect tables, View schemas, Generate SQL, Execute SQL queries, Validate SQL, Return results</a:t>
            </a:r>
          </a:p>
          <a:p>
            <a:r>
              <a:rPr lang="en-IN" noProof="0" dirty="0"/>
              <a:t>C:\code\agenticai\14_advanced\06_langchain_agents\sql_database_toolkit_agent.py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12142008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9571-C885-4022-1C79-0F62A208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06E7-5B76-58EE-FAC9-97B1F9C6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Multi-Step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11FD-E5E2-0B70-11DF-4C1AC1BFE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Why needed? </a:t>
            </a:r>
          </a:p>
          <a:p>
            <a:pPr lvl="1"/>
            <a:r>
              <a:rPr lang="en-IN" noProof="0" dirty="0"/>
              <a:t>Book the cheapest flight</a:t>
            </a:r>
          </a:p>
          <a:p>
            <a:pPr lvl="1"/>
            <a:r>
              <a:rPr lang="en-IN" noProof="0" dirty="0"/>
              <a:t>and email me the ticket</a:t>
            </a:r>
          </a:p>
          <a:p>
            <a:r>
              <a:rPr lang="en-IN" noProof="0" dirty="0"/>
              <a:t>One tool cannot do this</a:t>
            </a:r>
          </a:p>
          <a:p>
            <a:r>
              <a:rPr lang="en-IN" noProof="0" dirty="0"/>
              <a:t>Tool chaining: Tool 1 → Output → Tool 2 → Output → Tool 3</a:t>
            </a:r>
          </a:p>
          <a:p>
            <a:r>
              <a:rPr lang="en-IN" noProof="0" dirty="0"/>
              <a:t>C:\code\agenticai\14_advanced\06_langchain_agents\chaining_tool_outputs.py</a:t>
            </a:r>
          </a:p>
        </p:txBody>
      </p:sp>
    </p:spTree>
    <p:extLst>
      <p:ext uri="{BB962C8B-B14F-4D97-AF65-F5344CB8AC3E}">
        <p14:creationId xmlns:p14="http://schemas.microsoft.com/office/powerpoint/2010/main" val="413516590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9B6D-1C8F-40B7-ECB4-B3371F48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2A23B3-5D80-50F5-6486-5F9EDE11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07: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7B13BC-0BA6-352F-CE3E-6AD803CB6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15198117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12C4D-34D3-3016-D099-62C121C3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1114-E99D-86E3-F90B-5286C73B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Need for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E19B-587F-0C5E-7929-C0D7AC4D9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 err="1"/>
              <a:t>LangChain</a:t>
            </a:r>
            <a:r>
              <a:rPr lang="en-IN" noProof="0" dirty="0"/>
              <a:t>: Good for simple agents</a:t>
            </a:r>
          </a:p>
          <a:p>
            <a:r>
              <a:rPr lang="en-IN" noProof="0" dirty="0"/>
              <a:t>Cannot handle conditions, dynamic decision making, looping, error recovery, human approval, long running tasks, shared state, parallel execution effectively</a:t>
            </a:r>
          </a:p>
          <a:p>
            <a:r>
              <a:rPr lang="en-IN" b="1" noProof="0" dirty="0" err="1"/>
              <a:t>LangGraph</a:t>
            </a:r>
            <a:r>
              <a:rPr lang="en-IN" noProof="0" dirty="0"/>
              <a:t>: Uses graphs, not chains</a:t>
            </a:r>
          </a:p>
          <a:p>
            <a:r>
              <a:rPr lang="en-IN" noProof="0" dirty="0"/>
              <a:t>Example: START -&gt; Authenticate user -&gt; Balance check -&gt; Enough balance -&gt; If yes: Transfer -&gt; If no: Notify User -&gt; End</a:t>
            </a:r>
          </a:p>
        </p:txBody>
      </p:sp>
    </p:spTree>
    <p:extLst>
      <p:ext uri="{BB962C8B-B14F-4D97-AF65-F5344CB8AC3E}">
        <p14:creationId xmlns:p14="http://schemas.microsoft.com/office/powerpoint/2010/main" val="325306667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3339-B8ED-430C-9427-20692DC0F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: Core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60D2-75F7-FA87-9C7C-D557D2DA2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State</a:t>
            </a:r>
            <a:r>
              <a:rPr lang="en-IN" noProof="0" dirty="0"/>
              <a:t>: Shared global memory of the graph</a:t>
            </a:r>
          </a:p>
          <a:p>
            <a:pPr lvl="1"/>
            <a:r>
              <a:rPr lang="en-IN" noProof="0" dirty="0"/>
              <a:t>Every node receives and updates it</a:t>
            </a:r>
          </a:p>
          <a:p>
            <a:pPr lvl="1"/>
            <a:r>
              <a:rPr lang="en-IN" noProof="0" dirty="0"/>
              <a:t>Initial state -&gt; question = “What is the price of INFY today?”, answer = []</a:t>
            </a:r>
          </a:p>
          <a:p>
            <a:pPr lvl="1"/>
            <a:r>
              <a:rPr lang="en-IN" noProof="0" dirty="0"/>
              <a:t>Final state -&gt; question = “What is the price of INFY today?”, answer = $12.35</a:t>
            </a:r>
          </a:p>
          <a:p>
            <a:r>
              <a:rPr lang="en-IN" b="1" noProof="0" dirty="0"/>
              <a:t>Node</a:t>
            </a:r>
            <a:r>
              <a:rPr lang="en-IN" noProof="0" dirty="0"/>
              <a:t>: A Python function that performs one task, e.g. Call an LLM, Execute a tool, Query a database, Search documents, Validate input</a:t>
            </a:r>
          </a:p>
          <a:p>
            <a:pPr lvl="1"/>
            <a:r>
              <a:rPr lang="en-IN" noProof="0" dirty="0"/>
              <a:t>Input State -&gt; Node -&gt; Output State</a:t>
            </a:r>
          </a:p>
          <a:p>
            <a:r>
              <a:rPr lang="en-IN" b="1" noProof="0" dirty="0"/>
              <a:t>Edge</a:t>
            </a:r>
            <a:r>
              <a:rPr lang="en-IN" noProof="0" dirty="0"/>
              <a:t>: Edges connect nodes</a:t>
            </a:r>
          </a:p>
          <a:p>
            <a:pPr lvl="1"/>
            <a:r>
              <a:rPr lang="en-IN" noProof="0" dirty="0"/>
              <a:t>Search -&gt; Summarize</a:t>
            </a:r>
          </a:p>
          <a:p>
            <a:pPr lvl="1"/>
            <a:r>
              <a:rPr lang="en-IN" noProof="0" dirty="0"/>
              <a:t>Can be conditional</a:t>
            </a:r>
          </a:p>
          <a:p>
            <a:pPr lvl="2"/>
            <a:r>
              <a:rPr lang="en-IN" noProof="0" dirty="0"/>
              <a:t>Search -&gt; Enough results? -&gt; If yes: Summarize -&gt; If no: Search again</a:t>
            </a:r>
          </a:p>
        </p:txBody>
      </p:sp>
    </p:spTree>
    <p:extLst>
      <p:ext uri="{BB962C8B-B14F-4D97-AF65-F5344CB8AC3E}">
        <p14:creationId xmlns:p14="http://schemas.microsoft.com/office/powerpoint/2010/main" val="1137224840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C626-AB83-71ED-A855-2C8CC154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State using </a:t>
            </a:r>
            <a:r>
              <a:rPr lang="en-IN" noProof="0" dirty="0" err="1"/>
              <a:t>TypeDict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2E7B9-0EE0-B693-9152-FB52233AD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noProof="0" dirty="0"/>
              <a:t>Unlike traditional function calls, </a:t>
            </a:r>
            <a:r>
              <a:rPr lang="en-IN" noProof="0" dirty="0" err="1"/>
              <a:t>LangGraph</a:t>
            </a:r>
            <a:r>
              <a:rPr lang="en-IN" noProof="0" dirty="0"/>
              <a:t> nodes need a common place to store information</a:t>
            </a:r>
          </a:p>
          <a:p>
            <a:r>
              <a:rPr lang="en-IN" noProof="0" dirty="0"/>
              <a:t>Instead of passing many variables between nodes, a shared state is passed</a:t>
            </a:r>
          </a:p>
          <a:p>
            <a:r>
              <a:rPr lang="en-IN" noProof="0" dirty="0" err="1"/>
              <a:t>TypedDict</a:t>
            </a:r>
            <a:r>
              <a:rPr lang="en-IN" noProof="0" dirty="0"/>
              <a:t>: A Python type that defines the structure of a dictionary</a:t>
            </a:r>
          </a:p>
          <a:p>
            <a:pPr marL="0" indent="0">
              <a:buNone/>
            </a:pPr>
            <a:r>
              <a:rPr lang="en-IN" noProof="0" dirty="0"/>
              <a:t>class </a:t>
            </a:r>
            <a:r>
              <a:rPr lang="en-IN" noProof="0" dirty="0" err="1"/>
              <a:t>BankState</a:t>
            </a:r>
            <a:r>
              <a:rPr lang="en-IN" noProof="0" dirty="0"/>
              <a:t>(</a:t>
            </a:r>
            <a:r>
              <a:rPr lang="en-IN" noProof="0" dirty="0" err="1"/>
              <a:t>TypedDict</a:t>
            </a:r>
            <a:r>
              <a:rPr lang="en-IN" noProof="0" dirty="0"/>
              <a:t>):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customer_id</a:t>
            </a:r>
            <a:r>
              <a:rPr lang="en-IN" noProof="0" dirty="0"/>
              <a:t>: str</a:t>
            </a:r>
          </a:p>
          <a:p>
            <a:pPr marL="0" indent="0">
              <a:buNone/>
            </a:pPr>
            <a:r>
              <a:rPr lang="en-IN" noProof="0" dirty="0"/>
              <a:t>    balance: float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transfer_amount</a:t>
            </a:r>
            <a:r>
              <a:rPr lang="en-IN" noProof="0" dirty="0"/>
              <a:t>: float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transaction_id</a:t>
            </a:r>
            <a:r>
              <a:rPr lang="en-IN" noProof="0" dirty="0"/>
              <a:t>: str</a:t>
            </a:r>
          </a:p>
          <a:p>
            <a:r>
              <a:rPr lang="en-IN" noProof="0" dirty="0"/>
              <a:t>Now every node knows what fields exist</a:t>
            </a:r>
          </a:p>
          <a:p>
            <a:r>
              <a:rPr lang="en-IN" noProof="0" dirty="0"/>
              <a:t>A node does not return the entire state – just what it updated; </a:t>
            </a:r>
            <a:r>
              <a:rPr lang="en-IN" noProof="0" dirty="0" err="1"/>
              <a:t>LangGraph</a:t>
            </a:r>
            <a:r>
              <a:rPr lang="en-IN" noProof="0" dirty="0"/>
              <a:t> updates it in the whole state object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95828029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14D3-1A65-B17B-0A17-8F9F937E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474649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Building a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7CA07-622E-EE60-A95E-CABD4DD97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234"/>
            <a:ext cx="10515600" cy="6086693"/>
          </a:xfrm>
        </p:spPr>
        <p:txBody>
          <a:bodyPr>
            <a:normAutofit fontScale="62500" lnSpcReduction="20000"/>
          </a:bodyPr>
          <a:lstStyle/>
          <a:p>
            <a:r>
              <a:rPr lang="en-IN" b="1" noProof="0" dirty="0" err="1"/>
              <a:t>StateGraph</a:t>
            </a:r>
            <a:r>
              <a:rPr lang="en-IN" noProof="0" dirty="0"/>
              <a:t>: Central object used to build workflows in </a:t>
            </a:r>
            <a:r>
              <a:rPr lang="en-IN" noProof="0" dirty="0" err="1"/>
              <a:t>LangGraph</a:t>
            </a:r>
            <a:endParaRPr lang="en-IN" noProof="0" dirty="0"/>
          </a:p>
          <a:p>
            <a:r>
              <a:rPr lang="en-IN" noProof="0" dirty="0"/>
              <a:t>Defines Shared state, Nodes, Edges, Entry point, Exit point</a:t>
            </a:r>
          </a:p>
          <a:p>
            <a:r>
              <a:rPr lang="en-IN" noProof="0" dirty="0"/>
              <a:t>Think of it as the blueprint of your AI workflow</a:t>
            </a:r>
          </a:p>
          <a:p>
            <a:pPr marL="0" indent="0">
              <a:buNone/>
            </a:pPr>
            <a:r>
              <a:rPr lang="en-IN" noProof="0" dirty="0"/>
              <a:t>from </a:t>
            </a:r>
            <a:r>
              <a:rPr lang="en-IN" noProof="0" dirty="0" err="1"/>
              <a:t>langgraph.graph</a:t>
            </a:r>
            <a:r>
              <a:rPr lang="en-IN" noProof="0" dirty="0"/>
              <a:t> import </a:t>
            </a:r>
            <a:r>
              <a:rPr lang="en-IN" noProof="0" dirty="0" err="1"/>
              <a:t>StateGraph</a:t>
            </a:r>
            <a:r>
              <a:rPr lang="en-IN" noProof="0" dirty="0"/>
              <a:t>, END</a:t>
            </a:r>
          </a:p>
          <a:p>
            <a:pPr marL="0" indent="0">
              <a:buNone/>
            </a:pPr>
            <a:r>
              <a:rPr lang="en-IN" noProof="0" dirty="0"/>
              <a:t>graph = </a:t>
            </a:r>
            <a:r>
              <a:rPr lang="en-IN" noProof="0" dirty="0" err="1"/>
              <a:t>StateGraph</a:t>
            </a:r>
            <a:r>
              <a:rPr lang="en-IN" noProof="0" dirty="0"/>
              <a:t>(</a:t>
            </a:r>
            <a:r>
              <a:rPr lang="en-IN" noProof="0" dirty="0" err="1"/>
              <a:t>AgentState</a:t>
            </a:r>
            <a:r>
              <a:rPr lang="en-IN" noProof="0" dirty="0"/>
              <a:t>)</a:t>
            </a:r>
          </a:p>
          <a:p>
            <a:r>
              <a:rPr lang="en-IN" noProof="0" dirty="0"/>
              <a:t>No nodes exist yet – we add them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graph.add_node</a:t>
            </a:r>
            <a:r>
              <a:rPr lang="en-IN" noProof="0" dirty="0"/>
              <a:t>( "search", </a:t>
            </a:r>
            <a:r>
              <a:rPr lang="en-IN" noProof="0" dirty="0" err="1"/>
              <a:t>search_node</a:t>
            </a:r>
            <a:r>
              <a:rPr lang="en-IN" noProof="0" dirty="0"/>
              <a:t>)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graph.add_node</a:t>
            </a:r>
            <a:r>
              <a:rPr lang="en-IN" noProof="0" dirty="0"/>
              <a:t>( “summarize", </a:t>
            </a:r>
            <a:r>
              <a:rPr lang="en-IN" noProof="0" dirty="0" err="1"/>
              <a:t>summarize_node</a:t>
            </a:r>
            <a:r>
              <a:rPr lang="en-IN" noProof="0" dirty="0"/>
              <a:t>)</a:t>
            </a:r>
          </a:p>
          <a:p>
            <a:r>
              <a:rPr lang="en-IN" noProof="0" dirty="0"/>
              <a:t>Add edges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graph.add_edge</a:t>
            </a:r>
            <a:r>
              <a:rPr lang="en-IN" noProof="0" dirty="0"/>
              <a:t>("search", "summary")</a:t>
            </a:r>
          </a:p>
          <a:p>
            <a:r>
              <a:rPr lang="en-IN" noProof="0" dirty="0"/>
              <a:t>Define the entry point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graph.set_entry_point</a:t>
            </a:r>
            <a:r>
              <a:rPr lang="en-IN" noProof="0" dirty="0"/>
              <a:t>("search")</a:t>
            </a:r>
          </a:p>
          <a:p>
            <a:r>
              <a:rPr lang="en-IN" noProof="0" dirty="0"/>
              <a:t>Define the end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graph.add_edge</a:t>
            </a:r>
            <a:r>
              <a:rPr lang="en-IN" noProof="0" dirty="0"/>
              <a:t>("answer", END)</a:t>
            </a:r>
          </a:p>
          <a:p>
            <a:r>
              <a:rPr lang="en-IN" noProof="0" dirty="0"/>
              <a:t>Compile the graph</a:t>
            </a:r>
          </a:p>
          <a:p>
            <a:pPr marL="0" indent="0">
              <a:buNone/>
            </a:pPr>
            <a:r>
              <a:rPr lang="en-IN" noProof="0" dirty="0"/>
              <a:t>         app = </a:t>
            </a:r>
            <a:r>
              <a:rPr lang="en-IN" noProof="0" dirty="0" err="1"/>
              <a:t>graph.compile</a:t>
            </a:r>
            <a:r>
              <a:rPr lang="en-IN" noProof="0" dirty="0"/>
              <a:t>()</a:t>
            </a:r>
          </a:p>
          <a:p>
            <a:r>
              <a:rPr lang="en-IN" noProof="0" dirty="0"/>
              <a:t>Execute the graph</a:t>
            </a:r>
          </a:p>
          <a:p>
            <a:pPr marL="0" indent="0">
              <a:buNone/>
            </a:pPr>
            <a:r>
              <a:rPr lang="en-IN" noProof="0" dirty="0"/>
              <a:t>         result = </a:t>
            </a:r>
            <a:r>
              <a:rPr lang="en-IN" noProof="0" dirty="0" err="1"/>
              <a:t>app.invoke</a:t>
            </a:r>
            <a:r>
              <a:rPr lang="en-IN" noProof="0" dirty="0"/>
              <a:t> ( {“question”: “What is AI?”})</a:t>
            </a:r>
          </a:p>
        </p:txBody>
      </p:sp>
    </p:spTree>
    <p:extLst>
      <p:ext uri="{BB962C8B-B14F-4D97-AF65-F5344CB8AC3E}">
        <p14:creationId xmlns:p14="http://schemas.microsoft.com/office/powerpoint/2010/main" val="198610319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A0BF-B5F2-8D66-669B-8F68A849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Conditional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794B-C17F-0F4A-DF08-B630F4ECD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Conditional edge</a:t>
            </a:r>
            <a:r>
              <a:rPr lang="en-IN" noProof="0" dirty="0"/>
              <a:t>: Allows the graph to choose the next node based on the current state, instead of following one fixed path</a:t>
            </a:r>
          </a:p>
          <a:p>
            <a:pPr lvl="0"/>
            <a:r>
              <a:rPr lang="en-IN" noProof="0" dirty="0"/>
              <a:t>Loan approved or rejected?, Enough account balance?, Customer authenticated?</a:t>
            </a:r>
          </a:p>
          <a:p>
            <a:pPr lvl="0"/>
            <a:r>
              <a:rPr lang="en-IN" noProof="0" dirty="0"/>
              <a:t>C:\code\agenticai\14_advanced\07_langgraph\conditional_routing_specialists.py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46228166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50EA-8731-66E9-7B25-673F3ACF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MessageGraph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2F8A-B6DA-3EF8-C708-5B794E92B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noProof="0" dirty="0"/>
              <a:t>Conversations are not one-time tasks, hence they need context</a:t>
            </a:r>
          </a:p>
          <a:p>
            <a:r>
              <a:rPr lang="en-IN" noProof="0" dirty="0"/>
              <a:t>Message history helps us achieve this</a:t>
            </a:r>
          </a:p>
          <a:p>
            <a:pPr lvl="1"/>
            <a:r>
              <a:rPr lang="en-IN" noProof="0" dirty="0"/>
              <a:t>User -&gt; History -&gt; LLM -&gt; New Message -&gt; Updated History</a:t>
            </a:r>
          </a:p>
          <a:p>
            <a:r>
              <a:rPr lang="en-IN" b="1" noProof="0" dirty="0" err="1"/>
              <a:t>MessageGraph</a:t>
            </a:r>
            <a:r>
              <a:rPr lang="en-IN" noProof="0" dirty="0"/>
              <a:t>: A specialized </a:t>
            </a:r>
            <a:r>
              <a:rPr lang="en-IN" noProof="0" dirty="0" err="1"/>
              <a:t>LangGraph</a:t>
            </a:r>
            <a:r>
              <a:rPr lang="en-IN" noProof="0" dirty="0"/>
              <a:t> designed for conversational applications</a:t>
            </a:r>
          </a:p>
          <a:p>
            <a:r>
              <a:rPr lang="en-IN" noProof="0" dirty="0" err="1"/>
              <a:t>StateGraph</a:t>
            </a:r>
            <a:r>
              <a:rPr lang="en-IN" noProof="0" dirty="0"/>
              <a:t>: Question -&gt; Documents -&gt; Summary -&gt; Answer</a:t>
            </a:r>
          </a:p>
          <a:p>
            <a:r>
              <a:rPr lang="en-IN" noProof="0" dirty="0" err="1"/>
              <a:t>MessageGraph</a:t>
            </a:r>
            <a:r>
              <a:rPr lang="en-IN" noProof="0" dirty="0"/>
              <a:t>: Human -&gt; AI -&gt; Human -&gt; AI -&gt; Human</a:t>
            </a:r>
          </a:p>
          <a:p>
            <a:r>
              <a:rPr lang="en-IN" noProof="0" dirty="0"/>
              <a:t>Message types: SystemMessage, </a:t>
            </a:r>
            <a:r>
              <a:rPr lang="en-IN" noProof="0" dirty="0" err="1"/>
              <a:t>HumanMessage</a:t>
            </a:r>
            <a:r>
              <a:rPr lang="en-IN" noProof="0" dirty="0"/>
              <a:t>, </a:t>
            </a:r>
            <a:r>
              <a:rPr lang="en-IN" noProof="0" dirty="0" err="1"/>
              <a:t>AIMessage</a:t>
            </a:r>
            <a:r>
              <a:rPr lang="en-IN" noProof="0" dirty="0"/>
              <a:t>, </a:t>
            </a:r>
            <a:r>
              <a:rPr lang="en-IN" noProof="0" dirty="0" err="1"/>
              <a:t>ToolMessage</a:t>
            </a:r>
            <a:r>
              <a:rPr lang="en-IN" noProof="0" dirty="0"/>
              <a:t> </a:t>
            </a:r>
          </a:p>
          <a:p>
            <a:r>
              <a:rPr lang="en-IN" noProof="0" dirty="0"/>
              <a:t>C:\code\agenticai\14_advanced\07_langgraph\message_graph_bank_faq.py</a:t>
            </a:r>
          </a:p>
        </p:txBody>
      </p:sp>
    </p:spTree>
    <p:extLst>
      <p:ext uri="{BB962C8B-B14F-4D97-AF65-F5344CB8AC3E}">
        <p14:creationId xmlns:p14="http://schemas.microsoft.com/office/powerpoint/2010/main" val="364231451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4891-85C3-012D-4CE5-1545B63F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CD84-08DD-0C4C-F8A7-5D2F4ADA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F56F-6CBA-4557-CEE6-6743F54C6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Normally, the graph executes all nodes before returning a result</a:t>
            </a:r>
          </a:p>
          <a:p>
            <a:r>
              <a:rPr lang="en-IN" b="1" noProof="0" dirty="0"/>
              <a:t>Streaming</a:t>
            </a:r>
            <a:r>
              <a:rPr lang="en-IN" noProof="0" dirty="0"/>
              <a:t>: each completed node sends its output immediately</a:t>
            </a:r>
          </a:p>
          <a:p>
            <a:r>
              <a:rPr lang="en-IN" noProof="0" dirty="0"/>
              <a:t>User sees progress while the graph is running</a:t>
            </a:r>
          </a:p>
          <a:p>
            <a:r>
              <a:rPr lang="en-IN" noProof="0" dirty="0"/>
              <a:t>C:\code\agenticai\14_advanced\07_langgraph\streaming_stock_recommendation.py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03656471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10D0-DC2E-117D-17A7-31747B50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Visualizing and Debugging Graphs in </a:t>
            </a:r>
            <a:r>
              <a:rPr lang="en-IN" noProof="0" dirty="0" err="1"/>
              <a:t>LangGraph</a:t>
            </a:r>
            <a:r>
              <a:rPr lang="en-IN" noProof="0" dirty="0"/>
              <a:t>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6D08C-06C3-6553-4DDA-1D1B5878D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61281" cy="4351338"/>
          </a:xfrm>
        </p:spPr>
        <p:txBody>
          <a:bodyPr>
            <a:normAutofit fontScale="85000" lnSpcReduction="20000"/>
          </a:bodyPr>
          <a:lstStyle/>
          <a:p>
            <a:r>
              <a:rPr lang="en-IN" noProof="0" dirty="0" err="1"/>
              <a:t>LangGraph</a:t>
            </a:r>
            <a:r>
              <a:rPr lang="en-IN" noProof="0" dirty="0"/>
              <a:t> Studio: A visual development environment (IDE) for </a:t>
            </a:r>
            <a:r>
              <a:rPr lang="en-IN" noProof="0" dirty="0" err="1"/>
              <a:t>LangGraph</a:t>
            </a:r>
            <a:r>
              <a:rPr lang="en-IN" noProof="0" dirty="0"/>
              <a:t> applications</a:t>
            </a:r>
          </a:p>
          <a:p>
            <a:r>
              <a:rPr lang="en-IN" noProof="0" dirty="0"/>
              <a:t>Allows developers to View graph structure, Execute graphs, Inspect state, Debug nodes, Replay execution, Modify prompts, Test agents interactively</a:t>
            </a:r>
          </a:p>
          <a:p>
            <a:endParaRPr lang="en-IN" noProof="0" dirty="0"/>
          </a:p>
          <a:p>
            <a:endParaRPr lang="en-IN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78995C-08C0-3035-9F54-D42D89AAD832}"/>
              </a:ext>
            </a:extLst>
          </p:cNvPr>
          <p:cNvSpPr txBox="1">
            <a:spLocks/>
          </p:cNvSpPr>
          <p:nvPr/>
        </p:nvSpPr>
        <p:spPr>
          <a:xfrm>
            <a:off x="3692501" y="1825625"/>
            <a:ext cx="82854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noProof="0" dirty="0"/>
              <a:t>Install and run the dev-server CLI</a:t>
            </a:r>
          </a:p>
          <a:p>
            <a:pPr lvl="1"/>
            <a:r>
              <a:rPr lang="en-IN" noProof="0" dirty="0" err="1"/>
              <a:t>uv</a:t>
            </a:r>
            <a:r>
              <a:rPr lang="en-IN" noProof="0" dirty="0"/>
              <a:t> pip install "</a:t>
            </a:r>
            <a:r>
              <a:rPr lang="en-IN" noProof="0" dirty="0" err="1"/>
              <a:t>langgraph</a:t>
            </a:r>
            <a:r>
              <a:rPr lang="en-IN" noProof="0" dirty="0"/>
              <a:t>-cli[</a:t>
            </a:r>
            <a:r>
              <a:rPr lang="en-IN" noProof="0" dirty="0" err="1"/>
              <a:t>inmem</a:t>
            </a:r>
            <a:r>
              <a:rPr lang="en-IN" noProof="0" dirty="0"/>
              <a:t>]"</a:t>
            </a:r>
          </a:p>
          <a:p>
            <a:pPr lvl="1"/>
            <a:r>
              <a:rPr lang="en-IN" noProof="0" dirty="0" err="1"/>
              <a:t>langgraph</a:t>
            </a:r>
            <a:r>
              <a:rPr lang="en-IN" noProof="0" dirty="0"/>
              <a:t> dev --tunnel</a:t>
            </a:r>
          </a:p>
          <a:p>
            <a:pPr lvl="1"/>
            <a:r>
              <a:rPr lang="en-IN" noProof="0" dirty="0"/>
              <a:t>This should launch the studio in the browser</a:t>
            </a:r>
          </a:p>
          <a:p>
            <a:pPr lvl="1"/>
            <a:r>
              <a:rPr lang="en-IN" noProof="0" dirty="0"/>
              <a:t>If it gives a ‘domain not allowed’ error</a:t>
            </a:r>
          </a:p>
          <a:p>
            <a:pPr lvl="2"/>
            <a:r>
              <a:rPr lang="en-IN" noProof="0" dirty="0"/>
              <a:t>Look for Advanced </a:t>
            </a:r>
            <a:r>
              <a:rPr lang="en-IN" noProof="0" dirty="0" err="1"/>
              <a:t>setttings</a:t>
            </a:r>
            <a:r>
              <a:rPr lang="en-IN" noProof="0" dirty="0"/>
              <a:t> after clicking + on right</a:t>
            </a:r>
          </a:p>
          <a:p>
            <a:pPr lvl="2"/>
            <a:r>
              <a:rPr lang="en-IN" noProof="0" dirty="0"/>
              <a:t>Allowed domains: Add *.trycloudflare.com</a:t>
            </a:r>
          </a:p>
          <a:p>
            <a:pPr lvl="2"/>
            <a:r>
              <a:rPr lang="en-IN" noProof="0" dirty="0"/>
              <a:t>Connect</a:t>
            </a:r>
          </a:p>
          <a:p>
            <a:r>
              <a:rPr lang="en-IN" noProof="0" dirty="0"/>
              <a:t>In Studio, pick </a:t>
            </a:r>
            <a:r>
              <a:rPr lang="en-IN" i="1" noProof="0" dirty="0"/>
              <a:t>greeter</a:t>
            </a:r>
            <a:r>
              <a:rPr lang="en-IN" noProof="0" dirty="0"/>
              <a:t> graph and give input such as </a:t>
            </a:r>
            <a:r>
              <a:rPr lang="en-IN" i="1" noProof="0" dirty="0"/>
              <a:t>{"message": "I just got promoted!", "mood": "", "reply": ""}</a:t>
            </a:r>
          </a:p>
          <a:p>
            <a:pPr lvl="1"/>
            <a:r>
              <a:rPr lang="en-IN" noProof="0" dirty="0"/>
              <a:t>Step through, inspect state at every step</a:t>
            </a:r>
          </a:p>
          <a:p>
            <a:r>
              <a:rPr lang="en-IN" noProof="0" dirty="0"/>
              <a:t>To stop, </a:t>
            </a:r>
            <a:r>
              <a:rPr lang="en-IN" noProof="0" dirty="0" err="1"/>
              <a:t>Ctrl+C</a:t>
            </a:r>
            <a:r>
              <a:rPr lang="en-IN" noProof="0" dirty="0"/>
              <a:t> in terminal</a:t>
            </a:r>
          </a:p>
          <a:p>
            <a:pPr lvl="1"/>
            <a:endParaRPr lang="en-IN" noProof="0" dirty="0"/>
          </a:p>
          <a:p>
            <a:pPr lvl="2"/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08203744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E053-B3E0-C253-0FAF-59971089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41925A-D419-0A1A-DC38-B1815DAC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08: </a:t>
            </a:r>
            <a:r>
              <a:rPr lang="en-IN" noProof="0" dirty="0" err="1"/>
              <a:t>LangGraph</a:t>
            </a:r>
            <a:r>
              <a:rPr lang="en-IN" noProof="0" dirty="0"/>
              <a:t> – Cycles, HIL, Persistence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476B4-616E-B527-4447-447306474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82474839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E97B-B2DD-8FCF-6E10-A51D12C7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4696-C1A0-7BF5-5EC7-E9C7EF48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Cycles/Loops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3FAE9-F3A7-973A-E033-50186BD9E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Cycle/Loop</a:t>
            </a:r>
            <a:r>
              <a:rPr lang="en-IN" noProof="0" dirty="0"/>
              <a:t>: Occurs when a graph returns to a previously executed node instead of always moving forward</a:t>
            </a:r>
          </a:p>
          <a:p>
            <a:r>
              <a:rPr lang="en-IN" noProof="0" dirty="0"/>
              <a:t>Examples: </a:t>
            </a:r>
          </a:p>
          <a:p>
            <a:pPr lvl="1"/>
            <a:r>
              <a:rPr lang="en-IN" noProof="0" dirty="0"/>
              <a:t>Search until enough documents are found </a:t>
            </a:r>
          </a:p>
          <a:p>
            <a:pPr lvl="1"/>
            <a:r>
              <a:rPr lang="en-IN" noProof="0" dirty="0"/>
              <a:t>Retry failed API calls </a:t>
            </a:r>
          </a:p>
          <a:p>
            <a:pPr lvl="1"/>
            <a:r>
              <a:rPr lang="en-IN" noProof="0" dirty="0"/>
              <a:t>Improve generated code </a:t>
            </a:r>
          </a:p>
          <a:p>
            <a:pPr lvl="1"/>
            <a:r>
              <a:rPr lang="en-IN" noProof="0" dirty="0"/>
              <a:t>Refine an answer</a:t>
            </a:r>
          </a:p>
          <a:p>
            <a:r>
              <a:rPr lang="en-IN" noProof="0" dirty="0"/>
              <a:t>Created using conditional edges</a:t>
            </a:r>
          </a:p>
          <a:p>
            <a:r>
              <a:rPr lang="en-IN" noProof="0" dirty="0"/>
              <a:t>C:\code\agenticai\14_advanced\08_langgraph_cycles_HIL_persistence\order_processing_state_machine.py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10232545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AAF2-537C-D04D-4618-AA3503C7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Human In the Loop (HIL)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7769-600B-A948-938D-B30D92B4D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Human-in-the-Loop (HIL)</a:t>
            </a:r>
            <a:r>
              <a:rPr lang="en-IN" noProof="0" dirty="0"/>
              <a:t>: The graph pauses execution at specific points, allowing a human to inspect, approve, modify, or reject the workflow before it continues</a:t>
            </a:r>
          </a:p>
          <a:p>
            <a:pPr lvl="0"/>
            <a:r>
              <a:rPr lang="en-IN" noProof="0" dirty="0"/>
              <a:t>Examples: Loan approvals, Large bank transfers, Medical recommendations, Legal document generation, Contract signing</a:t>
            </a:r>
          </a:p>
          <a:p>
            <a:pPr lvl="0"/>
            <a:r>
              <a:rPr lang="en-IN" noProof="0" dirty="0"/>
              <a:t>An interrupt tells </a:t>
            </a:r>
            <a:r>
              <a:rPr lang="en-IN" noProof="0" dirty="0" err="1"/>
              <a:t>LangGraph</a:t>
            </a:r>
            <a:r>
              <a:rPr lang="en-IN" noProof="0" dirty="0"/>
              <a:t> to pause execution and wait</a:t>
            </a:r>
          </a:p>
          <a:p>
            <a:pPr lvl="0"/>
            <a:r>
              <a:rPr lang="en-IN" noProof="0" dirty="0"/>
              <a:t>Types: </a:t>
            </a:r>
            <a:r>
              <a:rPr lang="en-IN" noProof="0" dirty="0" err="1"/>
              <a:t>interrupt_before</a:t>
            </a:r>
            <a:r>
              <a:rPr lang="en-IN" noProof="0" dirty="0"/>
              <a:t> (Before a node executes), </a:t>
            </a:r>
            <a:r>
              <a:rPr lang="en-IN" noProof="0" dirty="0" err="1"/>
              <a:t>interrupt_after</a:t>
            </a:r>
            <a:r>
              <a:rPr lang="en-IN" noProof="0" dirty="0"/>
              <a:t> (After a node executes)</a:t>
            </a:r>
          </a:p>
          <a:p>
            <a:pPr lvl="0"/>
            <a:r>
              <a:rPr lang="en-IN" noProof="0" dirty="0"/>
              <a:t>C:\code\agenticai\14_advanced\08_langgraph_cycles_HIL_persistence\human_approval_gate.py</a:t>
            </a:r>
          </a:p>
        </p:txBody>
      </p:sp>
    </p:spTree>
    <p:extLst>
      <p:ext uri="{BB962C8B-B14F-4D97-AF65-F5344CB8AC3E}">
        <p14:creationId xmlns:p14="http://schemas.microsoft.com/office/powerpoint/2010/main" val="18003525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27E-1701-8866-A0A0-05FE022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Checkpointers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8E97-C51E-FBE5-1D04-A58FDE0D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Checkpointer</a:t>
            </a:r>
            <a:r>
              <a:rPr lang="en-IN" noProof="0" dirty="0"/>
              <a:t>: A component that saves the current state of a </a:t>
            </a:r>
            <a:r>
              <a:rPr lang="en-IN" noProof="0" dirty="0" err="1"/>
              <a:t>LangGraph</a:t>
            </a:r>
            <a:r>
              <a:rPr lang="en-IN" noProof="0" dirty="0"/>
              <a:t> workflow so execution can continue later instead of starting over</a:t>
            </a:r>
          </a:p>
          <a:p>
            <a:r>
              <a:rPr lang="en-IN" noProof="0" dirty="0"/>
              <a:t>Contains</a:t>
            </a:r>
          </a:p>
          <a:p>
            <a:pPr lvl="1"/>
            <a:r>
              <a:rPr lang="en-IN" noProof="0" dirty="0"/>
              <a:t>Current graph state </a:t>
            </a:r>
          </a:p>
          <a:p>
            <a:pPr lvl="1"/>
            <a:r>
              <a:rPr lang="en-IN" noProof="0" dirty="0"/>
              <a:t>Current node </a:t>
            </a:r>
          </a:p>
          <a:p>
            <a:pPr lvl="1"/>
            <a:r>
              <a:rPr lang="en-IN" noProof="0" dirty="0"/>
              <a:t>Conversation history </a:t>
            </a:r>
          </a:p>
          <a:p>
            <a:pPr lvl="1"/>
            <a:r>
              <a:rPr lang="en-IN" noProof="0" dirty="0"/>
              <a:t>Variables </a:t>
            </a:r>
          </a:p>
          <a:p>
            <a:pPr lvl="1"/>
            <a:r>
              <a:rPr lang="en-IN" noProof="0" dirty="0"/>
              <a:t>Thread identifier </a:t>
            </a:r>
          </a:p>
          <a:p>
            <a:pPr lvl="1"/>
            <a:r>
              <a:rPr lang="en-IN" noProof="0" dirty="0"/>
              <a:t>Pending interrupts</a:t>
            </a:r>
          </a:p>
          <a:p>
            <a:r>
              <a:rPr lang="en-IN" noProof="0" dirty="0" err="1"/>
              <a:t>Checkpointer</a:t>
            </a:r>
            <a:r>
              <a:rPr lang="en-IN" noProof="0" dirty="0"/>
              <a:t> (</a:t>
            </a:r>
            <a:r>
              <a:rPr lang="en-IN" i="1" noProof="0" dirty="0"/>
              <a:t>Where was the agent?</a:t>
            </a:r>
            <a:r>
              <a:rPr lang="en-IN" noProof="0" dirty="0"/>
              <a:t>) ≠ Memory (</a:t>
            </a:r>
            <a:r>
              <a:rPr lang="en-IN" i="1" noProof="0" dirty="0"/>
              <a:t>What does the agent know?</a:t>
            </a:r>
            <a:r>
              <a:rPr lang="en-IN" noProof="0" dirty="0"/>
              <a:t>)</a:t>
            </a:r>
          </a:p>
          <a:p>
            <a:r>
              <a:rPr lang="en-IN" noProof="0" dirty="0"/>
              <a:t>C:\code\agenticai\14_advanced\08_langgraph_cycles_HIL_persistence\sqlite_checkpointing_crash_recovery.py</a:t>
            </a:r>
          </a:p>
        </p:txBody>
      </p:sp>
    </p:spTree>
    <p:extLst>
      <p:ext uri="{BB962C8B-B14F-4D97-AF65-F5344CB8AC3E}">
        <p14:creationId xmlns:p14="http://schemas.microsoft.com/office/powerpoint/2010/main" val="47067649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DF07-6152-1D3A-D486-0A4B8FE1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Send API: Parallel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6FC84-52AB-A87D-B977-D11C6581A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Some tasks could be run in parallel</a:t>
            </a:r>
          </a:p>
          <a:p>
            <a:pPr lvl="1"/>
            <a:r>
              <a:rPr lang="en-IN" noProof="0" dirty="0"/>
              <a:t>Summarizing multiple documents </a:t>
            </a:r>
          </a:p>
          <a:p>
            <a:pPr lvl="1"/>
            <a:r>
              <a:rPr lang="en-IN" noProof="0" dirty="0"/>
              <a:t>Reviewing many resumes </a:t>
            </a:r>
          </a:p>
          <a:p>
            <a:pPr lvl="1"/>
            <a:r>
              <a:rPr lang="en-IN" noProof="0" dirty="0"/>
              <a:t>Analyzing customer reviews </a:t>
            </a:r>
          </a:p>
          <a:p>
            <a:pPr lvl="1"/>
            <a:r>
              <a:rPr lang="en-IN" noProof="0" dirty="0"/>
              <a:t>Processing multiple images</a:t>
            </a:r>
          </a:p>
          <a:p>
            <a:r>
              <a:rPr lang="en-IN" b="1" noProof="0" dirty="0"/>
              <a:t>Send API </a:t>
            </a:r>
            <a:r>
              <a:rPr lang="en-IN" noProof="0" dirty="0"/>
              <a:t>tells </a:t>
            </a:r>
            <a:r>
              <a:rPr lang="en-IN" noProof="0" dirty="0" err="1"/>
              <a:t>LangGraph</a:t>
            </a:r>
            <a:r>
              <a:rPr lang="en-IN" noProof="0" dirty="0"/>
              <a:t>: Create one or more independent executions of this node using different state</a:t>
            </a:r>
          </a:p>
          <a:p>
            <a:r>
              <a:rPr lang="en-IN" noProof="0" dirty="0"/>
              <a:t>Each worker receives its own copy of the state, usually with different input values</a:t>
            </a:r>
          </a:p>
          <a:p>
            <a:r>
              <a:rPr lang="en-IN" noProof="0" dirty="0"/>
              <a:t>C:\code\agenticai\14_advanced\08_langgraph_cycles_HIL_persistence\parallel_trip_planner_send_api.py</a:t>
            </a:r>
          </a:p>
        </p:txBody>
      </p:sp>
    </p:spTree>
    <p:extLst>
      <p:ext uri="{BB962C8B-B14F-4D97-AF65-F5344CB8AC3E}">
        <p14:creationId xmlns:p14="http://schemas.microsoft.com/office/powerpoint/2010/main" val="186934959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8D5B-9116-11D8-AE7F-93FB184C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Subgraphs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131D8-9621-A242-260C-743CE10F6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Subgraph</a:t>
            </a:r>
            <a:r>
              <a:rPr lang="en-IN" noProof="0" dirty="0"/>
              <a:t> = A graph inside another graph</a:t>
            </a:r>
          </a:p>
          <a:p>
            <a:r>
              <a:rPr lang="en-IN" noProof="0" dirty="0"/>
              <a:t>Instead of placing every node into one huge graph, you divide the workflow into smaller, reusable graphs</a:t>
            </a:r>
          </a:p>
          <a:p>
            <a:r>
              <a:rPr lang="en-IN" noProof="0" dirty="0"/>
              <a:t>Each subgraph performs one well-defined responsibility</a:t>
            </a:r>
          </a:p>
          <a:p>
            <a:r>
              <a:rPr lang="en-IN" noProof="0" dirty="0"/>
              <a:t>Breaking a large problem into smaller problems</a:t>
            </a:r>
          </a:p>
          <a:p>
            <a:r>
              <a:rPr lang="en-IN" noProof="0" dirty="0"/>
              <a:t>C:\code\agenticai\14_advanced\08_langgraph_cycles_HIL_persistence\simple_subgraph_example.py</a:t>
            </a:r>
          </a:p>
          <a:p>
            <a:r>
              <a:rPr lang="en-IN" noProof="0" dirty="0"/>
              <a:t>14_advanced\08_langgraph_cycles_HIL_persistence\medical_diagnosis_subgraphs.py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32801723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F9EA-B7FC-3318-939C-1CEEF2DC6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7B827D-AC5E-1E90-77CC-BDA57777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09: </a:t>
            </a:r>
            <a:r>
              <a:rPr lang="en-IN" noProof="0" dirty="0" err="1"/>
              <a:t>LangSmith</a:t>
            </a:r>
            <a:endParaRPr lang="en-IN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BF1ED-6588-43AC-5659-23F04ECC7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50177471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594A2-87E6-A9FC-59F9-C971020AA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98AE-FE52-E11F-3944-C4A1E473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LangSmith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6F528-2BAF-5B28-5CC8-0AC02021C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noProof="0" dirty="0" err="1"/>
              <a:t>LangSmith</a:t>
            </a:r>
            <a:r>
              <a:rPr lang="en-IN" b="1" noProof="0" dirty="0"/>
              <a:t> </a:t>
            </a:r>
            <a:r>
              <a:rPr lang="en-IN" noProof="0" dirty="0"/>
              <a:t>purpose: Monitoring, Debugging, Testing and Evaluating LLM Applications</a:t>
            </a:r>
          </a:p>
          <a:p>
            <a:r>
              <a:rPr lang="en-IN" noProof="0" dirty="0"/>
              <a:t>Developed by </a:t>
            </a:r>
            <a:r>
              <a:rPr lang="en-IN" noProof="0" dirty="0" err="1"/>
              <a:t>LangChain</a:t>
            </a:r>
            <a:endParaRPr lang="en-IN" noProof="0" dirty="0"/>
          </a:p>
          <a:p>
            <a:r>
              <a:rPr lang="en-IN" noProof="0" dirty="0"/>
              <a:t>User → LLM Application (</a:t>
            </a:r>
            <a:r>
              <a:rPr lang="en-IN" noProof="0" dirty="0" err="1"/>
              <a:t>LangChain</a:t>
            </a:r>
            <a:r>
              <a:rPr lang="en-IN" noProof="0" dirty="0"/>
              <a:t> / </a:t>
            </a:r>
            <a:r>
              <a:rPr lang="en-IN" noProof="0" dirty="0" err="1"/>
              <a:t>LangGraph</a:t>
            </a:r>
            <a:r>
              <a:rPr lang="en-IN" noProof="0" dirty="0"/>
              <a:t>) → </a:t>
            </a:r>
            <a:r>
              <a:rPr lang="en-IN" noProof="0" dirty="0" err="1"/>
              <a:t>LangSmith</a:t>
            </a:r>
            <a:r>
              <a:rPr lang="en-IN" noProof="0" dirty="0"/>
              <a:t> SDK → </a:t>
            </a:r>
            <a:r>
              <a:rPr lang="en-IN" noProof="0" dirty="0" err="1"/>
              <a:t>LangSmith</a:t>
            </a:r>
            <a:r>
              <a:rPr lang="en-IN" noProof="0" dirty="0"/>
              <a:t> Cloud → Traces → Runs → Prompts → Tool Calls → Metrics → Evaluations</a:t>
            </a:r>
          </a:p>
          <a:p>
            <a:r>
              <a:rPr lang="en-IN" b="1" noProof="0" dirty="0"/>
              <a:t>Instrumentation</a:t>
            </a:r>
            <a:r>
              <a:rPr lang="en-IN" noProof="0" dirty="0"/>
              <a:t>: Adding tracing capability to an AI application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Create a </a:t>
            </a:r>
            <a:r>
              <a:rPr lang="en-IN" noProof="0" dirty="0" err="1"/>
              <a:t>LangSmith</a:t>
            </a:r>
            <a:r>
              <a:rPr lang="en-IN" noProof="0" dirty="0"/>
              <a:t> account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Generate an API Key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Set environment variables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Enable tracing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Run your application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View traces in the </a:t>
            </a:r>
            <a:r>
              <a:rPr lang="en-IN" noProof="0" dirty="0" err="1"/>
              <a:t>LangSmith</a:t>
            </a:r>
            <a:r>
              <a:rPr lang="en-IN" noProof="0" dirty="0"/>
              <a:t> dashboard</a:t>
            </a:r>
          </a:p>
          <a:p>
            <a:r>
              <a:rPr lang="en-IN" noProof="0" dirty="0"/>
              <a:t>C:\code\agenticai\14_advanced\09_langsmith\trace_langgraph_agent_end_to_end.py</a:t>
            </a:r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16864144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CC43F-5D15-E95E-5D0B-CF06906F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Creating Evaluation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6A05C-E8DB-CAE9-EEC9-E6D148F11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Evaluation dataset</a:t>
            </a:r>
            <a:r>
              <a:rPr lang="en-IN" noProof="0" dirty="0"/>
              <a:t>: A collection of predefined test cases used to evaluate an AI application and contains</a:t>
            </a:r>
          </a:p>
          <a:p>
            <a:pPr lvl="1"/>
            <a:r>
              <a:rPr lang="en-IN" noProof="0" dirty="0"/>
              <a:t>Input (question) </a:t>
            </a:r>
          </a:p>
          <a:p>
            <a:pPr lvl="1"/>
            <a:r>
              <a:rPr lang="en-IN" noProof="0" dirty="0"/>
              <a:t>Expected answer </a:t>
            </a:r>
          </a:p>
          <a:p>
            <a:pPr lvl="1"/>
            <a:r>
              <a:rPr lang="en-IN" noProof="0" dirty="0"/>
              <a:t>Optional context </a:t>
            </a:r>
          </a:p>
          <a:p>
            <a:pPr lvl="1"/>
            <a:r>
              <a:rPr lang="en-IN" noProof="0" dirty="0"/>
              <a:t>Evaluation criteria </a:t>
            </a:r>
          </a:p>
          <a:p>
            <a:r>
              <a:rPr lang="en-IN" b="1" noProof="0" dirty="0"/>
              <a:t>Golden QA pair</a:t>
            </a:r>
            <a:r>
              <a:rPr lang="en-IN" noProof="0" dirty="0"/>
              <a:t>: A trusted question-and-answer example where the expected answer is known to be correct, like a reference answer</a:t>
            </a:r>
          </a:p>
          <a:p>
            <a:r>
              <a:rPr lang="en-IN" b="1" noProof="0" dirty="0"/>
              <a:t>Edge cases</a:t>
            </a:r>
            <a:r>
              <a:rPr lang="en-IN" noProof="0" dirty="0"/>
              <a:t>: Unusual, expected, or difficult inputs (Ambiguous questions, Very long inputs, Misspelt words, Missing information, etc)</a:t>
            </a:r>
          </a:p>
        </p:txBody>
      </p:sp>
    </p:spTree>
    <p:extLst>
      <p:ext uri="{BB962C8B-B14F-4D97-AF65-F5344CB8AC3E}">
        <p14:creationId xmlns:p14="http://schemas.microsoft.com/office/powerpoint/2010/main" val="162634111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4BBC-3E12-636C-FB38-31A368A16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LLM-as-a-Judge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01400-25C3-8D55-294A-7663AE454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Instead of asking humans to evaluate every response, we can use an </a:t>
            </a:r>
            <a:r>
              <a:rPr lang="en-IN" b="1" noProof="0" dirty="0"/>
              <a:t>LLM as an automated evaluator</a:t>
            </a:r>
            <a:endParaRPr lang="en-IN" noProof="0" dirty="0"/>
          </a:p>
          <a:p>
            <a:r>
              <a:rPr lang="en-IN" noProof="0" dirty="0"/>
              <a:t>This approach is widely used in </a:t>
            </a:r>
            <a:r>
              <a:rPr lang="en-IN" noProof="0" dirty="0" err="1"/>
              <a:t>LangSmith</a:t>
            </a:r>
            <a:r>
              <a:rPr lang="en-IN" noProof="0" dirty="0"/>
              <a:t>, OpenAI Evals, </a:t>
            </a:r>
            <a:r>
              <a:rPr lang="en-IN" noProof="0" dirty="0" err="1"/>
              <a:t>DeepEval</a:t>
            </a:r>
            <a:r>
              <a:rPr lang="en-IN" noProof="0" dirty="0"/>
              <a:t>, and other evaluation frameworks</a:t>
            </a:r>
          </a:p>
          <a:p>
            <a:r>
              <a:rPr lang="en-IN" noProof="0" dirty="0"/>
              <a:t>User Question → Application LLM → Generated Answer → Judge LLM (Evaluation) → Score + Feedback</a:t>
            </a:r>
          </a:p>
          <a:p>
            <a:r>
              <a:rPr lang="en-IN" noProof="0" dirty="0"/>
              <a:t>What to send to the Judge LLM?</a:t>
            </a:r>
          </a:p>
          <a:p>
            <a:pPr lvl="1"/>
            <a:r>
              <a:rPr lang="en-IN" noProof="0" dirty="0"/>
              <a:t>User question, Expected answer (optional), Retrieved context (for RAG), Generated answer, Evaluation instructions</a:t>
            </a:r>
          </a:p>
          <a:p>
            <a:r>
              <a:rPr lang="en-IN" noProof="0" dirty="0" err="1"/>
              <a:t>LangSmith</a:t>
            </a:r>
            <a:r>
              <a:rPr lang="en-IN" noProof="0" dirty="0"/>
              <a:t> allows you to create custom judge prompts, evaluate entire datasets automatically, compare multiple model versions, score every application run, store evaluation results, track improvements over time</a:t>
            </a:r>
          </a:p>
          <a:p>
            <a:r>
              <a:rPr lang="en-IN" noProof="0" dirty="0"/>
              <a:t>C:\code\agenticai\14_advanced\09_langsmith\langsmith_llm_as_judge.py</a:t>
            </a:r>
          </a:p>
        </p:txBody>
      </p:sp>
    </p:spTree>
    <p:extLst>
      <p:ext uri="{BB962C8B-B14F-4D97-AF65-F5344CB8AC3E}">
        <p14:creationId xmlns:p14="http://schemas.microsoft.com/office/powerpoint/2010/main" val="264641688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8C10-77FD-08E7-6A69-3F452B5AF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Heuristic Evaluators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2CF7-A456-1362-8814-FDB42688A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Heuristic evaluator</a:t>
            </a:r>
            <a:r>
              <a:rPr lang="en-IN" noProof="0" dirty="0"/>
              <a:t>: Checks responses using predefined rules instead of another language model</a:t>
            </a:r>
          </a:p>
          <a:p>
            <a:pPr lvl="0"/>
            <a:r>
              <a:rPr lang="en-IN" noProof="0" dirty="0"/>
              <a:t>Fast, Deterministic, Inexpensive, Easy to implement</a:t>
            </a:r>
          </a:p>
          <a:p>
            <a:pPr lvl="0"/>
            <a:r>
              <a:rPr lang="en-IN" noProof="0" dirty="0"/>
              <a:t>For simple checks, an LLM evaluation may not be needed</a:t>
            </a:r>
          </a:p>
          <a:p>
            <a:pPr lvl="1"/>
            <a:r>
              <a:rPr lang="en-IN" noProof="0" dirty="0"/>
              <a:t>Is output &lt; 200 words?</a:t>
            </a:r>
          </a:p>
          <a:p>
            <a:pPr lvl="1"/>
            <a:r>
              <a:rPr lang="en-IN" noProof="0" dirty="0"/>
              <a:t>Is output JSON?</a:t>
            </a:r>
          </a:p>
          <a:p>
            <a:pPr lvl="1"/>
            <a:r>
              <a:rPr lang="en-IN" noProof="0" dirty="0"/>
              <a:t>Does output contain words “refund” and “14 days”?</a:t>
            </a:r>
          </a:p>
          <a:p>
            <a:pPr lvl="1"/>
            <a:r>
              <a:rPr lang="en-IN" noProof="0" dirty="0"/>
              <a:t>Does the email id pass email validation logic?</a:t>
            </a:r>
          </a:p>
          <a:p>
            <a:r>
              <a:rPr lang="en-IN" noProof="0" dirty="0"/>
              <a:t>Limitation: Cannot judge meaning/semantics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52423266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16AE-DB9D-4EF6-BB1C-F150B98EA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Prompt Regression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1B1B-663C-89B2-A8E4-768604931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Regression testing</a:t>
            </a:r>
            <a:r>
              <a:rPr lang="en-IN" noProof="0" dirty="0"/>
              <a:t>: Checks whether a new version of a prompt performs better, worse, or the same as an earlier version</a:t>
            </a:r>
          </a:p>
          <a:p>
            <a:pPr lvl="1"/>
            <a:r>
              <a:rPr lang="en-IN" noProof="0" dirty="0"/>
              <a:t>Did accuracy improve? </a:t>
            </a:r>
          </a:p>
          <a:p>
            <a:pPr lvl="1"/>
            <a:r>
              <a:rPr lang="en-IN" noProof="0" dirty="0"/>
              <a:t>Did hallucinations increase? </a:t>
            </a:r>
          </a:p>
          <a:p>
            <a:pPr lvl="1"/>
            <a:r>
              <a:rPr lang="en-IN" noProof="0" dirty="0"/>
              <a:t>Did response quality decrease? </a:t>
            </a:r>
          </a:p>
          <a:p>
            <a:pPr lvl="1"/>
            <a:r>
              <a:rPr lang="en-IN" noProof="0" dirty="0"/>
              <a:t>Did some previously correct answers become incorrect?</a:t>
            </a:r>
          </a:p>
          <a:p>
            <a:r>
              <a:rPr lang="en-IN" noProof="0" dirty="0"/>
              <a:t>C:\code\agenticai\14_advanced\09_langsmith\prompt_regression_testing.py</a:t>
            </a:r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496387355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1F8D6-06F2-7572-E595-E36E63ED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A/B Testing Agent Behaviours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069DA-3954-BFD3-33BD-E636D66FE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A/B testing</a:t>
            </a:r>
            <a:r>
              <a:rPr lang="en-IN" noProof="0" dirty="0"/>
              <a:t>: Compares two different versions of an AI agent to determine which performs better under the same conditions</a:t>
            </a:r>
          </a:p>
          <a:p>
            <a:r>
              <a:rPr lang="en-IN" noProof="0" dirty="0"/>
              <a:t>Instead of changing only the prompt, A/B testing can compare entire agent behaviours, such as tool usage, planning strategies, or reasoning approaches</a:t>
            </a:r>
          </a:p>
          <a:p>
            <a:pPr lvl="1"/>
            <a:r>
              <a:rPr lang="en-IN" noProof="0" dirty="0"/>
              <a:t>Direct answer vs Tool-assisted answer </a:t>
            </a:r>
          </a:p>
          <a:p>
            <a:pPr lvl="1"/>
            <a:r>
              <a:rPr lang="en-IN" noProof="0" dirty="0"/>
              <a:t>Single-step vs Multi-step reasoning </a:t>
            </a:r>
          </a:p>
          <a:p>
            <a:pPr lvl="1"/>
            <a:r>
              <a:rPr lang="en-IN" noProof="0" dirty="0"/>
              <a:t>One tool vs Multiple tools </a:t>
            </a:r>
          </a:p>
          <a:p>
            <a:pPr lvl="1"/>
            <a:r>
              <a:rPr lang="en-IN" noProof="0" dirty="0"/>
              <a:t>GPT-4o-mini vs GPT-4o </a:t>
            </a:r>
          </a:p>
          <a:p>
            <a:pPr lvl="1"/>
            <a:r>
              <a:rPr lang="en-IN" noProof="0" dirty="0"/>
              <a:t>Short responses vs Detailed responses</a:t>
            </a:r>
          </a:p>
          <a:p>
            <a:r>
              <a:rPr lang="en-IN" noProof="0" dirty="0"/>
              <a:t>C:\code\agenticai\14_advanced\09_langsmith\ab_testing.py</a:t>
            </a:r>
          </a:p>
        </p:txBody>
      </p:sp>
    </p:spTree>
    <p:extLst>
      <p:ext uri="{BB962C8B-B14F-4D97-AF65-F5344CB8AC3E}">
        <p14:creationId xmlns:p14="http://schemas.microsoft.com/office/powerpoint/2010/main" val="1586821240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67B9D-A135-06A0-B0B3-129FF473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Annotating Runs with Human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2076F-A9D1-F43E-1EC1-A640C5A02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noProof="0" dirty="0"/>
              <a:t>LHF (Reinforcement Learning from Human Feedback)</a:t>
            </a:r>
            <a:r>
              <a:rPr lang="en-IN" noProof="0" dirty="0"/>
              <a:t>: Improves AI models by learning from human evaluations instead of relying only on training data</a:t>
            </a:r>
          </a:p>
          <a:p>
            <a:r>
              <a:rPr lang="en-IN" noProof="0" dirty="0"/>
              <a:t>Humans review AI-generated responses and provide feedback such as ratings, preferences, or corrections</a:t>
            </a:r>
          </a:p>
          <a:p>
            <a:r>
              <a:rPr lang="en-IN" noProof="0" dirty="0"/>
              <a:t>These annotated responses become valuable training data for future model improvements</a:t>
            </a:r>
          </a:p>
          <a:p>
            <a:r>
              <a:rPr lang="en-IN" noProof="0" dirty="0"/>
              <a:t>Reviewers may provide</a:t>
            </a:r>
          </a:p>
          <a:p>
            <a:pPr lvl="1"/>
            <a:r>
              <a:rPr lang="en-IN" noProof="0" dirty="0"/>
              <a:t>Overall rating (1–5) </a:t>
            </a:r>
          </a:p>
          <a:p>
            <a:pPr lvl="1"/>
            <a:r>
              <a:rPr lang="en-IN" noProof="0" dirty="0"/>
              <a:t>Thumbs Up / Down </a:t>
            </a:r>
          </a:p>
          <a:p>
            <a:pPr lvl="1"/>
            <a:r>
              <a:rPr lang="en-IN" noProof="0" dirty="0"/>
              <a:t>Correct / Incorrect </a:t>
            </a:r>
          </a:p>
          <a:p>
            <a:pPr lvl="1"/>
            <a:r>
              <a:rPr lang="en-IN" noProof="0" dirty="0"/>
              <a:t>Better rewritten answer </a:t>
            </a:r>
          </a:p>
          <a:p>
            <a:pPr lvl="1"/>
            <a:r>
              <a:rPr lang="en-IN" noProof="0" dirty="0"/>
              <a:t>Preference between two responses </a:t>
            </a:r>
          </a:p>
          <a:p>
            <a:pPr lvl="1"/>
            <a:r>
              <a:rPr lang="en-IN" noProof="0" dirty="0"/>
              <a:t>Comments explaining mistakes</a:t>
            </a:r>
          </a:p>
          <a:p>
            <a:pPr marL="0" indent="0">
              <a:buNone/>
            </a:pPr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1427129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14CF1-7896-A41A-445D-34F960C52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D04539-DA62-E5C2-E163-43EA5AB6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10: Model Context Protocol (MCP)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1EEE5-0B37-D76A-54EF-2EB5E2C1E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05689035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291DAB-01E6-0765-4936-076D00739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8"/>
            <a:ext cx="10515600" cy="6035036"/>
          </a:xfrm>
        </p:spPr>
        <p:txBody>
          <a:bodyPr>
            <a:normAutofit/>
          </a:bodyPr>
          <a:lstStyle/>
          <a:p>
            <a:r>
              <a:rPr lang="en-IN" sz="2400" b="1" noProof="0" dirty="0"/>
              <a:t>Model Context Protocol (MCP)</a:t>
            </a:r>
            <a:r>
              <a:rPr lang="en-IN" sz="2400" noProof="0" dirty="0"/>
              <a:t>: An open standard that allows AI models/apps to talk to external tools, data sources or APIs in a structured, secure, and consistent manner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33480-B74E-DCD1-F617-32BE9522A649}"/>
              </a:ext>
            </a:extLst>
          </p:cNvPr>
          <p:cNvSpPr txBox="1"/>
          <p:nvPr/>
        </p:nvSpPr>
        <p:spPr>
          <a:xfrm>
            <a:off x="934760" y="2481049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Host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86F6C-551B-429C-79E5-18CF304104D7}"/>
              </a:ext>
            </a:extLst>
          </p:cNvPr>
          <p:cNvSpPr txBox="1"/>
          <p:nvPr/>
        </p:nvSpPr>
        <p:spPr>
          <a:xfrm>
            <a:off x="2406991" y="2488030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4C0915-AFD3-30D1-08C2-CCF78959144C}"/>
              </a:ext>
            </a:extLst>
          </p:cNvPr>
          <p:cNvSpPr txBox="1"/>
          <p:nvPr/>
        </p:nvSpPr>
        <p:spPr>
          <a:xfrm>
            <a:off x="4001771" y="1684514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2FE6F-205B-873D-A662-9E65D7B37DD7}"/>
              </a:ext>
            </a:extLst>
          </p:cNvPr>
          <p:cNvSpPr txBox="1"/>
          <p:nvPr/>
        </p:nvSpPr>
        <p:spPr>
          <a:xfrm>
            <a:off x="3978757" y="2379548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0FA17-212F-065F-F02D-F6BE63AAB1CC}"/>
              </a:ext>
            </a:extLst>
          </p:cNvPr>
          <p:cNvSpPr txBox="1"/>
          <p:nvPr/>
        </p:nvSpPr>
        <p:spPr>
          <a:xfrm>
            <a:off x="3978757" y="3097474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 C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90C18386-C139-B56F-82E6-C38AB5979343}"/>
              </a:ext>
            </a:extLst>
          </p:cNvPr>
          <p:cNvSpPr/>
          <p:nvPr/>
        </p:nvSpPr>
        <p:spPr>
          <a:xfrm>
            <a:off x="5514319" y="1420812"/>
            <a:ext cx="1340773" cy="93002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Local Data Source A</a:t>
            </a: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D7171984-341D-D647-910F-73B9A765353F}"/>
              </a:ext>
            </a:extLst>
          </p:cNvPr>
          <p:cNvSpPr/>
          <p:nvPr/>
        </p:nvSpPr>
        <p:spPr>
          <a:xfrm>
            <a:off x="5538095" y="2524318"/>
            <a:ext cx="1340773" cy="93002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Local Data Source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08351-85C1-4845-733B-0944A2187709}"/>
              </a:ext>
            </a:extLst>
          </p:cNvPr>
          <p:cNvSpPr txBox="1"/>
          <p:nvPr/>
        </p:nvSpPr>
        <p:spPr>
          <a:xfrm>
            <a:off x="306799" y="1245396"/>
            <a:ext cx="7265795" cy="2862322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noProof="0" dirty="0">
                <a:solidFill>
                  <a:srgbClr val="FF0000"/>
                </a:solidFill>
              </a:rPr>
              <a:t>Our computer</a:t>
            </a:r>
          </a:p>
          <a:p>
            <a:endParaRPr lang="en-IN" b="1" noProof="0" dirty="0">
              <a:solidFill>
                <a:srgbClr val="FF0000"/>
              </a:solidFill>
            </a:endParaRP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405446-3A0A-F655-8420-D7C3EB0ECAC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149213" y="2695895"/>
            <a:ext cx="829544" cy="6819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DDC1A7-1838-49A4-2F50-4BFADF0CF4A9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144559" y="3420640"/>
            <a:ext cx="834198" cy="226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B8CA11-D53D-9B02-92A1-122F90A0DD60}"/>
              </a:ext>
            </a:extLst>
          </p:cNvPr>
          <p:cNvCxnSpPr>
            <a:cxnSpLocks/>
          </p:cNvCxnSpPr>
          <p:nvPr/>
        </p:nvCxnSpPr>
        <p:spPr>
          <a:xfrm flipV="1">
            <a:off x="6670993" y="5238532"/>
            <a:ext cx="553758" cy="17635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8CEF14-497A-2E34-93B9-EADE660E3681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5078062" y="2499636"/>
            <a:ext cx="460033" cy="48969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ontent Placeholder 3">
            <a:extLst>
              <a:ext uri="{FF2B5EF4-FFF2-40B4-BE49-F238E27FC236}">
                <a16:creationId xmlns:a16="http://schemas.microsoft.com/office/drawing/2014/main" id="{9407FD90-3F74-84BD-4AE4-E9BD1230F9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348084"/>
              </p:ext>
            </p:extLst>
          </p:nvPr>
        </p:nvGraphicFramePr>
        <p:xfrm>
          <a:off x="7866050" y="1486779"/>
          <a:ext cx="3921684" cy="434032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84448">
                  <a:extLst>
                    <a:ext uri="{9D8B030D-6E8A-4147-A177-3AD203B41FA5}">
                      <a16:colId xmlns:a16="http://schemas.microsoft.com/office/drawing/2014/main" val="59571921"/>
                    </a:ext>
                  </a:extLst>
                </a:gridCol>
                <a:gridCol w="2437236">
                  <a:extLst>
                    <a:ext uri="{9D8B030D-6E8A-4147-A177-3AD203B41FA5}">
                      <a16:colId xmlns:a16="http://schemas.microsoft.com/office/drawing/2014/main" val="565566842"/>
                    </a:ext>
                  </a:extLst>
                </a:gridCol>
              </a:tblGrid>
              <a:tr h="285283"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Component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103123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MCP Host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An application (Claude Desktop, IDE, Custom app) that uses MCP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719826"/>
                  </a:ext>
                </a:extLst>
              </a:tr>
              <a:tr h="499246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MCP Client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Built into the host, Maintains a 1:1 connection with a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55082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MCP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Exposes specific capabilities through the standard MCP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43538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Local Resources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Files, databases, applications, services on the local computer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620691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Remote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Internet APIs and services accessed by an MCP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5279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6FBB4C3-2F40-DE53-B205-2DE2024101B3}"/>
              </a:ext>
            </a:extLst>
          </p:cNvPr>
          <p:cNvSpPr txBox="1"/>
          <p:nvPr/>
        </p:nvSpPr>
        <p:spPr>
          <a:xfrm>
            <a:off x="1319249" y="5121997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Host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1C29C0-184F-793B-BC5B-86EE15E754EB}"/>
              </a:ext>
            </a:extLst>
          </p:cNvPr>
          <p:cNvSpPr txBox="1"/>
          <p:nvPr/>
        </p:nvSpPr>
        <p:spPr>
          <a:xfrm>
            <a:off x="2411643" y="5831128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64F534-4501-BD91-B6A4-F5FCAEFED675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2027806" y="4771230"/>
            <a:ext cx="383837" cy="37322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03E2AED-089F-44CE-8483-6295F78E13DE}"/>
              </a:ext>
            </a:extLst>
          </p:cNvPr>
          <p:cNvCxnSpPr>
            <a:cxnSpLocks/>
          </p:cNvCxnSpPr>
          <p:nvPr/>
        </p:nvCxnSpPr>
        <p:spPr>
          <a:xfrm flipV="1">
            <a:off x="5053193" y="3171035"/>
            <a:ext cx="494684" cy="166373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2A78E6B-4697-F50C-1AE3-D2F2D68D1C1E}"/>
              </a:ext>
            </a:extLst>
          </p:cNvPr>
          <p:cNvCxnSpPr>
            <a:cxnSpLocks/>
          </p:cNvCxnSpPr>
          <p:nvPr/>
        </p:nvCxnSpPr>
        <p:spPr>
          <a:xfrm>
            <a:off x="3115619" y="4750795"/>
            <a:ext cx="3183387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98446FA-E8E6-8B76-8373-BA441D23AA97}"/>
              </a:ext>
            </a:extLst>
          </p:cNvPr>
          <p:cNvSpPr txBox="1"/>
          <p:nvPr/>
        </p:nvSpPr>
        <p:spPr>
          <a:xfrm>
            <a:off x="6299006" y="4519921"/>
            <a:ext cx="1112172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External MCP Server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773AA5-1B0C-CAF4-8BB5-4397185257B3}"/>
              </a:ext>
            </a:extLst>
          </p:cNvPr>
          <p:cNvSpPr txBox="1"/>
          <p:nvPr/>
        </p:nvSpPr>
        <p:spPr>
          <a:xfrm>
            <a:off x="6299006" y="5491329"/>
            <a:ext cx="1112172" cy="92333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bg1"/>
                </a:solidFill>
              </a:rPr>
              <a:t>External API / Services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E889B73-C1DC-57F9-3FBE-B19FE6252ADA}"/>
              </a:ext>
            </a:extLst>
          </p:cNvPr>
          <p:cNvCxnSpPr>
            <a:cxnSpLocks/>
          </p:cNvCxnSpPr>
          <p:nvPr/>
        </p:nvCxnSpPr>
        <p:spPr>
          <a:xfrm>
            <a:off x="3135435" y="6041494"/>
            <a:ext cx="866336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960CE1-9809-29CE-DF5F-397E183458E1}"/>
              </a:ext>
            </a:extLst>
          </p:cNvPr>
          <p:cNvCxnSpPr>
            <a:cxnSpLocks/>
          </p:cNvCxnSpPr>
          <p:nvPr/>
        </p:nvCxnSpPr>
        <p:spPr>
          <a:xfrm>
            <a:off x="5078062" y="5994206"/>
            <a:ext cx="1240721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C2C7955-6A07-5B14-1009-95523D8B7298}"/>
              </a:ext>
            </a:extLst>
          </p:cNvPr>
          <p:cNvSpPr txBox="1"/>
          <p:nvPr/>
        </p:nvSpPr>
        <p:spPr>
          <a:xfrm>
            <a:off x="322178" y="4214795"/>
            <a:ext cx="4910827" cy="2585323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noProof="0" dirty="0">
                <a:solidFill>
                  <a:srgbClr val="FF0000"/>
                </a:solidFill>
              </a:rPr>
              <a:t>Our computer</a:t>
            </a:r>
          </a:p>
          <a:p>
            <a:endParaRPr lang="en-IN" b="1" noProof="0" dirty="0">
              <a:solidFill>
                <a:srgbClr val="FF0000"/>
              </a:solidFill>
            </a:endParaRP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84F477-0A3B-B722-E8F3-3B7408034A16}"/>
              </a:ext>
            </a:extLst>
          </p:cNvPr>
          <p:cNvSpPr txBox="1"/>
          <p:nvPr/>
        </p:nvSpPr>
        <p:spPr>
          <a:xfrm>
            <a:off x="5317422" y="4219289"/>
            <a:ext cx="2255172" cy="2585323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r>
              <a:rPr lang="en-IN" b="1" noProof="0" dirty="0">
                <a:solidFill>
                  <a:srgbClr val="FF0000"/>
                </a:solidFill>
              </a:rPr>
              <a:t>Internet</a:t>
            </a:r>
          </a:p>
          <a:p>
            <a:endParaRPr lang="en-IN" b="1" noProof="0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0CD06C-4772-3C1F-973D-42AD5F8200A0}"/>
              </a:ext>
            </a:extLst>
          </p:cNvPr>
          <p:cNvSpPr txBox="1"/>
          <p:nvPr/>
        </p:nvSpPr>
        <p:spPr>
          <a:xfrm>
            <a:off x="2411643" y="4586564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341ED4-096C-E641-7104-36AEDBDF8D19}"/>
              </a:ext>
            </a:extLst>
          </p:cNvPr>
          <p:cNvSpPr txBox="1"/>
          <p:nvPr/>
        </p:nvSpPr>
        <p:spPr>
          <a:xfrm>
            <a:off x="3969380" y="5627617"/>
            <a:ext cx="1112172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Local</a:t>
            </a:r>
          </a:p>
          <a:p>
            <a:pPr algn="ctr"/>
            <a:r>
              <a:rPr lang="en-IN" b="1" noProof="0" dirty="0"/>
              <a:t>MCP Server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FECD04D-AA51-6900-5671-AEEE0B01E8CE}"/>
              </a:ext>
            </a:extLst>
          </p:cNvPr>
          <p:cNvCxnSpPr>
            <a:cxnSpLocks/>
          </p:cNvCxnSpPr>
          <p:nvPr/>
        </p:nvCxnSpPr>
        <p:spPr>
          <a:xfrm>
            <a:off x="2048093" y="5469765"/>
            <a:ext cx="363550" cy="67342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3F149A8-371F-686E-EB4C-45CA3E1860F2}"/>
              </a:ext>
            </a:extLst>
          </p:cNvPr>
          <p:cNvCxnSpPr>
            <a:cxnSpLocks/>
          </p:cNvCxnSpPr>
          <p:nvPr/>
        </p:nvCxnSpPr>
        <p:spPr>
          <a:xfrm flipV="1">
            <a:off x="5108458" y="1870353"/>
            <a:ext cx="439419" cy="11530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B8FFC2C-3D3D-0838-D566-D69DFC93B755}"/>
              </a:ext>
            </a:extLst>
          </p:cNvPr>
          <p:cNvSpPr txBox="1"/>
          <p:nvPr/>
        </p:nvSpPr>
        <p:spPr>
          <a:xfrm>
            <a:off x="2411643" y="1773375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D2FD08-2B51-33B6-72C6-B5F116D2C231}"/>
              </a:ext>
            </a:extLst>
          </p:cNvPr>
          <p:cNvSpPr txBox="1"/>
          <p:nvPr/>
        </p:nvSpPr>
        <p:spPr>
          <a:xfrm>
            <a:off x="2443589" y="3233653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D4AABF-D2A1-F9ED-A11A-5E3FC07EEFBC}"/>
              </a:ext>
            </a:extLst>
          </p:cNvPr>
          <p:cNvCxnSpPr/>
          <p:nvPr/>
        </p:nvCxnSpPr>
        <p:spPr>
          <a:xfrm>
            <a:off x="2038495" y="1958041"/>
            <a:ext cx="382745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673E9B-91CF-BF32-0B17-E18D075C539B}"/>
              </a:ext>
            </a:extLst>
          </p:cNvPr>
          <p:cNvCxnSpPr/>
          <p:nvPr/>
        </p:nvCxnSpPr>
        <p:spPr>
          <a:xfrm>
            <a:off x="2078049" y="3424562"/>
            <a:ext cx="382745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784D01-0CC5-5E6B-8B8E-13D2E5C32D59}"/>
              </a:ext>
            </a:extLst>
          </p:cNvPr>
          <p:cNvCxnSpPr/>
          <p:nvPr/>
        </p:nvCxnSpPr>
        <p:spPr>
          <a:xfrm>
            <a:off x="2048093" y="1951061"/>
            <a:ext cx="29956" cy="149630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0FADF4-1DFF-F7C8-09E5-4DD46C17E8B7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660696" y="2672695"/>
            <a:ext cx="746295" cy="1"/>
          </a:xfrm>
          <a:prstGeom prst="line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2507803-B3DB-A7E2-8E35-3CB80A6BF3A8}"/>
              </a:ext>
            </a:extLst>
          </p:cNvPr>
          <p:cNvCxnSpPr>
            <a:cxnSpLocks/>
          </p:cNvCxnSpPr>
          <p:nvPr/>
        </p:nvCxnSpPr>
        <p:spPr>
          <a:xfrm>
            <a:off x="3153831" y="1981378"/>
            <a:ext cx="829544" cy="6819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66710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0DCD-2BAD-C2B6-2CDB-6FCFC34AA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0A3C-2547-CC70-1544-F8461B14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Primitives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5172-B5A1-925D-58A2-7401B0AE2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Every MCP server exposes one or more of three core primitives: </a:t>
            </a:r>
            <a:r>
              <a:rPr lang="en-IN" b="1" noProof="0" dirty="0"/>
              <a:t>Resources</a:t>
            </a:r>
            <a:r>
              <a:rPr lang="en-IN" noProof="0" dirty="0"/>
              <a:t>, </a:t>
            </a:r>
            <a:r>
              <a:rPr lang="en-IN" b="1" noProof="0" dirty="0"/>
              <a:t>Tools</a:t>
            </a:r>
            <a:r>
              <a:rPr lang="en-IN" noProof="0" dirty="0"/>
              <a:t>, </a:t>
            </a:r>
            <a:r>
              <a:rPr lang="en-IN" b="1" noProof="0" dirty="0"/>
              <a:t>Prompts</a:t>
            </a:r>
          </a:p>
          <a:p>
            <a:r>
              <a:rPr lang="en-IN" noProof="0" dirty="0"/>
              <a:t>Resource: Provides information that AI can read (text file, PDF, database record, API response, bank account information)</a:t>
            </a:r>
          </a:p>
          <a:p>
            <a:r>
              <a:rPr lang="en-IN" noProof="0" dirty="0"/>
              <a:t>Tool: Performs an action or computation (Search web, Send email, Query database, Book flight)</a:t>
            </a:r>
          </a:p>
          <a:p>
            <a:r>
              <a:rPr lang="en-IN" noProof="0" dirty="0"/>
              <a:t>Prompt: A reusable instruction/workflow provided by a MCP server (Summarize document, Review source code, Generate minutes of the meeting)</a:t>
            </a:r>
          </a:p>
          <a:p>
            <a:r>
              <a:rPr lang="en-IN" noProof="0" dirty="0"/>
              <a:t>Example: Next slide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71554900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ABC6-830F-8484-C91A-9CBD0A950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ADBF-62E9-6DD8-B7A9-C815C0EC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Server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AB122-0380-FBA3-D2AE-9EFFEAFC2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noProof="0" dirty="0"/>
              <a:t>Resources</a:t>
            </a:r>
          </a:p>
          <a:p>
            <a:r>
              <a:rPr lang="en-IN" noProof="0" dirty="0"/>
              <a:t>---------</a:t>
            </a:r>
          </a:p>
          <a:p>
            <a:r>
              <a:rPr lang="en-IN" noProof="0" dirty="0"/>
              <a:t>README.md</a:t>
            </a:r>
          </a:p>
          <a:p>
            <a:r>
              <a:rPr lang="en-IN" noProof="0" dirty="0"/>
              <a:t>Issues</a:t>
            </a:r>
          </a:p>
          <a:p>
            <a:r>
              <a:rPr lang="en-IN" noProof="0" dirty="0"/>
              <a:t>Pull Requests</a:t>
            </a:r>
          </a:p>
          <a:p>
            <a:endParaRPr lang="en-IN" noProof="0" dirty="0"/>
          </a:p>
          <a:p>
            <a:r>
              <a:rPr lang="en-IN" noProof="0" dirty="0"/>
              <a:t>Tools</a:t>
            </a:r>
          </a:p>
          <a:p>
            <a:r>
              <a:rPr lang="en-IN" noProof="0" dirty="0"/>
              <a:t>-----</a:t>
            </a:r>
          </a:p>
          <a:p>
            <a:r>
              <a:rPr lang="en-IN" noProof="0" dirty="0" err="1"/>
              <a:t>create_issue</a:t>
            </a:r>
            <a:r>
              <a:rPr lang="en-IN" noProof="0" dirty="0"/>
              <a:t>()</a:t>
            </a:r>
          </a:p>
          <a:p>
            <a:r>
              <a:rPr lang="en-IN" noProof="0" dirty="0" err="1"/>
              <a:t>close_issue</a:t>
            </a:r>
            <a:r>
              <a:rPr lang="en-IN" noProof="0" dirty="0"/>
              <a:t>()</a:t>
            </a:r>
          </a:p>
          <a:p>
            <a:r>
              <a:rPr lang="en-IN" noProof="0" dirty="0" err="1"/>
              <a:t>search_repo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Prompts</a:t>
            </a:r>
          </a:p>
          <a:p>
            <a:r>
              <a:rPr lang="en-IN" noProof="0" dirty="0"/>
              <a:t>-------</a:t>
            </a:r>
          </a:p>
          <a:p>
            <a:r>
              <a:rPr lang="en-IN" noProof="0" dirty="0"/>
              <a:t>Review Code</a:t>
            </a:r>
          </a:p>
          <a:p>
            <a:r>
              <a:rPr lang="en-IN" noProof="0" dirty="0"/>
              <a:t>Explain Repository</a:t>
            </a:r>
          </a:p>
          <a:p>
            <a:r>
              <a:rPr lang="en-IN" noProof="0" dirty="0"/>
              <a:t>Summarize Pull Request</a:t>
            </a:r>
          </a:p>
          <a:p>
            <a:r>
              <a:rPr lang="en-IN" noProof="0" dirty="0"/>
              <a:t>Generate Release Notes</a:t>
            </a:r>
          </a:p>
        </p:txBody>
      </p:sp>
    </p:spTree>
    <p:extLst>
      <p:ext uri="{BB962C8B-B14F-4D97-AF65-F5344CB8AC3E}">
        <p14:creationId xmlns:p14="http://schemas.microsoft.com/office/powerpoint/2010/main" val="210717697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7B51-8CBD-96E2-EE2C-B5CCCD06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47E9-F679-3B54-EFDC-01FABB557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Message format</a:t>
            </a:r>
          </a:p>
          <a:p>
            <a:pPr lvl="1"/>
            <a:r>
              <a:rPr lang="en-IN" b="1" noProof="0" dirty="0"/>
              <a:t>JSON-RPC 2.0</a:t>
            </a:r>
            <a:r>
              <a:rPr lang="en-IN" noProof="0" dirty="0"/>
              <a:t>: Communication protocol between an MCP client and an MCP server, and defines what messages look like</a:t>
            </a:r>
          </a:p>
          <a:p>
            <a:r>
              <a:rPr lang="en-IN" noProof="0" dirty="0"/>
              <a:t>Message transmission</a:t>
            </a:r>
          </a:p>
          <a:p>
            <a:pPr lvl="1"/>
            <a:r>
              <a:rPr lang="en-IN" noProof="0" dirty="0"/>
              <a:t>Transport layer defines how those messages are transmitted</a:t>
            </a:r>
          </a:p>
          <a:p>
            <a:pPr lvl="2"/>
            <a:r>
              <a:rPr lang="en-IN" b="1" noProof="0" dirty="0" err="1"/>
              <a:t>stdio</a:t>
            </a:r>
            <a:r>
              <a:rPr lang="en-IN" b="1" noProof="0" dirty="0"/>
              <a:t> (Standard Input/Output)</a:t>
            </a:r>
            <a:r>
              <a:rPr lang="en-IN" noProof="0" dirty="0"/>
              <a:t> </a:t>
            </a:r>
          </a:p>
          <a:p>
            <a:pPr lvl="2"/>
            <a:r>
              <a:rPr lang="en-IN" b="1" noProof="0" dirty="0"/>
              <a:t>HTTP with Server-Sent Events (HTTP/SSE)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76267464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AA6B2-90A9-A225-1795-6AD3FE65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Communication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8A01F-6119-7358-3465-19C774A1F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446729" y="1567359"/>
            <a:ext cx="391470" cy="7817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38759F-149D-A375-A5F9-337C543202C8}"/>
              </a:ext>
            </a:extLst>
          </p:cNvPr>
          <p:cNvSpPr txBox="1"/>
          <p:nvPr/>
        </p:nvSpPr>
        <p:spPr>
          <a:xfrm>
            <a:off x="3347127" y="1690688"/>
            <a:ext cx="20731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Client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67F89E-1030-E4F3-0866-B988D1E8CB7B}"/>
              </a:ext>
            </a:extLst>
          </p:cNvPr>
          <p:cNvCxnSpPr>
            <a:cxnSpLocks/>
          </p:cNvCxnSpPr>
          <p:nvPr/>
        </p:nvCxnSpPr>
        <p:spPr>
          <a:xfrm>
            <a:off x="642464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E443D6-7FFE-D881-C9CB-F837DDEB8CC3}"/>
              </a:ext>
            </a:extLst>
          </p:cNvPr>
          <p:cNvCxnSpPr>
            <a:cxnSpLocks/>
          </p:cNvCxnSpPr>
          <p:nvPr/>
        </p:nvCxnSpPr>
        <p:spPr>
          <a:xfrm>
            <a:off x="4383680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65F8F5-BC3D-9BDE-D774-778A6F2FC9FE}"/>
              </a:ext>
            </a:extLst>
          </p:cNvPr>
          <p:cNvSpPr txBox="1"/>
          <p:nvPr/>
        </p:nvSpPr>
        <p:spPr>
          <a:xfrm>
            <a:off x="838199" y="2750180"/>
            <a:ext cx="3391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noProof="0" dirty="0"/>
              <a:t>1. What is the temperature in Paris?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F34D1E-365A-9822-A8A0-DB1F3DD4B1E7}"/>
              </a:ext>
            </a:extLst>
          </p:cNvPr>
          <p:cNvCxnSpPr/>
          <p:nvPr/>
        </p:nvCxnSpPr>
        <p:spPr>
          <a:xfrm>
            <a:off x="642464" y="3119512"/>
            <a:ext cx="3741216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CE6DE3-7D30-C298-8A92-989D182BE034}"/>
              </a:ext>
            </a:extLst>
          </p:cNvPr>
          <p:cNvSpPr txBox="1"/>
          <p:nvPr/>
        </p:nvSpPr>
        <p:spPr>
          <a:xfrm>
            <a:off x="9984089" y="1690688"/>
            <a:ext cx="20731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86228B-2A62-7299-5475-2C9267C02636}"/>
              </a:ext>
            </a:extLst>
          </p:cNvPr>
          <p:cNvCxnSpPr>
            <a:cxnSpLocks/>
          </p:cNvCxnSpPr>
          <p:nvPr/>
        </p:nvCxnSpPr>
        <p:spPr>
          <a:xfrm>
            <a:off x="11020642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D15CB2B-6CE2-E8E3-2E44-2DDAD626FBF6}"/>
              </a:ext>
            </a:extLst>
          </p:cNvPr>
          <p:cNvSpPr txBox="1"/>
          <p:nvPr/>
        </p:nvSpPr>
        <p:spPr>
          <a:xfrm>
            <a:off x="4592938" y="3200917"/>
            <a:ext cx="6310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noProof="0" dirty="0"/>
              <a:t>2. JSON-RPC Request </a:t>
            </a:r>
            <a:r>
              <a:rPr lang="en-IN" sz="1200" noProof="0" dirty="0"/>
              <a:t>(tools/call tool: </a:t>
            </a:r>
            <a:r>
              <a:rPr lang="en-IN" sz="1200" noProof="0" dirty="0" err="1"/>
              <a:t>get_weather</a:t>
            </a:r>
            <a:r>
              <a:rPr lang="en-IN" sz="1200" noProof="0" dirty="0"/>
              <a:t>, params: {city: “Paris”}, id: 1)</a:t>
            </a:r>
            <a:endParaRPr lang="en-IN" sz="1600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E7FF08-093F-5942-0168-13C2FA25F283}"/>
              </a:ext>
            </a:extLst>
          </p:cNvPr>
          <p:cNvCxnSpPr>
            <a:cxnSpLocks/>
          </p:cNvCxnSpPr>
          <p:nvPr/>
        </p:nvCxnSpPr>
        <p:spPr>
          <a:xfrm>
            <a:off x="4397203" y="3570249"/>
            <a:ext cx="6623439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8C327B-1C37-037F-223F-DE4092E5477F}"/>
              </a:ext>
            </a:extLst>
          </p:cNvPr>
          <p:cNvSpPr txBox="1"/>
          <p:nvPr/>
        </p:nvSpPr>
        <p:spPr>
          <a:xfrm>
            <a:off x="4592938" y="3879830"/>
            <a:ext cx="631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noProof="0" dirty="0"/>
              <a:t>3. JSON-RPC Response </a:t>
            </a:r>
            <a:r>
              <a:rPr lang="en-IN" sz="1400" noProof="0" dirty="0"/>
              <a:t>{ "temperature": 20,  "unit": "C“ }</a:t>
            </a:r>
            <a:endParaRPr lang="en-IN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13A794-AA34-D5E8-AA13-B603EADCFB8A}"/>
              </a:ext>
            </a:extLst>
          </p:cNvPr>
          <p:cNvCxnSpPr>
            <a:cxnSpLocks/>
          </p:cNvCxnSpPr>
          <p:nvPr/>
        </p:nvCxnSpPr>
        <p:spPr>
          <a:xfrm>
            <a:off x="4424978" y="4244409"/>
            <a:ext cx="6623439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6C5F5A-E8AD-32D6-5000-B9BB1EE99E10}"/>
              </a:ext>
            </a:extLst>
          </p:cNvPr>
          <p:cNvSpPr txBox="1"/>
          <p:nvPr/>
        </p:nvSpPr>
        <p:spPr>
          <a:xfrm>
            <a:off x="838199" y="4661578"/>
            <a:ext cx="3391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noProof="0" dirty="0"/>
              <a:t>4. The current temperature in Paris is 20°C.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F26E8E-BA19-B138-3649-6228A1A4C2BB}"/>
              </a:ext>
            </a:extLst>
          </p:cNvPr>
          <p:cNvCxnSpPr/>
          <p:nvPr/>
        </p:nvCxnSpPr>
        <p:spPr>
          <a:xfrm>
            <a:off x="670239" y="5000132"/>
            <a:ext cx="3741216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C50697-8A72-B435-0C1F-EF0BCC74BF3A}"/>
              </a:ext>
            </a:extLst>
          </p:cNvPr>
          <p:cNvSpPr txBox="1"/>
          <p:nvPr/>
        </p:nvSpPr>
        <p:spPr>
          <a:xfrm>
            <a:off x="4604642" y="4461550"/>
            <a:ext cx="3085951" cy="23083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Request (Client-&gt;Server)</a:t>
            </a:r>
          </a:p>
          <a:p>
            <a:r>
              <a:rPr lang="en-IN" sz="1200" noProof="0" dirty="0"/>
              <a:t>{</a:t>
            </a:r>
          </a:p>
          <a:p>
            <a:r>
              <a:rPr lang="en-IN" sz="1200" noProof="0" dirty="0"/>
              <a:t>  "jsonrpc":"2.0",</a:t>
            </a:r>
          </a:p>
          <a:p>
            <a:r>
              <a:rPr lang="en-IN" sz="1200" noProof="0" dirty="0"/>
              <a:t>  "</a:t>
            </a:r>
            <a:r>
              <a:rPr lang="en-IN" sz="1200" noProof="0" dirty="0" err="1"/>
              <a:t>method":"tools</a:t>
            </a:r>
            <a:r>
              <a:rPr lang="en-IN" sz="1200" noProof="0" dirty="0"/>
              <a:t>/call",</a:t>
            </a:r>
          </a:p>
          <a:p>
            <a:r>
              <a:rPr lang="en-IN" sz="1200" noProof="0" dirty="0"/>
              <a:t>  "params":{</a:t>
            </a:r>
          </a:p>
          <a:p>
            <a:r>
              <a:rPr lang="en-IN" sz="1200" noProof="0" dirty="0"/>
              <a:t>      "name":"</a:t>
            </a:r>
            <a:r>
              <a:rPr lang="en-IN" sz="1200" noProof="0" dirty="0" err="1"/>
              <a:t>get_weather</a:t>
            </a:r>
            <a:r>
              <a:rPr lang="en-IN" sz="1200" noProof="0" dirty="0"/>
              <a:t>",</a:t>
            </a:r>
          </a:p>
          <a:p>
            <a:r>
              <a:rPr lang="en-IN" sz="1200" noProof="0" dirty="0"/>
              <a:t>      "arguments":{</a:t>
            </a:r>
          </a:p>
          <a:p>
            <a:r>
              <a:rPr lang="en-IN" sz="1200" noProof="0" dirty="0"/>
              <a:t>          "</a:t>
            </a:r>
            <a:r>
              <a:rPr lang="en-IN" sz="1200" noProof="0" dirty="0" err="1"/>
              <a:t>city":"Paris</a:t>
            </a:r>
            <a:r>
              <a:rPr lang="en-IN" sz="1200" noProof="0" dirty="0"/>
              <a:t>"</a:t>
            </a:r>
          </a:p>
          <a:p>
            <a:r>
              <a:rPr lang="en-IN" sz="1200" noProof="0" dirty="0"/>
              <a:t>      }</a:t>
            </a:r>
          </a:p>
          <a:p>
            <a:r>
              <a:rPr lang="en-IN" sz="1200" noProof="0" dirty="0"/>
              <a:t>  },</a:t>
            </a:r>
          </a:p>
          <a:p>
            <a:r>
              <a:rPr lang="en-IN" sz="1200" noProof="0" dirty="0"/>
              <a:t>  "id":1</a:t>
            </a:r>
          </a:p>
          <a:p>
            <a:r>
              <a:rPr lang="en-IN" sz="1200" noProof="0" dirty="0"/>
              <a:t>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031310-4CD9-F999-9BFC-91C273F6433D}"/>
              </a:ext>
            </a:extLst>
          </p:cNvPr>
          <p:cNvSpPr txBox="1"/>
          <p:nvPr/>
        </p:nvSpPr>
        <p:spPr>
          <a:xfrm>
            <a:off x="7747968" y="4738549"/>
            <a:ext cx="3085951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/>
              <a:t>Response (Server-&gt;Client)</a:t>
            </a:r>
          </a:p>
          <a:p>
            <a:r>
              <a:rPr lang="en-IN" noProof="0" dirty="0"/>
              <a:t>{</a:t>
            </a:r>
          </a:p>
          <a:p>
            <a:r>
              <a:rPr lang="en-IN" noProof="0" dirty="0"/>
              <a:t>   “</a:t>
            </a:r>
            <a:r>
              <a:rPr lang="en-IN" noProof="0" dirty="0" err="1"/>
              <a:t>jsonrpc</a:t>
            </a:r>
            <a:r>
              <a:rPr lang="en-IN" noProof="0" dirty="0"/>
              <a:t>”: 2.0,</a:t>
            </a:r>
          </a:p>
          <a:p>
            <a:r>
              <a:rPr lang="en-IN" noProof="0" dirty="0"/>
              <a:t>   “result”: 20,</a:t>
            </a:r>
          </a:p>
          <a:p>
            <a:r>
              <a:rPr lang="en-IN" noProof="0" dirty="0"/>
              <a:t>   “id”: 1</a:t>
            </a:r>
          </a:p>
          <a:p>
            <a:r>
              <a:rPr lang="en-IN" noProof="0" dirty="0"/>
              <a:t>}</a:t>
            </a:r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121EF65C-DD77-B594-01DD-3A6E2F50E42C}"/>
              </a:ext>
            </a:extLst>
          </p:cNvPr>
          <p:cNvSpPr/>
          <p:nvPr/>
        </p:nvSpPr>
        <p:spPr>
          <a:xfrm>
            <a:off x="5529879" y="1283568"/>
            <a:ext cx="4358086" cy="1183573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Local -&gt;  </a:t>
            </a:r>
            <a:r>
              <a:rPr lang="en-IN" b="1" noProof="0" dirty="0" err="1"/>
              <a:t>stdio</a:t>
            </a:r>
            <a:endParaRPr lang="en-IN" b="1" noProof="0" dirty="0"/>
          </a:p>
          <a:p>
            <a:pPr algn="ctr"/>
            <a:r>
              <a:rPr lang="en-IN" noProof="0" dirty="0"/>
              <a:t>Remote -&gt; </a:t>
            </a:r>
            <a:r>
              <a:rPr lang="en-IN" b="1" noProof="0" dirty="0" err="1"/>
              <a:t>Streamable</a:t>
            </a:r>
            <a:r>
              <a:rPr lang="en-IN" b="1" noProof="0" dirty="0"/>
              <a:t> HTTP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E7560B-6F7A-3660-D334-CDAD3D3BC4CC}"/>
              </a:ext>
            </a:extLst>
          </p:cNvPr>
          <p:cNvSpPr txBox="1"/>
          <p:nvPr/>
        </p:nvSpPr>
        <p:spPr>
          <a:xfrm>
            <a:off x="6783614" y="1228805"/>
            <a:ext cx="2206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noProof="0" dirty="0">
                <a:solidFill>
                  <a:srgbClr val="FF0000"/>
                </a:solidFill>
              </a:rPr>
              <a:t>Transport mode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C323A-CC0B-6156-02F2-90B0BA8B5384}"/>
              </a:ext>
            </a:extLst>
          </p:cNvPr>
          <p:cNvSpPr txBox="1"/>
          <p:nvPr/>
        </p:nvSpPr>
        <p:spPr>
          <a:xfrm>
            <a:off x="7777779" y="6474534"/>
            <a:ext cx="2608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noProof="0" dirty="0">
                <a:solidFill>
                  <a:srgbClr val="FF0000"/>
                </a:solidFill>
              </a:rPr>
              <a:t>JSON-RPC Message Format</a:t>
            </a:r>
          </a:p>
        </p:txBody>
      </p:sp>
    </p:spTree>
    <p:extLst>
      <p:ext uri="{BB962C8B-B14F-4D97-AF65-F5344CB8AC3E}">
        <p14:creationId xmlns:p14="http://schemas.microsoft.com/office/powerpoint/2010/main" val="35281533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04BB-4D0B-AC09-9787-C39BBB3D2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Prompt Template as MCP Primitive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50B2-B789-CD37-5476-C0A9281D2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In MCP, a </a:t>
            </a:r>
            <a:r>
              <a:rPr lang="en-IN" b="1" noProof="0" dirty="0"/>
              <a:t>Prompt</a:t>
            </a:r>
            <a:r>
              <a:rPr lang="en-IN" noProof="0" dirty="0"/>
              <a:t> is a reusable prompt template exposed by an MCP server</a:t>
            </a:r>
          </a:p>
          <a:p>
            <a:r>
              <a:rPr lang="en-IN" noProof="0" dirty="0"/>
              <a:t>Instead of every AI application writing its own prompts, the server provides standardized templates that clients can discover and use</a:t>
            </a:r>
          </a:p>
          <a:p>
            <a:r>
              <a:rPr lang="en-IN" noProof="0" dirty="0"/>
              <a:t>Prompts -&gt; Guide LLMs, Tools -&gt; Interact with external systems</a:t>
            </a:r>
          </a:p>
          <a:p>
            <a:r>
              <a:rPr lang="en-IN" noProof="0" dirty="0"/>
              <a:t>C:\code\agenticai\6_mcp\6_11_prompt_template_mcp_server.py</a:t>
            </a:r>
          </a:p>
        </p:txBody>
      </p:sp>
    </p:spTree>
    <p:extLst>
      <p:ext uri="{BB962C8B-B14F-4D97-AF65-F5344CB8AC3E}">
        <p14:creationId xmlns:p14="http://schemas.microsoft.com/office/powerpoint/2010/main" val="146094106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70DE1-59F2-3496-B467-05762EF6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Security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5E05F-18FF-D7BA-059F-A4B6636A6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Based on </a:t>
            </a:r>
            <a:r>
              <a:rPr lang="en-IN" b="1" noProof="0" dirty="0"/>
              <a:t>permission scopes</a:t>
            </a:r>
            <a:r>
              <a:rPr lang="en-IN" noProof="0" dirty="0"/>
              <a:t> and </a:t>
            </a:r>
            <a:r>
              <a:rPr lang="en-IN" b="1" noProof="0" dirty="0"/>
              <a:t>access control</a:t>
            </a:r>
          </a:p>
          <a:p>
            <a:r>
              <a:rPr lang="en-IN" noProof="0" dirty="0"/>
              <a:t>Permission scopes</a:t>
            </a:r>
          </a:p>
          <a:p>
            <a:pPr lvl="1"/>
            <a:r>
              <a:rPr lang="en-IN" noProof="0" dirty="0"/>
              <a:t>Read files, Search documents, Execute SQL queries, Send email</a:t>
            </a:r>
          </a:p>
          <a:p>
            <a:r>
              <a:rPr lang="en-IN" noProof="0" dirty="0"/>
              <a:t>Access control</a:t>
            </a:r>
          </a:p>
          <a:p>
            <a:pPr lvl="1"/>
            <a:r>
              <a:rPr lang="en-IN" noProof="0" dirty="0"/>
              <a:t>Decides whether to allow/deny a request, e.g. read but not write</a:t>
            </a:r>
          </a:p>
          <a:p>
            <a:endParaRPr lang="en-IN" noProof="0" dirty="0"/>
          </a:p>
          <a:p>
            <a:pPr lvl="1"/>
            <a:endParaRPr lang="en-IN" noProof="0" dirty="0"/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7895197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D041-EB29-819E-CE64-42757384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MCP: Server-side Input Validation and Request Sanitization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193DE-B316-1859-8956-C4E87AD9E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An MCP server should never blindly trust requests received from an AI client</a:t>
            </a:r>
          </a:p>
          <a:p>
            <a:r>
              <a:rPr lang="en-IN" noProof="0" dirty="0"/>
              <a:t>Every request must be: Validated, Sanitized, Authorized </a:t>
            </a:r>
          </a:p>
          <a:p>
            <a:r>
              <a:rPr lang="en-IN" noProof="0" dirty="0"/>
              <a:t>This protects the server from accidental errors, malformed requests, and malicious inputs</a:t>
            </a:r>
          </a:p>
          <a:p>
            <a:r>
              <a:rPr lang="en-IN" noProof="0" dirty="0"/>
              <a:t>C:\code\agenticai\6_mcp\6_12_sql_injection_mcp_server.py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460887509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3197DC-0729-B17C-F9EB-B748680D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11: MCP Ecosystem Integrations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467B9D-ACF8-A7F7-AD1A-5EA230809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72340290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E4BB-846A-2ABE-AABE-3779574B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F169D-515D-3D69-AF55-36D39195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21B6-1A05-15C0-9699-50751F9B2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Official MCP servers</a:t>
            </a:r>
            <a:r>
              <a:rPr lang="en-IN" noProof="0" dirty="0"/>
              <a:t>: Developed by product creators or trusted organizations</a:t>
            </a:r>
          </a:p>
          <a:p>
            <a:pPr lvl="1"/>
            <a:r>
              <a:rPr lang="en-IN" noProof="0" dirty="0"/>
              <a:t>Filesystem, Git, Fetch</a:t>
            </a:r>
          </a:p>
          <a:p>
            <a:pPr lvl="1"/>
            <a:r>
              <a:rPr lang="en-IN" noProof="0" dirty="0"/>
              <a:t>https://github.com/modelcontextprotocol/servers</a:t>
            </a:r>
          </a:p>
          <a:p>
            <a:r>
              <a:rPr lang="en-IN" b="1" noProof="0" dirty="0"/>
              <a:t>Community MCP servers</a:t>
            </a:r>
            <a:r>
              <a:rPr lang="en-IN" noProof="0" dirty="0"/>
              <a:t>: Open-source community has created MCP servers for many popular services</a:t>
            </a:r>
          </a:p>
          <a:p>
            <a:pPr lvl="1"/>
            <a:r>
              <a:rPr lang="en-IN" noProof="0" dirty="0"/>
              <a:t>Google Drive, Slack, Notion, Jira, PostgreSQL, SQLite, Redis, Flight Search</a:t>
            </a:r>
          </a:p>
          <a:p>
            <a:r>
              <a:rPr lang="en-IN" b="1" noProof="0" dirty="0"/>
              <a:t>Enterprise MCP servers</a:t>
            </a:r>
            <a:r>
              <a:rPr lang="en-IN" noProof="0" dirty="0"/>
              <a:t>: Private MCP servers for internal use</a:t>
            </a:r>
          </a:p>
          <a:p>
            <a:pPr lvl="1"/>
            <a:r>
              <a:rPr lang="en-IN" noProof="0" dirty="0"/>
              <a:t>HR, CRM, ERP, Customer database, Banking</a:t>
            </a:r>
          </a:p>
        </p:txBody>
      </p:sp>
    </p:spTree>
    <p:extLst>
      <p:ext uri="{BB962C8B-B14F-4D97-AF65-F5344CB8AC3E}">
        <p14:creationId xmlns:p14="http://schemas.microsoft.com/office/powerpoint/2010/main" val="151973627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5228-8E93-0617-85CE-542CD08E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SQLite and </a:t>
            </a:r>
            <a:r>
              <a:rPr lang="en-IN" noProof="0" dirty="0" err="1"/>
              <a:t>FileSystem</a:t>
            </a:r>
            <a:r>
              <a:rPr lang="en-IN" noProof="0" dirty="0"/>
              <a:t> MCP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D4EE-B406-9C3E-3A2F-7DD86F5D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C:\code\agenticai\6_mcp\6_13_sqlite_resource_mcp_client.py</a:t>
            </a:r>
          </a:p>
          <a:p>
            <a:r>
              <a:rPr lang="en-IN" noProof="0" dirty="0"/>
              <a:t>First pip install </a:t>
            </a:r>
            <a:r>
              <a:rPr lang="en-IN" noProof="0" dirty="0" err="1"/>
              <a:t>sqlite</a:t>
            </a:r>
            <a:r>
              <a:rPr lang="en-IN" noProof="0" dirty="0"/>
              <a:t> </a:t>
            </a:r>
            <a:r>
              <a:rPr lang="en-IN" noProof="0" dirty="0" err="1"/>
              <a:t>mcp</a:t>
            </a:r>
            <a:r>
              <a:rPr lang="en-IN" noProof="0" dirty="0"/>
              <a:t> server, so it will run locally</a:t>
            </a:r>
          </a:p>
          <a:p>
            <a:r>
              <a:rPr lang="en-IN" dirty="0"/>
              <a:t>The server supports tools such as </a:t>
            </a:r>
            <a:r>
              <a:rPr lang="en-IN" dirty="0" err="1"/>
              <a:t>read_query</a:t>
            </a:r>
            <a:r>
              <a:rPr lang="en-IN" dirty="0"/>
              <a:t>, </a:t>
            </a:r>
            <a:r>
              <a:rPr lang="en-IN" dirty="0" err="1"/>
              <a:t>write_query</a:t>
            </a:r>
            <a:r>
              <a:rPr lang="en-IN" dirty="0"/>
              <a:t>, </a:t>
            </a:r>
            <a:r>
              <a:rPr lang="en-IN" dirty="0" err="1"/>
              <a:t>describe_database</a:t>
            </a:r>
            <a:r>
              <a:rPr lang="en-IN" dirty="0"/>
              <a:t>, </a:t>
            </a:r>
            <a:r>
              <a:rPr lang="en-IN" dirty="0" err="1"/>
              <a:t>create_table</a:t>
            </a:r>
            <a:r>
              <a:rPr lang="en-IN" dirty="0"/>
              <a:t> etc</a:t>
            </a:r>
          </a:p>
          <a:p>
            <a:r>
              <a:rPr lang="en-IN" noProof="0" dirty="0"/>
              <a:t>Now our client does not need to import </a:t>
            </a:r>
            <a:r>
              <a:rPr lang="en-IN" noProof="0" dirty="0" err="1"/>
              <a:t>sqlite</a:t>
            </a:r>
            <a:r>
              <a:rPr lang="en-IN" noProof="0" dirty="0"/>
              <a:t> library or write SQL statements – it just makes MCP calls to the server for SQL operations</a:t>
            </a:r>
          </a:p>
          <a:p>
            <a:endParaRPr lang="en-IN" dirty="0"/>
          </a:p>
          <a:p>
            <a:r>
              <a:rPr lang="en-IN" dirty="0"/>
              <a:t>Filesystem MCP server: C:\code\agenticai\6_mcp\6_14_filesystem_mcp_client.py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11772396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7134D-5088-0AEB-EC89-4FFABFA29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F17B-73D6-3415-212B-62246535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GitHub MCP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20E71-64E0-E394-FA77-D97932E8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C:\code\agenticai\6_mcp\6_15_github_mcp_readonly_client.py and </a:t>
            </a:r>
            <a:r>
              <a:rPr lang="en-US" dirty="0"/>
              <a:t>6_mcp\6_16_github_mcp_write_client.py</a:t>
            </a:r>
          </a:p>
          <a:p>
            <a:r>
              <a:rPr lang="en-US" dirty="0"/>
              <a:t>GitHub MCP server is run inside Docker</a:t>
            </a:r>
          </a:p>
          <a:p>
            <a:r>
              <a:rPr lang="en-US" dirty="0"/>
              <a:t>GitHub user id: </a:t>
            </a:r>
            <a:r>
              <a:rPr lang="en-US" dirty="0" err="1"/>
              <a:t>newdelthis</a:t>
            </a:r>
            <a:endParaRPr lang="en-US" dirty="0"/>
          </a:p>
          <a:p>
            <a:r>
              <a:rPr lang="en-US" dirty="0"/>
              <a:t>Created a new repo for this demo: </a:t>
            </a:r>
            <a:r>
              <a:rPr lang="en-US" dirty="0" err="1"/>
              <a:t>mcp</a:t>
            </a:r>
            <a:r>
              <a:rPr lang="en-US" dirty="0"/>
              <a:t>-demo-sandbox</a:t>
            </a:r>
          </a:p>
          <a:p>
            <a:r>
              <a:rPr lang="en-US" dirty="0"/>
              <a:t>Created two tokens and added details in .env</a:t>
            </a:r>
          </a:p>
          <a:p>
            <a:pPr lvl="1"/>
            <a:r>
              <a:rPr lang="en-GB" dirty="0"/>
              <a:t>Public Repositories (read-only) → paste into GITHUB_READONLY_TOKEN</a:t>
            </a:r>
          </a:p>
          <a:p>
            <a:pPr lvl="1"/>
            <a:r>
              <a:rPr lang="en-GB" dirty="0"/>
              <a:t>scoped to </a:t>
            </a:r>
            <a:r>
              <a:rPr lang="en-GB" i="1" dirty="0"/>
              <a:t>only</a:t>
            </a:r>
            <a:r>
              <a:rPr lang="en-GB" dirty="0"/>
              <a:t> the new repo, Contents: Read &amp; Write + Issues: Read &amp; Write → paste into GITHUB_WRITE_TOKEN</a:t>
            </a:r>
          </a:p>
          <a:p>
            <a:pPr lvl="1"/>
            <a:r>
              <a:rPr lang="en-GB" dirty="0"/>
              <a:t>Also add GITHUB_DEMO_OWNER and GITHUB_DEMO_REPO</a:t>
            </a:r>
          </a:p>
          <a:p>
            <a:pPr lvl="1"/>
            <a:endParaRPr lang="en-GB" dirty="0"/>
          </a:p>
          <a:p>
            <a:pPr lvl="1"/>
            <a:endParaRPr lang="en-US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29559865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4E5D-D1FF-C7AD-B817-14E59C735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Playwright MCP Server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AB1F3-3F0E-3473-70EB-CBFFF5070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Used for automation of web testing, such as opening websites, clicking buttons, filling forms, navigation, etc</a:t>
            </a:r>
          </a:p>
          <a:p>
            <a:r>
              <a:rPr lang="en-US" dirty="0"/>
              <a:t>C:\code\agenticai\6_mcp\6_17_playwright_mcp_gold_price_client.py</a:t>
            </a:r>
          </a:p>
          <a:p>
            <a:r>
              <a:rPr lang="en-GB" dirty="0"/>
              <a:t>C:\code\agenticai\6_mcp\6_18_playwright_mcp_login_demo_client.py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2535736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2F82-EF85-8F6E-DEB6-5D76EFE7B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FA78-CEE6-3B38-C610-BFD9DA9D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Report Pipeline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0078C-7CEF-AF55-3D6E-DCD64174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SQLite MCP server -&gt; Filesystem MCP server</a:t>
            </a:r>
          </a:p>
          <a:p>
            <a:r>
              <a:rPr lang="en-GB" dirty="0"/>
              <a:t>C:\code\agenticai\6_mcp\6_19_sqlite_to_filesystem_report_pipeline.py</a:t>
            </a:r>
          </a:p>
        </p:txBody>
      </p:sp>
    </p:spTree>
    <p:extLst>
      <p:ext uri="{BB962C8B-B14F-4D97-AF65-F5344CB8AC3E}">
        <p14:creationId xmlns:p14="http://schemas.microsoft.com/office/powerpoint/2010/main" val="3811489382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BC7B-5A55-6001-7B26-09C2DCEC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in Production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72C9B-7659-A62D-54AD-E55286C44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Single versus Multiple (Specialized) MCP Servers</a:t>
            </a:r>
          </a:p>
          <a:p>
            <a:r>
              <a:rPr lang="en-IN" dirty="0"/>
              <a:t>Load Balancing</a:t>
            </a:r>
          </a:p>
          <a:p>
            <a:r>
              <a:rPr lang="en-IN" dirty="0"/>
              <a:t>Container-based Deployment</a:t>
            </a:r>
          </a:p>
          <a:p>
            <a:r>
              <a:rPr lang="en-IN" dirty="0"/>
              <a:t>API Gateway and Authentication</a:t>
            </a:r>
          </a:p>
          <a:p>
            <a:r>
              <a:rPr lang="en-IN" dirty="0"/>
              <a:t>Monitoring </a:t>
            </a:r>
            <a:r>
              <a:rPr lang="en-IN"/>
              <a:t>and Logging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500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100257</TotalTime>
  <Words>13707</Words>
  <Application>Microsoft Office PowerPoint</Application>
  <PresentationFormat>Widescreen</PresentationFormat>
  <Paragraphs>2219</Paragraphs>
  <Slides>193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193</vt:i4>
      </vt:variant>
    </vt:vector>
  </HeadingPairs>
  <TitlesOfParts>
    <vt:vector size="198" baseType="lpstr">
      <vt:lpstr>Arial</vt:lpstr>
      <vt:lpstr>Calibri</vt:lpstr>
      <vt:lpstr>Calibri Light</vt:lpstr>
      <vt:lpstr>Cambria Math</vt:lpstr>
      <vt:lpstr>Office Theme</vt:lpstr>
      <vt:lpstr>Agentic AI –  Advanced Engineering</vt:lpstr>
      <vt:lpstr>Module 01: Python &amp; AI Dev Environment Setup</vt:lpstr>
      <vt:lpstr>Agentic AI Ecosystem</vt:lpstr>
      <vt:lpstr>Major Components of the Ecosystem</vt:lpstr>
      <vt:lpstr>Popular Python Libraries for Agentic AI </vt:lpstr>
      <vt:lpstr>Typical Agent Architecture</vt:lpstr>
      <vt:lpstr>Production Directory Structure</vt:lpstr>
      <vt:lpstr>Managing Dependencies</vt:lpstr>
      <vt:lpstr>Virtual Environment Concept</vt:lpstr>
      <vt:lpstr>How a Virtual Environment Works</vt:lpstr>
      <vt:lpstr>Managing Dependencies</vt:lpstr>
      <vt:lpstr>Securely managing API keys using python-dotenv and .env files</vt:lpstr>
      <vt:lpstr>Introduction to Git: Initializing repos, branching, and committing</vt:lpstr>
      <vt:lpstr>Writing asynchronous Python with asyncio for concurrent LLM calls</vt:lpstr>
      <vt:lpstr>Core asyncio Concepts</vt:lpstr>
      <vt:lpstr>Basic Asyncio Example</vt:lpstr>
      <vt:lpstr>Sequential LLM Calls</vt:lpstr>
      <vt:lpstr>Concurrent LLM Calls</vt:lpstr>
      <vt:lpstr>Module 02: FastAPI, Streamlit and Gradio for AI Apps</vt:lpstr>
      <vt:lpstr>REST API fundamentals: HTTP methods, status codes, request/response lifecycle</vt:lpstr>
      <vt:lpstr>Common HTTP Methods</vt:lpstr>
      <vt:lpstr>Example AI Calls</vt:lpstr>
      <vt:lpstr>REST APIs in Agentic AI</vt:lpstr>
      <vt:lpstr>FastAPI Project Structure: Routers, Models, and Dependency Injection</vt:lpstr>
      <vt:lpstr>Typical FastAPI Project Structure</vt:lpstr>
      <vt:lpstr>FastAPI – Main Components</vt:lpstr>
      <vt:lpstr>Router Layer</vt:lpstr>
      <vt:lpstr>Models (Pydantic)</vt:lpstr>
      <vt:lpstr>Service Layer</vt:lpstr>
      <vt:lpstr>Dependency Injection</vt:lpstr>
      <vt:lpstr>Overall Flow</vt:lpstr>
      <vt:lpstr>FastAPI with AsyncIO</vt:lpstr>
      <vt:lpstr>Streaming LLM responses using Server-Sent Events (SSE)</vt:lpstr>
      <vt:lpstr>Streaming Example</vt:lpstr>
      <vt:lpstr>Running and testing FastAPI with Uvicorn and Swagger UI</vt:lpstr>
      <vt:lpstr>Running a FastAPI Application</vt:lpstr>
      <vt:lpstr>Sample FastAPI Application</vt:lpstr>
      <vt:lpstr>Interactive API Documentation Using Swagger</vt:lpstr>
      <vt:lpstr>Swagger Example</vt:lpstr>
      <vt:lpstr>Streamlit</vt:lpstr>
      <vt:lpstr>Basic Streamlit App</vt:lpstr>
      <vt:lpstr>Streamlit Layout Components</vt:lpstr>
      <vt:lpstr>Streamlit Widgets</vt:lpstr>
      <vt:lpstr>Example</vt:lpstr>
      <vt:lpstr>Session State</vt:lpstr>
      <vt:lpstr>Caching</vt:lpstr>
      <vt:lpstr>Building a real-time streaming chat UI in Streamlit</vt:lpstr>
      <vt:lpstr>Building a real-time streaming chat UI in Streamlit</vt:lpstr>
      <vt:lpstr>Building a real-time streaming chat UI in Streamlit</vt:lpstr>
      <vt:lpstr>Full Code</vt:lpstr>
      <vt:lpstr>Full Code</vt:lpstr>
      <vt:lpstr>Test</vt:lpstr>
      <vt:lpstr>Gradio</vt:lpstr>
      <vt:lpstr>Gradio: Input and Output Components</vt:lpstr>
      <vt:lpstr>Text Input Example</vt:lpstr>
      <vt:lpstr>File Input Example</vt:lpstr>
      <vt:lpstr>Image Input Example</vt:lpstr>
      <vt:lpstr>Creating shareable Gradio demos</vt:lpstr>
      <vt:lpstr>Gradio Deployment on HuggingFace</vt:lpstr>
      <vt:lpstr>Wiring a Streamlit front-end to a FastAPI backend</vt:lpstr>
      <vt:lpstr>Now Gradio</vt:lpstr>
      <vt:lpstr>Streamlit-Gradio Comparison</vt:lpstr>
      <vt:lpstr>Module 03: LLM Fundamentals, Context, and Prompt Engineering</vt:lpstr>
      <vt:lpstr>How LLM Works</vt:lpstr>
      <vt:lpstr>1. LLM – Training</vt:lpstr>
      <vt:lpstr>2. LLM – Tokenization</vt:lpstr>
      <vt:lpstr>3. LLM – Embedding</vt:lpstr>
      <vt:lpstr>4. LLM – Transformers and Attention Mechanism</vt:lpstr>
      <vt:lpstr>5. LLM – Predicts One Token at a Time</vt:lpstr>
      <vt:lpstr>Context Window</vt:lpstr>
      <vt:lpstr>PowerPoint Presentation</vt:lpstr>
      <vt:lpstr>Useful Links</vt:lpstr>
      <vt:lpstr>The OpenAI API</vt:lpstr>
      <vt:lpstr>OpenAI API</vt:lpstr>
      <vt:lpstr>OpenAI Models</vt:lpstr>
      <vt:lpstr>The Anthropic API</vt:lpstr>
      <vt:lpstr>Anthropic API – Messages</vt:lpstr>
      <vt:lpstr>Anthropic Models</vt:lpstr>
      <vt:lpstr>Ollama</vt:lpstr>
      <vt:lpstr>Popular Open Weight Models</vt:lpstr>
      <vt:lpstr>Using Ollama</vt:lpstr>
      <vt:lpstr>Structuring System Prompts for Domain-Expert Personas</vt:lpstr>
      <vt:lpstr>System Prompt Template and Example</vt:lpstr>
      <vt:lpstr>Zero-shot, one-shot, and few-shot prompting patterns</vt:lpstr>
      <vt:lpstr>Chain-of-Thought (CoT) Prompting</vt:lpstr>
      <vt:lpstr>Chain-of-Thought (CoT) - Example</vt:lpstr>
      <vt:lpstr>Tree-of-Thought (ToT)</vt:lpstr>
      <vt:lpstr>PowerPoint Presentation</vt:lpstr>
      <vt:lpstr>ReAct Prompting</vt:lpstr>
      <vt:lpstr>ReAct Example</vt:lpstr>
      <vt:lpstr>Structured Output</vt:lpstr>
      <vt:lpstr>Structured Output Example (Code: structured_output_investment_advisor.py)</vt:lpstr>
      <vt:lpstr>Tool Calling</vt:lpstr>
      <vt:lpstr>Tool Calling Example (Agents API)</vt:lpstr>
      <vt:lpstr>Measuring and Optimising Token Usage with tiktoken</vt:lpstr>
      <vt:lpstr>Evaluating and benchmarking LLM output quality</vt:lpstr>
      <vt:lpstr>What Should be Measured?</vt:lpstr>
      <vt:lpstr>Module 04: Embeddings, Vector Databases and Semantic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CRUD operations and metadata filtering in ChromaDB</vt:lpstr>
      <vt:lpstr>CRUD operations and metadata filtering in ChromaDB</vt:lpstr>
      <vt:lpstr>ChromaDB - Filtering</vt:lpstr>
      <vt:lpstr>FAISS</vt:lpstr>
      <vt:lpstr>PowerPoint Presentation</vt:lpstr>
      <vt:lpstr>FAISS Index Types</vt:lpstr>
      <vt:lpstr>PowerPoint Presentation</vt:lpstr>
      <vt:lpstr>14_advanced\04_rag\faiss_search.py</vt:lpstr>
      <vt:lpstr>Nearest-neighbour retrieval: understanding similarity metrics (cosine, L2, dot product)</vt:lpstr>
      <vt:lpstr>Formulae</vt:lpstr>
      <vt:lpstr>ChromaDB versus FAISS – Benchmarking</vt:lpstr>
      <vt:lpstr>RAG - Chunking</vt:lpstr>
      <vt:lpstr>Chunking Strategies</vt:lpstr>
      <vt:lpstr>Advanced Retrieval – Two Stage Retrieval</vt:lpstr>
      <vt:lpstr>Relevance Reranking</vt:lpstr>
      <vt:lpstr>Hybrid Search</vt:lpstr>
      <vt:lpstr>When to Use Hybrid Search?</vt:lpstr>
      <vt:lpstr>Hybrid Search: Combing Results</vt:lpstr>
      <vt:lpstr>PowerPoint Presentation</vt:lpstr>
      <vt:lpstr>Hybrid Search Example</vt:lpstr>
      <vt:lpstr>UMAP</vt:lpstr>
      <vt:lpstr>Module 05: LangChain Core</vt:lpstr>
      <vt:lpstr>LangChain</vt:lpstr>
      <vt:lpstr>LCEL, Runnable</vt:lpstr>
      <vt:lpstr>Example: Prompt | LLM</vt:lpstr>
      <vt:lpstr>Output Parsers</vt:lpstr>
      <vt:lpstr>Prompt Templates</vt:lpstr>
      <vt:lpstr>Session Memory Types</vt:lpstr>
      <vt:lpstr>Persistent Memory</vt:lpstr>
      <vt:lpstr>Document Loaders</vt:lpstr>
      <vt:lpstr>Text Splitters</vt:lpstr>
      <vt:lpstr>Building a RAG pipeline</vt:lpstr>
      <vt:lpstr>Retrievers</vt:lpstr>
      <vt:lpstr>Retriever Types (C:\code\agenticai\14_advanced\05_langchain\retrievers.py)</vt:lpstr>
      <vt:lpstr>Callbacks</vt:lpstr>
      <vt:lpstr>Chaining Multiple Retrievers</vt:lpstr>
      <vt:lpstr>Module 06: LangChain Agents and Tool Use</vt:lpstr>
      <vt:lpstr>Agent Fundamentals</vt:lpstr>
      <vt:lpstr>AI Agent Elements</vt:lpstr>
      <vt:lpstr>ReAct Pattern</vt:lpstr>
      <vt:lpstr>Plan-and-Execute Pattern</vt:lpstr>
      <vt:lpstr>Creating Custom Tools</vt:lpstr>
      <vt:lpstr>Tool Schema</vt:lpstr>
      <vt:lpstr>AgentExecutor</vt:lpstr>
      <vt:lpstr>SQLDatabaseToolkit</vt:lpstr>
      <vt:lpstr>Multi-Step Reasoning</vt:lpstr>
      <vt:lpstr>Module 07: LangGraph</vt:lpstr>
      <vt:lpstr>Need for LangGraph</vt:lpstr>
      <vt:lpstr>LangGraph: Core Components</vt:lpstr>
      <vt:lpstr>State using TypeDict</vt:lpstr>
      <vt:lpstr>Building a Graph</vt:lpstr>
      <vt:lpstr>Conditional Nodes</vt:lpstr>
      <vt:lpstr>MessageGraph</vt:lpstr>
      <vt:lpstr>Streaming</vt:lpstr>
      <vt:lpstr>Visualizing and Debugging Graphs in LangGraph Studio</vt:lpstr>
      <vt:lpstr>Module 08: LangGraph – Cycles, HIL, Persistence</vt:lpstr>
      <vt:lpstr>Cycles/Loops</vt:lpstr>
      <vt:lpstr>Human In the Loop (HIL)</vt:lpstr>
      <vt:lpstr>Checkpointers</vt:lpstr>
      <vt:lpstr>Send API: Parallel Work</vt:lpstr>
      <vt:lpstr>Subgraphs</vt:lpstr>
      <vt:lpstr>Module 09: LangSmith</vt:lpstr>
      <vt:lpstr>LangSmith</vt:lpstr>
      <vt:lpstr>Creating Evaluation Datasets</vt:lpstr>
      <vt:lpstr>LLM-as-a-Judge</vt:lpstr>
      <vt:lpstr>Heuristic Evaluators</vt:lpstr>
      <vt:lpstr>Prompt Regression Testing</vt:lpstr>
      <vt:lpstr>A/B Testing Agent Behaviours</vt:lpstr>
      <vt:lpstr>Annotating Runs with Human Feedback</vt:lpstr>
      <vt:lpstr>Module 10: Model Context Protocol (MCP)</vt:lpstr>
      <vt:lpstr>PowerPoint Presentation</vt:lpstr>
      <vt:lpstr>MCP Primitives</vt:lpstr>
      <vt:lpstr>MCP Server Example</vt:lpstr>
      <vt:lpstr>MCP Communication</vt:lpstr>
      <vt:lpstr>MCP Communication</vt:lpstr>
      <vt:lpstr>Prompt Template as MCP Primitive</vt:lpstr>
      <vt:lpstr>MCP Security Model </vt:lpstr>
      <vt:lpstr>MCP: Server-side Input Validation and Request Sanitization</vt:lpstr>
      <vt:lpstr>Module 11: MCP Ecosystem Integrations</vt:lpstr>
      <vt:lpstr>MCP Servers</vt:lpstr>
      <vt:lpstr>SQLite and FileSystem MCP Servers</vt:lpstr>
      <vt:lpstr>GitHub MCP Server</vt:lpstr>
      <vt:lpstr>Playwright MCP Server</vt:lpstr>
      <vt:lpstr>Report Pipeline</vt:lpstr>
      <vt:lpstr>MCP in Production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692</cp:revision>
  <dcterms:created xsi:type="dcterms:W3CDTF">2025-07-21T11:47:41Z</dcterms:created>
  <dcterms:modified xsi:type="dcterms:W3CDTF">2026-08-21T05:50:15Z</dcterms:modified>
</cp:coreProperties>
</file>